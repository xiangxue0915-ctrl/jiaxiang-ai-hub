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6.xml" ContentType="application/vnd.openxmlformats-officedocument.them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7.xml" ContentType="application/vnd.openxmlformats-officedocument.them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8.xml" ContentType="application/vnd.openxmlformats-officedocument.them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9.xml" ContentType="application/vnd.openxmlformats-officedocument.them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10.xml" ContentType="application/vnd.openxmlformats-officedocument.theme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11.xml" ContentType="application/vnd.openxmlformats-officedocument.theme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heme/theme12.xml" ContentType="application/vnd.openxmlformats-officedocument.theme+xml"/>
  <Override PartName="/ppt/theme/theme13.xml" ContentType="application/vnd.openxmlformats-officedocument.theme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notesSlides/notesSlide1.xml" ContentType="application/vnd.openxmlformats-officedocument.presentationml.notesSlide+xml"/>
  <Override PartName="/ppt/tags/tag154.xml" ContentType="application/vnd.openxmlformats-officedocument.presentationml.tags+xml"/>
  <Override PartName="/ppt/notesSlides/notesSlide2.xml" ContentType="application/vnd.openxmlformats-officedocument.presentationml.notesSlide+xml"/>
  <Override PartName="/ppt/tags/tag155.xml" ContentType="application/vnd.openxmlformats-officedocument.presentationml.tags+xml"/>
  <Override PartName="/ppt/notesSlides/notesSlide3.xml" ContentType="application/vnd.openxmlformats-officedocument.presentationml.notesSlide+xml"/>
  <Override PartName="/ppt/tags/tag156.xml" ContentType="application/vnd.openxmlformats-officedocument.presentationml.tags+xml"/>
  <Override PartName="/ppt/notesSlides/notesSlide4.xml" ContentType="application/vnd.openxmlformats-officedocument.presentationml.notesSlide+xml"/>
  <Override PartName="/ppt/tags/tag157.xml" ContentType="application/vnd.openxmlformats-officedocument.presentationml.tags+xml"/>
  <Override PartName="/ppt/notesSlides/notesSlide5.xml" ContentType="application/vnd.openxmlformats-officedocument.presentationml.notesSlide+xml"/>
  <Override PartName="/ppt/tags/tag158.xml" ContentType="application/vnd.openxmlformats-officedocument.presentationml.tags+xml"/>
  <Override PartName="/ppt/notesSlides/notesSlide6.xml" ContentType="application/vnd.openxmlformats-officedocument.presentationml.notesSlide+xml"/>
  <Override PartName="/ppt/tags/tag159.xml" ContentType="application/vnd.openxmlformats-officedocument.presentationml.tags+xml"/>
  <Override PartName="/ppt/notesSlides/notesSlide7.xml" ContentType="application/vnd.openxmlformats-officedocument.presentationml.notesSlide+xml"/>
  <Override PartName="/ppt/tags/tag160.xml" ContentType="application/vnd.openxmlformats-officedocument.presentationml.tags+xml"/>
  <Override PartName="/ppt/notesSlides/notesSlide8.xml" ContentType="application/vnd.openxmlformats-officedocument.presentationml.notesSlide+xml"/>
  <Override PartName="/ppt/tags/tag161.xml" ContentType="application/vnd.openxmlformats-officedocument.presentationml.tags+xml"/>
  <Override PartName="/ppt/notesSlides/notesSlide9.xml" ContentType="application/vnd.openxmlformats-officedocument.presentationml.notesSlide+xml"/>
  <Override PartName="/ppt/tags/tag162.xml" ContentType="application/vnd.openxmlformats-officedocument.presentationml.tags+xml"/>
  <Override PartName="/ppt/notesSlides/notesSlide10.xml" ContentType="application/vnd.openxmlformats-officedocument.presentationml.notesSlide+xml"/>
  <Override PartName="/ppt/tags/tag163.xml" ContentType="application/vnd.openxmlformats-officedocument.presentationml.tags+xml"/>
  <Override PartName="/ppt/notesSlides/notesSlide11.xml" ContentType="application/vnd.openxmlformats-officedocument.presentationml.notesSlide+xml"/>
  <Override PartName="/ppt/tags/tag164.xml" ContentType="application/vnd.openxmlformats-officedocument.presentationml.tags+xml"/>
  <Override PartName="/ppt/notesSlides/notesSlide12.xml" ContentType="application/vnd.openxmlformats-officedocument.presentationml.notesSlide+xml"/>
  <Override PartName="/ppt/tags/tag165.xml" ContentType="application/vnd.openxmlformats-officedocument.presentationml.tags+xml"/>
  <Override PartName="/ppt/notesSlides/notesSlide13.xml" ContentType="application/vnd.openxmlformats-officedocument.presentationml.notesSlide+xml"/>
  <Override PartName="/ppt/tags/tag166.xml" ContentType="application/vnd.openxmlformats-officedocument.presentationml.tags+xml"/>
  <Override PartName="/ppt/notesSlides/notesSlide14.xml" ContentType="application/vnd.openxmlformats-officedocument.presentationml.notesSlide+xml"/>
  <Override PartName="/ppt/tags/tag167.xml" ContentType="application/vnd.openxmlformats-officedocument.presentationml.tags+xml"/>
  <Override PartName="/ppt/notesSlides/notesSlide15.xml" ContentType="application/vnd.openxmlformats-officedocument.presentationml.notesSlide+xml"/>
  <Override PartName="/ppt/tags/tag168.xml" ContentType="application/vnd.openxmlformats-officedocument.presentationml.tags+xml"/>
  <Override PartName="/ppt/notesSlides/notesSlide16.xml" ContentType="application/vnd.openxmlformats-officedocument.presentationml.notesSlide+xml"/>
  <Override PartName="/ppt/tags/tag169.xml" ContentType="application/vnd.openxmlformats-officedocument.presentationml.tags+xml"/>
  <Override PartName="/ppt/notesSlides/notesSlide17.xml" ContentType="application/vnd.openxmlformats-officedocument.presentationml.notesSlide+xml"/>
  <Override PartName="/ppt/tags/tag170.xml" ContentType="application/vnd.openxmlformats-officedocument.presentationml.tags+xml"/>
  <Override PartName="/ppt/notesSlides/notesSlide18.xml" ContentType="application/vnd.openxmlformats-officedocument.presentationml.notesSlide+xml"/>
  <Override PartName="/ppt/tags/tag171.xml" ContentType="application/vnd.openxmlformats-officedocument.presentationml.tags+xml"/>
  <Override PartName="/ppt/notesSlides/notesSlide19.xml" ContentType="application/vnd.openxmlformats-officedocument.presentationml.notesSlide+xml"/>
  <Override PartName="/ppt/tags/tag172.xml" ContentType="application/vnd.openxmlformats-officedocument.presentationml.tags+xml"/>
  <Override PartName="/ppt/notesSlides/notesSlide20.xml" ContentType="application/vnd.openxmlformats-officedocument.presentationml.notesSlide+xml"/>
  <Override PartName="/ppt/tags/tag173.xml" ContentType="application/vnd.openxmlformats-officedocument.presentationml.tags+xml"/>
  <Override PartName="/ppt/notesSlides/notesSlide21.xml" ContentType="application/vnd.openxmlformats-officedocument.presentationml.notesSlide+xml"/>
  <Override PartName="/ppt/tags/tag174.xml" ContentType="application/vnd.openxmlformats-officedocument.presentationml.tags+xml"/>
  <Override PartName="/ppt/notesSlides/notesSlide22.xml" ContentType="application/vnd.openxmlformats-officedocument.presentationml.notesSlide+xml"/>
  <Override PartName="/ppt/tags/tag175.xml" ContentType="application/vnd.openxmlformats-officedocument.presentationml.tags+xml"/>
  <Override PartName="/ppt/notesSlides/notesSlide23.xml" ContentType="application/vnd.openxmlformats-officedocument.presentationml.notesSlide+xml"/>
  <Override PartName="/ppt/tags/tag176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60" r:id="rId3"/>
    <p:sldMasterId id="2147483666" r:id="rId4"/>
    <p:sldMasterId id="2147483672" r:id="rId5"/>
    <p:sldMasterId id="2147483678" r:id="rId6"/>
    <p:sldMasterId id="2147483684" r:id="rId7"/>
    <p:sldMasterId id="2147483690" r:id="rId8"/>
    <p:sldMasterId id="2147483696" r:id="rId9"/>
    <p:sldMasterId id="2147483702" r:id="rId10"/>
    <p:sldMasterId id="2147483708" r:id="rId11"/>
  </p:sldMasterIdLst>
  <p:notesMasterIdLst>
    <p:notesMasterId r:id="rId37"/>
  </p:notesMasterIdLst>
  <p:handoutMasterIdLst>
    <p:handoutMasterId r:id="rId38"/>
  </p:handoutMasterIdLst>
  <p:sldIdLst>
    <p:sldId id="258" r:id="rId12"/>
    <p:sldId id="336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358" r:id="rId29"/>
    <p:sldId id="352" r:id="rId30"/>
    <p:sldId id="359" r:id="rId31"/>
    <p:sldId id="353" r:id="rId32"/>
    <p:sldId id="355" r:id="rId33"/>
    <p:sldId id="356" r:id="rId34"/>
    <p:sldId id="357" r:id="rId35"/>
    <p:sldId id="268" r:id="rId36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372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ra Sprague" initials="KS" lastIdx="5" clrIdx="0"/>
  <p:cmAuthor id="1" name="龚雪" initials="龚雪" lastIdx="4" clrIdx="0"/>
  <p:cmAuthor id="2" name="junlele" initials="j" lastIdx="15" clrIdx="1"/>
  <p:cmAuthor id="3" name="张正勇" initials="张正勇" lastIdx="3" clrIdx="2"/>
  <p:cmAuthor id="4" name="madams" initials="m" lastIdx="49" clrIdx="4"/>
  <p:cmAuthor id="5" name="作者" initials="A" lastIdx="0" clrIdx="4"/>
  <p:cmAuthor id="312" name="Chun Chung YEH" initials="C" lastIdx="2" clrIdx="0"/>
  <p:cmAuthor id="6" name="Leah Bibbo" initials="LB" lastIdx="8" clrIdx="6"/>
  <p:cmAuthor id="7" name="Bogomil" initials="BB" lastIdx="4" clrIdx="7"/>
  <p:cmAuthor id="314" name="Vicky" initials="V" lastIdx="1" clrIdx="1"/>
  <p:cmAuthor id="8" name="Michael Adams" initials="" lastIdx="1" clrIdx="8"/>
  <p:cmAuthor id="315" name="刘云轩" initials="刘" lastIdx="1" clrIdx="0"/>
  <p:cmAuthor id="9" name="William Wang" initials="WW" lastIdx="2" clrIdx="9"/>
  <p:cmAuthor id="316" name="sharon" initials="s" lastIdx="1" clrIdx="84"/>
  <p:cmAuthor id="10" name="yunxia_ma@hansight.com" initials="y" lastIdx="6" clrIdx="10"/>
  <p:cmAuthor id="317" name="未知的使用者81" initials="未" lastIdx="1" clrIdx="0"/>
  <p:cmAuthor id="11" name="1" initials="1" lastIdx="1" clrIdx="10"/>
  <p:cmAuthor id="318" name="仝德志" initials="仝" lastIdx="1" clrIdx="0"/>
  <p:cmAuthor id="12" name="ADMINIBM" initials="A" lastIdx="2" clrIdx="11"/>
  <p:cmAuthor id="13" name="HOME" initials="H" lastIdx="1" clrIdx="12"/>
  <p:cmAuthor id="320" name="未知用户35" initials="未" lastIdx="1" clrIdx="0"/>
  <p:cmAuthor id="14" name="乔伟红" initials="乔伟红" lastIdx="6" clrIdx="13"/>
  <p:cmAuthor id="321" name="未知用户111" initials="未" lastIdx="1" clrIdx="1"/>
  <p:cmAuthor id="15" name="未知用户2" initials="未知用户2" lastIdx="31" clrIdx="14"/>
  <p:cmAuthor id="322" name="alpha" initials="a" lastIdx="1" clrIdx="0"/>
  <p:cmAuthor id="16" name="yunxia" initials="y" lastIdx="10" clrIdx="15"/>
  <p:cmAuthor id="323" name="ethel" initials="e" lastIdx="2" clrIdx="322"/>
  <p:cmAuthor id="17" name="chardis" initials="xds" lastIdx="3" clrIdx="16"/>
  <p:cmAuthor id="140952006" name="邢绍文" initials="邢" lastIdx="0" clrIdx="0"/>
  <p:cmAuthor id="18" name="未知用户4" initials="未知用户4" lastIdx="1" clrIdx="6"/>
  <p:cmAuthor id="19" name="未知用户5" initials="未知用户5" lastIdx="1" clrIdx="7"/>
  <p:cmAuthor id="326" name="未知的使用者75" initials="未" lastIdx="1" clrIdx="0"/>
  <p:cmAuthor id="20" name="Heather Rossman" initials="HR" lastIdx="10" clrIdx="19"/>
  <p:cmAuthor id="327" name="未知的使用者77" initials="未" lastIdx="1" clrIdx="0"/>
  <p:cmAuthor id="21" name="Ron Katcher" initials="RK" lastIdx="9" clrIdx="20"/>
  <p:cmAuthor id="328" name="未知的使用者78" initials="未" lastIdx="5" clrIdx="1"/>
  <p:cmAuthor id="22" name="Chris Mabardy" initials="CM" lastIdx="1" clrIdx="21"/>
  <p:cmAuthor id="329" name="未知的使用者79" initials="未" lastIdx="0" clrIdx="1"/>
  <p:cmAuthor id="23" name="wuyuchen" initials="w" lastIdx="1" clrIdx="22"/>
  <p:cmAuthor id="330" name="未知的使用者80" initials="未" lastIdx="0" clrIdx="0"/>
  <p:cmAuthor id="24" name="未知用户19" initials="未知用户19" lastIdx="1" clrIdx="22"/>
  <p:cmAuthor id="331" name="未知的使用者82" initials="未" lastIdx="1" clrIdx="0"/>
  <p:cmAuthor id="25" name="未知用户20" initials="未知用户20" lastIdx="1" clrIdx="23"/>
  <p:cmAuthor id="6871913" name="红旗的理想" initials="红" lastIdx="273105" clrIdx="0"/>
  <p:cmAuthor id="332" name="未知的使用者83" initials="未" lastIdx="1" clrIdx="0"/>
  <p:cmAuthor id="26" name="未知用户21" initials="未知用户21" lastIdx="1" clrIdx="24"/>
  <p:cmAuthor id="6871914" name="shq316" initials="s" lastIdx="2" clrIdx="2"/>
  <p:cmAuthor id="333" name="未知的使用者84" initials="未" lastIdx="1" clrIdx="1"/>
  <p:cmAuthor id="27" name="yangyiwei" initials="y" lastIdx="9" clrIdx="26"/>
  <p:cmAuthor id="6871915" name="shq316@vod365.com" initials="s" lastIdx="3" clrIdx="3"/>
  <p:cmAuthor id="334" name="未知的使用者85" initials="未" lastIdx="1" clrIdx="0"/>
  <p:cmAuthor id="28" name="hanjunli" initials="h" lastIdx="1" clrIdx="27"/>
  <p:cmAuthor id="6871916" name="yang fengyu" initials="yf" lastIdx="1" clrIdx="4"/>
  <p:cmAuthor id="335" name="未知的使用者87" initials="未" lastIdx="1" clrIdx="0"/>
  <p:cmAuthor id="29" name="lixin10" initials="l" lastIdx="2" clrIdx="28"/>
  <p:cmAuthor id="336" name="未知的使用者90" initials="未" lastIdx="8" clrIdx="0"/>
  <p:cmAuthor id="30" name="未知用户25" initials="未知用户25" lastIdx="1" clrIdx="28"/>
  <p:cmAuthor id="337" name="未知的使用者91" initials="未" lastIdx="1" clrIdx="0"/>
  <p:cmAuthor id="31" name="未知用户26" initials="未知用户26" lastIdx="1" clrIdx="29"/>
  <p:cmAuthor id="287643681" name="殷格非" initials="殷" lastIdx="2" clrIdx="0"/>
  <p:cmAuthor id="338" name="CHRISYU" initials="C" lastIdx="1" clrIdx="0"/>
  <p:cmAuthor id="32" name="未知用户27" initials="未知用户27" lastIdx="1" clrIdx="30"/>
  <p:cmAuthor id="287643682" name="z r" initials="zr" lastIdx="5" clrIdx="12"/>
  <p:cmAuthor id="339" name="liucunri" initials="l" lastIdx="1" clrIdx="0"/>
  <p:cmAuthor id="33" name="未知用户28" initials="未知用户28" lastIdx="1" clrIdx="31"/>
  <p:cmAuthor id="287643683" name="石晓利" initials="C" lastIdx="1" clrIdx="13"/>
  <p:cmAuthor id="340" name="Unknown User48" initials="U" lastIdx="8" clrIdx="0"/>
  <p:cmAuthor id="34" name="未知用户6" initials="未知用户6" lastIdx="1" clrIdx="9"/>
  <p:cmAuthor id="287643684" name="Aqf" initials="A" lastIdx="1" clrIdx="36"/>
  <p:cmAuthor id="341" name="Unknown User52" initials="U" lastIdx="1" clrIdx="0"/>
  <p:cmAuthor id="35" name="JCL" initials="J" lastIdx="1" clrIdx="10"/>
  <p:cmAuthor id="342" name="Unknown User50" initials="U" lastIdx="1" clrIdx="0"/>
  <p:cmAuthor id="36" name="孟 范志" initials="孟" lastIdx="1" clrIdx="11"/>
  <p:cmAuthor id="37" name="邢 术锋" initials="邢" lastIdx="1" clrIdx="21"/>
  <p:cmAuthor id="38" name="未知用户33" initials="未知用户33" lastIdx="1" clrIdx="36"/>
  <p:cmAuthor id="39" name="未知用户34" initials="未知用户34" lastIdx="1" clrIdx="37"/>
  <p:cmAuthor id="346" name="PC" initials="P" lastIdx="4" clrIdx="0"/>
  <p:cmAuthor id="40" name="Sara Scheineson" initials="" lastIdx="44" clrIdx="39"/>
  <p:cmAuthor id="41" name="Zhang, Diankun" initials="ZD" lastIdx="3" clrIdx="39"/>
  <p:cmAuthor id="42" name="严广荣" initials="严" lastIdx="1" clrIdx="41"/>
  <p:cmAuthor id="43" name="ZJK" initials="Z" lastIdx="5" clrIdx="42"/>
  <p:cmAuthor id="44" name="P00035_jeremy" initials="P" lastIdx="1" clrIdx="0"/>
  <p:cmAuthor id="45" name="未知的使用者12" initials="未" lastIdx="1" clrIdx="0"/>
  <p:cmAuthor id="352" name="未知的使用者161" initials="未" lastIdx="1" clrIdx="0"/>
  <p:cmAuthor id="46" name="未知的使用者13" initials="未" lastIdx="5" clrIdx="1"/>
  <p:cmAuthor id="353" name="李永丰" initials="李" lastIdx="1" clrIdx="352"/>
  <p:cmAuthor id="47" name="未知的使用者14" initials="未" lastIdx="0" clrIdx="1"/>
  <p:cmAuthor id="48" name="Lindsay Gilbert" initials="LG" lastIdx="3" clrIdx="47"/>
  <p:cmAuthor id="355" name="未知的使用者152" initials="未" lastIdx="1" clrIdx="0"/>
  <p:cmAuthor id="49" name="未知的使用者8" initials="未" lastIdx="1" clrIdx="0"/>
  <p:cmAuthor id="50" name="未知的使用者9" initials="未" lastIdx="1" clrIdx="0"/>
  <p:cmAuthor id="51" name="未知的使用者11" initials="未" lastIdx="0" clrIdx="1"/>
  <p:cmAuthor id="191251535" name="沈霄雷" initials="沈" lastIdx="833089" clrIdx="0"/>
  <p:cmAuthor id="52" name="未知的使用者27" initials="未" lastIdx="1" clrIdx="0"/>
  <p:cmAuthor id="191251536" name="Microsoft Office 用户" initials="Office" lastIdx="1" clrIdx="27"/>
  <p:cmAuthor id="360" name="未知的使用者176" initials="未" lastIdx="1" clrIdx="0"/>
  <p:cmAuthor id="53" name="未知的使用者28" initials="未" lastIdx="3" clrIdx="1"/>
  <p:cmAuthor id="191251537" name="郭 浩" initials="郭" lastIdx="2" clrIdx="25"/>
  <p:cmAuthor id="47245819" name="群智集" initials="群" lastIdx="0" clrIdx="0"/>
  <p:cmAuthor id="54" name="未知的使用者29" initials="未" lastIdx="1" clrIdx="1"/>
  <p:cmAuthor id="191251538" name="zhangmh@httz.cc" initials="z" lastIdx="3" clrIdx="13"/>
  <p:cmAuthor id="47245820" name="18937034561@189.cn" initials="1" lastIdx="1" clrIdx="16"/>
  <p:cmAuthor id="362" name="未知的使用者178" initials="未" lastIdx="1" clrIdx="0"/>
  <p:cmAuthor id="55" name="未知的使用者21" initials="未" lastIdx="1" clrIdx="0"/>
  <p:cmAuthor id="191251539" name="wang" initials="wang" lastIdx="1" clrIdx="14"/>
  <p:cmAuthor id="47245821" name="李金金" initials="李金金" lastIdx="1" clrIdx="27"/>
  <p:cmAuthor id="363" name="未知的使用者179" initials="未" lastIdx="1" clrIdx="0"/>
  <p:cmAuthor id="56" name="未知的使用者22" initials="未" lastIdx="3" clrIdx="1"/>
  <p:cmAuthor id="57" name="未知的使用者23" initials="未" lastIdx="1" clrIdx="1"/>
  <p:cmAuthor id="210492765" name="施普希（菜菜）" initials="施" lastIdx="0" clrIdx="0"/>
  <p:cmAuthor id="47245822" name="zhangyang" initials="z" lastIdx="1" clrIdx="45"/>
  <p:cmAuthor id="364" name="未知的使用者180" initials="未" lastIdx="2" clrIdx="0"/>
  <p:cmAuthor id="191251541" name="孙 笑庆" initials="孙" lastIdx="3" clrIdx="16"/>
  <p:cmAuthor id="210492766" name="崔楚瑶" initials="崔楚瑶" lastIdx="1" clrIdx="0"/>
  <p:cmAuthor id="47245823" name="刘海娜|liuhaina" initials="W用" lastIdx="1" clrIdx="36"/>
  <p:cmAuthor id="58" name="未知的使用者24" initials="未" lastIdx="1" clrIdx="0"/>
  <p:cmAuthor id="191251542" name="yang.yuan" initials="y" lastIdx="0" clrIdx="17"/>
  <p:cmAuthor id="210492767" name="binhui zhou" initials="bz" lastIdx="4" clrIdx="8"/>
  <p:cmAuthor id="59" name="未知的使用者25" initials="未" lastIdx="3" clrIdx="1"/>
  <p:cmAuthor id="191251543" name="王娟" initials="1" lastIdx="1" clrIdx="31"/>
  <p:cmAuthor id="367" name="李 msn" initials="李" lastIdx="1" clrIdx="85"/>
  <p:cmAuthor id="60" name="未知的使用者26" initials="未" lastIdx="1" clrIdx="1"/>
  <p:cmAuthor id="61" name="August" initials="A" lastIdx="1" clrIdx="0"/>
  <p:cmAuthor id="1483810881" name="WPS_1679281038" initials="W" lastIdx="1" clrIdx="2"/>
  <p:cmAuthor id="62" name="qihua-DCMS" initials="q" lastIdx="0" clrIdx="0"/>
  <p:cmAuthor id="64" name="YUMINGNJ" initials="Y" lastIdx="3" clrIdx="0"/>
  <p:cmAuthor id="65" name="daphne" initials="d" lastIdx="1" clrIdx="0"/>
  <p:cmAuthor id="66" name="未知用户8" initials="未" lastIdx="1" clrIdx="0"/>
  <p:cmAuthor id="67" name="Unknown User7" initials="U" lastIdx="1" clrIdx="0"/>
  <p:cmAuthor id="68" name="Unknown User8" initials="U" lastIdx="1" clrIdx="0"/>
  <p:cmAuthor id="69" name="未知用户15" initials="未" lastIdx="1" clrIdx="0"/>
  <p:cmAuthor id="70" name="未知用户13" initials="未" lastIdx="1" clrIdx="0"/>
  <p:cmAuthor id="71" name="Anja Mikic" initials="AM [30]" lastIdx="1" clrIdx="70"/>
  <p:cmAuthor id="72" name="Julie Skodowski" initials="JS [29]" lastIdx="1" clrIdx="71"/>
  <p:cmAuthor id="73" name="YU XI" initials="YX" lastIdx="1" clrIdx="72"/>
  <p:cmAuthor id="74" name="吉建春" initials="吉建春" lastIdx="1" clrIdx="73"/>
  <p:cmAuthor id="75" name="刘春晓" initials="刘春晓" lastIdx="3" clrIdx="74"/>
  <p:cmAuthor id="76" name="王颖" initials="王颖" lastIdx="1" clrIdx="75"/>
  <p:cmAuthor id="77" name="未知的使用者30" initials="未" lastIdx="8" clrIdx="0"/>
  <p:cmAuthor id="78" name="未知的使用者31" initials="未" lastIdx="1" clrIdx="0"/>
  <p:cmAuthor id="79" name="未知的使用者32" initials="未" lastIdx="1" clrIdx="0"/>
  <p:cmAuthor id="80" name="未知的使用者51" initials="未" lastIdx="10" clrIdx="0"/>
  <p:cmAuthor id="81" name="未知的使用者53" initials="未" lastIdx="1" clrIdx="0"/>
  <p:cmAuthor id="82" name="未知的使用者46" initials="未" lastIdx="1" clrIdx="1"/>
  <p:cmAuthor id="83" name="yuanzh" initials="y" lastIdx="1" clrIdx="1"/>
  <p:cmAuthor id="84" name="曾红" initials="曾" lastIdx="0" clrIdx="0"/>
  <p:cmAuthor id="85" name="未知用户16" initials="未" lastIdx="1" clrIdx="0"/>
  <p:cmAuthor id="86" name="未知用户9" initials="未" lastIdx="1" clrIdx="0"/>
  <p:cmAuthor id="87" name="mm" initials="m" lastIdx="1" clrIdx="0"/>
  <p:cmAuthor id="88" name="liupeng" initials="l" lastIdx="1" clrIdx="1"/>
  <p:cmAuthor id="89" name="周宏達JerryChou" initials="周" lastIdx="6" clrIdx="2"/>
  <p:cmAuthor id="256031950" name="落落" initials="落" lastIdx="1" clrIdx="27"/>
  <p:cmAuthor id="90" name="luxu" initials="l" lastIdx="22" clrIdx="0"/>
  <p:cmAuthor id="91" name="hl sun" initials="h" lastIdx="1" clrIdx="0"/>
  <p:cmAuthor id="92" name="未知的使用者50" initials="未" lastIdx="1" clrIdx="0"/>
  <p:cmAuthor id="93" name="未知的使用者48" initials="未" lastIdx="1" clrIdx="0"/>
  <p:cmAuthor id="94" name="未知的使用者49" initials="未" lastIdx="1" clrIdx="0"/>
  <p:cmAuthor id="97" name="Mary Feil-Jacobs" initials="M" lastIdx="43" clrIdx="1"/>
  <p:cmAuthor id="98" name="朱晓瑜" initials="朱" lastIdx="54" clrIdx="0"/>
  <p:cmAuthor id="99" name="Saku Uchikawa" initials="S" lastIdx="11" clrIdx="0"/>
  <p:cmAuthor id="100" name="djj" initials="d" lastIdx="2" clrIdx="0"/>
  <p:cmAuthor id="101" name="張秀娟" initials="張" lastIdx="1" clrIdx="2"/>
  <p:cmAuthor id="102" name="lianghb" initials="l" lastIdx="19" clrIdx="0"/>
  <p:cmAuthor id="103" name="Shawna Strickland" initials="S" lastIdx="2" clrIdx="0"/>
  <p:cmAuthor id="104" name="linyd" initials="l" lastIdx="3" clrIdx="1"/>
  <p:cmAuthor id="105" name="Ashley Eberenz" initials="A" lastIdx="7" clrIdx="1"/>
  <p:cmAuthor id="106" name="muzi wei" initials="m" lastIdx="1" clrIdx="0"/>
  <p:cmAuthor id="107" name="周元元" initials="" lastIdx="5" clrIdx="0"/>
  <p:cmAuthor id="108" name="未知用户56" initials="未" lastIdx="1" clrIdx="0"/>
  <p:cmAuthor id="109" name="未知用户55" initials="未" lastIdx="1" clrIdx="0"/>
  <p:cmAuthor id="110" name="未知用户51" initials="未" lastIdx="1" clrIdx="1"/>
  <p:cmAuthor id="111" name="LeeElva" initials="L" lastIdx="1" clrIdx="0"/>
  <p:cmAuthor id="112" name="唐可欣" initials="唐" lastIdx="1" clrIdx="0"/>
  <p:cmAuthor id="113" name="未知的使用者36" initials="未" lastIdx="10" clrIdx="0"/>
  <p:cmAuthor id="114" name="未知的使用者35" initials="未" lastIdx="1" clrIdx="0"/>
  <p:cmAuthor id="115" name="未知的使用者33" initials="未" lastIdx="1" clrIdx="0"/>
  <p:cmAuthor id="116" name="王鹏凯" initials="王" lastIdx="1" clrIdx="0"/>
  <p:cmAuthor id="117" name="未知的使用者34" initials="未" lastIdx="1" clrIdx="0"/>
  <p:cmAuthor id="119" name="未知用户66" initials="" lastIdx="1" clrIdx="0"/>
  <p:cmAuthor id="121" name="未知用户12" initials="未" lastIdx="8" clrIdx="0"/>
  <p:cmAuthor id="122" name="未知的使用者37" initials="未" lastIdx="8" clrIdx="0"/>
  <p:cmAuthor id="123" name="Harry xu" initials="H" lastIdx="1" clrIdx="0"/>
  <p:cmAuthor id="124" name="未知的使用者59" initials="未" lastIdx="8" clrIdx="0"/>
  <p:cmAuthor id="125" name="未知的使用者60" initials="未" lastIdx="1" clrIdx="0"/>
  <p:cmAuthor id="126" name="未知的使用者54" initials="未" lastIdx="1" clrIdx="0"/>
  <p:cmAuthor id="127" name="未知用户47" initials="未" lastIdx="6" clrIdx="0"/>
  <p:cmAuthor id="128" name="未知用户53" initials="未" lastIdx="10" clrIdx="0"/>
  <p:cmAuthor id="129" name="未知用户48" initials="未" lastIdx="1" clrIdx="0"/>
  <p:cmAuthor id="130" name="未知用户49" initials="未" lastIdx="1" clrIdx="0"/>
  <p:cmAuthor id="131" name="未知的使用者56" initials="未" lastIdx="6" clrIdx="0"/>
  <p:cmAuthor id="132" name="未知的使用者61" initials="未" lastIdx="1" clrIdx="0"/>
  <p:cmAuthor id="133" name="未知的使用者62" initials="未" lastIdx="1" clrIdx="1"/>
  <p:cmAuthor id="134" name="未知的使用者58" initials="未" lastIdx="1" clrIdx="0"/>
  <p:cmAuthor id="135" name="未知用户50" initials="未" lastIdx="1" clrIdx="0"/>
  <p:cmAuthor id="136" name="未知用户52" initials="未" lastIdx="1" clrIdx="0"/>
  <p:cmAuthor id="137" name="未知的使用者120" initials="未" lastIdx="1" clrIdx="0"/>
  <p:cmAuthor id="138" name="未知的使用者109" initials="未" lastIdx="5" clrIdx="1"/>
  <p:cmAuthor id="139" name="未知的使用者110" initials="未" lastIdx="1" clrIdx="1"/>
  <p:cmAuthor id="140" name="未知的使用者111" initials="未" lastIdx="1" clrIdx="0"/>
  <p:cmAuthor id="141" name="未知的使用者121" initials="未" lastIdx="1" clrIdx="0"/>
  <p:cmAuthor id="142" name="thomas" initials="t" lastIdx="1" clrIdx="49"/>
  <p:cmAuthor id="143" name="未知的使用者113" initials="未" lastIdx="1" clrIdx="0"/>
  <p:cmAuthor id="144" name="未知的使用者122" initials="未" lastIdx="1" clrIdx="0"/>
  <p:cmAuthor id="145" name="未知的使用者123" initials="未" lastIdx="8" clrIdx="0"/>
  <p:cmAuthor id="146" name="未知的使用者124" initials="未" lastIdx="8" clrIdx="0"/>
  <p:cmAuthor id="147" name="未知的使用者125" initials="未" lastIdx="1" clrIdx="0"/>
  <p:cmAuthor id="148" name="未知的使用者118" initials="未" lastIdx="1" clrIdx="0"/>
  <p:cmAuthor id="149" name="未知的使用者126" initials="未" lastIdx="1" clrIdx="0"/>
  <p:cmAuthor id="150" name="未知用户57" initials="未" lastIdx="1" clrIdx="0"/>
  <p:cmAuthor id="151" name="未知用户58" initials="未" lastIdx="5" clrIdx="1"/>
  <p:cmAuthor id="152" name="未知用户59" initials="未" lastIdx="0" clrIdx="1"/>
  <p:cmAuthor id="153" name="yuexuejun" initials="y" lastIdx="3" clrIdx="0"/>
  <p:cmAuthor id="154" name="未知的使用者74" initials="未" lastIdx="8" clrIdx="0"/>
  <p:cmAuthor id="155" name="未知的使用者76" initials="未" lastIdx="1" clrIdx="0"/>
  <p:cmAuthor id="156" name="未知的使用者70" initials="未" lastIdx="1" clrIdx="0"/>
  <p:cmAuthor id="157" name="未知的使用者73" initials="未" lastIdx="1" clrIdx="0"/>
  <p:cmAuthor id="158" name="未知的使用者67" initials="未" lastIdx="8" clrIdx="0"/>
  <p:cmAuthor id="2000" name="BA-俞阳" initials="authorId_4447802" lastIdx="786238" clrIdx="0"/>
  <p:cmAuthor id="159" name="未知的使用者68" initials="未" lastIdx="1" clrIdx="0"/>
  <p:cmAuthor id="2001" name="User" initials="U" lastIdx="1" clrIdx="22"/>
  <p:cmAuthor id="160" name="未知的使用者69" initials="未" lastIdx="1" clrIdx="0"/>
  <p:cmAuthor id="2002" name="黄 荣贵" initials="黄" lastIdx="2" clrIdx="22"/>
  <p:cmAuthor id="161" name="未知的使用者43" initials="未" lastIdx="1" clrIdx="0"/>
  <p:cmAuthor id="2003" name="梁鹏" initials="u" lastIdx="1" clrIdx="35"/>
  <p:cmAuthor id="162" name="未知的使用者40" initials="未" lastIdx="1" clrIdx="0"/>
  <p:cmAuthor id="2004" name="范 斌" initials="范" lastIdx="1" clrIdx="36"/>
  <p:cmAuthor id="163" name="未知的使用者55" initials="未" lastIdx="1" clrIdx="0"/>
  <p:cmAuthor id="2005" name="毕邺" initials="党委办公室" lastIdx="2" clrIdx="37"/>
  <p:cmAuthor id="164" name="未知的使用者52" initials="未" lastIdx="1" clrIdx="1"/>
  <p:cmAuthor id="165" name="未知的使用者72" initials="未" lastIdx="1" clrIdx="0"/>
  <p:cmAuthor id="166" name="未知的使用者71" initials="未" lastIdx="1" clrIdx="1"/>
  <p:cmAuthor id="691587970" name="小延魔法师" initials="小" lastIdx="1126286" clrIdx="0"/>
  <p:cmAuthor id="167" name="不明使用者20" initials="不" lastIdx="1" clrIdx="0"/>
  <p:cmAuthor id="691587971" name="刘春杰10244342" initials="刘春杰10244342" lastIdx="1" clrIdx="41"/>
  <p:cmAuthor id="168" name="不明使用者21" initials="不" lastIdx="1" clrIdx="0"/>
  <p:cmAuthor id="691587972" name="li hui" initials="lh" lastIdx="1" clrIdx="50"/>
  <p:cmAuthor id="169" name="不明使用者18" initials="不" lastIdx="0" clrIdx="1"/>
  <p:cmAuthor id="170" name="不明使用者19" initials="不" lastIdx="1" clrIdx="0"/>
  <p:cmAuthor id="691587973" name="weihua zhou" initials="wz" lastIdx="6" clrIdx="67"/>
  <p:cmAuthor id="691587974" name="周文红" initials="WU" lastIdx="1" clrIdx="159"/>
  <p:cmAuthor id="172" name="未知用户93" initials="未" lastIdx="1" clrIdx="0"/>
  <p:cmAuthor id="173" name="未知用户90" initials="未" lastIdx="5" clrIdx="1"/>
  <p:cmAuthor id="174" name="未知用户91" initials="未" lastIdx="0" clrIdx="1"/>
  <p:cmAuthor id="175" name="未知用户92" initials="未" lastIdx="1" clrIdx="0"/>
  <p:cmAuthor id="176" name="未知用户74" initials="未" lastIdx="5" clrIdx="1"/>
  <p:cmAuthor id="177" name="未知用户75" initials="未" lastIdx="8" clrIdx="0"/>
  <p:cmAuthor id="178" name="未知用户76" initials="未" lastIdx="1" clrIdx="0"/>
  <p:cmAuthor id="179" name="未知用户77" initials="未" lastIdx="8" clrIdx="0"/>
  <p:cmAuthor id="180" name="未知用户78" initials="未" lastIdx="8" clrIdx="0"/>
  <p:cmAuthor id="8535702" name="曾蓓/贝贝" initials="曾" lastIdx="0" clrIdx="0"/>
  <p:cmAuthor id="181" name="未知用户79" initials="未" lastIdx="1" clrIdx="0"/>
  <p:cmAuthor id="182" name="未知用户80" initials="未" lastIdx="1" clrIdx="0"/>
  <p:cmAuthor id="183" name="未知用户81" initials="未" lastIdx="1" clrIdx="0"/>
  <p:cmAuthor id="550226152" name="幸运仁" initials="幸" lastIdx="1" clrIdx="0"/>
  <p:cmAuthor id="184" name="未知的使用者95" initials="未" lastIdx="1" clrIdx="0"/>
  <p:cmAuthor id="185" name="未知的使用者92" initials="未" lastIdx="1" clrIdx="0"/>
  <p:cmAuthor id="186" name="未知的使用者93" initials="未" lastIdx="1" clrIdx="1"/>
  <p:cmAuthor id="187" name="未知的使用者94" initials="未" lastIdx="1" clrIdx="2"/>
  <p:cmAuthor id="188" name="Christina" initials="C" lastIdx="0" clrIdx="0"/>
  <p:cmAuthor id="189" name="jet" initials="j" lastIdx="1" clrIdx="0"/>
  <p:cmAuthor id="190" name="未知用户61" initials="未" lastIdx="8" clrIdx="0"/>
  <p:cmAuthor id="313670379" name="                        " initials=" " lastIdx="1" clrIdx="50"/>
  <p:cmAuthor id="191" name="未知用户60" initials="未" lastIdx="1" clrIdx="0"/>
  <p:cmAuthor id="192" name="Unknown User24" initials="U" lastIdx="1" clrIdx="0"/>
  <p:cmAuthor id="193" name="Unknown User25" initials="U" lastIdx="1" clrIdx="0"/>
  <p:cmAuthor id="194" name="Unknown User26" initials="U" lastIdx="1" clrIdx="1"/>
  <p:cmAuthor id="195" name="Unknown User27" initials="U" lastIdx="1" clrIdx="0"/>
  <p:cmAuthor id="196" name="Unknown User28" initials="U" lastIdx="3" clrIdx="1"/>
  <p:cmAuthor id="197" name="Unknown User11" initials="U" lastIdx="0" clrIdx="1"/>
  <p:cmAuthor id="198" name="Unknown User22" initials="U" lastIdx="1" clrIdx="0"/>
  <p:cmAuthor id="199" name="Unknown User23" initials="U" lastIdx="1" clrIdx="0"/>
  <p:cmAuthor id="200" name="未知的使用者112" initials="未" lastIdx="1" clrIdx="1"/>
  <p:cmAuthor id="201" name="未知的使用者107" initials="未" lastIdx="1" clrIdx="0"/>
  <p:cmAuthor id="202" name="未知的使用者108" initials="未" lastIdx="1" clrIdx="1"/>
  <p:cmAuthor id="203" name="未知的使用者98" initials="未" lastIdx="1" clrIdx="2"/>
  <p:cmAuthor id="204" name="未知的使用者145" initials="未" lastIdx="1" clrIdx="0"/>
  <p:cmAuthor id="205" name="未知的使用者146" initials="未" lastIdx="1" clrIdx="0"/>
  <p:cmAuthor id="206" name="未知的使用者147" initials="未" lastIdx="1" clrIdx="1"/>
  <p:cmAuthor id="207" name="未知的使用者144" initials="未" lastIdx="1" clrIdx="2"/>
  <p:cmAuthor id="195126645" name="我是莞嫔" initials="我" lastIdx="1" clrIdx="44"/>
  <p:cmAuthor id="208" name="未知的使用者133" initials="未" lastIdx="1" clrIdx="0"/>
  <p:cmAuthor id="209" name="未知的使用者134" initials="未" lastIdx="1" clrIdx="0"/>
  <p:cmAuthor id="210" name="未知的使用者135" initials="未" lastIdx="2" clrIdx="0"/>
  <p:cmAuthor id="211" name="未知的使用者136" initials="未" lastIdx="1" clrIdx="0"/>
  <p:cmAuthor id="212" name="未知的使用者137" initials="未" lastIdx="5" clrIdx="0"/>
  <p:cmAuthor id="213" name="未知的使用者138" initials="未" lastIdx="10" clrIdx="0"/>
  <p:cmAuthor id="214" name="未知的使用者139" initials="未" lastIdx="1" clrIdx="0"/>
  <p:cmAuthor id="215" name="未知的使用者140" initials="未" lastIdx="1" clrIdx="1"/>
  <p:cmAuthor id="394525608" name="仇怿俊" initials="仇" lastIdx="0" clrIdx="0"/>
  <p:cmAuthor id="216" name="未知的使用者197" initials="未" lastIdx="8" clrIdx="0"/>
  <p:cmAuthor id="394525609" name="左 麟" initials="左" lastIdx="1" clrIdx="24"/>
  <p:cmAuthor id="217" name="未知的使用者162" initials="未" lastIdx="8" clrIdx="0"/>
  <p:cmAuthor id="394525610" name="罗 罗" initials="罗" lastIdx="1" clrIdx="37"/>
  <p:cmAuthor id="218" name="未知的使用者163" initials="未" lastIdx="1" clrIdx="0"/>
  <p:cmAuthor id="394525611" name="273679546@qq.com" initials="2" lastIdx="2" clrIdx="40"/>
  <p:cmAuthor id="219" name="未知的使用者170" initials="未" lastIdx="0" clrIdx="1"/>
  <p:cmAuthor id="220" name="未知的使用者165" initials="未" lastIdx="1" clrIdx="0"/>
  <p:cmAuthor id="221" name="未知的使用者158" initials="未" lastIdx="1" clrIdx="0"/>
  <p:cmAuthor id="222" name="未知的使用者148" initials="未" lastIdx="5" clrIdx="0"/>
  <p:cmAuthor id="223" name="未知的使用者149" initials="未" lastIdx="10" clrIdx="0"/>
  <p:cmAuthor id="224" name="未知的使用者150" initials="未" lastIdx="1" clrIdx="0"/>
  <p:cmAuthor id="225" name="未知的使用者166" initials="未" lastIdx="8" clrIdx="0"/>
  <p:cmAuthor id="226" name="未知的使用者167" initials="未" lastIdx="0" clrIdx="1"/>
  <p:cmAuthor id="227" name="未知的使用者159" initials="未" lastIdx="1" clrIdx="1"/>
  <p:cmAuthor id="228" name="未知的使用者160" initials="未" lastIdx="1" clrIdx="0"/>
  <p:cmAuthor id="229" name="未知的使用者168" initials="未" lastIdx="1" clrIdx="0"/>
  <p:cmAuthor id="230" name="未知的使用者169" initials="未" lastIdx="1" clrIdx="0"/>
  <p:cmAuthor id="231" name="未知的使用者117" initials="未" lastIdx="1" clrIdx="0"/>
  <p:cmAuthor id="232" name="未知的使用者115" initials="未" lastIdx="1" clrIdx="1"/>
  <p:cmAuthor id="233" name="未知的使用者119" initials="未" lastIdx="1" clrIdx="2"/>
  <p:cmAuthor id="234" name="clinchen" initials="c" lastIdx="0" clrIdx="1"/>
  <p:cmAuthor id="235" name="未知的使用者44" initials="未" lastIdx="1" clrIdx="0"/>
  <p:cmAuthor id="236" name="未知用户7" initials="未" lastIdx="1" clrIdx="0"/>
  <p:cmAuthor id="237" name="未知的使用者198" initials="未" lastIdx="1" clrIdx="0"/>
  <p:cmAuthor id="238" name="未知的使用者205" initials="未" lastIdx="0" clrIdx="1"/>
  <p:cmAuthor id="239" name="未知的使用者200" initials="未" lastIdx="1" clrIdx="0"/>
  <p:cmAuthor id="240" name="未知的使用者181" initials="未" lastIdx="1" clrIdx="0"/>
  <p:cmAuthor id="241" name="未知的使用者194" initials="未" lastIdx="1" clrIdx="0"/>
  <p:cmAuthor id="1411827" name="黄晓平" initials="黄" lastIdx="0" clrIdx="0"/>
  <p:cmAuthor id="242" name="未知的使用者182" initials="未" lastIdx="1" clrIdx="0"/>
  <p:cmAuthor id="1411828" name="徐琳00159163" initials="徐琳00159163" lastIdx="1" clrIdx="37"/>
  <p:cmAuthor id="243" name="未知的使用者183" initials="未" lastIdx="2" clrIdx="0"/>
  <p:cmAuthor id="1411829" name="琳 李" initials="琳" lastIdx="1" clrIdx="86"/>
  <p:cmAuthor id="244" name="未知的使用者184" initials="未" lastIdx="8" clrIdx="0"/>
  <p:cmAuthor id="245" name="未知的使用者185" initials="未" lastIdx="5" clrIdx="0"/>
  <p:cmAuthor id="246" name="未知的使用者186" initials="未" lastIdx="10" clrIdx="0"/>
  <p:cmAuthor id="247" name="未知的使用者187" initials="未" lastIdx="1" clrIdx="0"/>
  <p:cmAuthor id="248" name="未知的使用者201" initials="未" lastIdx="8" clrIdx="0"/>
  <p:cmAuthor id="249" name="未知的使用者202" initials="未" lastIdx="0" clrIdx="1"/>
  <p:cmAuthor id="250" name="未知的使用者171" initials="未" lastIdx="3" clrIdx="1"/>
  <p:cmAuthor id="251" name="未知的使用者195" initials="未" lastIdx="1" clrIdx="1"/>
  <p:cmAuthor id="252" name="未知的使用者173" initials="未" lastIdx="6" clrIdx="0"/>
  <p:cmAuthor id="253" name="未知的使用者196" initials="未" lastIdx="1" clrIdx="0"/>
  <p:cmAuthor id="254" name="未知的使用者175" initials="未" lastIdx="2" clrIdx="0"/>
  <p:cmAuthor id="255" name="未知的使用者203" initials="未" lastIdx="1" clrIdx="0"/>
  <p:cmAuthor id="256" name="未知的使用者204" initials="未" lastIdx="1" clrIdx="0"/>
  <p:cmAuthor id="257" name="未知的使用者41" initials="未" lastIdx="5" clrIdx="1"/>
  <p:cmAuthor id="258" name="未知的使用者42" initials="未" lastIdx="1" clrIdx="1"/>
  <p:cmAuthor id="259" name="Evonlin" initials="E" lastIdx="2" clrIdx="2"/>
  <p:cmAuthor id="260" name="未知的使用者39" initials="未" lastIdx="10" clrIdx="0"/>
  <p:cmAuthor id="261" name="未知的使用者38" initials="未" lastIdx="1" clrIdx="0"/>
  <p:cmAuthor id="262" name="未知用户37" initials="未" lastIdx="8" clrIdx="0"/>
  <p:cmAuthor id="263" name="未知用户38" initials="未" lastIdx="8" clrIdx="0"/>
  <p:cmAuthor id="264" name="未知用户39" initials="未" lastIdx="1" clrIdx="0"/>
  <p:cmAuthor id="265" name="Admin" initials="A" lastIdx="1" clrIdx="2"/>
  <p:cmAuthor id="266" name="未知的使用者64" initials="未" lastIdx="8" clrIdx="0"/>
  <p:cmAuthor id="267" name="未知的使用者65" initials="未" lastIdx="1" clrIdx="0"/>
  <p:cmAuthor id="268" name="未知的使用者66" initials="未" lastIdx="1" clrIdx="0"/>
  <p:cmAuthor id="269" name="未知的使用者57" initials="未" lastIdx="1" clrIdx="0"/>
  <p:cmAuthor id="270" name="未知用户152" initials="" lastIdx="8" clrIdx="0"/>
  <p:cmAuthor id="271" name="未知用户36" initials="未" lastIdx="1" clrIdx="0"/>
  <p:cmAuthor id="272" name="未知用户154" initials="" lastIdx="1" clrIdx="0"/>
  <p:cmAuthor id="273" name="MA15" initials="M" lastIdx="1" clrIdx="0"/>
  <p:cmAuthor id="274" name="未知用户29" initials="未" lastIdx="1" clrIdx="0"/>
  <p:cmAuthor id="275" name="未知用户30" initials="未" lastIdx="2" clrIdx="0"/>
  <p:cmAuthor id="276" name="未知用户31" initials="未" lastIdx="1" clrIdx="1"/>
  <p:cmAuthor id="277" name="未知用户32" initials="未" lastIdx="1" clrIdx="0"/>
  <p:cmAuthor id="278" name="未知用户97" initials="未" lastIdx="2" clrIdx="0"/>
  <p:cmAuthor id="279" name="未知用户40" initials="未" lastIdx="5" clrIdx="1"/>
  <p:cmAuthor id="280" name="huang gerrard" initials="h" lastIdx="1" clrIdx="0"/>
  <p:cmAuthor id="281" name="邓艳" initials="邓艳" lastIdx="11" clrIdx="63"/>
  <p:cmAuthor id="282" name="kingdee" initials="k" lastIdx="5" clrIdx="51"/>
  <p:cmAuthor id="283" name="未知用户101" initials="未" lastIdx="1" clrIdx="0"/>
  <p:cmAuthor id="284" name="LLM" initials="L" lastIdx="2" clrIdx="283"/>
  <p:cmAuthor id="285" name="未知用户73" initials="" lastIdx="2" clrIdx="0"/>
  <p:cmAuthor id="289" name="未知用户42" initials="未" lastIdx="1" clrIdx="0"/>
  <p:cmAuthor id="291" name="未知用户96" initials="" lastIdx="1" clrIdx="0"/>
  <p:cmAuthor id="295" name="未知用户43" initials="" lastIdx="1" clrIdx="0"/>
  <p:cmAuthor id="296" name="未知用户100" initials="" lastIdx="1" clrIdx="0"/>
  <p:cmAuthor id="353158055" name="韩雨" initials="韩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B7A"/>
    <a:srgbClr val="008000"/>
    <a:srgbClr val="243BB2"/>
    <a:srgbClr val="286AFB"/>
    <a:srgbClr val="F8F8F8"/>
    <a:srgbClr val="EDF2FF"/>
    <a:srgbClr val="0000FF"/>
    <a:srgbClr val="3E9FFE"/>
    <a:srgbClr val="E6F8FF"/>
    <a:srgbClr val="F4FD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11" autoAdjust="0"/>
    <p:restoredTop sz="96619" autoAdjust="0"/>
  </p:normalViewPr>
  <p:slideViewPr>
    <p:cSldViewPr snapToGrid="0" showGuides="1">
      <p:cViewPr varScale="1">
        <p:scale>
          <a:sx n="114" d="100"/>
          <a:sy n="114" d="100"/>
        </p:scale>
        <p:origin x="2712" y="86"/>
      </p:cViewPr>
      <p:guideLst>
        <p:guide orient="horz" pos="2140"/>
        <p:guide pos="37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commentAuthors" Target="commentAuthors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各位领导、各位专家，大家好。</a:t>
            </a:r>
            <a:br>
              <a:rPr kumimoji="1" lang="en-US" altLang="zh-CN" dirty="0"/>
            </a:br>
            <a:r>
              <a:rPr kumimoji="1" lang="zh-CN" altLang="en-US" dirty="0"/>
              <a:t>非常感谢贵司给我们这次交流机会。今天，我们希望围绕“以人才成长推动企业</a:t>
            </a:r>
            <a:r>
              <a:rPr kumimoji="1" lang="en-US" altLang="zh-CN" dirty="0"/>
              <a:t>AI</a:t>
            </a:r>
            <a:r>
              <a:rPr kumimoji="1" lang="zh-CN" altLang="en-US" dirty="0"/>
              <a:t>规模化落地”，与各位分享一套面向企业长期发展的系统建设思路。对于处在行业前列的大型企业，</a:t>
            </a:r>
            <a:r>
              <a:rPr kumimoji="1" lang="en-US" altLang="zh-CN" dirty="0"/>
              <a:t>AI</a:t>
            </a:r>
            <a:r>
              <a:rPr kumimoji="1" lang="zh-CN" altLang="en-US" dirty="0"/>
              <a:t>建设正在从局部创新和场景验证，逐步走向体系化推进：既要加快高价值业务场景落地，也要同步建设人才梯队、工程交付、安全治理和持续运营能力。</a:t>
            </a:r>
            <a:r>
              <a:rPr kumimoji="1" lang="en-US" altLang="zh-CN" dirty="0"/>
              <a:t>360</a:t>
            </a:r>
            <a:r>
              <a:rPr kumimoji="1" lang="zh-CN" altLang="en-US" dirty="0"/>
              <a:t>希望结合在</a:t>
            </a:r>
            <a:r>
              <a:rPr kumimoji="1" lang="en-US" altLang="zh-CN" dirty="0"/>
              <a:t>AI</a:t>
            </a:r>
            <a:r>
              <a:rPr kumimoji="1" lang="zh-CN" altLang="en-US" dirty="0"/>
              <a:t>安全、智能体平台和人才培养方面的实践，与贵司共同构建覆盖全员应用、专业人才、项目实训、认证评价和组织运营的能力体系，让</a:t>
            </a:r>
            <a:r>
              <a:rPr kumimoji="1" lang="en-US" altLang="zh-CN" dirty="0"/>
              <a:t>AI</a:t>
            </a:r>
            <a:r>
              <a:rPr kumimoji="1" lang="zh-CN" altLang="en-US" dirty="0"/>
              <a:t>真正进入岗位、流程与业务，并逐步沉淀为可复制、可治理、可持续的企业能力。</a:t>
            </a:r>
            <a:br>
              <a:rPr kumimoji="1" lang="en-US" altLang="zh-CN" dirty="0"/>
            </a:b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转场：</a:t>
            </a:r>
            <a:r>
              <a:rPr kumimoji="1" lang="zh-CN" altLang="en-US" dirty="0"/>
              <a:t>接下来我先用一页说明今天汇报的整体逻辑。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CBBB1-E524-8A76-8FA9-8A5828DED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D5ED2F-169A-3C72-BB21-0288C4A293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DDBDDD-06DC-C6C0-8F42-C9A60F869A8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今天的内容按照企业决策顺序展开。第一部分回答为什么现在必须系统建设</a:t>
            </a:r>
            <a:r>
              <a:rPr lang="en-US" altLang="zh-CN" dirty="0"/>
              <a:t>AI</a:t>
            </a:r>
            <a:r>
              <a:rPr lang="zh-CN" altLang="en-US" dirty="0"/>
              <a:t>人才能力，以及大型企业最容易遇到哪些瓶颈；第二部分说明我们建设什么，包括总体蓝图、人才分层和培养闭环；第三部分展开不同人群怎么培养、怎么通过真实项目和认证形成可信的人才梯队；第四部分介绍两类产品平台如何连接日常工作与专业实训；最后回到实施与验收，说明项目如何从小范围验证逐步走向集团化运营，以及最终可以向管理层交付哪些可检查的成果。大家可以始终关注五个问题：为何建设、建设什么、如何培养、如何落地、最终形成什么。</a:t>
            </a:r>
            <a:br>
              <a:rPr lang="en-US" altLang="zh-CN" dirty="0"/>
            </a:b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转场：</a:t>
            </a:r>
            <a:r>
              <a:rPr lang="zh-CN" altLang="en-US" dirty="0"/>
              <a:t>首先看企业</a:t>
            </a:r>
            <a:r>
              <a:rPr lang="en-US" altLang="zh-CN" dirty="0"/>
              <a:t>AI</a:t>
            </a:r>
            <a:r>
              <a:rPr lang="zh-CN" altLang="en-US" dirty="0"/>
              <a:t>应用正在发生的根本变化。</a:t>
            </a:r>
          </a:p>
        </p:txBody>
      </p:sp>
    </p:spTree>
    <p:extLst>
      <p:ext uri="{BB962C8B-B14F-4D97-AF65-F5344CB8AC3E}">
        <p14:creationId xmlns:p14="http://schemas.microsoft.com/office/powerpoint/2010/main" val="680731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7E734-08C4-8633-5175-A921BDFE7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2B68BC-AF40-9FAF-C2E1-7B8EBE0B05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67E23B-6ACD-E7E6-E437-74F872D3F03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过去一年多，很多企业已经完成了大模型认知、工具试用和局部场景验证。现在行业正在进入下一阶段：</a:t>
            </a:r>
            <a:r>
              <a:rPr lang="en-US" altLang="zh-CN" dirty="0"/>
              <a:t>AI</a:t>
            </a:r>
            <a:r>
              <a:rPr lang="zh-CN" altLang="en-US" dirty="0"/>
              <a:t>不再只回答问题，而是开始理解任务、调用知识和工具、执行流程并反馈结果，也就是智能体驱动的企业级应用。对大型企业而言，这意味着评价标准发生了变化。一个演示效果很好，并不等于可以进入生产和管理流程。企业真正关心的是业务部门愿不愿意持续使用，结果能否验证，数据与权限是否可控，系统能否稳定连接，责任能否追溯，成本能否长期承受。因此，企业</a:t>
            </a:r>
            <a:r>
              <a:rPr lang="en-US" altLang="zh-CN" dirty="0"/>
              <a:t>AI</a:t>
            </a:r>
            <a:r>
              <a:rPr lang="zh-CN" altLang="en-US" dirty="0"/>
              <a:t>竞争正在从单点模型能力，转向人才、场景、数据、工程、治理和运营的综合竞争。技术可以买到，平台可以部署，但能够理解业务、完成工程交付并承担治理责任的人才体系，很难通过一次采购自然形成，这正是人才建设需要提前布局的原因。</a:t>
            </a:r>
            <a:br>
              <a:rPr lang="en-US" altLang="zh-CN" dirty="0"/>
            </a:b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转场：</a:t>
            </a:r>
            <a:r>
              <a:rPr lang="zh-CN" altLang="en-US" dirty="0"/>
              <a:t>不同企业、甚至同一集团的不同部门，所处阶段并不相同。</a:t>
            </a:r>
          </a:p>
        </p:txBody>
      </p:sp>
    </p:spTree>
    <p:extLst>
      <p:ext uri="{BB962C8B-B14F-4D97-AF65-F5344CB8AC3E}">
        <p14:creationId xmlns:p14="http://schemas.microsoft.com/office/powerpoint/2010/main" val="2009481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2554A-58B3-191D-B58C-FA823D7EB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52F65D-3EC9-EEBC-7E95-F21432574C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1F66F6-66AF-1FEC-583A-65C99625CCC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我们把企业</a:t>
            </a:r>
            <a:r>
              <a:rPr lang="en-US" altLang="zh-CN" dirty="0"/>
              <a:t>AI</a:t>
            </a:r>
            <a:r>
              <a:rPr lang="zh-CN" altLang="en-US" dirty="0"/>
              <a:t>建设概括为四个阶段。第一阶段是分散探索，员工个人使用工具，重点是认知、安全和结果核验；第二阶段是场景试点，企业开始围绕客服、营销、研发、运营或职能任务做原型，需要业务人员定义场景、技术人员接入知识和工具；第三阶段是部门复制，应用进入多人协同和实际流程，要求具备工程交付、测试评估、权限管理和运维能力；第四阶段是规模运营，企业需要统一架构、标准治理、成本控制和持续迭代。大型集团往往四个阶段同时存在：总部可能在规划治理体系，某些部门已经规模应用，另一些单位仍处于工具启蒙。因此我们不建议用一套课程覆盖所有人，而是先判断部门阶段、岗位任务和风险等级，再配置不同的人才层级、培养深度与建设节奏。这样既避免培训过浅，也避免一开始就投入过重。</a:t>
            </a:r>
            <a:br>
              <a:rPr lang="en-US" altLang="zh-CN" dirty="0"/>
            </a:br>
            <a:r>
              <a:rPr lang="zh-CN" altLang="en-US" dirty="0"/>
              <a:t>**转场：** 结合这些阶段，我们再看企业当前最典型的能力断点。</a:t>
            </a:r>
          </a:p>
        </p:txBody>
      </p:sp>
    </p:spTree>
    <p:extLst>
      <p:ext uri="{BB962C8B-B14F-4D97-AF65-F5344CB8AC3E}">
        <p14:creationId xmlns:p14="http://schemas.microsoft.com/office/powerpoint/2010/main" val="28997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115BE-44DC-A6F5-546F-87C8A4CA3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E5C40F-1DCC-705F-D9FC-C1D07AD686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846D71-32BD-315A-4DEE-782EC4CF0C1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大型企业常见的问题可以归纳为五类。第一，全员会使用工具，但不会组织任务、提供上下文、核验结果，也不清楚数据边界，形成效率与风险并存；第二，业务人员有经验，却难以把流程、指标和决策规则转化为可实施的</a:t>
            </a:r>
            <a:r>
              <a:rPr lang="en-US" altLang="zh-CN" dirty="0"/>
              <a:t>AI</a:t>
            </a:r>
            <a:r>
              <a:rPr lang="zh-CN" altLang="en-US" dirty="0"/>
              <a:t>需求，导致项目反复；第三，技术人员能够调用模型，但在知识增强、工具集成、评测优化、异常处理和稳定交付方面仍有断层，项目容易停在演示阶段；第四，课程、岗位、能力等级和人才选拔之间缺少统一标准，管理层不知道“谁真正能承担项目”；第五，学习、认证、项目和运营彼此割裂，培训结束后没有资产、没有复用、也没有后续机制。对头部企业而言，这些问题直接影响</a:t>
            </a:r>
            <a:r>
              <a:rPr lang="en-US" altLang="zh-CN" dirty="0"/>
              <a:t>AI</a:t>
            </a:r>
            <a:r>
              <a:rPr lang="zh-CN" altLang="en-US" dirty="0"/>
              <a:t>投资回报：项目周期被拉长，重复建设增加，风险暴露变大，优秀经验无法跨部门复制。因此需要的不是更多零散课程，而是一套贯通使用、建设、评价、选人和运营的完整体系。</a:t>
            </a:r>
            <a:br>
              <a:rPr lang="en-US" altLang="zh-CN" dirty="0"/>
            </a:b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转场：</a:t>
            </a:r>
            <a:r>
              <a:rPr lang="zh-CN" altLang="en-US" dirty="0"/>
              <a:t>基于这些问题，下面明确本方案的建设定位。</a:t>
            </a:r>
            <a:r>
              <a:rPr lang="en-US" altLang="zh-CN" dirty="0"/>
              <a:t>## </a:t>
            </a:r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页｜方案定位与目标</a:t>
            </a:r>
          </a:p>
        </p:txBody>
      </p:sp>
    </p:spTree>
    <p:extLst>
      <p:ext uri="{BB962C8B-B14F-4D97-AF65-F5344CB8AC3E}">
        <p14:creationId xmlns:p14="http://schemas.microsoft.com/office/powerpoint/2010/main" val="896779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2B6B4-69BC-24E1-EDBA-DEFD1B03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FA34F4-DC96-6BC8-FB6C-1D714D04F9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5D8E91-A525-3201-20AD-7E49F5441F8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本方案的定位可以概括为一句话：建设与企业</a:t>
            </a:r>
            <a:r>
              <a:rPr lang="en-US" altLang="zh-CN" dirty="0"/>
              <a:t>AI</a:t>
            </a:r>
            <a:r>
              <a:rPr lang="zh-CN" altLang="en-US" dirty="0"/>
              <a:t>应用相匹配的人才和组织能力体系。它覆盖人才标准、课程学习、场景实践、项目实训、能力评价、认证管理、产品支撑和运营机制八个方面，服务对象既包括广泛员工和业务骨干，也包括开发、集成、架构、平台运营和培养管理人员。我们希望形成四类结果：第一，更多员工能够在安全边界内使用</a:t>
            </a:r>
            <a:r>
              <a:rPr lang="en-US" altLang="zh-CN" dirty="0"/>
              <a:t>AI</a:t>
            </a:r>
            <a:r>
              <a:rPr lang="zh-CN" altLang="en-US" dirty="0"/>
              <a:t>完成真实岗位任务；第二，建立</a:t>
            </a:r>
            <a:r>
              <a:rPr lang="en-US" altLang="zh-CN" dirty="0"/>
              <a:t>ADEA</a:t>
            </a:r>
            <a:r>
              <a:rPr lang="zh-CN" altLang="en-US" dirty="0"/>
              <a:t>、</a:t>
            </a:r>
            <a:r>
              <a:rPr lang="en-US" altLang="zh-CN" dirty="0"/>
              <a:t>ADEP</a:t>
            </a:r>
            <a:r>
              <a:rPr lang="zh-CN" altLang="en-US" dirty="0"/>
              <a:t>、</a:t>
            </a:r>
            <a:r>
              <a:rPr lang="en-US" altLang="zh-CN" dirty="0"/>
              <a:t>ADEE</a:t>
            </a:r>
            <a:r>
              <a:rPr lang="zh-CN" altLang="en-US" dirty="0"/>
              <a:t>三级专业人才梯队；第三，围绕真实业务形成可运行、可测试、可交付的智能体成果；第四，把项目经验进一步沉淀为标准、档案、案例、治理规范和持续运营机制。这里也需要明确边界：人才培养不能代替企业战略、生产系统和业务制度建设，但可以为这些工作准备合适的人、可复用的方法和可信的项目证据。</a:t>
            </a:r>
            <a:br>
              <a:rPr lang="en-US" altLang="zh-CN" dirty="0"/>
            </a:b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转场：</a:t>
            </a:r>
            <a:r>
              <a:rPr lang="zh-CN" altLang="en-US" dirty="0"/>
              <a:t>这八项建设内容如何形成一个整体，可以看总体蓝图。</a:t>
            </a:r>
          </a:p>
        </p:txBody>
      </p:sp>
    </p:spTree>
    <p:extLst>
      <p:ext uri="{BB962C8B-B14F-4D97-AF65-F5344CB8AC3E}">
        <p14:creationId xmlns:p14="http://schemas.microsoft.com/office/powerpoint/2010/main" val="1871465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BD5B4-208D-1BE6-6E4B-E8D3B66ED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65782C-59A2-AD23-3067-C4292395B2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272C51-CE6E-43C7-ABC5-ACA8902E49B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总体蓝图可以理解为“一个目标、四类人才、五项任务、双产品支撑和一个运营闭环”。一个目标，是让</a:t>
            </a:r>
            <a:r>
              <a:rPr lang="en-US" altLang="zh-CN" dirty="0"/>
              <a:t>AI</a:t>
            </a:r>
            <a:r>
              <a:rPr lang="zh-CN" altLang="en-US" dirty="0"/>
              <a:t>安全、有效、可持续地进入岗位与业务流程；四类人才，是全员应用层和</a:t>
            </a:r>
            <a:r>
              <a:rPr lang="en-US" altLang="zh-CN" dirty="0"/>
              <a:t>ADEA</a:t>
            </a:r>
            <a:r>
              <a:rPr lang="zh-CN" altLang="en-US" dirty="0"/>
              <a:t>、</a:t>
            </a:r>
            <a:r>
              <a:rPr lang="en-US" altLang="zh-CN" dirty="0"/>
              <a:t>ADEP</a:t>
            </a:r>
            <a:r>
              <a:rPr lang="zh-CN" altLang="en-US" dirty="0"/>
              <a:t>、</a:t>
            </a:r>
            <a:r>
              <a:rPr lang="en-US" altLang="zh-CN" dirty="0"/>
              <a:t>ADEE</a:t>
            </a:r>
            <a:r>
              <a:rPr lang="zh-CN" altLang="en-US" dirty="0"/>
              <a:t>三级专业人才；五项任务，分别是能力标准、课程培养、场景实训、评价认证和运营进阶；双产品连接员工日常应用与专业人才工程训练；最终通过学习、实践、评价、认证、项目和人才发展的闭环持续运行。对于大型企业，这张蓝图的价值是把原本分散在人力、业务、科技、数据和安全部门的事项放到同一体系下。企业输入战略方向、重点场景、人员基础、数据系统条件和治理要求，体系输出人才梯队、岗位案例、智能体项目、认证结果、人才画像和治理资产。项目范围可以裁剪，但人才、项目、评价和运营之间的逻辑不能被割裂。</a:t>
            </a:r>
            <a:br>
              <a:rPr lang="en-US" altLang="zh-CN" dirty="0"/>
            </a:b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转场：</a:t>
            </a:r>
            <a:r>
              <a:rPr lang="zh-CN" altLang="en-US" dirty="0"/>
              <a:t>在人才侧，我们用四个容易理解的层级定义成长路径。</a:t>
            </a:r>
          </a:p>
        </p:txBody>
      </p:sp>
    </p:spTree>
    <p:extLst>
      <p:ext uri="{BB962C8B-B14F-4D97-AF65-F5344CB8AC3E}">
        <p14:creationId xmlns:p14="http://schemas.microsoft.com/office/powerpoint/2010/main" val="3917591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7F69B-05CA-11AE-3BB6-48E6D5C16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5F4AC8-A373-1C65-C8BB-FFA184FF0B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E27524-3449-C36F-CD80-8046EAC315F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第一层是“会用</a:t>
            </a:r>
            <a:r>
              <a:rPr lang="en-US" altLang="zh-CN" dirty="0"/>
              <a:t>AI”</a:t>
            </a:r>
            <a:r>
              <a:rPr lang="zh-CN" altLang="en-US" dirty="0"/>
              <a:t>，面向广泛员工，要求能够正确表达任务、组织资料、核验结果并遵守安全边界；第二层是“会搭助手”，对应</a:t>
            </a:r>
            <a:r>
              <a:rPr lang="en-US" altLang="zh-CN" dirty="0"/>
              <a:t>ADEA</a:t>
            </a:r>
            <a:r>
              <a:rPr lang="zh-CN" altLang="en-US" dirty="0"/>
              <a:t>，能够围绕单一场景组合提示、知识、工具和基础流程，形成可运行的</a:t>
            </a:r>
            <a:r>
              <a:rPr lang="en-US" altLang="zh-CN" dirty="0"/>
              <a:t>AI</a:t>
            </a:r>
            <a:r>
              <a:rPr lang="zh-CN" altLang="en-US" dirty="0"/>
              <a:t>助手；第三层是“会做项目”，对应</a:t>
            </a:r>
            <a:r>
              <a:rPr lang="en-US" altLang="zh-CN" dirty="0"/>
              <a:t>ADEP</a:t>
            </a:r>
            <a:r>
              <a:rPr lang="zh-CN" altLang="en-US" dirty="0"/>
              <a:t>，要解决复杂流程、系统集成、评测优化、上线交付和运维准备；第四层是“会促转型”，对应</a:t>
            </a:r>
            <a:r>
              <a:rPr lang="en-US" altLang="zh-CN" dirty="0"/>
              <a:t>ADEE</a:t>
            </a:r>
            <a:r>
              <a:rPr lang="zh-CN" altLang="en-US" dirty="0"/>
              <a:t>，负责企业级架构、资源策略、风险治理、成本与运营机制。这里不是要求所有员工都成长为架构师，而是按照岗位责任设置入口和终点。业务人员提供真实场景，</a:t>
            </a:r>
            <a:r>
              <a:rPr lang="en-US" altLang="zh-CN" dirty="0"/>
              <a:t>ADEA</a:t>
            </a:r>
            <a:r>
              <a:rPr lang="zh-CN" altLang="en-US" dirty="0"/>
              <a:t>完成原型，</a:t>
            </a:r>
            <a:r>
              <a:rPr lang="en-US" altLang="zh-CN" dirty="0"/>
              <a:t>ADEP</a:t>
            </a:r>
            <a:r>
              <a:rPr lang="zh-CN" altLang="en-US" dirty="0"/>
              <a:t>负责复杂交付，</a:t>
            </a:r>
            <a:r>
              <a:rPr lang="en-US" altLang="zh-CN" dirty="0"/>
              <a:t>ADEE</a:t>
            </a:r>
            <a:r>
              <a:rPr lang="zh-CN" altLang="en-US" dirty="0"/>
              <a:t>把握总体路线和重大风险。这样既避免全员技术化，也避免技术团队脱离业务闭门建设。</a:t>
            </a:r>
            <a:br>
              <a:rPr lang="en-US" altLang="zh-CN" dirty="0"/>
            </a:b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转场：</a:t>
            </a:r>
            <a:r>
              <a:rPr lang="zh-CN" altLang="en-US" dirty="0"/>
              <a:t>有了分层，还需要一套真正能够持续运行的培养闭环。</a:t>
            </a:r>
          </a:p>
        </p:txBody>
      </p:sp>
    </p:spTree>
    <p:extLst>
      <p:ext uri="{BB962C8B-B14F-4D97-AF65-F5344CB8AC3E}">
        <p14:creationId xmlns:p14="http://schemas.microsoft.com/office/powerpoint/2010/main" val="2265209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B7886-DE7E-E234-8305-830949BD1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218D38-E5E0-A031-B1C4-888A529AA1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147DD3-86FD-422D-0FB9-FBCD41C950A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我们的培养不以“听完课程”为终点。第一步是分层学习，建立必要的知识与方法基础；第二步进入场景实践和项目实训，围绕真实或高仿真任务完成需求、设计、构建、调试与提交；第三步通过考试、实操、测试证据、项目作品和答辩综合评价，而不是只看学习时长；第四步把能力结论、项目经历和认证结果进入人才档案，用于项目选人和进阶培养；第五步回到业务应用，通过使用反馈和项目复盘更新课程、测试集和标准。对于大型企业，闭环能否运行取决于责任是否清楚：培训管理者管组织进度，业务导师判断场景价值，技术导师指导工程方法，评审人依据量规评价，平台主管记录资源和数据。只有角色、标准、证据和反馈同时存在，培训投入才会沉淀为组织能力。</a:t>
            </a:r>
            <a:br>
              <a:rPr lang="en-US" altLang="zh-CN" dirty="0"/>
            </a:b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转场：</a:t>
            </a:r>
            <a:r>
              <a:rPr lang="zh-CN" altLang="en-US" dirty="0"/>
              <a:t>接下来分别看四类人才如何培养，先从覆盖面最大的全员应用层开始。</a:t>
            </a:r>
          </a:p>
        </p:txBody>
      </p:sp>
    </p:spTree>
    <p:extLst>
      <p:ext uri="{BB962C8B-B14F-4D97-AF65-F5344CB8AC3E}">
        <p14:creationId xmlns:p14="http://schemas.microsoft.com/office/powerpoint/2010/main" val="2390214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DFE2B-DDCD-BF1F-6B20-E56F98EA7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194B3C-F43F-D61E-BF59-0FC33E148B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B8818F-E3A8-7A80-F371-2D68CFCCA4D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全员培养的目标不是让每个人学习复杂模型原理，而是让员工在明确边界内安全、高效地完成真实岗位任务。内容包括</a:t>
            </a:r>
            <a:r>
              <a:rPr lang="en-US" altLang="zh-CN" dirty="0"/>
              <a:t>AI</a:t>
            </a:r>
            <a:r>
              <a:rPr lang="zh-CN" altLang="en-US" dirty="0"/>
              <a:t>能力边界、提示与人机协作、资料组织、结果核验、数据安全，以及会议纪要、汇报材料、邮件、信息分析、</a:t>
            </a:r>
            <a:r>
              <a:rPr lang="en-US" altLang="zh-CN" dirty="0"/>
              <a:t>PPT</a:t>
            </a:r>
            <a:r>
              <a:rPr lang="zh-CN" altLang="en-US" dirty="0"/>
              <a:t>和表格等高频场景。实施上采用短课、示范、上机、岗位作业和部门分享相结合，每名员工至少完成一个真实任务，形成可复用的提示模板、岗位案例或标准工作方法。评价也不能只看登录量和考试分数，而要看任务是否真实，使用前后时间或质量是否改善，结果有没有人工核验，方法能否被同岗位人员复用。高价值需求则进入专业项目候选库，让全员应用成为企业发现场景和识别人才的入口。</a:t>
            </a:r>
            <a:br>
              <a:rPr lang="en-US" altLang="zh-CN" dirty="0"/>
            </a:b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转场：</a:t>
            </a:r>
            <a:r>
              <a:rPr lang="zh-CN" altLang="en-US" dirty="0"/>
              <a:t>从全员中筛选出的种子人员，可以进入</a:t>
            </a:r>
            <a:r>
              <a:rPr lang="en-US" altLang="zh-CN" dirty="0"/>
              <a:t>ADEA</a:t>
            </a:r>
            <a:r>
              <a:rPr lang="zh-CN" altLang="en-US" dirty="0"/>
              <a:t>阶段。</a:t>
            </a:r>
          </a:p>
        </p:txBody>
      </p:sp>
    </p:spTree>
    <p:extLst>
      <p:ext uri="{BB962C8B-B14F-4D97-AF65-F5344CB8AC3E}">
        <p14:creationId xmlns:p14="http://schemas.microsoft.com/office/powerpoint/2010/main" val="4197032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2EDE4-ECE3-DDB4-ADD4-BF003AC71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54DB6E-27F0-984E-DC84-B6B2BFE967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15FF66-2DED-57CF-5F1A-8361DAB01C1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ADEA</a:t>
            </a:r>
            <a:r>
              <a:rPr lang="zh-CN" altLang="en-US" dirty="0"/>
              <a:t>面向初级技术人员、数字化人员和业务技术骨干，目标是完整交付一个边界清晰的单场景助手。学员需要掌握提示工程、知识库与</a:t>
            </a:r>
            <a:r>
              <a:rPr lang="en-US" altLang="zh-CN" dirty="0"/>
              <a:t>RAG</a:t>
            </a:r>
            <a:r>
              <a:rPr lang="zh-CN" altLang="en-US" dirty="0"/>
              <a:t>基础、工具调用、</a:t>
            </a:r>
            <a:r>
              <a:rPr lang="en-US" altLang="zh-CN" dirty="0"/>
              <a:t>MCP</a:t>
            </a:r>
            <a:r>
              <a:rPr lang="zh-CN" altLang="en-US" dirty="0"/>
              <a:t>、基础工作流、调试测试、安全检查和发布方法。项目优先选择高频、流程稳定、信息来源清楚、风险可控的任务，例如制度问答、资料整理、内容初稿或标准化信息处理。最终成果不只是一个可以演示的助手，还包括场景说明、输入输出要求、知识来源、测试记录、安全边界、使用说明和维护建议。我们重点验证学员能否完成从需求到构建、测试和说明的完整过程，为企业形成第一批既懂业务又能动手的智能体工程种子人才。</a:t>
            </a:r>
            <a:br>
              <a:rPr lang="en-US" altLang="zh-CN" dirty="0"/>
            </a:b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转场：</a:t>
            </a:r>
            <a:r>
              <a:rPr lang="zh-CN" altLang="en-US" dirty="0"/>
              <a:t>当场景开始跨系统、跨流程并面向多人使用，就需要</a:t>
            </a:r>
            <a:r>
              <a:rPr lang="en-US" altLang="zh-CN" dirty="0"/>
              <a:t>ADEP</a:t>
            </a:r>
            <a:r>
              <a:rPr lang="zh-CN" altLang="en-US" dirty="0"/>
              <a:t>能力。</a:t>
            </a:r>
          </a:p>
        </p:txBody>
      </p:sp>
    </p:spTree>
    <p:extLst>
      <p:ext uri="{BB962C8B-B14F-4D97-AF65-F5344CB8AC3E}">
        <p14:creationId xmlns:p14="http://schemas.microsoft.com/office/powerpoint/2010/main" val="14816750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63E97-8A87-6CBF-495A-43AF621D4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1D7677-FEB7-C272-893D-1FD472A41E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FEE4F5-0F7E-A450-1CD6-02EFEEFD7E5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ADEP</a:t>
            </a:r>
            <a:r>
              <a:rPr lang="zh-CN" altLang="en-US" dirty="0"/>
              <a:t>的核心不是“能把智能体跑起来”，而是“能在真实环境中交付并维护”。培养内容覆盖复杂流程拆解、工作流和多智能体编排、企业知识检索、系统接口、</a:t>
            </a:r>
            <a:r>
              <a:rPr lang="en-US" altLang="zh-CN" dirty="0"/>
              <a:t>MCP</a:t>
            </a:r>
            <a:r>
              <a:rPr lang="zh-CN" altLang="en-US" dirty="0"/>
              <a:t>服务、测试集设计、评测优化、权限日志、异常处理、部署回退和持续运营。学员要在准确性、稳定性、安全性、成本和可维护性之间作出工程取舍，并形成需求说明、总体与接口设计、测试集、评测报告、安全说明、部署方案和交付材料。对大型企业，这一级人才尤其关键，因为绝大多数</a:t>
            </a:r>
            <a:r>
              <a:rPr lang="en-US" altLang="zh-CN" dirty="0"/>
              <a:t>AI</a:t>
            </a:r>
            <a:r>
              <a:rPr lang="zh-CN" altLang="en-US" dirty="0"/>
              <a:t>项目失败并不是模型完全不可用，而是缺少工程证据、失败处理、权限控制和运维交接。</a:t>
            </a:r>
            <a:r>
              <a:rPr lang="en-US" altLang="zh-CN" dirty="0"/>
              <a:t>ADEP</a:t>
            </a:r>
            <a:r>
              <a:rPr lang="zh-CN" altLang="en-US" dirty="0"/>
              <a:t>评价以项目事实和答辩为主，确认人员是否真正具备独立承担复杂交付任务的能力。</a:t>
            </a:r>
            <a:br>
              <a:rPr lang="en-US" altLang="zh-CN" dirty="0"/>
            </a:b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转场：</a:t>
            </a:r>
            <a:r>
              <a:rPr lang="zh-CN" altLang="en-US" dirty="0"/>
              <a:t>再往上，是负责集团化路线和规模治理的</a:t>
            </a:r>
            <a:r>
              <a:rPr lang="en-US" altLang="zh-CN" dirty="0"/>
              <a:t>ADEE</a:t>
            </a:r>
            <a:r>
              <a:rPr lang="zh-CN" altLang="en-US" dirty="0"/>
              <a:t>人才。</a:t>
            </a:r>
          </a:p>
        </p:txBody>
      </p:sp>
    </p:spTree>
    <p:extLst>
      <p:ext uri="{BB962C8B-B14F-4D97-AF65-F5344CB8AC3E}">
        <p14:creationId xmlns:p14="http://schemas.microsoft.com/office/powerpoint/2010/main" val="29431223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38723-315F-875C-9106-F48A337CC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3C862C-95FB-EBA3-BBC1-500B4BBF52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8227D2-2DED-3F12-928E-4434F1952C0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ADEE</a:t>
            </a:r>
            <a:r>
              <a:rPr lang="zh-CN" altLang="en-US" dirty="0"/>
              <a:t>面向架构师、技术负责人、</a:t>
            </a:r>
            <a:r>
              <a:rPr lang="en-US" altLang="zh-CN" dirty="0"/>
              <a:t>AI</a:t>
            </a:r>
            <a:r>
              <a:rPr lang="zh-CN" altLang="en-US" dirty="0"/>
              <a:t>平台主管和重大项目负责人。高级人才不仅理解模型、知识、工具和系统集成，更要能从企业视角设计公共能力和演进架构，确定模型选择、资源配置、成本优化、数据权限、风险分级和运营机制。培养围绕真实约束进行，例如预算变化、模型替换、敏感数据限制、跨部门协同或系统故障，要求学员平衡业务价值、技术可行性、安全风险和建设节奏。代表性成果包括企业</a:t>
            </a:r>
            <a:r>
              <a:rPr lang="en-US" altLang="zh-CN" dirty="0"/>
              <a:t>AI</a:t>
            </a:r>
            <a:r>
              <a:rPr lang="zh-CN" altLang="en-US" dirty="0"/>
              <a:t>总体架构、重点场景组合、模型与资源策略、治理规范、组织分工及分阶段路线。对于头部企业，</a:t>
            </a:r>
            <a:r>
              <a:rPr lang="en-US" altLang="zh-CN" dirty="0"/>
              <a:t>ADEE</a:t>
            </a:r>
            <a:r>
              <a:rPr lang="zh-CN" altLang="en-US" dirty="0"/>
              <a:t>的意义在于减少重复投资、避免架构碎片化，并让不同业务单元在统一底线下保持创新空间。</a:t>
            </a:r>
            <a:br>
              <a:rPr lang="en-US" altLang="zh-CN" dirty="0"/>
            </a:b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转场：</a:t>
            </a:r>
            <a:r>
              <a:rPr lang="zh-CN" altLang="en-US" dirty="0"/>
              <a:t>四类人才的成长，需要课程、项目和资源体系共同支撑。</a:t>
            </a:r>
          </a:p>
        </p:txBody>
      </p:sp>
    </p:spTree>
    <p:extLst>
      <p:ext uri="{BB962C8B-B14F-4D97-AF65-F5344CB8AC3E}">
        <p14:creationId xmlns:p14="http://schemas.microsoft.com/office/powerpoint/2010/main" val="3573681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9BCAB-057C-D98A-266F-E538BA9C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E60D24-47C4-48FA-D082-87E1A3C640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9E0D10-9264-4D8C-B585-F6DCFDDB99E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课程体系从基础认知与安全使用开始，逐步进入提示工程、知识增强、工具调用、工作流、多智能体、评估测试、系统集成、发布运营、治理和总体架构。但大型企业真正需要的不只是课程清单，还包括实验环境、场景库、项目库、测试集、评价量规、案例模板和交付文档。我们的原则是“岗位需要什么就学什么，项目推进到哪里就练什么”。通用方法可以标准化，行业知识、企业制度、数据样本、流程与接口则结合客户环境定制，并建立脱敏、授权、版本、额度和归档机制。这样才能让资源持续复用，而不是项目结束后留下一批无人维护的材料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转场：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在评价侧，我们用微认证与ADE三级认证建立统一能力语言。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25980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8339C-5EAB-CACE-5C0E-51F15E1B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06FE46-AA35-21B4-EA5E-2CC068DD15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075300-A1A0-A1B5-A338-9ED9426EF06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微认证面向广泛员工，验证AI认知、岗位提效、结果核验和安全使用；ADEA验证单场景助手构建；ADEP验证复杂应用的集成、评测与交付；ADEE验证总体架构、治理和规模运营。认证的价值不是增加证书数量，而是让课程、实训、项目评价和人才发展使用同一套能力语言。企业可以将结果用于培养推荐、项目角色匹配和人才盘点，但我们不建议把一次认证直接等同于岗位任职资格，还应结合项目作品、业务反馈和持续贡献。已有经验的人员可以通过能力摸底与作品审核进入合适层级，未通过人员则获得具体补训建议，使认证成为人才成长工具，而不是一次性筛选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转场：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为提高认证结果的可信度，还需要完整的质量保障机制。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34566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D005D-4861-7882-88C9-57271434F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838A6F-B5EA-3160-39FE-A0D68B5E11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C61589-7576-D8C2-0A0B-B5180729EE2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对应等级的统一考核可形成360 ADE认证与工信部NITE专业技能证书两类成果，兼顾智能体工程能力识别和专业技能记录。其核心价值是统一标准、减少重复考核，并方便进入企业人才档案。质量保障覆盖能力摸底、分级选班、学习实训、过程记录、考试实操、项目作品、答辩评审、结果复核与证书管理。重要项目可以采用双人评审或抽查复核，评分必须保留事实依据。对于企业定制场景，还需提前确认数据脱敏、材料授权和成果知识产权。证书名称、发证条件与查询规则以项目启动时的官方规定为准，我们会在实施前与客户共同确认，确保表达严谨、结果可信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转场：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下面介绍支撑培养与业务落地的双产品体系。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65515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C2C67-65AE-EFD1-6E62-69B4B2D2F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0BCB4C-24D2-90E5-AAAF-D56C6ECC5C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8436D0-FD0A-9E12-FA81-21FFB66FA77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纳米</a:t>
            </a:r>
            <a:r>
              <a:rPr lang="en-US" altLang="zh-CN" dirty="0"/>
              <a:t>Work</a:t>
            </a:r>
            <a:r>
              <a:rPr lang="zh-CN" altLang="en-US" dirty="0"/>
              <a:t>主要解决“员工如何在真实工作中用起来”，智能体应用开发实训平台主要解决“专业人才如何练出来、评出来并完成交付”。前者更接近日常岗位、团队协作和场景发现，后者强调受控训练、工程验证、测试评价与教学运营。两者不是孤立的功能平台，而是一条人才和成果流动链路：员工在工作中发现高价值场景，专业团队在实训平台中完成设计、构建和验证，成熟成果经过业务验收与安全审核后再回到实际应用。对于大型企业，我们会根据组织层级、部署模式、数据权限和系统接口进行配置设计，不追求一次性开放全部能力，而是让产品范围与人才成熟度和治理能力同步增长。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11576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72010-BA1B-BA27-1496-0934A9D11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9799CA-61C9-AC0A-0C0E-EE2D7E73EA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0AB4A7-A880-F4E1-3F97-2006F749362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44970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7D7C2-AE49-3164-AEF5-5A792EA56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0E4405-869B-F631-A8D2-89EE59DD71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335352-624F-C4B5-B4C9-6CE377DD51E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纳米</a:t>
            </a:r>
            <a:r>
              <a:rPr lang="en-US" altLang="zh-CN" dirty="0"/>
              <a:t>Work</a:t>
            </a:r>
            <a:r>
              <a:rPr lang="zh-CN" altLang="en-US" dirty="0"/>
              <a:t>让员工围绕真实任务使用对话、专家、技能、项目、知识库、连接和自动化能力。我们在培养中采用“学会一次、完成一例、沉淀一项、分享一次”的机制：员工先掌握方法和安全边界，再完成高频岗位任务，对比使用前后的时间、质量与差错，把有效方法沉淀为提示、专家、技能或标准流程，并经过部门评审进入组织共享。共享前要检查适用范围、知识来源、敏感信息、输出稳定性、维护责任和使用说明。大型企业可以先从通用办公和低风险任务启动，再逐渐进入部门专业场景。涉及客户承诺、资金、隐私或重要决策的任务，必须保留人工确认节点，让效率提升始终建立在可控和可追溯基础上。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64618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CF9C6-1FCA-FF29-0F50-F7EFCEAC9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810C5-28C8-D637-D24C-35C134CD7A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3BD2E4-20C8-F9F4-ECD4-FECE734EA6C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26433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71FC6-3DE1-3B58-7B48-00CF8DD66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FC907F-77EB-BD4E-6ABC-AA68FD64AF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466EDE-2643-689C-82EF-F4D83EB0C38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训平台把课程、实验环境、项目任务、模型算力、数据知识、工具与MCP、构建调试、测试评测和教学运营组合在统一环境中，支持ADEA、ADEP和ADEE不同深度的训练。平台强调受控训练，而不是直接复制生产系统：敏感数据使用脱敏样本，外部连接经过审核，模型调用设置额度与日志，实训环境与生产环境保持隔离。验收也不能只看功能菜单，而要跑通完整任务：学员能否领取项目、使用授权资源、提交作品和测试证据；导师能否指导；评审人能否依据量规评分；管理员能否查看进度、认证结果和人才画像。只有课程、环境、项目、评价和运营同时可用，平台才真正成为企业专业人才培养底座。</a:t>
            </a:r>
          </a:p>
        </p:txBody>
      </p:sp>
    </p:spTree>
    <p:extLst>
      <p:ext uri="{BB962C8B-B14F-4D97-AF65-F5344CB8AC3E}">
        <p14:creationId xmlns:p14="http://schemas.microsoft.com/office/powerpoint/2010/main" val="4262148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61584-0B1A-2B35-D973-28E6F937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872CD8-2EBF-5ED4-A991-F0DE1CE7D6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3D1557-B696-52C6-88F1-BE64F2E6FA8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第一阶段是试点验证，选择少量代表性部门和岗位，开展全员基础培养、纳米</a:t>
            </a:r>
            <a:r>
              <a:rPr lang="en-US" altLang="zh-CN" dirty="0"/>
              <a:t>Work</a:t>
            </a:r>
            <a:r>
              <a:rPr lang="zh-CN" altLang="en-US" dirty="0"/>
              <a:t>实践和</a:t>
            </a:r>
            <a:r>
              <a:rPr lang="en-US" altLang="zh-CN" dirty="0"/>
              <a:t>ADEA</a:t>
            </a:r>
            <a:r>
              <a:rPr lang="zh-CN" altLang="en-US" dirty="0"/>
              <a:t>试点，验证安全边界、课程适配、支持流程和首批成果；第二阶段是规模推进，扩大部门覆盖，围绕高价值场景启动</a:t>
            </a:r>
            <a:r>
              <a:rPr lang="en-US" altLang="zh-CN" dirty="0"/>
              <a:t>ADEP</a:t>
            </a:r>
            <a:r>
              <a:rPr lang="zh-CN" altLang="en-US" dirty="0"/>
              <a:t>项目，建立案例评审、人才档案和项目选人机制；第三阶段是体系完善，开展</a:t>
            </a:r>
            <a:r>
              <a:rPr lang="en-US" altLang="zh-CN" dirty="0"/>
              <a:t>ADEE</a:t>
            </a:r>
            <a:r>
              <a:rPr lang="zh-CN" altLang="en-US" dirty="0"/>
              <a:t>培养，形成总体架构、技术标准、安全治理、成本管理和跨部门运营；第四阶段进入持续运营，定期更新课程、项目、模型、资源和评价标准。每个阶段都要设置进入下一阶段的条件，例如人员完成质量、项目测试结果、业务反馈、安全问题和运营支持能力。没有达到条件的部分可以补训、缩小范围或延长试运行。这样的建设方式更适合大型企业控制投资节奏，也能避免机制尚未成熟时盲目追求覆盖人数。</a:t>
            </a:r>
            <a:br>
              <a:rPr lang="en-US" altLang="zh-CN" dirty="0"/>
            </a:br>
            <a:r>
              <a:rPr lang="zh-CN" altLang="en-US" dirty="0"/>
              <a:t>最后，我们用客户可以检查和验收的成果来衡量项目价值。</a:t>
            </a:r>
          </a:p>
        </p:txBody>
      </p:sp>
    </p:spTree>
    <p:extLst>
      <p:ext uri="{BB962C8B-B14F-4D97-AF65-F5344CB8AC3E}">
        <p14:creationId xmlns:p14="http://schemas.microsoft.com/office/powerpoint/2010/main" val="37898161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501FA-666D-1D1F-5B5E-ADF772405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F8F903-0A83-E14B-7FD9-5959269FA2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99879A-4758-3461-6795-230DFBB2E57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项目最终交付四类成果。第一是人才成果，包括人员清单、能力评价、认证结果、项目经历和动态人才画像；第二是课程与资源成果，包括分层课程、实验、场景库、项目库、测试集和评价量规；第三是业务成果，包括岗位提效案例、可运行助手、复杂应用、评测报告、交付文档、总体架构和治理方案；第四是组织机制，包括导师与评审人队伍、项目选人、资产发布、安全审查、复训更新和年度运营。验收不仅检查平台账号与功能，更要验证学习、实践、测试、评价、发布和运营流程是否真正跑通。方案的优势在于覆盖全员与专业人才，以真实项目和证据评价能力，用双产品连接学习与工作，并把安全治理贯穿全程。对效率、复用率、人才进阶和业务采用等长期指标，我们建议先建立基线，再按季度或阶段复盘，避免把短期培训数据夸大为长期价值。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06028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4CA4F-1D63-82E2-BAD8-8D00495A8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8510C2-4B56-4AB5-1503-AC7800E25E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B3CFBD-D443-4BF2-3D61-D44143E39A5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企业AI建设的最终成果，不是听过多少课程、开通多少账号，而是形成一批能够安全使用AI的员工，一支能够建设和交付智能体应用的专业队伍，一套能够识别和发展人才的标准，以及持续产生业务成果的组织机制。我们建议贵司不要从“大规模培训多少人”开始讨论，而是先完成三个动作：第一，识别企业当前阶段和重点部门；第二，选择一批真实、高价值且风险可控的场景；第三，确定首批培养对象、产品配置和验收标准。在此基础上，用一个可控试点形成首批人员、项目、资产和机制，再决定下一阶段投入。下一步，我们建议与贵司共同开展人才与场景调研，形成更贴合行业、组织和系统环境的试点实施方案。谢谢大家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43466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2.svg"/><Relationship Id="rId4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2.svg"/><Relationship Id="rId4" Type="http://schemas.openxmlformats.org/officeDocument/2006/relationships/image" Target="../media/image1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3.svg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5" Type="http://schemas.openxmlformats.org/officeDocument/2006/relationships/image" Target="../media/image3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23.xml"/><Relationship Id="rId7" Type="http://schemas.openxmlformats.org/officeDocument/2006/relationships/image" Target="../media/image3.sv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4.xml"/><Relationship Id="rId9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3.svg"/><Relationship Id="rId4" Type="http://schemas.openxmlformats.org/officeDocument/2006/relationships/image" Target="../media/image1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9.svg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6.xml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7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9.svg"/><Relationship Id="rId4" Type="http://schemas.openxmlformats.org/officeDocument/2006/relationships/image" Target="../media/image1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image" Target="../media/image9.svg"/><Relationship Id="rId4" Type="http://schemas.openxmlformats.org/officeDocument/2006/relationships/image" Target="../media/image1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8.xml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51.xml"/><Relationship Id="rId7" Type="http://schemas.openxmlformats.org/officeDocument/2006/relationships/image" Target="../media/image9.sv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52.xml"/><Relationship Id="rId9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image" Target="../media/image9.svg"/><Relationship Id="rId4" Type="http://schemas.openxmlformats.org/officeDocument/2006/relationships/image" Target="../media/image1.jpe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10.svg"/><Relationship Id="rId4" Type="http://schemas.openxmlformats.org/officeDocument/2006/relationships/image" Target="../media/image1.jpe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64.xml"/><Relationship Id="rId5" Type="http://schemas.openxmlformats.org/officeDocument/2006/relationships/image" Target="../media/image10.svg"/><Relationship Id="rId4" Type="http://schemas.openxmlformats.org/officeDocument/2006/relationships/image" Target="../media/image5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65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image" Target="../media/image10.svg"/><Relationship Id="rId4" Type="http://schemas.openxmlformats.org/officeDocument/2006/relationships/image" Target="../media/image1.jpe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image" Target="../media/image9.svg"/><Relationship Id="rId4" Type="http://schemas.openxmlformats.org/officeDocument/2006/relationships/image" Target="../media/image1.jpe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76.xml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79.xml"/><Relationship Id="rId7" Type="http://schemas.openxmlformats.org/officeDocument/2006/relationships/image" Target="../media/image9.sv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6.xml"/><Relationship Id="rId4" Type="http://schemas.openxmlformats.org/officeDocument/2006/relationships/tags" Target="../tags/tag80.xml"/><Relationship Id="rId9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8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5" Type="http://schemas.openxmlformats.org/officeDocument/2006/relationships/image" Target="../media/image9.svg"/><Relationship Id="rId4" Type="http://schemas.openxmlformats.org/officeDocument/2006/relationships/image" Target="../media/image1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5" Type="http://schemas.openxmlformats.org/officeDocument/2006/relationships/image" Target="../media/image10.svg"/><Relationship Id="rId4" Type="http://schemas.openxmlformats.org/officeDocument/2006/relationships/image" Target="../media/image1.jpe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92.xml"/><Relationship Id="rId5" Type="http://schemas.openxmlformats.org/officeDocument/2006/relationships/image" Target="../media/image10.svg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95.xml"/><Relationship Id="rId7" Type="http://schemas.openxmlformats.org/officeDocument/2006/relationships/image" Target="../media/image10.svg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7.xml"/><Relationship Id="rId4" Type="http://schemas.openxmlformats.org/officeDocument/2006/relationships/tags" Target="../tags/tag96.xml"/><Relationship Id="rId9" Type="http://schemas.openxmlformats.org/officeDocument/2006/relationships/image" Target="../media/image8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97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5" Type="http://schemas.openxmlformats.org/officeDocument/2006/relationships/image" Target="../media/image10.svg"/><Relationship Id="rId4" Type="http://schemas.openxmlformats.org/officeDocument/2006/relationships/image" Target="../media/image1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5" Type="http://schemas.openxmlformats.org/officeDocument/2006/relationships/image" Target="../media/image10.svg"/><Relationship Id="rId4" Type="http://schemas.openxmlformats.org/officeDocument/2006/relationships/image" Target="../media/image1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108.xml"/><Relationship Id="rId5" Type="http://schemas.openxmlformats.org/officeDocument/2006/relationships/image" Target="../media/image10.svg"/><Relationship Id="rId4" Type="http://schemas.openxmlformats.org/officeDocument/2006/relationships/image" Target="../media/image5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109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image" Target="../media/image10.svg"/><Relationship Id="rId4" Type="http://schemas.openxmlformats.org/officeDocument/2006/relationships/image" Target="../media/image1.jpe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5" Type="http://schemas.openxmlformats.org/officeDocument/2006/relationships/image" Target="../media/image3.svg"/><Relationship Id="rId4" Type="http://schemas.openxmlformats.org/officeDocument/2006/relationships/image" Target="../media/image1.jpe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9.xml"/><Relationship Id="rId1" Type="http://schemas.openxmlformats.org/officeDocument/2006/relationships/tags" Target="../tags/tag120.xml"/><Relationship Id="rId5" Type="http://schemas.openxmlformats.org/officeDocument/2006/relationships/image" Target="../media/image3.svg"/><Relationship Id="rId4" Type="http://schemas.openxmlformats.org/officeDocument/2006/relationships/image" Target="../media/image5.pn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23.xml"/><Relationship Id="rId7" Type="http://schemas.openxmlformats.org/officeDocument/2006/relationships/image" Target="../media/image3.svg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9.xml"/><Relationship Id="rId4" Type="http://schemas.openxmlformats.org/officeDocument/2006/relationships/tags" Target="../tags/tag124.xml"/><Relationship Id="rId9" Type="http://schemas.openxmlformats.org/officeDocument/2006/relationships/image" Target="../media/image8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9.xml"/><Relationship Id="rId1" Type="http://schemas.openxmlformats.org/officeDocument/2006/relationships/tags" Target="../tags/tag125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5" Type="http://schemas.openxmlformats.org/officeDocument/2006/relationships/image" Target="../media/image3.svg"/><Relationship Id="rId4" Type="http://schemas.openxmlformats.org/officeDocument/2006/relationships/image" Target="../media/image1.jpe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5" Type="http://schemas.openxmlformats.org/officeDocument/2006/relationships/image" Target="../media/image11.svg"/><Relationship Id="rId4" Type="http://schemas.openxmlformats.org/officeDocument/2006/relationships/image" Target="../media/image1.jpe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0.xml"/><Relationship Id="rId1" Type="http://schemas.openxmlformats.org/officeDocument/2006/relationships/tags" Target="../tags/tag136.xml"/><Relationship Id="rId5" Type="http://schemas.openxmlformats.org/officeDocument/2006/relationships/image" Target="../media/image11.svg"/><Relationship Id="rId4" Type="http://schemas.openxmlformats.org/officeDocument/2006/relationships/image" Target="../media/image5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slideMaster" Target="../slideMasters/slideMaster10.xml"/><Relationship Id="rId1" Type="http://schemas.openxmlformats.org/officeDocument/2006/relationships/tags" Target="../tags/tag137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5" Type="http://schemas.openxmlformats.org/officeDocument/2006/relationships/image" Target="../media/image11.svg"/><Relationship Id="rId4" Type="http://schemas.openxmlformats.org/officeDocument/2006/relationships/image" Target="../media/image1.jpe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5" Type="http://schemas.openxmlformats.org/officeDocument/2006/relationships/image" Target="../media/image11.svg"/><Relationship Id="rId4" Type="http://schemas.openxmlformats.org/officeDocument/2006/relationships/image" Target="../media/image1.jpe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1.xml"/><Relationship Id="rId1" Type="http://schemas.openxmlformats.org/officeDocument/2006/relationships/tags" Target="../tags/tag148.xml"/><Relationship Id="rId5" Type="http://schemas.openxmlformats.org/officeDocument/2006/relationships/image" Target="../media/image11.svg"/><Relationship Id="rId4" Type="http://schemas.openxmlformats.org/officeDocument/2006/relationships/image" Target="../media/image5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slideMaster" Target="../slideMasters/slideMaster11.xml"/><Relationship Id="rId1" Type="http://schemas.openxmlformats.org/officeDocument/2006/relationships/tags" Target="../tags/tag149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5" Type="http://schemas.openxmlformats.org/officeDocument/2006/relationships/image" Target="../media/image11.svg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414145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300" normalizeH="0" baseline="0" noProof="1" dirty="0">
                <a:gradFill>
                  <a:gsLst>
                    <a:gs pos="0">
                      <a:srgbClr val="1742FD"/>
                    </a:gs>
                    <a:gs pos="100000">
                      <a:srgbClr val="0AD575"/>
                    </a:gs>
                    <a:gs pos="49000">
                      <a:srgbClr val="0081F3"/>
                    </a:gs>
                  </a:gsLst>
                  <a:lin ang="17400000" scaled="0"/>
                </a:gradFill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数字安全标准模板</a:t>
            </a:r>
          </a:p>
        </p:txBody>
      </p:sp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4" name="副标题 3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2806065"/>
            <a:ext cx="11064875" cy="45212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accent1">
                    <a:lumMod val="50000"/>
                  </a:schemeClr>
                </a:solidFill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  <a:sym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>
                <a:sym typeface="+mn-ea"/>
              </a:rPr>
              <a:t>适用于产品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方案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规划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营销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汇报等场景</a:t>
            </a:r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997710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algn="l">
              <a:defRPr sz="6000" b="1">
                <a:gradFill>
                  <a:gsLst>
                    <a:gs pos="0">
                      <a:srgbClr val="3A60FE"/>
                    </a:gs>
                    <a:gs pos="46000">
                      <a:srgbClr val="00A7FF"/>
                    </a:gs>
                    <a:gs pos="100000">
                      <a:srgbClr val="0721A8"/>
                    </a:gs>
                  </a:gsLst>
                  <a:lin ang="2160000" scaled="0"/>
                </a:gra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谢谢聆听</a:t>
            </a:r>
          </a:p>
        </p:txBody>
      </p:sp>
      <p:sp>
        <p:nvSpPr>
          <p:cNvPr id="8" name="副标题 7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3389630"/>
            <a:ext cx="11064875" cy="452120"/>
          </a:xfrm>
        </p:spPr>
        <p:txBody>
          <a:bodyPr lIns="90000" tIns="46800" rIns="90000" bIns="46800" anchor="ctr" anchorCtr="0">
            <a:normAutofit fontScale="90000" lnSpcReduction="10000"/>
          </a:bodyPr>
          <a:lstStyle>
            <a:lvl1pPr marL="0" indent="0" algn="l">
              <a:lnSpc>
                <a:spcPct val="110000"/>
              </a:lnSpc>
              <a:buNone/>
              <a:defRPr sz="2400" spc="20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r>
              <a:rPr lang="zh-CN" altLang="en-US" dirty="0">
                <a:sym typeface="+mn-ea"/>
              </a:rPr>
              <a:t>团队名称或联系方式等信息</a:t>
            </a:r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414145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300" normalizeH="0" baseline="0" noProof="1" dirty="0">
                <a:gradFill>
                  <a:gsLst>
                    <a:gs pos="0">
                      <a:srgbClr val="1742FD"/>
                    </a:gs>
                    <a:gs pos="100000">
                      <a:srgbClr val="0AD575"/>
                    </a:gs>
                    <a:gs pos="49000">
                      <a:srgbClr val="0081F3"/>
                    </a:gs>
                  </a:gsLst>
                  <a:lin ang="17400000" scaled="0"/>
                </a:gradFill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数字安全标准模板</a:t>
            </a:r>
          </a:p>
        </p:txBody>
      </p:sp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4" name="副标题 3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2806065"/>
            <a:ext cx="11064875" cy="45212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accent1">
                    <a:lumMod val="50000"/>
                  </a:schemeClr>
                </a:solidFill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  <a:sym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>
                <a:sym typeface="+mn-ea"/>
              </a:rPr>
              <a:t>适用于产品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方案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规划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营销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汇报等场景</a:t>
            </a:r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8255" y="0"/>
            <a:ext cx="12240000" cy="68586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3810" y="4615815"/>
            <a:ext cx="12192000" cy="1553845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transition spd="med"/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635"/>
            <a:ext cx="12192000" cy="6858000"/>
          </a:xfrm>
          <a:prstGeom prst="rect">
            <a:avLst/>
          </a:prstGeom>
        </p:spPr>
      </p:pic>
      <p:sp>
        <p:nvSpPr>
          <p:cNvPr id="10" name="AutoShape 31"/>
          <p:cNvSpPr>
            <a:spLocks noChangeAspect="1" noChangeArrowheads="1" noTextEdit="1"/>
          </p:cNvSpPr>
          <p:nvPr userDrawn="1"/>
        </p:nvSpPr>
        <p:spPr bwMode="auto">
          <a:xfrm>
            <a:off x="565" y="236493"/>
            <a:ext cx="251119" cy="309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12" name="Freeform 34"/>
          <p:cNvSpPr/>
          <p:nvPr userDrawn="1"/>
        </p:nvSpPr>
        <p:spPr bwMode="auto">
          <a:xfrm>
            <a:off x="69031" y="219203"/>
            <a:ext cx="145443" cy="145443"/>
          </a:xfrm>
          <a:custGeom>
            <a:avLst/>
            <a:gdLst>
              <a:gd name="T0" fmla="*/ 58 w 65"/>
              <a:gd name="T1" fmla="*/ 25 h 65"/>
              <a:gd name="T2" fmla="*/ 40 w 65"/>
              <a:gd name="T3" fmla="*/ 25 h 65"/>
              <a:gd name="T4" fmla="*/ 40 w 65"/>
              <a:gd name="T5" fmla="*/ 7 h 65"/>
              <a:gd name="T6" fmla="*/ 33 w 65"/>
              <a:gd name="T7" fmla="*/ 0 h 65"/>
              <a:gd name="T8" fmla="*/ 25 w 65"/>
              <a:gd name="T9" fmla="*/ 7 h 65"/>
              <a:gd name="T10" fmla="*/ 25 w 65"/>
              <a:gd name="T11" fmla="*/ 11 h 65"/>
              <a:gd name="T12" fmla="*/ 25 w 65"/>
              <a:gd name="T13" fmla="*/ 25 h 65"/>
              <a:gd name="T14" fmla="*/ 7 w 65"/>
              <a:gd name="T15" fmla="*/ 25 h 65"/>
              <a:gd name="T16" fmla="*/ 0 w 65"/>
              <a:gd name="T17" fmla="*/ 32 h 65"/>
              <a:gd name="T18" fmla="*/ 7 w 65"/>
              <a:gd name="T19" fmla="*/ 40 h 65"/>
              <a:gd name="T20" fmla="*/ 25 w 65"/>
              <a:gd name="T21" fmla="*/ 40 h 65"/>
              <a:gd name="T22" fmla="*/ 25 w 65"/>
              <a:gd name="T23" fmla="*/ 57 h 65"/>
              <a:gd name="T24" fmla="*/ 33 w 65"/>
              <a:gd name="T25" fmla="*/ 65 h 65"/>
              <a:gd name="T26" fmla="*/ 40 w 65"/>
              <a:gd name="T27" fmla="*/ 57 h 65"/>
              <a:gd name="T28" fmla="*/ 40 w 65"/>
              <a:gd name="T29" fmla="*/ 40 h 65"/>
              <a:gd name="T30" fmla="*/ 45 w 65"/>
              <a:gd name="T31" fmla="*/ 40 h 65"/>
              <a:gd name="T32" fmla="*/ 58 w 65"/>
              <a:gd name="T33" fmla="*/ 40 h 65"/>
              <a:gd name="T34" fmla="*/ 65 w 65"/>
              <a:gd name="T35" fmla="*/ 32 h 65"/>
              <a:gd name="T36" fmla="*/ 58 w 65"/>
              <a:gd name="T37" fmla="*/ 2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5" h="65">
                <a:moveTo>
                  <a:pt x="58" y="25"/>
                </a:moveTo>
                <a:cubicBezTo>
                  <a:pt x="40" y="25"/>
                  <a:pt x="40" y="25"/>
                  <a:pt x="40" y="25"/>
                </a:cubicBezTo>
                <a:cubicBezTo>
                  <a:pt x="40" y="7"/>
                  <a:pt x="40" y="7"/>
                  <a:pt x="40" y="7"/>
                </a:cubicBezTo>
                <a:cubicBezTo>
                  <a:pt x="40" y="3"/>
                  <a:pt x="37" y="0"/>
                  <a:pt x="33" y="0"/>
                </a:cubicBezTo>
                <a:cubicBezTo>
                  <a:pt x="28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25"/>
                  <a:pt x="25" y="25"/>
                  <a:pt x="25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3" y="25"/>
                  <a:pt x="0" y="28"/>
                  <a:pt x="0" y="32"/>
                </a:cubicBezTo>
                <a:cubicBezTo>
                  <a:pt x="0" y="36"/>
                  <a:pt x="3" y="40"/>
                  <a:pt x="7" y="40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61"/>
                  <a:pt x="28" y="65"/>
                  <a:pt x="33" y="65"/>
                </a:cubicBezTo>
                <a:cubicBezTo>
                  <a:pt x="37" y="65"/>
                  <a:pt x="40" y="61"/>
                  <a:pt x="40" y="57"/>
                </a:cubicBezTo>
                <a:cubicBezTo>
                  <a:pt x="40" y="40"/>
                  <a:pt x="40" y="40"/>
                  <a:pt x="40" y="40"/>
                </a:cubicBezTo>
                <a:cubicBezTo>
                  <a:pt x="45" y="40"/>
                  <a:pt x="45" y="40"/>
                  <a:pt x="45" y="40"/>
                </a:cubicBezTo>
                <a:cubicBezTo>
                  <a:pt x="58" y="40"/>
                  <a:pt x="58" y="40"/>
                  <a:pt x="58" y="40"/>
                </a:cubicBezTo>
                <a:cubicBezTo>
                  <a:pt x="62" y="40"/>
                  <a:pt x="65" y="36"/>
                  <a:pt x="65" y="32"/>
                </a:cubicBezTo>
                <a:cubicBezTo>
                  <a:pt x="65" y="28"/>
                  <a:pt x="62" y="25"/>
                  <a:pt x="58" y="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13" name="Freeform 34"/>
          <p:cNvSpPr/>
          <p:nvPr userDrawn="1"/>
        </p:nvSpPr>
        <p:spPr bwMode="auto">
          <a:xfrm>
            <a:off x="226449" y="341831"/>
            <a:ext cx="77055" cy="77055"/>
          </a:xfrm>
          <a:custGeom>
            <a:avLst/>
            <a:gdLst>
              <a:gd name="T0" fmla="*/ 58 w 65"/>
              <a:gd name="T1" fmla="*/ 25 h 65"/>
              <a:gd name="T2" fmla="*/ 40 w 65"/>
              <a:gd name="T3" fmla="*/ 25 h 65"/>
              <a:gd name="T4" fmla="*/ 40 w 65"/>
              <a:gd name="T5" fmla="*/ 7 h 65"/>
              <a:gd name="T6" fmla="*/ 33 w 65"/>
              <a:gd name="T7" fmla="*/ 0 h 65"/>
              <a:gd name="T8" fmla="*/ 25 w 65"/>
              <a:gd name="T9" fmla="*/ 7 h 65"/>
              <a:gd name="T10" fmla="*/ 25 w 65"/>
              <a:gd name="T11" fmla="*/ 11 h 65"/>
              <a:gd name="T12" fmla="*/ 25 w 65"/>
              <a:gd name="T13" fmla="*/ 25 h 65"/>
              <a:gd name="T14" fmla="*/ 7 w 65"/>
              <a:gd name="T15" fmla="*/ 25 h 65"/>
              <a:gd name="T16" fmla="*/ 0 w 65"/>
              <a:gd name="T17" fmla="*/ 32 h 65"/>
              <a:gd name="T18" fmla="*/ 7 w 65"/>
              <a:gd name="T19" fmla="*/ 40 h 65"/>
              <a:gd name="T20" fmla="*/ 25 w 65"/>
              <a:gd name="T21" fmla="*/ 40 h 65"/>
              <a:gd name="T22" fmla="*/ 25 w 65"/>
              <a:gd name="T23" fmla="*/ 57 h 65"/>
              <a:gd name="T24" fmla="*/ 33 w 65"/>
              <a:gd name="T25" fmla="*/ 65 h 65"/>
              <a:gd name="T26" fmla="*/ 40 w 65"/>
              <a:gd name="T27" fmla="*/ 57 h 65"/>
              <a:gd name="T28" fmla="*/ 40 w 65"/>
              <a:gd name="T29" fmla="*/ 40 h 65"/>
              <a:gd name="T30" fmla="*/ 45 w 65"/>
              <a:gd name="T31" fmla="*/ 40 h 65"/>
              <a:gd name="T32" fmla="*/ 58 w 65"/>
              <a:gd name="T33" fmla="*/ 40 h 65"/>
              <a:gd name="T34" fmla="*/ 65 w 65"/>
              <a:gd name="T35" fmla="*/ 32 h 65"/>
              <a:gd name="T36" fmla="*/ 58 w 65"/>
              <a:gd name="T37" fmla="*/ 2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5" h="65">
                <a:moveTo>
                  <a:pt x="58" y="25"/>
                </a:moveTo>
                <a:cubicBezTo>
                  <a:pt x="40" y="25"/>
                  <a:pt x="40" y="25"/>
                  <a:pt x="40" y="25"/>
                </a:cubicBezTo>
                <a:cubicBezTo>
                  <a:pt x="40" y="7"/>
                  <a:pt x="40" y="7"/>
                  <a:pt x="40" y="7"/>
                </a:cubicBezTo>
                <a:cubicBezTo>
                  <a:pt x="40" y="3"/>
                  <a:pt x="37" y="0"/>
                  <a:pt x="33" y="0"/>
                </a:cubicBezTo>
                <a:cubicBezTo>
                  <a:pt x="28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25"/>
                  <a:pt x="25" y="25"/>
                  <a:pt x="25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3" y="25"/>
                  <a:pt x="0" y="28"/>
                  <a:pt x="0" y="32"/>
                </a:cubicBezTo>
                <a:cubicBezTo>
                  <a:pt x="0" y="36"/>
                  <a:pt x="3" y="40"/>
                  <a:pt x="7" y="40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61"/>
                  <a:pt x="28" y="65"/>
                  <a:pt x="33" y="65"/>
                </a:cubicBezTo>
                <a:cubicBezTo>
                  <a:pt x="37" y="65"/>
                  <a:pt x="40" y="61"/>
                  <a:pt x="40" y="57"/>
                </a:cubicBezTo>
                <a:cubicBezTo>
                  <a:pt x="40" y="40"/>
                  <a:pt x="40" y="40"/>
                  <a:pt x="40" y="40"/>
                </a:cubicBezTo>
                <a:cubicBezTo>
                  <a:pt x="45" y="40"/>
                  <a:pt x="45" y="40"/>
                  <a:pt x="45" y="40"/>
                </a:cubicBezTo>
                <a:cubicBezTo>
                  <a:pt x="58" y="40"/>
                  <a:pt x="58" y="40"/>
                  <a:pt x="58" y="40"/>
                </a:cubicBezTo>
                <a:cubicBezTo>
                  <a:pt x="62" y="40"/>
                  <a:pt x="65" y="36"/>
                  <a:pt x="65" y="32"/>
                </a:cubicBezTo>
                <a:cubicBezTo>
                  <a:pt x="65" y="28"/>
                  <a:pt x="62" y="25"/>
                  <a:pt x="58" y="25"/>
                </a:cubicBezTo>
                <a:close/>
              </a:path>
            </a:pathLst>
          </a:custGeom>
          <a:solidFill>
            <a:schemeClr val="bg1">
              <a:alpha val="5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F2F5FA">
              <a:alpha val="10000"/>
            </a:srgbClr>
          </a:solidFill>
          <a:ln>
            <a:gradFill>
              <a:gsLst>
                <a:gs pos="0">
                  <a:schemeClr val="accent1">
                    <a:lumMod val="11000"/>
                    <a:lumOff val="89000"/>
                    <a:alpha val="0"/>
                  </a:scheme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1" name="标题 3"/>
          <p:cNvSpPr>
            <a:spLocks noGrp="1"/>
          </p:cNvSpPr>
          <p:nvPr userDrawn="1"/>
        </p:nvSpPr>
        <p:spPr>
          <a:xfrm>
            <a:off x="323691" y="140335"/>
            <a:ext cx="921385" cy="360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061FD3"/>
                </a:solidFill>
                <a:latin typeface="微软雅黑" panose="020B0502040204020203" charset="-122"/>
                <a:ea typeface="微软雅黑" panose="020B0502040204020203" charset="-122"/>
                <a:cs typeface="+mj-cs"/>
              </a:defRPr>
            </a:lvl1pPr>
          </a:lstStyle>
          <a:p>
            <a:pPr algn="ctr"/>
            <a:endParaRPr lang="zh-CN" altLang="en-US" sz="1200">
              <a:solidFill>
                <a:schemeClr val="bg1"/>
              </a:solidFill>
            </a:endParaRPr>
          </a:p>
        </p:txBody>
      </p:sp>
      <p:pic>
        <p:nvPicPr>
          <p:cNvPr id="23" name="图片 22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1490" y="202808"/>
            <a:ext cx="1332000" cy="324000"/>
          </a:xfrm>
          <a:prstGeom prst="rect">
            <a:avLst/>
          </a:prstGeom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15950" y="129540"/>
            <a:ext cx="9116695" cy="50228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rgbClr val="0721A8"/>
                </a:solidFill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1120" y="43815"/>
            <a:ext cx="648000" cy="648000"/>
          </a:xfrm>
          <a:prstGeom prst="rect">
            <a:avLst/>
          </a:prstGeom>
        </p:spPr>
      </p:pic>
      <p:pic>
        <p:nvPicPr>
          <p:cNvPr id="46" name="图片 140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98" r="-113402"/>
          <a:stretch>
            <a:fillRect/>
          </a:stretch>
        </p:blipFill>
        <p:spPr bwMode="auto">
          <a:xfrm>
            <a:off x="0" y="367030"/>
            <a:ext cx="121920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组合 23"/>
          <p:cNvGrpSpPr/>
          <p:nvPr userDrawn="1"/>
        </p:nvGrpSpPr>
        <p:grpSpPr>
          <a:xfrm>
            <a:off x="9822180" y="208915"/>
            <a:ext cx="706120" cy="331470"/>
            <a:chOff x="15578" y="329"/>
            <a:chExt cx="1112" cy="522"/>
          </a:xfrm>
        </p:grpSpPr>
        <p:sp>
          <p:nvSpPr>
            <p:cNvPr id="6" name="流程图: 可选过程 5"/>
            <p:cNvSpPr/>
            <p:nvPr userDrawn="1">
              <p:custDataLst>
                <p:tags r:id="rId3"/>
              </p:custDataLst>
            </p:nvPr>
          </p:nvSpPr>
          <p:spPr>
            <a:xfrm>
              <a:off x="15578" y="329"/>
              <a:ext cx="1112" cy="522"/>
            </a:xfrm>
            <a:prstGeom prst="flowChartAlternateProcess">
              <a:avLst/>
            </a:prstGeom>
            <a:gradFill>
              <a:gsLst>
                <a:gs pos="100000">
                  <a:srgbClr val="2299FE">
                    <a:lumMod val="90000"/>
                    <a:alpha val="20000"/>
                  </a:srgbClr>
                </a:gs>
                <a:gs pos="0">
                  <a:srgbClr val="3C5EFE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rgbClr val="0565FF"/>
                </a:solidFill>
                <a:sym typeface="+mn-ea"/>
              </a:endParaRPr>
            </a:p>
          </p:txBody>
        </p:sp>
        <p:sp>
          <p:nvSpPr>
            <p:cNvPr id="16" name="灯片编号占位符 2"/>
            <p:cNvSpPr txBox="1"/>
            <p:nvPr userDrawn="1">
              <p:custDataLst>
                <p:tags r:id="rId4"/>
              </p:custDataLst>
            </p:nvPr>
          </p:nvSpPr>
          <p:spPr>
            <a:xfrm>
              <a:off x="15666" y="380"/>
              <a:ext cx="333" cy="436"/>
            </a:xfrm>
            <a:prstGeom prst="rect">
              <a:avLst/>
            </a:prstGeom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1pPr>
              <a:lvl2pPr marL="3429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2pPr>
              <a:lvl3pPr marL="685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3pPr>
              <a:lvl4pPr marL="10287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4pPr>
              <a:lvl5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5pPr>
              <a:lvl6pPr marL="17145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6pPr>
              <a:lvl7pPr marL="20574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7pPr>
              <a:lvl8pPr marL="24003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8pPr>
              <a:lvl9pPr marL="27432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9pPr>
            </a:lstStyle>
            <a:p>
              <a:pPr algn="ctr"/>
              <a:r>
                <a:rPr kumimoji="1" lang="en-US" altLang="zh-CN" sz="1200" b="1" dirty="0">
                  <a:solidFill>
                    <a:srgbClr val="0721A8"/>
                  </a:solidFill>
                  <a:latin typeface="微软雅黑" panose="020B0502040204020203" charset="-122"/>
                  <a:ea typeface="微软雅黑" panose="020B0502040204020203" charset="-122"/>
                </a:rPr>
                <a:t>P</a:t>
              </a:r>
            </a:p>
          </p:txBody>
        </p:sp>
      </p:grpSp>
      <p:sp>
        <p:nvSpPr>
          <p:cNvPr id="14" name="灯片编号占位符 2"/>
          <p:cNvSpPr txBox="1"/>
          <p:nvPr userDrawn="1">
            <p:custDataLst>
              <p:tags r:id="rId2"/>
            </p:custDataLst>
          </p:nvPr>
        </p:nvSpPr>
        <p:spPr>
          <a:xfrm>
            <a:off x="9952990" y="242570"/>
            <a:ext cx="619125" cy="276860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1pPr>
            <a:lvl2pPr marL="3429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2pPr>
            <a:lvl3pPr marL="685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3pPr>
            <a:lvl4pPr marL="10287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4pPr>
            <a:lvl5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5pPr>
            <a:lvl6pPr marL="17145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6pPr>
            <a:lvl7pPr marL="20574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7pPr>
            <a:lvl8pPr marL="24003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8pPr>
            <a:lvl9pPr marL="27432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9pPr>
          </a:lstStyle>
          <a:p>
            <a:pPr algn="l"/>
            <a:fld id="{D536D8EC-CC4B-5049-B4AB-30C5E66DA51C}" type="slidenum">
              <a:rPr kumimoji="1" lang="zh-CN" altLang="en-US" sz="1200" b="1" smtClean="0">
                <a:solidFill>
                  <a:srgbClr val="1146EB"/>
                </a:solidFill>
                <a:latin typeface="微软雅黑" panose="020B0502040204020203" charset="-122"/>
                <a:ea typeface="微软雅黑" panose="020B0502040204020203" charset="-122"/>
              </a:rPr>
              <a:t>‹#›</a:t>
            </a:fld>
            <a:endParaRPr kumimoji="1" lang="zh-CN" altLang="en-US" sz="1200" b="1" dirty="0">
              <a:solidFill>
                <a:srgbClr val="1146EB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997710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algn="l">
              <a:defRPr sz="6000" b="1">
                <a:gradFill>
                  <a:gsLst>
                    <a:gs pos="0">
                      <a:srgbClr val="3A60FE"/>
                    </a:gs>
                    <a:gs pos="46000">
                      <a:srgbClr val="00A7FF"/>
                    </a:gs>
                    <a:gs pos="100000">
                      <a:srgbClr val="0721A8"/>
                    </a:gs>
                  </a:gsLst>
                  <a:lin ang="2160000" scaled="0"/>
                </a:gra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谢谢聆听</a:t>
            </a:r>
          </a:p>
        </p:txBody>
      </p:sp>
      <p:sp>
        <p:nvSpPr>
          <p:cNvPr id="8" name="副标题 7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3389630"/>
            <a:ext cx="11064875" cy="452120"/>
          </a:xfrm>
        </p:spPr>
        <p:txBody>
          <a:bodyPr lIns="90000" tIns="46800" rIns="90000" bIns="46800" anchor="ctr" anchorCtr="0">
            <a:normAutofit fontScale="90000" lnSpcReduction="10000"/>
          </a:bodyPr>
          <a:lstStyle>
            <a:lvl1pPr marL="0" indent="0" algn="l">
              <a:lnSpc>
                <a:spcPct val="110000"/>
              </a:lnSpc>
              <a:buNone/>
              <a:defRPr sz="2400" spc="20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r>
              <a:rPr lang="zh-CN" altLang="en-US" dirty="0">
                <a:sym typeface="+mn-ea"/>
              </a:rPr>
              <a:t>团队名称或联系方式等信息</a:t>
            </a:r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414145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300" normalizeH="0" baseline="0" noProof="1" dirty="0">
                <a:gradFill>
                  <a:gsLst>
                    <a:gs pos="0">
                      <a:srgbClr val="1742FD"/>
                    </a:gs>
                    <a:gs pos="100000">
                      <a:srgbClr val="0AD575"/>
                    </a:gs>
                    <a:gs pos="49000">
                      <a:srgbClr val="0081F3"/>
                    </a:gs>
                  </a:gsLst>
                  <a:lin ang="17400000" scaled="0"/>
                </a:gradFill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数字安全标准模板</a:t>
            </a:r>
          </a:p>
        </p:txBody>
      </p:sp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4" name="副标题 3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2806065"/>
            <a:ext cx="11064875" cy="45212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accent1">
                    <a:lumMod val="50000"/>
                  </a:schemeClr>
                </a:solidFill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  <a:sym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>
                <a:sym typeface="+mn-ea"/>
              </a:rPr>
              <a:t>适用于产品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方案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规划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营销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汇报等场景</a:t>
            </a:r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8255" y="0"/>
            <a:ext cx="12240000" cy="68586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3810" y="4615815"/>
            <a:ext cx="12192000" cy="1553845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transition spd="med"/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997710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algn="l">
              <a:defRPr sz="6000" b="1">
                <a:gradFill>
                  <a:gsLst>
                    <a:gs pos="0">
                      <a:srgbClr val="3A60FE"/>
                    </a:gs>
                    <a:gs pos="46000">
                      <a:srgbClr val="00A7FF"/>
                    </a:gs>
                    <a:gs pos="100000">
                      <a:srgbClr val="0721A8"/>
                    </a:gs>
                  </a:gsLst>
                  <a:lin ang="2160000" scaled="0"/>
                </a:gra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谢谢聆听</a:t>
            </a:r>
          </a:p>
        </p:txBody>
      </p:sp>
      <p:sp>
        <p:nvSpPr>
          <p:cNvPr id="8" name="副标题 7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3389630"/>
            <a:ext cx="11064875" cy="452120"/>
          </a:xfrm>
        </p:spPr>
        <p:txBody>
          <a:bodyPr lIns="90000" tIns="46800" rIns="90000" bIns="46800" anchor="ctr" anchorCtr="0">
            <a:normAutofit fontScale="90000" lnSpcReduction="10000"/>
          </a:bodyPr>
          <a:lstStyle>
            <a:lvl1pPr marL="0" indent="0" algn="l">
              <a:lnSpc>
                <a:spcPct val="110000"/>
              </a:lnSpc>
              <a:buNone/>
              <a:defRPr sz="2400" spc="20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r>
              <a:rPr lang="zh-CN" altLang="en-US" dirty="0">
                <a:sym typeface="+mn-ea"/>
              </a:rPr>
              <a:t>团队名称或联系方式等信息</a:t>
            </a:r>
          </a:p>
        </p:txBody>
      </p:sp>
    </p:spTree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414145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300" normalizeH="0" baseline="0" noProof="1" dirty="0">
                <a:gradFill>
                  <a:gsLst>
                    <a:gs pos="0">
                      <a:srgbClr val="1742FD"/>
                    </a:gs>
                    <a:gs pos="100000">
                      <a:srgbClr val="0AD575"/>
                    </a:gs>
                    <a:gs pos="49000">
                      <a:srgbClr val="0081F3"/>
                    </a:gs>
                  </a:gsLst>
                  <a:lin ang="17400000" scaled="0"/>
                </a:gradFill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数字安全标准模板</a:t>
            </a:r>
          </a:p>
        </p:txBody>
      </p:sp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4" name="副标题 3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2806065"/>
            <a:ext cx="11064875" cy="45212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accent1">
                    <a:lumMod val="50000"/>
                  </a:schemeClr>
                </a:solidFill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  <a:sym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>
                <a:sym typeface="+mn-ea"/>
              </a:rPr>
              <a:t>适用于产品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方案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规划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营销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汇报等场景</a:t>
            </a:r>
          </a:p>
        </p:txBody>
      </p:sp>
    </p:spTree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8255" y="0"/>
            <a:ext cx="12240000" cy="68586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3810" y="4615815"/>
            <a:ext cx="12192000" cy="1553845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transition spd="med"/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635"/>
            <a:ext cx="12192000" cy="6858000"/>
          </a:xfrm>
          <a:prstGeom prst="rect">
            <a:avLst/>
          </a:prstGeom>
        </p:spPr>
      </p:pic>
      <p:sp>
        <p:nvSpPr>
          <p:cNvPr id="10" name="AutoShape 31"/>
          <p:cNvSpPr>
            <a:spLocks noChangeAspect="1" noChangeArrowheads="1" noTextEdit="1"/>
          </p:cNvSpPr>
          <p:nvPr userDrawn="1"/>
        </p:nvSpPr>
        <p:spPr bwMode="auto">
          <a:xfrm>
            <a:off x="565" y="236493"/>
            <a:ext cx="251119" cy="309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12" name="Freeform 34"/>
          <p:cNvSpPr/>
          <p:nvPr userDrawn="1"/>
        </p:nvSpPr>
        <p:spPr bwMode="auto">
          <a:xfrm>
            <a:off x="69031" y="219203"/>
            <a:ext cx="145443" cy="145443"/>
          </a:xfrm>
          <a:custGeom>
            <a:avLst/>
            <a:gdLst>
              <a:gd name="T0" fmla="*/ 58 w 65"/>
              <a:gd name="T1" fmla="*/ 25 h 65"/>
              <a:gd name="T2" fmla="*/ 40 w 65"/>
              <a:gd name="T3" fmla="*/ 25 h 65"/>
              <a:gd name="T4" fmla="*/ 40 w 65"/>
              <a:gd name="T5" fmla="*/ 7 h 65"/>
              <a:gd name="T6" fmla="*/ 33 w 65"/>
              <a:gd name="T7" fmla="*/ 0 h 65"/>
              <a:gd name="T8" fmla="*/ 25 w 65"/>
              <a:gd name="T9" fmla="*/ 7 h 65"/>
              <a:gd name="T10" fmla="*/ 25 w 65"/>
              <a:gd name="T11" fmla="*/ 11 h 65"/>
              <a:gd name="T12" fmla="*/ 25 w 65"/>
              <a:gd name="T13" fmla="*/ 25 h 65"/>
              <a:gd name="T14" fmla="*/ 7 w 65"/>
              <a:gd name="T15" fmla="*/ 25 h 65"/>
              <a:gd name="T16" fmla="*/ 0 w 65"/>
              <a:gd name="T17" fmla="*/ 32 h 65"/>
              <a:gd name="T18" fmla="*/ 7 w 65"/>
              <a:gd name="T19" fmla="*/ 40 h 65"/>
              <a:gd name="T20" fmla="*/ 25 w 65"/>
              <a:gd name="T21" fmla="*/ 40 h 65"/>
              <a:gd name="T22" fmla="*/ 25 w 65"/>
              <a:gd name="T23" fmla="*/ 57 h 65"/>
              <a:gd name="T24" fmla="*/ 33 w 65"/>
              <a:gd name="T25" fmla="*/ 65 h 65"/>
              <a:gd name="T26" fmla="*/ 40 w 65"/>
              <a:gd name="T27" fmla="*/ 57 h 65"/>
              <a:gd name="T28" fmla="*/ 40 w 65"/>
              <a:gd name="T29" fmla="*/ 40 h 65"/>
              <a:gd name="T30" fmla="*/ 45 w 65"/>
              <a:gd name="T31" fmla="*/ 40 h 65"/>
              <a:gd name="T32" fmla="*/ 58 w 65"/>
              <a:gd name="T33" fmla="*/ 40 h 65"/>
              <a:gd name="T34" fmla="*/ 65 w 65"/>
              <a:gd name="T35" fmla="*/ 32 h 65"/>
              <a:gd name="T36" fmla="*/ 58 w 65"/>
              <a:gd name="T37" fmla="*/ 2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5" h="65">
                <a:moveTo>
                  <a:pt x="58" y="25"/>
                </a:moveTo>
                <a:cubicBezTo>
                  <a:pt x="40" y="25"/>
                  <a:pt x="40" y="25"/>
                  <a:pt x="40" y="25"/>
                </a:cubicBezTo>
                <a:cubicBezTo>
                  <a:pt x="40" y="7"/>
                  <a:pt x="40" y="7"/>
                  <a:pt x="40" y="7"/>
                </a:cubicBezTo>
                <a:cubicBezTo>
                  <a:pt x="40" y="3"/>
                  <a:pt x="37" y="0"/>
                  <a:pt x="33" y="0"/>
                </a:cubicBezTo>
                <a:cubicBezTo>
                  <a:pt x="28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25"/>
                  <a:pt x="25" y="25"/>
                  <a:pt x="25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3" y="25"/>
                  <a:pt x="0" y="28"/>
                  <a:pt x="0" y="32"/>
                </a:cubicBezTo>
                <a:cubicBezTo>
                  <a:pt x="0" y="36"/>
                  <a:pt x="3" y="40"/>
                  <a:pt x="7" y="40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61"/>
                  <a:pt x="28" y="65"/>
                  <a:pt x="33" y="65"/>
                </a:cubicBezTo>
                <a:cubicBezTo>
                  <a:pt x="37" y="65"/>
                  <a:pt x="40" y="61"/>
                  <a:pt x="40" y="57"/>
                </a:cubicBezTo>
                <a:cubicBezTo>
                  <a:pt x="40" y="40"/>
                  <a:pt x="40" y="40"/>
                  <a:pt x="40" y="40"/>
                </a:cubicBezTo>
                <a:cubicBezTo>
                  <a:pt x="45" y="40"/>
                  <a:pt x="45" y="40"/>
                  <a:pt x="45" y="40"/>
                </a:cubicBezTo>
                <a:cubicBezTo>
                  <a:pt x="58" y="40"/>
                  <a:pt x="58" y="40"/>
                  <a:pt x="58" y="40"/>
                </a:cubicBezTo>
                <a:cubicBezTo>
                  <a:pt x="62" y="40"/>
                  <a:pt x="65" y="36"/>
                  <a:pt x="65" y="32"/>
                </a:cubicBezTo>
                <a:cubicBezTo>
                  <a:pt x="65" y="28"/>
                  <a:pt x="62" y="25"/>
                  <a:pt x="58" y="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13" name="Freeform 34"/>
          <p:cNvSpPr/>
          <p:nvPr userDrawn="1"/>
        </p:nvSpPr>
        <p:spPr bwMode="auto">
          <a:xfrm>
            <a:off x="226449" y="341831"/>
            <a:ext cx="77055" cy="77055"/>
          </a:xfrm>
          <a:custGeom>
            <a:avLst/>
            <a:gdLst>
              <a:gd name="T0" fmla="*/ 58 w 65"/>
              <a:gd name="T1" fmla="*/ 25 h 65"/>
              <a:gd name="T2" fmla="*/ 40 w 65"/>
              <a:gd name="T3" fmla="*/ 25 h 65"/>
              <a:gd name="T4" fmla="*/ 40 w 65"/>
              <a:gd name="T5" fmla="*/ 7 h 65"/>
              <a:gd name="T6" fmla="*/ 33 w 65"/>
              <a:gd name="T7" fmla="*/ 0 h 65"/>
              <a:gd name="T8" fmla="*/ 25 w 65"/>
              <a:gd name="T9" fmla="*/ 7 h 65"/>
              <a:gd name="T10" fmla="*/ 25 w 65"/>
              <a:gd name="T11" fmla="*/ 11 h 65"/>
              <a:gd name="T12" fmla="*/ 25 w 65"/>
              <a:gd name="T13" fmla="*/ 25 h 65"/>
              <a:gd name="T14" fmla="*/ 7 w 65"/>
              <a:gd name="T15" fmla="*/ 25 h 65"/>
              <a:gd name="T16" fmla="*/ 0 w 65"/>
              <a:gd name="T17" fmla="*/ 32 h 65"/>
              <a:gd name="T18" fmla="*/ 7 w 65"/>
              <a:gd name="T19" fmla="*/ 40 h 65"/>
              <a:gd name="T20" fmla="*/ 25 w 65"/>
              <a:gd name="T21" fmla="*/ 40 h 65"/>
              <a:gd name="T22" fmla="*/ 25 w 65"/>
              <a:gd name="T23" fmla="*/ 57 h 65"/>
              <a:gd name="T24" fmla="*/ 33 w 65"/>
              <a:gd name="T25" fmla="*/ 65 h 65"/>
              <a:gd name="T26" fmla="*/ 40 w 65"/>
              <a:gd name="T27" fmla="*/ 57 h 65"/>
              <a:gd name="T28" fmla="*/ 40 w 65"/>
              <a:gd name="T29" fmla="*/ 40 h 65"/>
              <a:gd name="T30" fmla="*/ 45 w 65"/>
              <a:gd name="T31" fmla="*/ 40 h 65"/>
              <a:gd name="T32" fmla="*/ 58 w 65"/>
              <a:gd name="T33" fmla="*/ 40 h 65"/>
              <a:gd name="T34" fmla="*/ 65 w 65"/>
              <a:gd name="T35" fmla="*/ 32 h 65"/>
              <a:gd name="T36" fmla="*/ 58 w 65"/>
              <a:gd name="T37" fmla="*/ 2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5" h="65">
                <a:moveTo>
                  <a:pt x="58" y="25"/>
                </a:moveTo>
                <a:cubicBezTo>
                  <a:pt x="40" y="25"/>
                  <a:pt x="40" y="25"/>
                  <a:pt x="40" y="25"/>
                </a:cubicBezTo>
                <a:cubicBezTo>
                  <a:pt x="40" y="7"/>
                  <a:pt x="40" y="7"/>
                  <a:pt x="40" y="7"/>
                </a:cubicBezTo>
                <a:cubicBezTo>
                  <a:pt x="40" y="3"/>
                  <a:pt x="37" y="0"/>
                  <a:pt x="33" y="0"/>
                </a:cubicBezTo>
                <a:cubicBezTo>
                  <a:pt x="28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25"/>
                  <a:pt x="25" y="25"/>
                  <a:pt x="25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3" y="25"/>
                  <a:pt x="0" y="28"/>
                  <a:pt x="0" y="32"/>
                </a:cubicBezTo>
                <a:cubicBezTo>
                  <a:pt x="0" y="36"/>
                  <a:pt x="3" y="40"/>
                  <a:pt x="7" y="40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61"/>
                  <a:pt x="28" y="65"/>
                  <a:pt x="33" y="65"/>
                </a:cubicBezTo>
                <a:cubicBezTo>
                  <a:pt x="37" y="65"/>
                  <a:pt x="40" y="61"/>
                  <a:pt x="40" y="57"/>
                </a:cubicBezTo>
                <a:cubicBezTo>
                  <a:pt x="40" y="40"/>
                  <a:pt x="40" y="40"/>
                  <a:pt x="40" y="40"/>
                </a:cubicBezTo>
                <a:cubicBezTo>
                  <a:pt x="45" y="40"/>
                  <a:pt x="45" y="40"/>
                  <a:pt x="45" y="40"/>
                </a:cubicBezTo>
                <a:cubicBezTo>
                  <a:pt x="58" y="40"/>
                  <a:pt x="58" y="40"/>
                  <a:pt x="58" y="40"/>
                </a:cubicBezTo>
                <a:cubicBezTo>
                  <a:pt x="62" y="40"/>
                  <a:pt x="65" y="36"/>
                  <a:pt x="65" y="32"/>
                </a:cubicBezTo>
                <a:cubicBezTo>
                  <a:pt x="65" y="28"/>
                  <a:pt x="62" y="25"/>
                  <a:pt x="58" y="25"/>
                </a:cubicBezTo>
                <a:close/>
              </a:path>
            </a:pathLst>
          </a:custGeom>
          <a:solidFill>
            <a:schemeClr val="bg1">
              <a:alpha val="5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F2F5FA">
              <a:alpha val="10000"/>
            </a:srgbClr>
          </a:solidFill>
          <a:ln>
            <a:gradFill>
              <a:gsLst>
                <a:gs pos="0">
                  <a:schemeClr val="accent1">
                    <a:lumMod val="11000"/>
                    <a:lumOff val="89000"/>
                    <a:alpha val="0"/>
                  </a:scheme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1" name="标题 3"/>
          <p:cNvSpPr>
            <a:spLocks noGrp="1"/>
          </p:cNvSpPr>
          <p:nvPr userDrawn="1"/>
        </p:nvSpPr>
        <p:spPr>
          <a:xfrm>
            <a:off x="323691" y="140335"/>
            <a:ext cx="921385" cy="360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061FD3"/>
                </a:solidFill>
                <a:latin typeface="微软雅黑" panose="020B0502040204020203" charset="-122"/>
                <a:ea typeface="微软雅黑" panose="020B0502040204020203" charset="-122"/>
                <a:cs typeface="+mj-cs"/>
              </a:defRPr>
            </a:lvl1pPr>
          </a:lstStyle>
          <a:p>
            <a:pPr algn="ctr"/>
            <a:endParaRPr lang="zh-CN" altLang="en-US" sz="1200">
              <a:solidFill>
                <a:schemeClr val="bg1"/>
              </a:solidFill>
            </a:endParaRPr>
          </a:p>
        </p:txBody>
      </p:sp>
      <p:pic>
        <p:nvPicPr>
          <p:cNvPr id="23" name="图片 22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1490" y="202808"/>
            <a:ext cx="1332000" cy="324000"/>
          </a:xfrm>
          <a:prstGeom prst="rect">
            <a:avLst/>
          </a:prstGeom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15950" y="129540"/>
            <a:ext cx="9116695" cy="50228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rgbClr val="0721A8"/>
                </a:solidFill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1120" y="43815"/>
            <a:ext cx="648000" cy="648000"/>
          </a:xfrm>
          <a:prstGeom prst="rect">
            <a:avLst/>
          </a:prstGeom>
        </p:spPr>
      </p:pic>
      <p:pic>
        <p:nvPicPr>
          <p:cNvPr id="46" name="图片 140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98" r="-113402"/>
          <a:stretch>
            <a:fillRect/>
          </a:stretch>
        </p:blipFill>
        <p:spPr bwMode="auto">
          <a:xfrm>
            <a:off x="0" y="367030"/>
            <a:ext cx="121920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组合 23"/>
          <p:cNvGrpSpPr/>
          <p:nvPr userDrawn="1"/>
        </p:nvGrpSpPr>
        <p:grpSpPr>
          <a:xfrm>
            <a:off x="9822180" y="208915"/>
            <a:ext cx="706120" cy="331470"/>
            <a:chOff x="15578" y="329"/>
            <a:chExt cx="1112" cy="522"/>
          </a:xfrm>
        </p:grpSpPr>
        <p:sp>
          <p:nvSpPr>
            <p:cNvPr id="6" name="流程图: 可选过程 5"/>
            <p:cNvSpPr/>
            <p:nvPr userDrawn="1">
              <p:custDataLst>
                <p:tags r:id="rId3"/>
              </p:custDataLst>
            </p:nvPr>
          </p:nvSpPr>
          <p:spPr>
            <a:xfrm>
              <a:off x="15578" y="329"/>
              <a:ext cx="1112" cy="522"/>
            </a:xfrm>
            <a:prstGeom prst="flowChartAlternateProcess">
              <a:avLst/>
            </a:prstGeom>
            <a:gradFill>
              <a:gsLst>
                <a:gs pos="100000">
                  <a:srgbClr val="2299FE">
                    <a:lumMod val="90000"/>
                    <a:alpha val="20000"/>
                  </a:srgbClr>
                </a:gs>
                <a:gs pos="0">
                  <a:srgbClr val="3C5EFE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rgbClr val="0565FF"/>
                </a:solidFill>
                <a:sym typeface="+mn-ea"/>
              </a:endParaRPr>
            </a:p>
          </p:txBody>
        </p:sp>
        <p:sp>
          <p:nvSpPr>
            <p:cNvPr id="16" name="灯片编号占位符 2"/>
            <p:cNvSpPr txBox="1"/>
            <p:nvPr userDrawn="1">
              <p:custDataLst>
                <p:tags r:id="rId4"/>
              </p:custDataLst>
            </p:nvPr>
          </p:nvSpPr>
          <p:spPr>
            <a:xfrm>
              <a:off x="15666" y="380"/>
              <a:ext cx="333" cy="436"/>
            </a:xfrm>
            <a:prstGeom prst="rect">
              <a:avLst/>
            </a:prstGeom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1pPr>
              <a:lvl2pPr marL="3429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2pPr>
              <a:lvl3pPr marL="685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3pPr>
              <a:lvl4pPr marL="10287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4pPr>
              <a:lvl5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5pPr>
              <a:lvl6pPr marL="17145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6pPr>
              <a:lvl7pPr marL="20574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7pPr>
              <a:lvl8pPr marL="24003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8pPr>
              <a:lvl9pPr marL="27432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9pPr>
            </a:lstStyle>
            <a:p>
              <a:pPr algn="ctr"/>
              <a:r>
                <a:rPr kumimoji="1" lang="en-US" altLang="zh-CN" sz="1200" b="1" dirty="0">
                  <a:solidFill>
                    <a:srgbClr val="0721A8"/>
                  </a:solidFill>
                  <a:latin typeface="微软雅黑" panose="020B0502040204020203" charset="-122"/>
                  <a:ea typeface="微软雅黑" panose="020B0502040204020203" charset="-122"/>
                </a:rPr>
                <a:t>P</a:t>
              </a:r>
            </a:p>
          </p:txBody>
        </p:sp>
      </p:grpSp>
      <p:sp>
        <p:nvSpPr>
          <p:cNvPr id="14" name="灯片编号占位符 2"/>
          <p:cNvSpPr txBox="1"/>
          <p:nvPr userDrawn="1">
            <p:custDataLst>
              <p:tags r:id="rId2"/>
            </p:custDataLst>
          </p:nvPr>
        </p:nvSpPr>
        <p:spPr>
          <a:xfrm>
            <a:off x="9952990" y="242570"/>
            <a:ext cx="619125" cy="276860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1pPr>
            <a:lvl2pPr marL="3429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2pPr>
            <a:lvl3pPr marL="685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3pPr>
            <a:lvl4pPr marL="10287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4pPr>
            <a:lvl5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5pPr>
            <a:lvl6pPr marL="17145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6pPr>
            <a:lvl7pPr marL="20574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7pPr>
            <a:lvl8pPr marL="24003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8pPr>
            <a:lvl9pPr marL="27432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9pPr>
          </a:lstStyle>
          <a:p>
            <a:pPr algn="l"/>
            <a:fld id="{D536D8EC-CC4B-5049-B4AB-30C5E66DA51C}" type="slidenum">
              <a:rPr kumimoji="1" lang="zh-CN" altLang="en-US" sz="1200" b="1" smtClean="0">
                <a:solidFill>
                  <a:srgbClr val="1146EB"/>
                </a:solidFill>
                <a:latin typeface="微软雅黑" panose="020B0502040204020203" charset="-122"/>
                <a:ea typeface="微软雅黑" panose="020B0502040204020203" charset="-122"/>
              </a:rPr>
              <a:t>‹#›</a:t>
            </a:fld>
            <a:endParaRPr kumimoji="1" lang="zh-CN" altLang="en-US" sz="1200" b="1" dirty="0">
              <a:solidFill>
                <a:srgbClr val="1146EB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</p:spTree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997710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algn="l">
              <a:defRPr sz="6000" b="1">
                <a:gradFill>
                  <a:gsLst>
                    <a:gs pos="0">
                      <a:srgbClr val="3A60FE"/>
                    </a:gs>
                    <a:gs pos="46000">
                      <a:srgbClr val="00A7FF"/>
                    </a:gs>
                    <a:gs pos="100000">
                      <a:srgbClr val="0721A8"/>
                    </a:gs>
                  </a:gsLst>
                  <a:lin ang="2160000" scaled="0"/>
                </a:gra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谢谢聆听</a:t>
            </a:r>
          </a:p>
        </p:txBody>
      </p:sp>
      <p:sp>
        <p:nvSpPr>
          <p:cNvPr id="8" name="副标题 7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3389630"/>
            <a:ext cx="11064875" cy="452120"/>
          </a:xfrm>
        </p:spPr>
        <p:txBody>
          <a:bodyPr lIns="90000" tIns="46800" rIns="90000" bIns="46800" anchor="ctr" anchorCtr="0">
            <a:normAutofit fontScale="90000" lnSpcReduction="10000"/>
          </a:bodyPr>
          <a:lstStyle>
            <a:lvl1pPr marL="0" indent="0" algn="l">
              <a:lnSpc>
                <a:spcPct val="110000"/>
              </a:lnSpc>
              <a:buNone/>
              <a:defRPr sz="2400" spc="20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r>
              <a:rPr lang="zh-CN" altLang="en-US" dirty="0">
                <a:sym typeface="+mn-ea"/>
              </a:rPr>
              <a:t>团队名称或联系方式等信息</a:t>
            </a:r>
          </a:p>
        </p:txBody>
      </p:sp>
    </p:spTree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414145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300" normalizeH="0" baseline="0" noProof="1" dirty="0">
                <a:gradFill>
                  <a:gsLst>
                    <a:gs pos="0">
                      <a:srgbClr val="1742FD"/>
                    </a:gs>
                    <a:gs pos="100000">
                      <a:srgbClr val="0AD575"/>
                    </a:gs>
                    <a:gs pos="49000">
                      <a:srgbClr val="0081F3"/>
                    </a:gs>
                  </a:gsLst>
                  <a:lin ang="17400000" scaled="0"/>
                </a:gradFill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数字安全标准模板</a:t>
            </a:r>
          </a:p>
        </p:txBody>
      </p:sp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4" name="副标题 3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2806065"/>
            <a:ext cx="11064875" cy="45212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accent1">
                    <a:lumMod val="50000"/>
                  </a:schemeClr>
                </a:solidFill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  <a:sym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>
                <a:sym typeface="+mn-ea"/>
              </a:rPr>
              <a:t>适用于产品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方案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规划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营销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汇报等场景</a:t>
            </a:r>
          </a:p>
        </p:txBody>
      </p:sp>
    </p:spTree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8255" y="0"/>
            <a:ext cx="12240000" cy="68586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3810" y="4615815"/>
            <a:ext cx="12192000" cy="1553845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transition spd="med"/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997710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algn="l">
              <a:defRPr sz="6000" b="1">
                <a:gradFill>
                  <a:gsLst>
                    <a:gs pos="0">
                      <a:srgbClr val="3A60FE"/>
                    </a:gs>
                    <a:gs pos="46000">
                      <a:srgbClr val="00A7FF"/>
                    </a:gs>
                    <a:gs pos="100000">
                      <a:srgbClr val="0721A8"/>
                    </a:gs>
                  </a:gsLst>
                  <a:lin ang="2160000" scaled="0"/>
                </a:gra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谢谢聆听</a:t>
            </a:r>
          </a:p>
        </p:txBody>
      </p:sp>
      <p:sp>
        <p:nvSpPr>
          <p:cNvPr id="8" name="副标题 7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3389630"/>
            <a:ext cx="11064875" cy="452120"/>
          </a:xfrm>
        </p:spPr>
        <p:txBody>
          <a:bodyPr lIns="90000" tIns="46800" rIns="90000" bIns="46800" anchor="ctr" anchorCtr="0">
            <a:normAutofit fontScale="90000" lnSpcReduction="10000"/>
          </a:bodyPr>
          <a:lstStyle>
            <a:lvl1pPr marL="0" indent="0" algn="l">
              <a:lnSpc>
                <a:spcPct val="110000"/>
              </a:lnSpc>
              <a:buNone/>
              <a:defRPr sz="2400" spc="20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r>
              <a:rPr lang="zh-CN" altLang="en-US" dirty="0">
                <a:sym typeface="+mn-ea"/>
              </a:rPr>
              <a:t>团队名称或联系方式等信息</a:t>
            </a:r>
          </a:p>
        </p:txBody>
      </p:sp>
    </p:spTree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414145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300" normalizeH="0" baseline="0" noProof="1" dirty="0">
                <a:gradFill>
                  <a:gsLst>
                    <a:gs pos="0">
                      <a:srgbClr val="1742FD"/>
                    </a:gs>
                    <a:gs pos="100000">
                      <a:srgbClr val="0AD575"/>
                    </a:gs>
                    <a:gs pos="49000">
                      <a:srgbClr val="0081F3"/>
                    </a:gs>
                  </a:gsLst>
                  <a:lin ang="17400000" scaled="0"/>
                </a:gradFill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数字安全标准模板</a:t>
            </a:r>
          </a:p>
        </p:txBody>
      </p:sp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4" name="副标题 3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2806065"/>
            <a:ext cx="11064875" cy="45212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accent1">
                    <a:lumMod val="50000"/>
                  </a:schemeClr>
                </a:solidFill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  <a:sym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>
                <a:sym typeface="+mn-ea"/>
              </a:rPr>
              <a:t>适用于产品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方案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规划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营销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汇报等场景</a:t>
            </a:r>
          </a:p>
        </p:txBody>
      </p:sp>
    </p:spTree>
  </p:cSld>
  <p:clrMapOvr>
    <a:masterClrMapping/>
  </p:clrMapOvr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8255" y="0"/>
            <a:ext cx="12240000" cy="68586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3810" y="4615815"/>
            <a:ext cx="12192000" cy="1553845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transition spd="med"/>
  <p:hf sldNum="0"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635"/>
            <a:ext cx="12192000" cy="6858000"/>
          </a:xfrm>
          <a:prstGeom prst="rect">
            <a:avLst/>
          </a:prstGeom>
        </p:spPr>
      </p:pic>
      <p:sp>
        <p:nvSpPr>
          <p:cNvPr id="10" name="AutoShape 31"/>
          <p:cNvSpPr>
            <a:spLocks noChangeAspect="1" noChangeArrowheads="1" noTextEdit="1"/>
          </p:cNvSpPr>
          <p:nvPr userDrawn="1"/>
        </p:nvSpPr>
        <p:spPr bwMode="auto">
          <a:xfrm>
            <a:off x="565" y="236493"/>
            <a:ext cx="251119" cy="309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12" name="Freeform 34"/>
          <p:cNvSpPr/>
          <p:nvPr userDrawn="1"/>
        </p:nvSpPr>
        <p:spPr bwMode="auto">
          <a:xfrm>
            <a:off x="69031" y="219203"/>
            <a:ext cx="145443" cy="145443"/>
          </a:xfrm>
          <a:custGeom>
            <a:avLst/>
            <a:gdLst>
              <a:gd name="T0" fmla="*/ 58 w 65"/>
              <a:gd name="T1" fmla="*/ 25 h 65"/>
              <a:gd name="T2" fmla="*/ 40 w 65"/>
              <a:gd name="T3" fmla="*/ 25 h 65"/>
              <a:gd name="T4" fmla="*/ 40 w 65"/>
              <a:gd name="T5" fmla="*/ 7 h 65"/>
              <a:gd name="T6" fmla="*/ 33 w 65"/>
              <a:gd name="T7" fmla="*/ 0 h 65"/>
              <a:gd name="T8" fmla="*/ 25 w 65"/>
              <a:gd name="T9" fmla="*/ 7 h 65"/>
              <a:gd name="T10" fmla="*/ 25 w 65"/>
              <a:gd name="T11" fmla="*/ 11 h 65"/>
              <a:gd name="T12" fmla="*/ 25 w 65"/>
              <a:gd name="T13" fmla="*/ 25 h 65"/>
              <a:gd name="T14" fmla="*/ 7 w 65"/>
              <a:gd name="T15" fmla="*/ 25 h 65"/>
              <a:gd name="T16" fmla="*/ 0 w 65"/>
              <a:gd name="T17" fmla="*/ 32 h 65"/>
              <a:gd name="T18" fmla="*/ 7 w 65"/>
              <a:gd name="T19" fmla="*/ 40 h 65"/>
              <a:gd name="T20" fmla="*/ 25 w 65"/>
              <a:gd name="T21" fmla="*/ 40 h 65"/>
              <a:gd name="T22" fmla="*/ 25 w 65"/>
              <a:gd name="T23" fmla="*/ 57 h 65"/>
              <a:gd name="T24" fmla="*/ 33 w 65"/>
              <a:gd name="T25" fmla="*/ 65 h 65"/>
              <a:gd name="T26" fmla="*/ 40 w 65"/>
              <a:gd name="T27" fmla="*/ 57 h 65"/>
              <a:gd name="T28" fmla="*/ 40 w 65"/>
              <a:gd name="T29" fmla="*/ 40 h 65"/>
              <a:gd name="T30" fmla="*/ 45 w 65"/>
              <a:gd name="T31" fmla="*/ 40 h 65"/>
              <a:gd name="T32" fmla="*/ 58 w 65"/>
              <a:gd name="T33" fmla="*/ 40 h 65"/>
              <a:gd name="T34" fmla="*/ 65 w 65"/>
              <a:gd name="T35" fmla="*/ 32 h 65"/>
              <a:gd name="T36" fmla="*/ 58 w 65"/>
              <a:gd name="T37" fmla="*/ 2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5" h="65">
                <a:moveTo>
                  <a:pt x="58" y="25"/>
                </a:moveTo>
                <a:cubicBezTo>
                  <a:pt x="40" y="25"/>
                  <a:pt x="40" y="25"/>
                  <a:pt x="40" y="25"/>
                </a:cubicBezTo>
                <a:cubicBezTo>
                  <a:pt x="40" y="7"/>
                  <a:pt x="40" y="7"/>
                  <a:pt x="40" y="7"/>
                </a:cubicBezTo>
                <a:cubicBezTo>
                  <a:pt x="40" y="3"/>
                  <a:pt x="37" y="0"/>
                  <a:pt x="33" y="0"/>
                </a:cubicBezTo>
                <a:cubicBezTo>
                  <a:pt x="28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25"/>
                  <a:pt x="25" y="25"/>
                  <a:pt x="25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3" y="25"/>
                  <a:pt x="0" y="28"/>
                  <a:pt x="0" y="32"/>
                </a:cubicBezTo>
                <a:cubicBezTo>
                  <a:pt x="0" y="36"/>
                  <a:pt x="3" y="40"/>
                  <a:pt x="7" y="40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61"/>
                  <a:pt x="28" y="65"/>
                  <a:pt x="33" y="65"/>
                </a:cubicBezTo>
                <a:cubicBezTo>
                  <a:pt x="37" y="65"/>
                  <a:pt x="40" y="61"/>
                  <a:pt x="40" y="57"/>
                </a:cubicBezTo>
                <a:cubicBezTo>
                  <a:pt x="40" y="40"/>
                  <a:pt x="40" y="40"/>
                  <a:pt x="40" y="40"/>
                </a:cubicBezTo>
                <a:cubicBezTo>
                  <a:pt x="45" y="40"/>
                  <a:pt x="45" y="40"/>
                  <a:pt x="45" y="40"/>
                </a:cubicBezTo>
                <a:cubicBezTo>
                  <a:pt x="58" y="40"/>
                  <a:pt x="58" y="40"/>
                  <a:pt x="58" y="40"/>
                </a:cubicBezTo>
                <a:cubicBezTo>
                  <a:pt x="62" y="40"/>
                  <a:pt x="65" y="36"/>
                  <a:pt x="65" y="32"/>
                </a:cubicBezTo>
                <a:cubicBezTo>
                  <a:pt x="65" y="28"/>
                  <a:pt x="62" y="25"/>
                  <a:pt x="58" y="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13" name="Freeform 34"/>
          <p:cNvSpPr/>
          <p:nvPr userDrawn="1"/>
        </p:nvSpPr>
        <p:spPr bwMode="auto">
          <a:xfrm>
            <a:off x="226449" y="341831"/>
            <a:ext cx="77055" cy="77055"/>
          </a:xfrm>
          <a:custGeom>
            <a:avLst/>
            <a:gdLst>
              <a:gd name="T0" fmla="*/ 58 w 65"/>
              <a:gd name="T1" fmla="*/ 25 h 65"/>
              <a:gd name="T2" fmla="*/ 40 w 65"/>
              <a:gd name="T3" fmla="*/ 25 h 65"/>
              <a:gd name="T4" fmla="*/ 40 w 65"/>
              <a:gd name="T5" fmla="*/ 7 h 65"/>
              <a:gd name="T6" fmla="*/ 33 w 65"/>
              <a:gd name="T7" fmla="*/ 0 h 65"/>
              <a:gd name="T8" fmla="*/ 25 w 65"/>
              <a:gd name="T9" fmla="*/ 7 h 65"/>
              <a:gd name="T10" fmla="*/ 25 w 65"/>
              <a:gd name="T11" fmla="*/ 11 h 65"/>
              <a:gd name="T12" fmla="*/ 25 w 65"/>
              <a:gd name="T13" fmla="*/ 25 h 65"/>
              <a:gd name="T14" fmla="*/ 7 w 65"/>
              <a:gd name="T15" fmla="*/ 25 h 65"/>
              <a:gd name="T16" fmla="*/ 0 w 65"/>
              <a:gd name="T17" fmla="*/ 32 h 65"/>
              <a:gd name="T18" fmla="*/ 7 w 65"/>
              <a:gd name="T19" fmla="*/ 40 h 65"/>
              <a:gd name="T20" fmla="*/ 25 w 65"/>
              <a:gd name="T21" fmla="*/ 40 h 65"/>
              <a:gd name="T22" fmla="*/ 25 w 65"/>
              <a:gd name="T23" fmla="*/ 57 h 65"/>
              <a:gd name="T24" fmla="*/ 33 w 65"/>
              <a:gd name="T25" fmla="*/ 65 h 65"/>
              <a:gd name="T26" fmla="*/ 40 w 65"/>
              <a:gd name="T27" fmla="*/ 57 h 65"/>
              <a:gd name="T28" fmla="*/ 40 w 65"/>
              <a:gd name="T29" fmla="*/ 40 h 65"/>
              <a:gd name="T30" fmla="*/ 45 w 65"/>
              <a:gd name="T31" fmla="*/ 40 h 65"/>
              <a:gd name="T32" fmla="*/ 58 w 65"/>
              <a:gd name="T33" fmla="*/ 40 h 65"/>
              <a:gd name="T34" fmla="*/ 65 w 65"/>
              <a:gd name="T35" fmla="*/ 32 h 65"/>
              <a:gd name="T36" fmla="*/ 58 w 65"/>
              <a:gd name="T37" fmla="*/ 2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5" h="65">
                <a:moveTo>
                  <a:pt x="58" y="25"/>
                </a:moveTo>
                <a:cubicBezTo>
                  <a:pt x="40" y="25"/>
                  <a:pt x="40" y="25"/>
                  <a:pt x="40" y="25"/>
                </a:cubicBezTo>
                <a:cubicBezTo>
                  <a:pt x="40" y="7"/>
                  <a:pt x="40" y="7"/>
                  <a:pt x="40" y="7"/>
                </a:cubicBezTo>
                <a:cubicBezTo>
                  <a:pt x="40" y="3"/>
                  <a:pt x="37" y="0"/>
                  <a:pt x="33" y="0"/>
                </a:cubicBezTo>
                <a:cubicBezTo>
                  <a:pt x="28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25"/>
                  <a:pt x="25" y="25"/>
                  <a:pt x="25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3" y="25"/>
                  <a:pt x="0" y="28"/>
                  <a:pt x="0" y="32"/>
                </a:cubicBezTo>
                <a:cubicBezTo>
                  <a:pt x="0" y="36"/>
                  <a:pt x="3" y="40"/>
                  <a:pt x="7" y="40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61"/>
                  <a:pt x="28" y="65"/>
                  <a:pt x="33" y="65"/>
                </a:cubicBezTo>
                <a:cubicBezTo>
                  <a:pt x="37" y="65"/>
                  <a:pt x="40" y="61"/>
                  <a:pt x="40" y="57"/>
                </a:cubicBezTo>
                <a:cubicBezTo>
                  <a:pt x="40" y="40"/>
                  <a:pt x="40" y="40"/>
                  <a:pt x="40" y="40"/>
                </a:cubicBezTo>
                <a:cubicBezTo>
                  <a:pt x="45" y="40"/>
                  <a:pt x="45" y="40"/>
                  <a:pt x="45" y="40"/>
                </a:cubicBezTo>
                <a:cubicBezTo>
                  <a:pt x="58" y="40"/>
                  <a:pt x="58" y="40"/>
                  <a:pt x="58" y="40"/>
                </a:cubicBezTo>
                <a:cubicBezTo>
                  <a:pt x="62" y="40"/>
                  <a:pt x="65" y="36"/>
                  <a:pt x="65" y="32"/>
                </a:cubicBezTo>
                <a:cubicBezTo>
                  <a:pt x="65" y="28"/>
                  <a:pt x="62" y="25"/>
                  <a:pt x="58" y="25"/>
                </a:cubicBezTo>
                <a:close/>
              </a:path>
            </a:pathLst>
          </a:custGeom>
          <a:solidFill>
            <a:schemeClr val="bg1">
              <a:alpha val="5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F2F5FA">
              <a:alpha val="10000"/>
            </a:srgbClr>
          </a:solidFill>
          <a:ln>
            <a:gradFill>
              <a:gsLst>
                <a:gs pos="0">
                  <a:schemeClr val="accent1">
                    <a:lumMod val="11000"/>
                    <a:lumOff val="89000"/>
                    <a:alpha val="0"/>
                  </a:scheme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1" name="标题 3"/>
          <p:cNvSpPr>
            <a:spLocks noGrp="1"/>
          </p:cNvSpPr>
          <p:nvPr userDrawn="1"/>
        </p:nvSpPr>
        <p:spPr>
          <a:xfrm>
            <a:off x="323691" y="140335"/>
            <a:ext cx="921385" cy="360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061FD3"/>
                </a:solidFill>
                <a:latin typeface="微软雅黑" panose="020B0502040204020203" charset="-122"/>
                <a:ea typeface="微软雅黑" panose="020B0502040204020203" charset="-122"/>
                <a:cs typeface="+mj-cs"/>
              </a:defRPr>
            </a:lvl1pPr>
          </a:lstStyle>
          <a:p>
            <a:pPr algn="ctr"/>
            <a:endParaRPr lang="zh-CN" altLang="en-US" sz="1200">
              <a:solidFill>
                <a:schemeClr val="bg1"/>
              </a:solidFill>
            </a:endParaRPr>
          </a:p>
        </p:txBody>
      </p:sp>
      <p:pic>
        <p:nvPicPr>
          <p:cNvPr id="23" name="图片 22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1490" y="202808"/>
            <a:ext cx="1332000" cy="324000"/>
          </a:xfrm>
          <a:prstGeom prst="rect">
            <a:avLst/>
          </a:prstGeom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15950" y="129540"/>
            <a:ext cx="9116695" cy="50228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rgbClr val="0721A8"/>
                </a:solidFill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1120" y="43815"/>
            <a:ext cx="648000" cy="648000"/>
          </a:xfrm>
          <a:prstGeom prst="rect">
            <a:avLst/>
          </a:prstGeom>
        </p:spPr>
      </p:pic>
      <p:grpSp>
        <p:nvGrpSpPr>
          <p:cNvPr id="24" name="组合 23"/>
          <p:cNvGrpSpPr/>
          <p:nvPr userDrawn="1"/>
        </p:nvGrpSpPr>
        <p:grpSpPr>
          <a:xfrm>
            <a:off x="9822180" y="208915"/>
            <a:ext cx="706120" cy="331470"/>
            <a:chOff x="15578" y="329"/>
            <a:chExt cx="1112" cy="522"/>
          </a:xfrm>
        </p:grpSpPr>
        <p:sp>
          <p:nvSpPr>
            <p:cNvPr id="6" name="流程图: 可选过程 5"/>
            <p:cNvSpPr/>
            <p:nvPr userDrawn="1">
              <p:custDataLst>
                <p:tags r:id="rId3"/>
              </p:custDataLst>
            </p:nvPr>
          </p:nvSpPr>
          <p:spPr>
            <a:xfrm>
              <a:off x="15578" y="329"/>
              <a:ext cx="1112" cy="522"/>
            </a:xfrm>
            <a:prstGeom prst="flowChartAlternateProcess">
              <a:avLst/>
            </a:prstGeom>
            <a:gradFill>
              <a:gsLst>
                <a:gs pos="100000">
                  <a:srgbClr val="2299FE">
                    <a:lumMod val="90000"/>
                    <a:alpha val="20000"/>
                  </a:srgbClr>
                </a:gs>
                <a:gs pos="0">
                  <a:srgbClr val="3C5EFE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rgbClr val="0565FF"/>
                </a:solidFill>
                <a:sym typeface="+mn-ea"/>
              </a:endParaRPr>
            </a:p>
          </p:txBody>
        </p:sp>
        <p:sp>
          <p:nvSpPr>
            <p:cNvPr id="16" name="灯片编号占位符 2"/>
            <p:cNvSpPr txBox="1"/>
            <p:nvPr userDrawn="1">
              <p:custDataLst>
                <p:tags r:id="rId4"/>
              </p:custDataLst>
            </p:nvPr>
          </p:nvSpPr>
          <p:spPr>
            <a:xfrm>
              <a:off x="15666" y="380"/>
              <a:ext cx="333" cy="436"/>
            </a:xfrm>
            <a:prstGeom prst="rect">
              <a:avLst/>
            </a:prstGeom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1pPr>
              <a:lvl2pPr marL="3429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2pPr>
              <a:lvl3pPr marL="685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3pPr>
              <a:lvl4pPr marL="10287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4pPr>
              <a:lvl5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5pPr>
              <a:lvl6pPr marL="17145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6pPr>
              <a:lvl7pPr marL="20574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7pPr>
              <a:lvl8pPr marL="24003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8pPr>
              <a:lvl9pPr marL="27432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9pPr>
            </a:lstStyle>
            <a:p>
              <a:pPr algn="ctr"/>
              <a:r>
                <a:rPr kumimoji="1" lang="en-US" altLang="zh-CN" sz="1200" b="1" dirty="0">
                  <a:solidFill>
                    <a:srgbClr val="0721A8"/>
                  </a:solidFill>
                  <a:latin typeface="微软雅黑" panose="020B0502040204020203" charset="-122"/>
                  <a:ea typeface="微软雅黑" panose="020B0502040204020203" charset="-122"/>
                </a:rPr>
                <a:t>P</a:t>
              </a:r>
            </a:p>
          </p:txBody>
        </p:sp>
      </p:grpSp>
      <p:sp>
        <p:nvSpPr>
          <p:cNvPr id="14" name="灯片编号占位符 2"/>
          <p:cNvSpPr txBox="1"/>
          <p:nvPr userDrawn="1">
            <p:custDataLst>
              <p:tags r:id="rId1"/>
            </p:custDataLst>
          </p:nvPr>
        </p:nvSpPr>
        <p:spPr>
          <a:xfrm>
            <a:off x="9952990" y="242570"/>
            <a:ext cx="619125" cy="276860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1pPr>
            <a:lvl2pPr marL="3429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2pPr>
            <a:lvl3pPr marL="685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3pPr>
            <a:lvl4pPr marL="10287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4pPr>
            <a:lvl5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5pPr>
            <a:lvl6pPr marL="17145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6pPr>
            <a:lvl7pPr marL="20574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7pPr>
            <a:lvl8pPr marL="24003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8pPr>
            <a:lvl9pPr marL="27432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9pPr>
          </a:lstStyle>
          <a:p>
            <a:pPr algn="l"/>
            <a:fld id="{D536D8EC-CC4B-5049-B4AB-30C5E66DA51C}" type="slidenum">
              <a:rPr kumimoji="1" lang="zh-CN" altLang="en-US" sz="1200" b="1" smtClean="0">
                <a:solidFill>
                  <a:srgbClr val="1146EB"/>
                </a:solidFill>
                <a:latin typeface="微软雅黑" panose="020B0502040204020203" charset="-122"/>
                <a:ea typeface="微软雅黑" panose="020B0502040204020203" charset="-122"/>
              </a:rPr>
              <a:t>‹#›</a:t>
            </a:fld>
            <a:endParaRPr kumimoji="1" lang="zh-CN" altLang="en-US" sz="1200" b="1" dirty="0">
              <a:solidFill>
                <a:srgbClr val="1146EB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pic>
        <p:nvPicPr>
          <p:cNvPr id="3" name="图片 140">
            <a:extLst>
              <a:ext uri="{FF2B5EF4-FFF2-40B4-BE49-F238E27FC236}">
                <a16:creationId xmlns:a16="http://schemas.microsoft.com/office/drawing/2014/main" id="{BF00199D-608A-659E-177F-C7F61C8CA4BF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98" r="-113402"/>
          <a:stretch>
            <a:fillRect/>
          </a:stretch>
        </p:blipFill>
        <p:spPr bwMode="auto">
          <a:xfrm>
            <a:off x="0" y="367030"/>
            <a:ext cx="121920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sldNum="0"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hf sldNum="0"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997710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algn="l">
              <a:defRPr sz="6000" b="1">
                <a:gradFill>
                  <a:gsLst>
                    <a:gs pos="0">
                      <a:srgbClr val="3A60FE"/>
                    </a:gs>
                    <a:gs pos="46000">
                      <a:srgbClr val="00A7FF"/>
                    </a:gs>
                    <a:gs pos="100000">
                      <a:srgbClr val="0721A8"/>
                    </a:gs>
                  </a:gsLst>
                  <a:lin ang="2160000" scaled="0"/>
                </a:gra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谢谢聆听</a:t>
            </a:r>
          </a:p>
        </p:txBody>
      </p:sp>
      <p:sp>
        <p:nvSpPr>
          <p:cNvPr id="8" name="副标题 7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3389630"/>
            <a:ext cx="11064875" cy="452120"/>
          </a:xfrm>
        </p:spPr>
        <p:txBody>
          <a:bodyPr lIns="90000" tIns="46800" rIns="90000" bIns="46800" anchor="ctr" anchorCtr="0">
            <a:normAutofit fontScale="90000" lnSpcReduction="10000"/>
          </a:bodyPr>
          <a:lstStyle>
            <a:lvl1pPr marL="0" indent="0" algn="l">
              <a:lnSpc>
                <a:spcPct val="110000"/>
              </a:lnSpc>
              <a:buNone/>
              <a:defRPr sz="2400" spc="20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r>
              <a:rPr lang="zh-CN" altLang="en-US" dirty="0">
                <a:sym typeface="+mn-ea"/>
              </a:rPr>
              <a:t>团队名称或联系方式等信息</a:t>
            </a:r>
          </a:p>
        </p:txBody>
      </p:sp>
    </p:spTree>
  </p:cSld>
  <p:clrMapOvr>
    <a:masterClrMapping/>
  </p:clrMapOvr>
  <p:hf sldNum="0"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414145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300" normalizeH="0" baseline="0" noProof="1" dirty="0">
                <a:gradFill>
                  <a:gsLst>
                    <a:gs pos="0">
                      <a:srgbClr val="1742FD"/>
                    </a:gs>
                    <a:gs pos="100000">
                      <a:srgbClr val="0AD575"/>
                    </a:gs>
                    <a:gs pos="49000">
                      <a:srgbClr val="0081F3"/>
                    </a:gs>
                  </a:gsLst>
                  <a:lin ang="17400000" scaled="0"/>
                </a:gradFill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数字安全标准模板</a:t>
            </a:r>
          </a:p>
        </p:txBody>
      </p:sp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4" name="副标题 3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2806065"/>
            <a:ext cx="11064875" cy="45212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accent1">
                    <a:lumMod val="50000"/>
                  </a:schemeClr>
                </a:solidFill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  <a:sym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>
                <a:sym typeface="+mn-ea"/>
              </a:rPr>
              <a:t>适用于产品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方案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规划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营销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汇报等场景</a:t>
            </a:r>
          </a:p>
        </p:txBody>
      </p:sp>
    </p:spTree>
  </p:cSld>
  <p:clrMapOvr>
    <a:masterClrMapping/>
  </p:clrMapOvr>
  <p:hf sldNum="0"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8255" y="0"/>
            <a:ext cx="12240000" cy="68586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3810" y="4615815"/>
            <a:ext cx="12192000" cy="1553845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transition spd="med"/>
  <p:hf sldNum="0"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635"/>
            <a:ext cx="12192000" cy="6858000"/>
          </a:xfrm>
          <a:prstGeom prst="rect">
            <a:avLst/>
          </a:prstGeom>
        </p:spPr>
      </p:pic>
      <p:sp>
        <p:nvSpPr>
          <p:cNvPr id="10" name="AutoShape 31"/>
          <p:cNvSpPr>
            <a:spLocks noChangeAspect="1" noChangeArrowheads="1" noTextEdit="1"/>
          </p:cNvSpPr>
          <p:nvPr userDrawn="1"/>
        </p:nvSpPr>
        <p:spPr bwMode="auto">
          <a:xfrm>
            <a:off x="565" y="236493"/>
            <a:ext cx="251119" cy="309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12" name="Freeform 34"/>
          <p:cNvSpPr/>
          <p:nvPr userDrawn="1"/>
        </p:nvSpPr>
        <p:spPr bwMode="auto">
          <a:xfrm>
            <a:off x="69031" y="219203"/>
            <a:ext cx="145443" cy="145443"/>
          </a:xfrm>
          <a:custGeom>
            <a:avLst/>
            <a:gdLst>
              <a:gd name="T0" fmla="*/ 58 w 65"/>
              <a:gd name="T1" fmla="*/ 25 h 65"/>
              <a:gd name="T2" fmla="*/ 40 w 65"/>
              <a:gd name="T3" fmla="*/ 25 h 65"/>
              <a:gd name="T4" fmla="*/ 40 w 65"/>
              <a:gd name="T5" fmla="*/ 7 h 65"/>
              <a:gd name="T6" fmla="*/ 33 w 65"/>
              <a:gd name="T7" fmla="*/ 0 h 65"/>
              <a:gd name="T8" fmla="*/ 25 w 65"/>
              <a:gd name="T9" fmla="*/ 7 h 65"/>
              <a:gd name="T10" fmla="*/ 25 w 65"/>
              <a:gd name="T11" fmla="*/ 11 h 65"/>
              <a:gd name="T12" fmla="*/ 25 w 65"/>
              <a:gd name="T13" fmla="*/ 25 h 65"/>
              <a:gd name="T14" fmla="*/ 7 w 65"/>
              <a:gd name="T15" fmla="*/ 25 h 65"/>
              <a:gd name="T16" fmla="*/ 0 w 65"/>
              <a:gd name="T17" fmla="*/ 32 h 65"/>
              <a:gd name="T18" fmla="*/ 7 w 65"/>
              <a:gd name="T19" fmla="*/ 40 h 65"/>
              <a:gd name="T20" fmla="*/ 25 w 65"/>
              <a:gd name="T21" fmla="*/ 40 h 65"/>
              <a:gd name="T22" fmla="*/ 25 w 65"/>
              <a:gd name="T23" fmla="*/ 57 h 65"/>
              <a:gd name="T24" fmla="*/ 33 w 65"/>
              <a:gd name="T25" fmla="*/ 65 h 65"/>
              <a:gd name="T26" fmla="*/ 40 w 65"/>
              <a:gd name="T27" fmla="*/ 57 h 65"/>
              <a:gd name="T28" fmla="*/ 40 w 65"/>
              <a:gd name="T29" fmla="*/ 40 h 65"/>
              <a:gd name="T30" fmla="*/ 45 w 65"/>
              <a:gd name="T31" fmla="*/ 40 h 65"/>
              <a:gd name="T32" fmla="*/ 58 w 65"/>
              <a:gd name="T33" fmla="*/ 40 h 65"/>
              <a:gd name="T34" fmla="*/ 65 w 65"/>
              <a:gd name="T35" fmla="*/ 32 h 65"/>
              <a:gd name="T36" fmla="*/ 58 w 65"/>
              <a:gd name="T37" fmla="*/ 2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5" h="65">
                <a:moveTo>
                  <a:pt x="58" y="25"/>
                </a:moveTo>
                <a:cubicBezTo>
                  <a:pt x="40" y="25"/>
                  <a:pt x="40" y="25"/>
                  <a:pt x="40" y="25"/>
                </a:cubicBezTo>
                <a:cubicBezTo>
                  <a:pt x="40" y="7"/>
                  <a:pt x="40" y="7"/>
                  <a:pt x="40" y="7"/>
                </a:cubicBezTo>
                <a:cubicBezTo>
                  <a:pt x="40" y="3"/>
                  <a:pt x="37" y="0"/>
                  <a:pt x="33" y="0"/>
                </a:cubicBezTo>
                <a:cubicBezTo>
                  <a:pt x="28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25"/>
                  <a:pt x="25" y="25"/>
                  <a:pt x="25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3" y="25"/>
                  <a:pt x="0" y="28"/>
                  <a:pt x="0" y="32"/>
                </a:cubicBezTo>
                <a:cubicBezTo>
                  <a:pt x="0" y="36"/>
                  <a:pt x="3" y="40"/>
                  <a:pt x="7" y="40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61"/>
                  <a:pt x="28" y="65"/>
                  <a:pt x="33" y="65"/>
                </a:cubicBezTo>
                <a:cubicBezTo>
                  <a:pt x="37" y="65"/>
                  <a:pt x="40" y="61"/>
                  <a:pt x="40" y="57"/>
                </a:cubicBezTo>
                <a:cubicBezTo>
                  <a:pt x="40" y="40"/>
                  <a:pt x="40" y="40"/>
                  <a:pt x="40" y="40"/>
                </a:cubicBezTo>
                <a:cubicBezTo>
                  <a:pt x="45" y="40"/>
                  <a:pt x="45" y="40"/>
                  <a:pt x="45" y="40"/>
                </a:cubicBezTo>
                <a:cubicBezTo>
                  <a:pt x="58" y="40"/>
                  <a:pt x="58" y="40"/>
                  <a:pt x="58" y="40"/>
                </a:cubicBezTo>
                <a:cubicBezTo>
                  <a:pt x="62" y="40"/>
                  <a:pt x="65" y="36"/>
                  <a:pt x="65" y="32"/>
                </a:cubicBezTo>
                <a:cubicBezTo>
                  <a:pt x="65" y="28"/>
                  <a:pt x="62" y="25"/>
                  <a:pt x="58" y="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13" name="Freeform 34"/>
          <p:cNvSpPr/>
          <p:nvPr userDrawn="1"/>
        </p:nvSpPr>
        <p:spPr bwMode="auto">
          <a:xfrm>
            <a:off x="226449" y="341831"/>
            <a:ext cx="77055" cy="77055"/>
          </a:xfrm>
          <a:custGeom>
            <a:avLst/>
            <a:gdLst>
              <a:gd name="T0" fmla="*/ 58 w 65"/>
              <a:gd name="T1" fmla="*/ 25 h 65"/>
              <a:gd name="T2" fmla="*/ 40 w 65"/>
              <a:gd name="T3" fmla="*/ 25 h 65"/>
              <a:gd name="T4" fmla="*/ 40 w 65"/>
              <a:gd name="T5" fmla="*/ 7 h 65"/>
              <a:gd name="T6" fmla="*/ 33 w 65"/>
              <a:gd name="T7" fmla="*/ 0 h 65"/>
              <a:gd name="T8" fmla="*/ 25 w 65"/>
              <a:gd name="T9" fmla="*/ 7 h 65"/>
              <a:gd name="T10" fmla="*/ 25 w 65"/>
              <a:gd name="T11" fmla="*/ 11 h 65"/>
              <a:gd name="T12" fmla="*/ 25 w 65"/>
              <a:gd name="T13" fmla="*/ 25 h 65"/>
              <a:gd name="T14" fmla="*/ 7 w 65"/>
              <a:gd name="T15" fmla="*/ 25 h 65"/>
              <a:gd name="T16" fmla="*/ 0 w 65"/>
              <a:gd name="T17" fmla="*/ 32 h 65"/>
              <a:gd name="T18" fmla="*/ 7 w 65"/>
              <a:gd name="T19" fmla="*/ 40 h 65"/>
              <a:gd name="T20" fmla="*/ 25 w 65"/>
              <a:gd name="T21" fmla="*/ 40 h 65"/>
              <a:gd name="T22" fmla="*/ 25 w 65"/>
              <a:gd name="T23" fmla="*/ 57 h 65"/>
              <a:gd name="T24" fmla="*/ 33 w 65"/>
              <a:gd name="T25" fmla="*/ 65 h 65"/>
              <a:gd name="T26" fmla="*/ 40 w 65"/>
              <a:gd name="T27" fmla="*/ 57 h 65"/>
              <a:gd name="T28" fmla="*/ 40 w 65"/>
              <a:gd name="T29" fmla="*/ 40 h 65"/>
              <a:gd name="T30" fmla="*/ 45 w 65"/>
              <a:gd name="T31" fmla="*/ 40 h 65"/>
              <a:gd name="T32" fmla="*/ 58 w 65"/>
              <a:gd name="T33" fmla="*/ 40 h 65"/>
              <a:gd name="T34" fmla="*/ 65 w 65"/>
              <a:gd name="T35" fmla="*/ 32 h 65"/>
              <a:gd name="T36" fmla="*/ 58 w 65"/>
              <a:gd name="T37" fmla="*/ 2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5" h="65">
                <a:moveTo>
                  <a:pt x="58" y="25"/>
                </a:moveTo>
                <a:cubicBezTo>
                  <a:pt x="40" y="25"/>
                  <a:pt x="40" y="25"/>
                  <a:pt x="40" y="25"/>
                </a:cubicBezTo>
                <a:cubicBezTo>
                  <a:pt x="40" y="7"/>
                  <a:pt x="40" y="7"/>
                  <a:pt x="40" y="7"/>
                </a:cubicBezTo>
                <a:cubicBezTo>
                  <a:pt x="40" y="3"/>
                  <a:pt x="37" y="0"/>
                  <a:pt x="33" y="0"/>
                </a:cubicBezTo>
                <a:cubicBezTo>
                  <a:pt x="28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25"/>
                  <a:pt x="25" y="25"/>
                  <a:pt x="25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3" y="25"/>
                  <a:pt x="0" y="28"/>
                  <a:pt x="0" y="32"/>
                </a:cubicBezTo>
                <a:cubicBezTo>
                  <a:pt x="0" y="36"/>
                  <a:pt x="3" y="40"/>
                  <a:pt x="7" y="40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61"/>
                  <a:pt x="28" y="65"/>
                  <a:pt x="33" y="65"/>
                </a:cubicBezTo>
                <a:cubicBezTo>
                  <a:pt x="37" y="65"/>
                  <a:pt x="40" y="61"/>
                  <a:pt x="40" y="57"/>
                </a:cubicBezTo>
                <a:cubicBezTo>
                  <a:pt x="40" y="40"/>
                  <a:pt x="40" y="40"/>
                  <a:pt x="40" y="40"/>
                </a:cubicBezTo>
                <a:cubicBezTo>
                  <a:pt x="45" y="40"/>
                  <a:pt x="45" y="40"/>
                  <a:pt x="45" y="40"/>
                </a:cubicBezTo>
                <a:cubicBezTo>
                  <a:pt x="58" y="40"/>
                  <a:pt x="58" y="40"/>
                  <a:pt x="58" y="40"/>
                </a:cubicBezTo>
                <a:cubicBezTo>
                  <a:pt x="62" y="40"/>
                  <a:pt x="65" y="36"/>
                  <a:pt x="65" y="32"/>
                </a:cubicBezTo>
                <a:cubicBezTo>
                  <a:pt x="65" y="28"/>
                  <a:pt x="62" y="25"/>
                  <a:pt x="58" y="25"/>
                </a:cubicBezTo>
                <a:close/>
              </a:path>
            </a:pathLst>
          </a:custGeom>
          <a:solidFill>
            <a:schemeClr val="bg1">
              <a:alpha val="5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F2F5FA">
              <a:alpha val="10000"/>
            </a:srgbClr>
          </a:solidFill>
          <a:ln>
            <a:gradFill>
              <a:gsLst>
                <a:gs pos="0">
                  <a:schemeClr val="accent1">
                    <a:lumMod val="11000"/>
                    <a:lumOff val="89000"/>
                    <a:alpha val="0"/>
                  </a:scheme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1" name="标题 3"/>
          <p:cNvSpPr>
            <a:spLocks noGrp="1"/>
          </p:cNvSpPr>
          <p:nvPr userDrawn="1"/>
        </p:nvSpPr>
        <p:spPr>
          <a:xfrm>
            <a:off x="323691" y="140335"/>
            <a:ext cx="921385" cy="360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061FD3"/>
                </a:solidFill>
                <a:latin typeface="微软雅黑" panose="020B0502040204020203" charset="-122"/>
                <a:ea typeface="微软雅黑" panose="020B0502040204020203" charset="-122"/>
                <a:cs typeface="+mj-cs"/>
              </a:defRPr>
            </a:lvl1pPr>
          </a:lstStyle>
          <a:p>
            <a:pPr algn="ctr"/>
            <a:endParaRPr lang="zh-CN" altLang="en-US" sz="1200">
              <a:solidFill>
                <a:schemeClr val="bg1"/>
              </a:solidFill>
            </a:endParaRPr>
          </a:p>
        </p:txBody>
      </p:sp>
      <p:pic>
        <p:nvPicPr>
          <p:cNvPr id="23" name="图片 22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1490" y="202808"/>
            <a:ext cx="1332000" cy="324000"/>
          </a:xfrm>
          <a:prstGeom prst="rect">
            <a:avLst/>
          </a:prstGeom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15950" y="129540"/>
            <a:ext cx="9116695" cy="50228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rgbClr val="0721A8"/>
                </a:solidFill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1120" y="43815"/>
            <a:ext cx="648000" cy="648000"/>
          </a:xfrm>
          <a:prstGeom prst="rect">
            <a:avLst/>
          </a:prstGeom>
        </p:spPr>
      </p:pic>
      <p:pic>
        <p:nvPicPr>
          <p:cNvPr id="46" name="图片 140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98" r="-113402"/>
          <a:stretch>
            <a:fillRect/>
          </a:stretch>
        </p:blipFill>
        <p:spPr bwMode="auto">
          <a:xfrm>
            <a:off x="0" y="367030"/>
            <a:ext cx="121920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组合 23"/>
          <p:cNvGrpSpPr/>
          <p:nvPr userDrawn="1"/>
        </p:nvGrpSpPr>
        <p:grpSpPr>
          <a:xfrm>
            <a:off x="9822180" y="208915"/>
            <a:ext cx="706120" cy="331470"/>
            <a:chOff x="15578" y="329"/>
            <a:chExt cx="1112" cy="522"/>
          </a:xfrm>
        </p:grpSpPr>
        <p:sp>
          <p:nvSpPr>
            <p:cNvPr id="6" name="流程图: 可选过程 5"/>
            <p:cNvSpPr/>
            <p:nvPr userDrawn="1">
              <p:custDataLst>
                <p:tags r:id="rId3"/>
              </p:custDataLst>
            </p:nvPr>
          </p:nvSpPr>
          <p:spPr>
            <a:xfrm>
              <a:off x="15578" y="329"/>
              <a:ext cx="1112" cy="522"/>
            </a:xfrm>
            <a:prstGeom prst="flowChartAlternateProcess">
              <a:avLst/>
            </a:prstGeom>
            <a:gradFill>
              <a:gsLst>
                <a:gs pos="100000">
                  <a:srgbClr val="2299FE">
                    <a:lumMod val="90000"/>
                    <a:alpha val="20000"/>
                  </a:srgbClr>
                </a:gs>
                <a:gs pos="0">
                  <a:srgbClr val="3C5EFE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rgbClr val="0565FF"/>
                </a:solidFill>
                <a:sym typeface="+mn-ea"/>
              </a:endParaRPr>
            </a:p>
          </p:txBody>
        </p:sp>
        <p:sp>
          <p:nvSpPr>
            <p:cNvPr id="16" name="灯片编号占位符 2"/>
            <p:cNvSpPr txBox="1"/>
            <p:nvPr userDrawn="1">
              <p:custDataLst>
                <p:tags r:id="rId4"/>
              </p:custDataLst>
            </p:nvPr>
          </p:nvSpPr>
          <p:spPr>
            <a:xfrm>
              <a:off x="15666" y="380"/>
              <a:ext cx="333" cy="436"/>
            </a:xfrm>
            <a:prstGeom prst="rect">
              <a:avLst/>
            </a:prstGeom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1pPr>
              <a:lvl2pPr marL="3429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2pPr>
              <a:lvl3pPr marL="685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3pPr>
              <a:lvl4pPr marL="10287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4pPr>
              <a:lvl5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5pPr>
              <a:lvl6pPr marL="17145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6pPr>
              <a:lvl7pPr marL="20574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7pPr>
              <a:lvl8pPr marL="24003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8pPr>
              <a:lvl9pPr marL="27432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9pPr>
            </a:lstStyle>
            <a:p>
              <a:pPr algn="ctr"/>
              <a:r>
                <a:rPr kumimoji="1" lang="en-US" altLang="zh-CN" sz="1200" b="1" dirty="0">
                  <a:solidFill>
                    <a:srgbClr val="0721A8"/>
                  </a:solidFill>
                  <a:latin typeface="微软雅黑" panose="020B0502040204020203" charset="-122"/>
                  <a:ea typeface="微软雅黑" panose="020B0502040204020203" charset="-122"/>
                </a:rPr>
                <a:t>P</a:t>
              </a:r>
            </a:p>
          </p:txBody>
        </p:sp>
      </p:grpSp>
      <p:sp>
        <p:nvSpPr>
          <p:cNvPr id="14" name="灯片编号占位符 2"/>
          <p:cNvSpPr txBox="1"/>
          <p:nvPr userDrawn="1">
            <p:custDataLst>
              <p:tags r:id="rId2"/>
            </p:custDataLst>
          </p:nvPr>
        </p:nvSpPr>
        <p:spPr>
          <a:xfrm>
            <a:off x="9952990" y="242570"/>
            <a:ext cx="619125" cy="276860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1pPr>
            <a:lvl2pPr marL="3429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2pPr>
            <a:lvl3pPr marL="685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3pPr>
            <a:lvl4pPr marL="10287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4pPr>
            <a:lvl5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5pPr>
            <a:lvl6pPr marL="17145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6pPr>
            <a:lvl7pPr marL="20574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7pPr>
            <a:lvl8pPr marL="24003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8pPr>
            <a:lvl9pPr marL="27432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9pPr>
          </a:lstStyle>
          <a:p>
            <a:pPr algn="l"/>
            <a:fld id="{D536D8EC-CC4B-5049-B4AB-30C5E66DA51C}" type="slidenum">
              <a:rPr kumimoji="1" lang="zh-CN" altLang="en-US" sz="1200" b="1" smtClean="0">
                <a:solidFill>
                  <a:srgbClr val="1146EB"/>
                </a:solidFill>
                <a:latin typeface="微软雅黑" panose="020B0502040204020203" charset="-122"/>
                <a:ea typeface="微软雅黑" panose="020B0502040204020203" charset="-122"/>
              </a:rPr>
              <a:t>‹#›</a:t>
            </a:fld>
            <a:endParaRPr kumimoji="1" lang="zh-CN" altLang="en-US" sz="1200" b="1" dirty="0">
              <a:solidFill>
                <a:srgbClr val="1146EB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</p:spTree>
  </p:cSld>
  <p:clrMapOvr>
    <a:masterClrMapping/>
  </p:clrMapOvr>
  <p:hf sldNum="0"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hf sldNum="0"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997710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algn="l">
              <a:defRPr sz="6000" b="1">
                <a:gradFill>
                  <a:gsLst>
                    <a:gs pos="0">
                      <a:srgbClr val="3A60FE"/>
                    </a:gs>
                    <a:gs pos="46000">
                      <a:srgbClr val="00A7FF"/>
                    </a:gs>
                    <a:gs pos="100000">
                      <a:srgbClr val="0721A8"/>
                    </a:gs>
                  </a:gsLst>
                  <a:lin ang="2160000" scaled="0"/>
                </a:gra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谢谢聆听</a:t>
            </a:r>
          </a:p>
        </p:txBody>
      </p:sp>
      <p:sp>
        <p:nvSpPr>
          <p:cNvPr id="8" name="副标题 7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3389630"/>
            <a:ext cx="11064875" cy="452120"/>
          </a:xfrm>
        </p:spPr>
        <p:txBody>
          <a:bodyPr lIns="90000" tIns="46800" rIns="90000" bIns="46800" anchor="ctr" anchorCtr="0">
            <a:normAutofit fontScale="90000" lnSpcReduction="10000"/>
          </a:bodyPr>
          <a:lstStyle>
            <a:lvl1pPr marL="0" indent="0" algn="l">
              <a:lnSpc>
                <a:spcPct val="110000"/>
              </a:lnSpc>
              <a:buNone/>
              <a:defRPr sz="2400" spc="20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r>
              <a:rPr lang="zh-CN" altLang="en-US" dirty="0">
                <a:sym typeface="+mn-ea"/>
              </a:rPr>
              <a:t>团队名称或联系方式等信息</a:t>
            </a:r>
          </a:p>
        </p:txBody>
      </p:sp>
    </p:spTree>
  </p:cSld>
  <p:clrMapOvr>
    <a:masterClrMapping/>
  </p:clrMapOvr>
  <p:hf sldNum="0"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414145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300" normalizeH="0" baseline="0" noProof="1" dirty="0">
                <a:gradFill>
                  <a:gsLst>
                    <a:gs pos="0">
                      <a:srgbClr val="1742FD"/>
                    </a:gs>
                    <a:gs pos="100000">
                      <a:srgbClr val="0AD575"/>
                    </a:gs>
                    <a:gs pos="49000">
                      <a:srgbClr val="0081F3"/>
                    </a:gs>
                  </a:gsLst>
                  <a:lin ang="17400000" scaled="0"/>
                </a:gradFill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数字安全标准模板</a:t>
            </a:r>
          </a:p>
        </p:txBody>
      </p:sp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4" name="副标题 3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2806065"/>
            <a:ext cx="11064875" cy="45212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accent1">
                    <a:lumMod val="50000"/>
                  </a:schemeClr>
                </a:solidFill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  <a:sym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>
                <a:sym typeface="+mn-ea"/>
              </a:rPr>
              <a:t>适用于产品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方案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规划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营销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汇报等场景</a:t>
            </a:r>
          </a:p>
        </p:txBody>
      </p:sp>
    </p:spTree>
  </p:cSld>
  <p:clrMapOvr>
    <a:masterClrMapping/>
  </p:clrMapOvr>
  <p:hf sldNum="0"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8255" y="0"/>
            <a:ext cx="12240000" cy="68586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3810" y="4615815"/>
            <a:ext cx="12192000" cy="1553845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transition spd="med"/>
  <p:hf sldNum="0"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hf sldNum="0"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997710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algn="l">
              <a:defRPr sz="6000" b="1">
                <a:gradFill>
                  <a:gsLst>
                    <a:gs pos="0">
                      <a:srgbClr val="3A60FE"/>
                    </a:gs>
                    <a:gs pos="46000">
                      <a:srgbClr val="00A7FF"/>
                    </a:gs>
                    <a:gs pos="100000">
                      <a:srgbClr val="0721A8"/>
                    </a:gs>
                  </a:gsLst>
                  <a:lin ang="2160000" scaled="0"/>
                </a:gra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谢谢聆听</a:t>
            </a:r>
          </a:p>
        </p:txBody>
      </p:sp>
      <p:sp>
        <p:nvSpPr>
          <p:cNvPr id="8" name="副标题 7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3389630"/>
            <a:ext cx="11064875" cy="452120"/>
          </a:xfrm>
        </p:spPr>
        <p:txBody>
          <a:bodyPr lIns="90000" tIns="46800" rIns="90000" bIns="46800" anchor="ctr" anchorCtr="0">
            <a:normAutofit fontScale="90000" lnSpcReduction="10000"/>
          </a:bodyPr>
          <a:lstStyle>
            <a:lvl1pPr marL="0" indent="0" algn="l">
              <a:lnSpc>
                <a:spcPct val="110000"/>
              </a:lnSpc>
              <a:buNone/>
              <a:defRPr sz="2400" spc="20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r>
              <a:rPr lang="zh-CN" altLang="en-US" dirty="0">
                <a:sym typeface="+mn-ea"/>
              </a:rPr>
              <a:t>团队名称或联系方式等信息</a:t>
            </a:r>
          </a:p>
        </p:txBody>
      </p:sp>
    </p:spTree>
  </p:cSld>
  <p:clrMapOvr>
    <a:masterClrMapping/>
  </p:clrMapOvr>
  <p:hf sldNum="0"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414145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300" normalizeH="0" baseline="0" noProof="1" dirty="0">
                <a:gradFill>
                  <a:gsLst>
                    <a:gs pos="0">
                      <a:srgbClr val="1742FD"/>
                    </a:gs>
                    <a:gs pos="100000">
                      <a:srgbClr val="0AD575"/>
                    </a:gs>
                    <a:gs pos="49000">
                      <a:srgbClr val="0081F3"/>
                    </a:gs>
                  </a:gsLst>
                  <a:lin ang="17400000" scaled="0"/>
                </a:gradFill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数字安全标准模板</a:t>
            </a:r>
          </a:p>
        </p:txBody>
      </p:sp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4" name="副标题 3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2806065"/>
            <a:ext cx="11064875" cy="45212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accent1">
                    <a:lumMod val="50000"/>
                  </a:schemeClr>
                </a:solidFill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  <a:sym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>
                <a:sym typeface="+mn-ea"/>
              </a:rPr>
              <a:t>适用于产品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方案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规划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营销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汇报等场景</a:t>
            </a:r>
          </a:p>
        </p:txBody>
      </p:sp>
    </p:spTree>
  </p:cSld>
  <p:clrMapOvr>
    <a:masterClrMapping/>
  </p:clrMapOvr>
  <p:hf sldNum="0"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8255" y="0"/>
            <a:ext cx="12240000" cy="68586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3810" y="4615815"/>
            <a:ext cx="12192000" cy="1553845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transition spd="med"/>
  <p:hf sldNum="0"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635"/>
            <a:ext cx="12192000" cy="6858000"/>
          </a:xfrm>
          <a:prstGeom prst="rect">
            <a:avLst/>
          </a:prstGeom>
        </p:spPr>
      </p:pic>
      <p:sp>
        <p:nvSpPr>
          <p:cNvPr id="10" name="AutoShape 31"/>
          <p:cNvSpPr>
            <a:spLocks noChangeAspect="1" noChangeArrowheads="1" noTextEdit="1"/>
          </p:cNvSpPr>
          <p:nvPr userDrawn="1"/>
        </p:nvSpPr>
        <p:spPr bwMode="auto">
          <a:xfrm>
            <a:off x="565" y="236493"/>
            <a:ext cx="251119" cy="309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12" name="Freeform 34"/>
          <p:cNvSpPr/>
          <p:nvPr userDrawn="1"/>
        </p:nvSpPr>
        <p:spPr bwMode="auto">
          <a:xfrm>
            <a:off x="69031" y="219203"/>
            <a:ext cx="145443" cy="145443"/>
          </a:xfrm>
          <a:custGeom>
            <a:avLst/>
            <a:gdLst>
              <a:gd name="T0" fmla="*/ 58 w 65"/>
              <a:gd name="T1" fmla="*/ 25 h 65"/>
              <a:gd name="T2" fmla="*/ 40 w 65"/>
              <a:gd name="T3" fmla="*/ 25 h 65"/>
              <a:gd name="T4" fmla="*/ 40 w 65"/>
              <a:gd name="T5" fmla="*/ 7 h 65"/>
              <a:gd name="T6" fmla="*/ 33 w 65"/>
              <a:gd name="T7" fmla="*/ 0 h 65"/>
              <a:gd name="T8" fmla="*/ 25 w 65"/>
              <a:gd name="T9" fmla="*/ 7 h 65"/>
              <a:gd name="T10" fmla="*/ 25 w 65"/>
              <a:gd name="T11" fmla="*/ 11 h 65"/>
              <a:gd name="T12" fmla="*/ 25 w 65"/>
              <a:gd name="T13" fmla="*/ 25 h 65"/>
              <a:gd name="T14" fmla="*/ 7 w 65"/>
              <a:gd name="T15" fmla="*/ 25 h 65"/>
              <a:gd name="T16" fmla="*/ 0 w 65"/>
              <a:gd name="T17" fmla="*/ 32 h 65"/>
              <a:gd name="T18" fmla="*/ 7 w 65"/>
              <a:gd name="T19" fmla="*/ 40 h 65"/>
              <a:gd name="T20" fmla="*/ 25 w 65"/>
              <a:gd name="T21" fmla="*/ 40 h 65"/>
              <a:gd name="T22" fmla="*/ 25 w 65"/>
              <a:gd name="T23" fmla="*/ 57 h 65"/>
              <a:gd name="T24" fmla="*/ 33 w 65"/>
              <a:gd name="T25" fmla="*/ 65 h 65"/>
              <a:gd name="T26" fmla="*/ 40 w 65"/>
              <a:gd name="T27" fmla="*/ 57 h 65"/>
              <a:gd name="T28" fmla="*/ 40 w 65"/>
              <a:gd name="T29" fmla="*/ 40 h 65"/>
              <a:gd name="T30" fmla="*/ 45 w 65"/>
              <a:gd name="T31" fmla="*/ 40 h 65"/>
              <a:gd name="T32" fmla="*/ 58 w 65"/>
              <a:gd name="T33" fmla="*/ 40 h 65"/>
              <a:gd name="T34" fmla="*/ 65 w 65"/>
              <a:gd name="T35" fmla="*/ 32 h 65"/>
              <a:gd name="T36" fmla="*/ 58 w 65"/>
              <a:gd name="T37" fmla="*/ 2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5" h="65">
                <a:moveTo>
                  <a:pt x="58" y="25"/>
                </a:moveTo>
                <a:cubicBezTo>
                  <a:pt x="40" y="25"/>
                  <a:pt x="40" y="25"/>
                  <a:pt x="40" y="25"/>
                </a:cubicBezTo>
                <a:cubicBezTo>
                  <a:pt x="40" y="7"/>
                  <a:pt x="40" y="7"/>
                  <a:pt x="40" y="7"/>
                </a:cubicBezTo>
                <a:cubicBezTo>
                  <a:pt x="40" y="3"/>
                  <a:pt x="37" y="0"/>
                  <a:pt x="33" y="0"/>
                </a:cubicBezTo>
                <a:cubicBezTo>
                  <a:pt x="28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25"/>
                  <a:pt x="25" y="25"/>
                  <a:pt x="25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3" y="25"/>
                  <a:pt x="0" y="28"/>
                  <a:pt x="0" y="32"/>
                </a:cubicBezTo>
                <a:cubicBezTo>
                  <a:pt x="0" y="36"/>
                  <a:pt x="3" y="40"/>
                  <a:pt x="7" y="40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61"/>
                  <a:pt x="28" y="65"/>
                  <a:pt x="33" y="65"/>
                </a:cubicBezTo>
                <a:cubicBezTo>
                  <a:pt x="37" y="65"/>
                  <a:pt x="40" y="61"/>
                  <a:pt x="40" y="57"/>
                </a:cubicBezTo>
                <a:cubicBezTo>
                  <a:pt x="40" y="40"/>
                  <a:pt x="40" y="40"/>
                  <a:pt x="40" y="40"/>
                </a:cubicBezTo>
                <a:cubicBezTo>
                  <a:pt x="45" y="40"/>
                  <a:pt x="45" y="40"/>
                  <a:pt x="45" y="40"/>
                </a:cubicBezTo>
                <a:cubicBezTo>
                  <a:pt x="58" y="40"/>
                  <a:pt x="58" y="40"/>
                  <a:pt x="58" y="40"/>
                </a:cubicBezTo>
                <a:cubicBezTo>
                  <a:pt x="62" y="40"/>
                  <a:pt x="65" y="36"/>
                  <a:pt x="65" y="32"/>
                </a:cubicBezTo>
                <a:cubicBezTo>
                  <a:pt x="65" y="28"/>
                  <a:pt x="62" y="25"/>
                  <a:pt x="58" y="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13" name="Freeform 34"/>
          <p:cNvSpPr/>
          <p:nvPr userDrawn="1"/>
        </p:nvSpPr>
        <p:spPr bwMode="auto">
          <a:xfrm>
            <a:off x="226449" y="341831"/>
            <a:ext cx="77055" cy="77055"/>
          </a:xfrm>
          <a:custGeom>
            <a:avLst/>
            <a:gdLst>
              <a:gd name="T0" fmla="*/ 58 w 65"/>
              <a:gd name="T1" fmla="*/ 25 h 65"/>
              <a:gd name="T2" fmla="*/ 40 w 65"/>
              <a:gd name="T3" fmla="*/ 25 h 65"/>
              <a:gd name="T4" fmla="*/ 40 w 65"/>
              <a:gd name="T5" fmla="*/ 7 h 65"/>
              <a:gd name="T6" fmla="*/ 33 w 65"/>
              <a:gd name="T7" fmla="*/ 0 h 65"/>
              <a:gd name="T8" fmla="*/ 25 w 65"/>
              <a:gd name="T9" fmla="*/ 7 h 65"/>
              <a:gd name="T10" fmla="*/ 25 w 65"/>
              <a:gd name="T11" fmla="*/ 11 h 65"/>
              <a:gd name="T12" fmla="*/ 25 w 65"/>
              <a:gd name="T13" fmla="*/ 25 h 65"/>
              <a:gd name="T14" fmla="*/ 7 w 65"/>
              <a:gd name="T15" fmla="*/ 25 h 65"/>
              <a:gd name="T16" fmla="*/ 0 w 65"/>
              <a:gd name="T17" fmla="*/ 32 h 65"/>
              <a:gd name="T18" fmla="*/ 7 w 65"/>
              <a:gd name="T19" fmla="*/ 40 h 65"/>
              <a:gd name="T20" fmla="*/ 25 w 65"/>
              <a:gd name="T21" fmla="*/ 40 h 65"/>
              <a:gd name="T22" fmla="*/ 25 w 65"/>
              <a:gd name="T23" fmla="*/ 57 h 65"/>
              <a:gd name="T24" fmla="*/ 33 w 65"/>
              <a:gd name="T25" fmla="*/ 65 h 65"/>
              <a:gd name="T26" fmla="*/ 40 w 65"/>
              <a:gd name="T27" fmla="*/ 57 h 65"/>
              <a:gd name="T28" fmla="*/ 40 w 65"/>
              <a:gd name="T29" fmla="*/ 40 h 65"/>
              <a:gd name="T30" fmla="*/ 45 w 65"/>
              <a:gd name="T31" fmla="*/ 40 h 65"/>
              <a:gd name="T32" fmla="*/ 58 w 65"/>
              <a:gd name="T33" fmla="*/ 40 h 65"/>
              <a:gd name="T34" fmla="*/ 65 w 65"/>
              <a:gd name="T35" fmla="*/ 32 h 65"/>
              <a:gd name="T36" fmla="*/ 58 w 65"/>
              <a:gd name="T37" fmla="*/ 2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5" h="65">
                <a:moveTo>
                  <a:pt x="58" y="25"/>
                </a:moveTo>
                <a:cubicBezTo>
                  <a:pt x="40" y="25"/>
                  <a:pt x="40" y="25"/>
                  <a:pt x="40" y="25"/>
                </a:cubicBezTo>
                <a:cubicBezTo>
                  <a:pt x="40" y="7"/>
                  <a:pt x="40" y="7"/>
                  <a:pt x="40" y="7"/>
                </a:cubicBezTo>
                <a:cubicBezTo>
                  <a:pt x="40" y="3"/>
                  <a:pt x="37" y="0"/>
                  <a:pt x="33" y="0"/>
                </a:cubicBezTo>
                <a:cubicBezTo>
                  <a:pt x="28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25"/>
                  <a:pt x="25" y="25"/>
                  <a:pt x="25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3" y="25"/>
                  <a:pt x="0" y="28"/>
                  <a:pt x="0" y="32"/>
                </a:cubicBezTo>
                <a:cubicBezTo>
                  <a:pt x="0" y="36"/>
                  <a:pt x="3" y="40"/>
                  <a:pt x="7" y="40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61"/>
                  <a:pt x="28" y="65"/>
                  <a:pt x="33" y="65"/>
                </a:cubicBezTo>
                <a:cubicBezTo>
                  <a:pt x="37" y="65"/>
                  <a:pt x="40" y="61"/>
                  <a:pt x="40" y="57"/>
                </a:cubicBezTo>
                <a:cubicBezTo>
                  <a:pt x="40" y="40"/>
                  <a:pt x="40" y="40"/>
                  <a:pt x="40" y="40"/>
                </a:cubicBezTo>
                <a:cubicBezTo>
                  <a:pt x="45" y="40"/>
                  <a:pt x="45" y="40"/>
                  <a:pt x="45" y="40"/>
                </a:cubicBezTo>
                <a:cubicBezTo>
                  <a:pt x="58" y="40"/>
                  <a:pt x="58" y="40"/>
                  <a:pt x="58" y="40"/>
                </a:cubicBezTo>
                <a:cubicBezTo>
                  <a:pt x="62" y="40"/>
                  <a:pt x="65" y="36"/>
                  <a:pt x="65" y="32"/>
                </a:cubicBezTo>
                <a:cubicBezTo>
                  <a:pt x="65" y="28"/>
                  <a:pt x="62" y="25"/>
                  <a:pt x="58" y="25"/>
                </a:cubicBezTo>
                <a:close/>
              </a:path>
            </a:pathLst>
          </a:custGeom>
          <a:solidFill>
            <a:schemeClr val="bg1">
              <a:alpha val="5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F2F5FA">
              <a:alpha val="10000"/>
            </a:srgbClr>
          </a:solidFill>
          <a:ln>
            <a:gradFill>
              <a:gsLst>
                <a:gs pos="0">
                  <a:schemeClr val="accent1">
                    <a:lumMod val="11000"/>
                    <a:lumOff val="89000"/>
                    <a:alpha val="0"/>
                  </a:scheme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1" name="标题 3"/>
          <p:cNvSpPr>
            <a:spLocks noGrp="1"/>
          </p:cNvSpPr>
          <p:nvPr userDrawn="1"/>
        </p:nvSpPr>
        <p:spPr>
          <a:xfrm>
            <a:off x="323691" y="140335"/>
            <a:ext cx="921385" cy="360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061FD3"/>
                </a:solidFill>
                <a:latin typeface="微软雅黑" panose="020B0502040204020203" charset="-122"/>
                <a:ea typeface="微软雅黑" panose="020B0502040204020203" charset="-122"/>
                <a:cs typeface="+mj-cs"/>
              </a:defRPr>
            </a:lvl1pPr>
          </a:lstStyle>
          <a:p>
            <a:pPr algn="ctr"/>
            <a:endParaRPr lang="zh-CN" altLang="en-US" sz="1200">
              <a:solidFill>
                <a:schemeClr val="bg1"/>
              </a:solidFill>
            </a:endParaRPr>
          </a:p>
        </p:txBody>
      </p:sp>
      <p:pic>
        <p:nvPicPr>
          <p:cNvPr id="23" name="图片 22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1490" y="202808"/>
            <a:ext cx="1332000" cy="324000"/>
          </a:xfrm>
          <a:prstGeom prst="rect">
            <a:avLst/>
          </a:prstGeom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15950" y="129540"/>
            <a:ext cx="9116695" cy="50228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rgbClr val="0721A8"/>
                </a:solidFill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1120" y="43815"/>
            <a:ext cx="648000" cy="648000"/>
          </a:xfrm>
          <a:prstGeom prst="rect">
            <a:avLst/>
          </a:prstGeom>
        </p:spPr>
      </p:pic>
      <p:pic>
        <p:nvPicPr>
          <p:cNvPr id="46" name="图片 140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98" r="-113402"/>
          <a:stretch>
            <a:fillRect/>
          </a:stretch>
        </p:blipFill>
        <p:spPr bwMode="auto">
          <a:xfrm>
            <a:off x="0" y="367030"/>
            <a:ext cx="121920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组合 23"/>
          <p:cNvGrpSpPr/>
          <p:nvPr userDrawn="1"/>
        </p:nvGrpSpPr>
        <p:grpSpPr>
          <a:xfrm>
            <a:off x="9822180" y="208915"/>
            <a:ext cx="706120" cy="331470"/>
            <a:chOff x="15578" y="329"/>
            <a:chExt cx="1112" cy="522"/>
          </a:xfrm>
        </p:grpSpPr>
        <p:sp>
          <p:nvSpPr>
            <p:cNvPr id="6" name="流程图: 可选过程 5"/>
            <p:cNvSpPr/>
            <p:nvPr userDrawn="1">
              <p:custDataLst>
                <p:tags r:id="rId3"/>
              </p:custDataLst>
            </p:nvPr>
          </p:nvSpPr>
          <p:spPr>
            <a:xfrm>
              <a:off x="15578" y="329"/>
              <a:ext cx="1112" cy="522"/>
            </a:xfrm>
            <a:prstGeom prst="flowChartAlternateProcess">
              <a:avLst/>
            </a:prstGeom>
            <a:gradFill>
              <a:gsLst>
                <a:gs pos="100000">
                  <a:srgbClr val="2299FE">
                    <a:lumMod val="90000"/>
                    <a:alpha val="20000"/>
                  </a:srgbClr>
                </a:gs>
                <a:gs pos="0">
                  <a:srgbClr val="3C5EFE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rgbClr val="0565FF"/>
                </a:solidFill>
                <a:sym typeface="+mn-ea"/>
              </a:endParaRPr>
            </a:p>
          </p:txBody>
        </p:sp>
        <p:sp>
          <p:nvSpPr>
            <p:cNvPr id="16" name="灯片编号占位符 2"/>
            <p:cNvSpPr txBox="1"/>
            <p:nvPr userDrawn="1">
              <p:custDataLst>
                <p:tags r:id="rId4"/>
              </p:custDataLst>
            </p:nvPr>
          </p:nvSpPr>
          <p:spPr>
            <a:xfrm>
              <a:off x="15666" y="380"/>
              <a:ext cx="333" cy="436"/>
            </a:xfrm>
            <a:prstGeom prst="rect">
              <a:avLst/>
            </a:prstGeom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1pPr>
              <a:lvl2pPr marL="3429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2pPr>
              <a:lvl3pPr marL="685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3pPr>
              <a:lvl4pPr marL="10287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4pPr>
              <a:lvl5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5pPr>
              <a:lvl6pPr marL="17145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6pPr>
              <a:lvl7pPr marL="20574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7pPr>
              <a:lvl8pPr marL="24003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8pPr>
              <a:lvl9pPr marL="2743200" algn="l" defTabSz="685800" rtl="0" eaLnBrk="1" latinLnBrk="0" hangingPunct="1">
                <a:defRPr kern="1200">
                  <a:solidFill>
                    <a:schemeClr val="tx1"/>
                  </a:solidFill>
                  <a:latin typeface="等线" charset="-122"/>
                  <a:ea typeface="等线" charset="-122"/>
                  <a:cs typeface="+mn-cs"/>
                </a:defRPr>
              </a:lvl9pPr>
            </a:lstStyle>
            <a:p>
              <a:pPr algn="ctr"/>
              <a:r>
                <a:rPr kumimoji="1" lang="en-US" altLang="zh-CN" sz="1200" b="1" dirty="0">
                  <a:solidFill>
                    <a:srgbClr val="0721A8"/>
                  </a:solidFill>
                  <a:latin typeface="微软雅黑" panose="020B0502040204020203" charset="-122"/>
                  <a:ea typeface="微软雅黑" panose="020B0502040204020203" charset="-122"/>
                </a:rPr>
                <a:t>P</a:t>
              </a:r>
            </a:p>
          </p:txBody>
        </p:sp>
      </p:grpSp>
      <p:sp>
        <p:nvSpPr>
          <p:cNvPr id="14" name="灯片编号占位符 2"/>
          <p:cNvSpPr txBox="1"/>
          <p:nvPr userDrawn="1">
            <p:custDataLst>
              <p:tags r:id="rId2"/>
            </p:custDataLst>
          </p:nvPr>
        </p:nvSpPr>
        <p:spPr>
          <a:xfrm>
            <a:off x="9952990" y="242570"/>
            <a:ext cx="619125" cy="276860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1pPr>
            <a:lvl2pPr marL="3429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2pPr>
            <a:lvl3pPr marL="685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3pPr>
            <a:lvl4pPr marL="10287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4pPr>
            <a:lvl5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5pPr>
            <a:lvl6pPr marL="17145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6pPr>
            <a:lvl7pPr marL="20574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7pPr>
            <a:lvl8pPr marL="24003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8pPr>
            <a:lvl9pPr marL="2743200" algn="l" defTabSz="685800" rtl="0" eaLnBrk="1" latinLnBrk="0" hangingPunct="1">
              <a:defRPr kern="1200">
                <a:solidFill>
                  <a:schemeClr val="tx1"/>
                </a:solidFill>
                <a:latin typeface="等线" charset="-122"/>
                <a:ea typeface="等线" charset="-122"/>
                <a:cs typeface="+mn-cs"/>
              </a:defRPr>
            </a:lvl9pPr>
          </a:lstStyle>
          <a:p>
            <a:pPr algn="l"/>
            <a:fld id="{D536D8EC-CC4B-5049-B4AB-30C5E66DA51C}" type="slidenum">
              <a:rPr kumimoji="1" lang="zh-CN" altLang="en-US" sz="1200" b="1" smtClean="0">
                <a:solidFill>
                  <a:srgbClr val="1146EB"/>
                </a:solidFill>
                <a:latin typeface="微软雅黑" panose="020B0502040204020203" charset="-122"/>
                <a:ea typeface="微软雅黑" panose="020B0502040204020203" charset="-122"/>
              </a:rPr>
              <a:t>‹#›</a:t>
            </a:fld>
            <a:endParaRPr kumimoji="1" lang="zh-CN" altLang="en-US" sz="1200" b="1" dirty="0">
              <a:solidFill>
                <a:srgbClr val="1146EB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</p:spTree>
  </p:cSld>
  <p:clrMapOvr>
    <a:masterClrMapping/>
  </p:clrMapOvr>
  <p:hf sldNum="0"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hf sldNum="0"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997710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algn="l">
              <a:defRPr sz="6000" b="1">
                <a:gradFill>
                  <a:gsLst>
                    <a:gs pos="0">
                      <a:srgbClr val="3A60FE"/>
                    </a:gs>
                    <a:gs pos="46000">
                      <a:srgbClr val="00A7FF"/>
                    </a:gs>
                    <a:gs pos="100000">
                      <a:srgbClr val="0721A8"/>
                    </a:gs>
                  </a:gsLst>
                  <a:lin ang="2160000" scaled="0"/>
                </a:gra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谢谢聆听</a:t>
            </a:r>
          </a:p>
        </p:txBody>
      </p:sp>
      <p:sp>
        <p:nvSpPr>
          <p:cNvPr id="8" name="副标题 7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3389630"/>
            <a:ext cx="11064875" cy="452120"/>
          </a:xfrm>
        </p:spPr>
        <p:txBody>
          <a:bodyPr lIns="90000" tIns="46800" rIns="90000" bIns="46800" anchor="ctr" anchorCtr="0">
            <a:normAutofit fontScale="90000" lnSpcReduction="10000"/>
          </a:bodyPr>
          <a:lstStyle>
            <a:lvl1pPr marL="0" indent="0" algn="l">
              <a:lnSpc>
                <a:spcPct val="110000"/>
              </a:lnSpc>
              <a:buNone/>
              <a:defRPr sz="2400" spc="20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r>
              <a:rPr lang="zh-CN" altLang="en-US" dirty="0">
                <a:sym typeface="+mn-ea"/>
              </a:rPr>
              <a:t>团队名称或联系方式等信息</a:t>
            </a:r>
          </a:p>
        </p:txBody>
      </p:sp>
    </p:spTree>
  </p:cSld>
  <p:clrMapOvr>
    <a:masterClrMapping/>
  </p:clrMapOvr>
  <p:hf sldNum="0"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414145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300" normalizeH="0" baseline="0" noProof="1" dirty="0">
                <a:gradFill>
                  <a:gsLst>
                    <a:gs pos="0">
                      <a:srgbClr val="1742FD"/>
                    </a:gs>
                    <a:gs pos="100000">
                      <a:srgbClr val="0AD575"/>
                    </a:gs>
                    <a:gs pos="49000">
                      <a:srgbClr val="0081F3"/>
                    </a:gs>
                  </a:gsLst>
                  <a:lin ang="17400000" scaled="0"/>
                </a:gradFill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数字安全标准模板</a:t>
            </a:r>
          </a:p>
        </p:txBody>
      </p:sp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4" name="副标题 3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2806065"/>
            <a:ext cx="11064875" cy="45212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accent1">
                    <a:lumMod val="50000"/>
                  </a:schemeClr>
                </a:solidFill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  <a:sym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>
                <a:sym typeface="+mn-ea"/>
              </a:rPr>
              <a:t>适用于产品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方案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规划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营销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汇报等场景</a:t>
            </a:r>
          </a:p>
        </p:txBody>
      </p:sp>
    </p:spTree>
  </p:cSld>
  <p:clrMapOvr>
    <a:masterClrMapping/>
  </p:clrMapOvr>
  <p:hf sldNum="0"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8255" y="0"/>
            <a:ext cx="12240000" cy="68586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3810" y="4615815"/>
            <a:ext cx="12192000" cy="1553845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transition spd="med"/>
  <p:hf sldNum="0"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hf sldNum="0"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997710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algn="l">
              <a:defRPr sz="6000" b="1">
                <a:gradFill>
                  <a:gsLst>
                    <a:gs pos="0">
                      <a:srgbClr val="3A60FE"/>
                    </a:gs>
                    <a:gs pos="46000">
                      <a:srgbClr val="00A7FF"/>
                    </a:gs>
                    <a:gs pos="100000">
                      <a:srgbClr val="0721A8"/>
                    </a:gs>
                  </a:gsLst>
                  <a:lin ang="2160000" scaled="0"/>
                </a:gra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谢谢聆听</a:t>
            </a:r>
          </a:p>
        </p:txBody>
      </p:sp>
      <p:sp>
        <p:nvSpPr>
          <p:cNvPr id="8" name="副标题 7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3389630"/>
            <a:ext cx="11064875" cy="452120"/>
          </a:xfrm>
        </p:spPr>
        <p:txBody>
          <a:bodyPr lIns="90000" tIns="46800" rIns="90000" bIns="46800" anchor="ctr" anchorCtr="0">
            <a:normAutofit fontScale="90000" lnSpcReduction="10000"/>
          </a:bodyPr>
          <a:lstStyle>
            <a:lvl1pPr marL="0" indent="0" algn="l">
              <a:lnSpc>
                <a:spcPct val="110000"/>
              </a:lnSpc>
              <a:buNone/>
              <a:defRPr sz="2400" spc="20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r>
              <a:rPr lang="zh-CN" altLang="en-US" dirty="0">
                <a:sym typeface="+mn-ea"/>
              </a:rPr>
              <a:t>团队名称或联系方式等信息</a:t>
            </a:r>
          </a:p>
        </p:txBody>
      </p:sp>
    </p:spTree>
  </p:cSld>
  <p:clrMapOvr>
    <a:masterClrMapping/>
  </p:clrMapOvr>
  <p:hf sldNum="0"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414145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300" normalizeH="0" baseline="0" noProof="1" dirty="0">
                <a:gradFill>
                  <a:gsLst>
                    <a:gs pos="0">
                      <a:srgbClr val="1742FD"/>
                    </a:gs>
                    <a:gs pos="100000">
                      <a:srgbClr val="0AD575"/>
                    </a:gs>
                    <a:gs pos="49000">
                      <a:srgbClr val="0081F3"/>
                    </a:gs>
                  </a:gsLst>
                  <a:lin ang="17400000" scaled="0"/>
                </a:gradFill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数字安全标准模板</a:t>
            </a:r>
          </a:p>
        </p:txBody>
      </p:sp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4" name="副标题 3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2806065"/>
            <a:ext cx="11064875" cy="45212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accent1">
                    <a:lumMod val="50000"/>
                  </a:schemeClr>
                </a:solidFill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  <a:sym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>
                <a:sym typeface="+mn-ea"/>
              </a:rPr>
              <a:t>适用于产品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方案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规划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营销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汇报等场景</a:t>
            </a:r>
          </a:p>
        </p:txBody>
      </p:sp>
    </p:spTree>
  </p:cSld>
  <p:clrMapOvr>
    <a:masterClrMapping/>
  </p:clrMapOvr>
  <p:hf sldNum="0"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8255" y="0"/>
            <a:ext cx="12240000" cy="68586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3810" y="4615815"/>
            <a:ext cx="12192000" cy="1553845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transition spd="med"/>
  <p:hf sldNum="0"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60数字安全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</p:spTree>
  </p:cSld>
  <p:clrMapOvr>
    <a:masterClrMapping/>
  </p:clrMapOvr>
  <p:hf sldNum="0"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jimeng-2025-11-24-8967-请保持上传图片主视觉部分图形特征及配色完全不变的情况下，整体提亮大背景，保留底部...@1x"/>
          <p:cNvPicPr>
            <a:picLocks noChangeAspect="1"/>
          </p:cNvPicPr>
          <p:nvPr userDrawn="1"/>
        </p:nvPicPr>
        <p:blipFill>
          <a:blip r:embed="rId4"/>
          <a:srcRect l="211" t="10121" r="17066" b="81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 descr="360数字安全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35" y="471170"/>
            <a:ext cx="2220000" cy="540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46735" y="1997710"/>
            <a:ext cx="11064875" cy="131254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algn="l">
              <a:defRPr sz="6000" b="1">
                <a:gradFill>
                  <a:gsLst>
                    <a:gs pos="0">
                      <a:srgbClr val="3A60FE"/>
                    </a:gs>
                    <a:gs pos="46000">
                      <a:srgbClr val="00A7FF"/>
                    </a:gs>
                    <a:gs pos="100000">
                      <a:srgbClr val="0721A8"/>
                    </a:gs>
                  </a:gsLst>
                  <a:lin ang="2160000" scaled="0"/>
                </a:gra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谢谢聆听</a:t>
            </a:r>
          </a:p>
        </p:txBody>
      </p:sp>
      <p:sp>
        <p:nvSpPr>
          <p:cNvPr id="8" name="副标题 7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6735" y="3389630"/>
            <a:ext cx="11064875" cy="452120"/>
          </a:xfrm>
        </p:spPr>
        <p:txBody>
          <a:bodyPr lIns="90000" tIns="46800" rIns="90000" bIns="46800" anchor="ctr" anchorCtr="0">
            <a:normAutofit fontScale="90000" lnSpcReduction="10000"/>
          </a:bodyPr>
          <a:lstStyle>
            <a:lvl1pPr marL="0" indent="0" algn="l">
              <a:lnSpc>
                <a:spcPct val="110000"/>
              </a:lnSpc>
              <a:buNone/>
              <a:defRPr sz="2400" spc="20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r>
              <a:rPr lang="zh-CN" altLang="en-US" dirty="0">
                <a:sym typeface="+mn-ea"/>
              </a:rPr>
              <a:t>团队名称或联系方式等信息</a:t>
            </a:r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10" Type="http://schemas.openxmlformats.org/officeDocument/2006/relationships/tags" Target="../tags/tag6.xml"/><Relationship Id="rId4" Type="http://schemas.openxmlformats.org/officeDocument/2006/relationships/theme" Target="../theme/theme1.xml"/><Relationship Id="rId9" Type="http://schemas.openxmlformats.org/officeDocument/2006/relationships/tags" Target="../tags/tag5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slideLayout" Target="../slideLayouts/slideLayout6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11" Type="http://schemas.openxmlformats.org/officeDocument/2006/relationships/tags" Target="../tags/tag16.xml"/><Relationship Id="rId5" Type="http://schemas.openxmlformats.org/officeDocument/2006/relationships/slideLayout" Target="../slideLayouts/slideLayout8.xml"/><Relationship Id="rId10" Type="http://schemas.openxmlformats.org/officeDocument/2006/relationships/tags" Target="../tags/tag15.xml"/><Relationship Id="rId4" Type="http://schemas.openxmlformats.org/officeDocument/2006/relationships/slideLayout" Target="../slideLayouts/slideLayout7.xml"/><Relationship Id="rId9" Type="http://schemas.openxmlformats.org/officeDocument/2006/relationships/tags" Target="../tags/tag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slideLayout" Target="../slideLayouts/slideLayout11.xml"/><Relationship Id="rId7" Type="http://schemas.openxmlformats.org/officeDocument/2006/relationships/tags" Target="../tags/tag29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5" Type="http://schemas.openxmlformats.org/officeDocument/2006/relationships/theme" Target="../theme/theme3.xml"/><Relationship Id="rId10" Type="http://schemas.openxmlformats.org/officeDocument/2006/relationships/tags" Target="../tags/tag32.xml"/><Relationship Id="rId4" Type="http://schemas.openxmlformats.org/officeDocument/2006/relationships/slideLayout" Target="../slideLayouts/slideLayout12.xml"/><Relationship Id="rId9" Type="http://schemas.openxmlformats.org/officeDocument/2006/relationships/tags" Target="../tags/tag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3" Type="http://schemas.openxmlformats.org/officeDocument/2006/relationships/slideLayout" Target="../slideLayouts/slideLayout15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4.xml"/><Relationship Id="rId11" Type="http://schemas.openxmlformats.org/officeDocument/2006/relationships/tags" Target="../tags/tag44.xml"/><Relationship Id="rId5" Type="http://schemas.openxmlformats.org/officeDocument/2006/relationships/slideLayout" Target="../slideLayouts/slideLayout17.xml"/><Relationship Id="rId10" Type="http://schemas.openxmlformats.org/officeDocument/2006/relationships/tags" Target="../tags/tag43.xml"/><Relationship Id="rId4" Type="http://schemas.openxmlformats.org/officeDocument/2006/relationships/slideLayout" Target="../slideLayouts/slideLayout16.xml"/><Relationship Id="rId9" Type="http://schemas.openxmlformats.org/officeDocument/2006/relationships/tags" Target="../tags/tag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3" Type="http://schemas.openxmlformats.org/officeDocument/2006/relationships/slideLayout" Target="../slideLayouts/slideLayout20.xml"/><Relationship Id="rId7" Type="http://schemas.openxmlformats.org/officeDocument/2006/relationships/tags" Target="../tags/tag57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heme" Target="../theme/theme5.xml"/><Relationship Id="rId10" Type="http://schemas.openxmlformats.org/officeDocument/2006/relationships/tags" Target="../tags/tag60.xml"/><Relationship Id="rId4" Type="http://schemas.openxmlformats.org/officeDocument/2006/relationships/slideLayout" Target="../slideLayouts/slideLayout21.xml"/><Relationship Id="rId9" Type="http://schemas.openxmlformats.org/officeDocument/2006/relationships/tags" Target="../tags/tag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3" Type="http://schemas.openxmlformats.org/officeDocument/2006/relationships/slideLayout" Target="../slideLayouts/slideLayout24.xml"/><Relationship Id="rId7" Type="http://schemas.openxmlformats.org/officeDocument/2006/relationships/tags" Target="../tags/tag68.xml"/><Relationship Id="rId12" Type="http://schemas.openxmlformats.org/officeDocument/2006/relationships/tags" Target="../tags/tag7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6.xml"/><Relationship Id="rId11" Type="http://schemas.openxmlformats.org/officeDocument/2006/relationships/tags" Target="../tags/tag72.xml"/><Relationship Id="rId5" Type="http://schemas.openxmlformats.org/officeDocument/2006/relationships/slideLayout" Target="../slideLayouts/slideLayout26.xml"/><Relationship Id="rId10" Type="http://schemas.openxmlformats.org/officeDocument/2006/relationships/tags" Target="../tags/tag71.xml"/><Relationship Id="rId4" Type="http://schemas.openxmlformats.org/officeDocument/2006/relationships/slideLayout" Target="../slideLayouts/slideLayout25.xml"/><Relationship Id="rId9" Type="http://schemas.openxmlformats.org/officeDocument/2006/relationships/tags" Target="../tags/tag7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slideLayout" Target="../slideLayouts/slideLayout29.xml"/><Relationship Id="rId7" Type="http://schemas.openxmlformats.org/officeDocument/2006/relationships/tags" Target="../tags/tag84.xml"/><Relationship Id="rId12" Type="http://schemas.openxmlformats.org/officeDocument/2006/relationships/tags" Target="../tags/tag8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theme" Target="../theme/theme7.xml"/><Relationship Id="rId11" Type="http://schemas.openxmlformats.org/officeDocument/2006/relationships/tags" Target="../tags/tag88.xml"/><Relationship Id="rId5" Type="http://schemas.openxmlformats.org/officeDocument/2006/relationships/slideLayout" Target="../slideLayouts/slideLayout31.xml"/><Relationship Id="rId10" Type="http://schemas.openxmlformats.org/officeDocument/2006/relationships/tags" Target="../tags/tag87.xml"/><Relationship Id="rId4" Type="http://schemas.openxmlformats.org/officeDocument/2006/relationships/slideLayout" Target="../slideLayouts/slideLayout30.xml"/><Relationship Id="rId9" Type="http://schemas.openxmlformats.org/officeDocument/2006/relationships/tags" Target="../tags/tag8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3" Type="http://schemas.openxmlformats.org/officeDocument/2006/relationships/slideLayout" Target="../slideLayouts/slideLayout34.xml"/><Relationship Id="rId7" Type="http://schemas.openxmlformats.org/officeDocument/2006/relationships/tags" Target="../tags/tag101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5" Type="http://schemas.openxmlformats.org/officeDocument/2006/relationships/theme" Target="../theme/theme8.xml"/><Relationship Id="rId10" Type="http://schemas.openxmlformats.org/officeDocument/2006/relationships/tags" Target="../tags/tag104.xml"/><Relationship Id="rId4" Type="http://schemas.openxmlformats.org/officeDocument/2006/relationships/slideLayout" Target="../slideLayouts/slideLayout35.xml"/><Relationship Id="rId9" Type="http://schemas.openxmlformats.org/officeDocument/2006/relationships/tags" Target="../tags/tag10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3" Type="http://schemas.openxmlformats.org/officeDocument/2006/relationships/slideLayout" Target="../slideLayouts/slideLayout38.xml"/><Relationship Id="rId7" Type="http://schemas.openxmlformats.org/officeDocument/2006/relationships/tags" Target="../tags/tag112.xml"/><Relationship Id="rId12" Type="http://schemas.openxmlformats.org/officeDocument/2006/relationships/tags" Target="../tags/tag11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theme" Target="../theme/theme9.xml"/><Relationship Id="rId11" Type="http://schemas.openxmlformats.org/officeDocument/2006/relationships/tags" Target="../tags/tag116.xml"/><Relationship Id="rId5" Type="http://schemas.openxmlformats.org/officeDocument/2006/relationships/slideLayout" Target="../slideLayouts/slideLayout40.xml"/><Relationship Id="rId10" Type="http://schemas.openxmlformats.org/officeDocument/2006/relationships/tags" Target="../tags/tag115.xml"/><Relationship Id="rId4" Type="http://schemas.openxmlformats.org/officeDocument/2006/relationships/slideLayout" Target="../slideLayouts/slideLayout39.xml"/><Relationship Id="rId9" Type="http://schemas.openxmlformats.org/officeDocument/2006/relationships/tags" Target="../tags/tag114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tags" Target="../tags/tag130.xml"/><Relationship Id="rId3" Type="http://schemas.openxmlformats.org/officeDocument/2006/relationships/slideLayout" Target="../slideLayouts/slideLayout43.xml"/><Relationship Id="rId7" Type="http://schemas.openxmlformats.org/officeDocument/2006/relationships/tags" Target="../tags/tag129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tags" Target="../tags/tag128.xml"/><Relationship Id="rId11" Type="http://schemas.openxmlformats.org/officeDocument/2006/relationships/tags" Target="../tags/tag133.xml"/><Relationship Id="rId5" Type="http://schemas.openxmlformats.org/officeDocument/2006/relationships/theme" Target="../theme/theme10.xml"/><Relationship Id="rId10" Type="http://schemas.openxmlformats.org/officeDocument/2006/relationships/tags" Target="../tags/tag132.xml"/><Relationship Id="rId4" Type="http://schemas.openxmlformats.org/officeDocument/2006/relationships/slideLayout" Target="../slideLayouts/slideLayout44.xml"/><Relationship Id="rId9" Type="http://schemas.openxmlformats.org/officeDocument/2006/relationships/tags" Target="../tags/tag131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3" Type="http://schemas.openxmlformats.org/officeDocument/2006/relationships/slideLayout" Target="../slideLayouts/slideLayout47.xml"/><Relationship Id="rId7" Type="http://schemas.openxmlformats.org/officeDocument/2006/relationships/tags" Target="../tags/tag141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ags" Target="../tags/tag140.xml"/><Relationship Id="rId11" Type="http://schemas.openxmlformats.org/officeDocument/2006/relationships/tags" Target="../tags/tag145.xml"/><Relationship Id="rId5" Type="http://schemas.openxmlformats.org/officeDocument/2006/relationships/theme" Target="../theme/theme11.xml"/><Relationship Id="rId10" Type="http://schemas.openxmlformats.org/officeDocument/2006/relationships/tags" Target="../tags/tag144.xml"/><Relationship Id="rId4" Type="http://schemas.openxmlformats.org/officeDocument/2006/relationships/slideLayout" Target="../slideLayouts/slideLayout48.xml"/><Relationship Id="rId9" Type="http://schemas.openxmlformats.org/officeDocument/2006/relationships/tags" Target="../tags/tag1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</p:sldLayoutIdLst>
  <p:hf sldNum="0"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hf sldNum="0"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</p:sldLayoutIdLst>
  <p:hf sldNum="0"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hf sldNum="0"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6" r:id="rId3"/>
    <p:sldLayoutId id="2147483677" r:id="rId4"/>
  </p:sldLayoutIdLst>
  <p:hf sldNum="0"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hf sldNum="0"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</p:sldLayoutIdLst>
  <p:hf sldNum="0"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4" r:id="rId3"/>
    <p:sldLayoutId id="2147483695" r:id="rId4"/>
  </p:sldLayoutIdLst>
  <p:hf sldNum="0"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hf sldNum="0"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6" r:id="rId3"/>
    <p:sldLayoutId id="2147483707" r:id="rId4"/>
  </p:sldLayoutIdLst>
  <p:hf sldNum="0"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</p:sldLayoutIdLst>
  <p:hf sldNum="0"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53.xml"/><Relationship Id="rId1" Type="http://schemas.openxmlformats.org/officeDocument/2006/relationships/tags" Target="../tags/tag15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5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5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5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5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5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5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6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6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6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6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6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6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6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6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6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6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70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7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7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7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7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7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7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46735" y="1959610"/>
            <a:ext cx="11064875" cy="1312545"/>
          </a:xfrm>
        </p:spPr>
        <p:txBody>
          <a:bodyPr vert="horz" lIns="90000" tIns="46800" rIns="90000" bIns="46800" rtlCol="0" anchor="ctr" anchorCtr="0">
            <a:noAutofit/>
          </a:bodyPr>
          <a:lstStyle/>
          <a:p>
            <a:pPr lvl="0" algn="l">
              <a:lnSpc>
                <a:spcPct val="150000"/>
              </a:lnSpc>
            </a:pPr>
            <a:r>
              <a:rPr lang="zh-CN" altLang="en-US" sz="3600" dirty="0"/>
              <a:t>企业 人工智能人才培养</a:t>
            </a:r>
            <a:br>
              <a:rPr lang="en-US" altLang="zh-CN" sz="3600" dirty="0"/>
            </a:br>
            <a:r>
              <a:rPr lang="zh-CN" altLang="en-US" sz="3600" dirty="0"/>
              <a:t>解决方案</a:t>
            </a:r>
            <a:endParaRPr sz="3600" dirty="0">
              <a:gradFill>
                <a:gsLst>
                  <a:gs pos="0">
                    <a:srgbClr val="1742FD"/>
                  </a:gs>
                  <a:gs pos="100000">
                    <a:srgbClr val="0AD575"/>
                  </a:gs>
                  <a:gs pos="49000">
                    <a:srgbClr val="0081F3"/>
                  </a:gs>
                </a:gsLst>
                <a:lin ang="17400000" scaled="0"/>
              </a:gradFill>
              <a:sym typeface="+mn-ea"/>
            </a:endParaRPr>
          </a:p>
        </p:txBody>
      </p:sp>
      <p:sp>
        <p:nvSpPr>
          <p:cNvPr id="6" name="副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46735" y="5148580"/>
            <a:ext cx="10504805" cy="1170940"/>
          </a:xfrm>
          <a:prstGeom prst="rect">
            <a:avLst/>
          </a:prstGeom>
        </p:spPr>
        <p:txBody>
          <a:bodyPr vert="horz" lIns="90000" tIns="46800" rIns="90000" bIns="46800" rtlCol="0"/>
          <a:lstStyle>
            <a:lvl1pPr marL="0" indent="0" algn="l">
              <a:lnSpc>
                <a:spcPct val="110000"/>
              </a:lnSpc>
              <a:buNone/>
              <a:defRPr sz="2400" spc="2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ct val="170000"/>
              </a:lnSpc>
            </a:pPr>
            <a:r>
              <a:rPr lang="zh-CN" altLang="en-US" sz="2000" dirty="0">
                <a:solidFill>
                  <a:srgbClr val="0721A8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智能体人才培养中心</a:t>
            </a:r>
          </a:p>
          <a:p>
            <a:pPr>
              <a:lnSpc>
                <a:spcPct val="170000"/>
              </a:lnSpc>
            </a:pPr>
            <a:r>
              <a:rPr lang="en-US" altLang="zh-CN" sz="2000" dirty="0">
                <a:solidFill>
                  <a:srgbClr val="0721A8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2026.08.24</a:t>
            </a:r>
            <a:endParaRPr lang="zh-CN" altLang="en-US" sz="2000" dirty="0">
              <a:solidFill>
                <a:srgbClr val="0721A8"/>
              </a:solidFill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7" name="圆角矩形 6"/>
          <p:cNvSpPr/>
          <p:nvPr userDrawn="1">
            <p:custDataLst>
              <p:tags r:id="rId2"/>
            </p:custDataLst>
          </p:nvPr>
        </p:nvSpPr>
        <p:spPr>
          <a:xfrm>
            <a:off x="661035" y="3585845"/>
            <a:ext cx="1513205" cy="3600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3E8FFE">
                  <a:alpha val="0"/>
                </a:srgbClr>
              </a:gs>
              <a:gs pos="49000">
                <a:srgbClr val="3A60FE">
                  <a:alpha val="65000"/>
                </a:srgbClr>
              </a:gs>
              <a:gs pos="0">
                <a:srgbClr val="555CF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eelOff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01641-B611-DABA-ACCF-69688440E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C4FBE4-8C04-267E-C12A-F15940DD0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zh-CN" altLang="en-US" dirty="0"/>
              <a:t>目录：从人才培养到企业</a:t>
            </a:r>
            <a:r>
              <a:rPr lang="en-US" altLang="zh-CN" dirty="0"/>
              <a:t>AI</a:t>
            </a:r>
            <a:r>
              <a:rPr lang="zh-CN" altLang="en-US" dirty="0"/>
              <a:t>规划化落地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9CCD4BA-E0B4-2C70-2C14-7852EC621A93}"/>
              </a:ext>
            </a:extLst>
          </p:cNvPr>
          <p:cNvSpPr/>
          <p:nvPr/>
        </p:nvSpPr>
        <p:spPr>
          <a:xfrm>
            <a:off x="615950" y="1761548"/>
            <a:ext cx="2084784" cy="3511788"/>
          </a:xfrm>
          <a:prstGeom prst="roundRect">
            <a:avLst>
              <a:gd name="adj" fmla="val 8041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BC55CA47-CA22-67C2-D7CF-1BAF7DD9B071}"/>
              </a:ext>
            </a:extLst>
          </p:cNvPr>
          <p:cNvSpPr/>
          <p:nvPr/>
        </p:nvSpPr>
        <p:spPr>
          <a:xfrm>
            <a:off x="623570" y="1769168"/>
            <a:ext cx="2069544" cy="1123950"/>
          </a:xfrm>
          <a:prstGeom prst="rect">
            <a:avLst/>
          </a:prstGeom>
          <a:solidFill>
            <a:srgbClr val="0721A8"/>
          </a:solidFill>
          <a:ln>
            <a:noFill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848A23A-36D0-D920-10C7-DED834E3C3FB}"/>
              </a:ext>
            </a:extLst>
          </p:cNvPr>
          <p:cNvSpPr/>
          <p:nvPr/>
        </p:nvSpPr>
        <p:spPr>
          <a:xfrm>
            <a:off x="2807414" y="1761548"/>
            <a:ext cx="2084784" cy="3511788"/>
          </a:xfrm>
          <a:prstGeom prst="roundRect">
            <a:avLst>
              <a:gd name="adj" fmla="val 8041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E542F90-3FD2-5BAC-004F-DED2E6235A1F}"/>
              </a:ext>
            </a:extLst>
          </p:cNvPr>
          <p:cNvSpPr/>
          <p:nvPr/>
        </p:nvSpPr>
        <p:spPr>
          <a:xfrm>
            <a:off x="2815034" y="1769168"/>
            <a:ext cx="2069544" cy="1123950"/>
          </a:xfrm>
          <a:prstGeom prst="rect">
            <a:avLst/>
          </a:prstGeom>
          <a:solidFill>
            <a:srgbClr val="0565FF"/>
          </a:solidFill>
          <a:ln>
            <a:noFill/>
          </a:ln>
        </p:spPr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C56922FC-4C9D-182E-D626-0C84D9A73BBE}"/>
              </a:ext>
            </a:extLst>
          </p:cNvPr>
          <p:cNvSpPr/>
          <p:nvPr/>
        </p:nvSpPr>
        <p:spPr>
          <a:xfrm>
            <a:off x="4998879" y="1761548"/>
            <a:ext cx="2084903" cy="3511788"/>
          </a:xfrm>
          <a:prstGeom prst="roundRect">
            <a:avLst>
              <a:gd name="adj" fmla="val 8041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3B21E573-0C92-926B-8376-5CA3457AC7F7}"/>
              </a:ext>
            </a:extLst>
          </p:cNvPr>
          <p:cNvSpPr/>
          <p:nvPr/>
        </p:nvSpPr>
        <p:spPr>
          <a:xfrm>
            <a:off x="5006499" y="1769168"/>
            <a:ext cx="2069663" cy="1123950"/>
          </a:xfrm>
          <a:prstGeom prst="rect">
            <a:avLst/>
          </a:prstGeom>
          <a:solidFill>
            <a:srgbClr val="1787F5"/>
          </a:solidFill>
          <a:ln>
            <a:noFill/>
          </a:ln>
        </p:spPr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B0D5A2CC-3830-92DD-FB09-18985BE78B55}"/>
              </a:ext>
            </a:extLst>
          </p:cNvPr>
          <p:cNvSpPr/>
          <p:nvPr/>
        </p:nvSpPr>
        <p:spPr>
          <a:xfrm>
            <a:off x="7190462" y="1761548"/>
            <a:ext cx="2084784" cy="3511788"/>
          </a:xfrm>
          <a:prstGeom prst="roundRect">
            <a:avLst>
              <a:gd name="adj" fmla="val 8041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3FB20AE1-716A-235A-86B0-617F75E5CAE6}"/>
              </a:ext>
            </a:extLst>
          </p:cNvPr>
          <p:cNvSpPr/>
          <p:nvPr/>
        </p:nvSpPr>
        <p:spPr>
          <a:xfrm>
            <a:off x="7198082" y="1769168"/>
            <a:ext cx="2069544" cy="1123950"/>
          </a:xfrm>
          <a:prstGeom prst="rect">
            <a:avLst/>
          </a:prstGeom>
          <a:solidFill>
            <a:srgbClr val="00A7FF"/>
          </a:solidFill>
          <a:ln>
            <a:noFill/>
          </a:ln>
        </p:spPr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E08D5452-50DB-CC76-E67C-FBF20B60300B}"/>
              </a:ext>
            </a:extLst>
          </p:cNvPr>
          <p:cNvSpPr/>
          <p:nvPr/>
        </p:nvSpPr>
        <p:spPr>
          <a:xfrm>
            <a:off x="9381927" y="1761548"/>
            <a:ext cx="2084903" cy="3511788"/>
          </a:xfrm>
          <a:prstGeom prst="roundRect">
            <a:avLst>
              <a:gd name="adj" fmla="val 8041"/>
            </a:avLst>
          </a:prstGeom>
          <a:solidFill>
            <a:srgbClr val="F2FFFC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C73F7B15-23F5-4576-5B5D-3A4C2F29EC0C}"/>
              </a:ext>
            </a:extLst>
          </p:cNvPr>
          <p:cNvSpPr/>
          <p:nvPr/>
        </p:nvSpPr>
        <p:spPr>
          <a:xfrm>
            <a:off x="9389547" y="1769168"/>
            <a:ext cx="2069663" cy="1123950"/>
          </a:xfrm>
          <a:prstGeom prst="rect">
            <a:avLst/>
          </a:prstGeom>
          <a:solidFill>
            <a:srgbClr val="00AB7A"/>
          </a:solidFill>
          <a:ln>
            <a:noFill/>
          </a:ln>
        </p:spPr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8AC30076-21E8-2C15-6A40-7CC0A31C41B4}"/>
              </a:ext>
            </a:extLst>
          </p:cNvPr>
          <p:cNvSpPr/>
          <p:nvPr/>
        </p:nvSpPr>
        <p:spPr>
          <a:xfrm>
            <a:off x="615950" y="5360468"/>
            <a:ext cx="10850880" cy="562462"/>
          </a:xfrm>
          <a:prstGeom prst="roundRect">
            <a:avLst>
              <a:gd name="adj" fmla="val 24138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B246FEAE-6B55-4C49-E6A9-D7FC34E436F3}"/>
              </a:ext>
            </a:extLst>
          </p:cNvPr>
          <p:cNvSpPr txBox="1"/>
          <p:nvPr/>
        </p:nvSpPr>
        <p:spPr>
          <a:xfrm>
            <a:off x="791210" y="1952048"/>
            <a:ext cx="179222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324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32230F8B-D378-289E-0494-D4930FA50FBB}"/>
              </a:ext>
            </a:extLst>
          </p:cNvPr>
          <p:cNvSpPr txBox="1"/>
          <p:nvPr/>
        </p:nvSpPr>
        <p:spPr>
          <a:xfrm>
            <a:off x="791210" y="2424488"/>
            <a:ext cx="179222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250"/>
              </a:lnSpc>
              <a:spcBef>
                <a:spcPts val="480"/>
              </a:spcBef>
            </a:pPr>
            <a:r>
              <a:rPr lang="zh-CN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为何建设</a:t>
            </a:r>
          </a:p>
        </p:txBody>
      </p:sp>
      <p:sp>
        <p:nvSpPr>
          <p:cNvPr id="31" name="TextBox 7">
            <a:extLst>
              <a:ext uri="{FF2B5EF4-FFF2-40B4-BE49-F238E27FC236}">
                <a16:creationId xmlns:a16="http://schemas.microsoft.com/office/drawing/2014/main" id="{949A7FAB-4367-D018-957C-7C6CCA37B7FB}"/>
              </a:ext>
            </a:extLst>
          </p:cNvPr>
          <p:cNvSpPr txBox="1"/>
          <p:nvPr/>
        </p:nvSpPr>
        <p:spPr>
          <a:xfrm>
            <a:off x="791210" y="3079808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>
              <a:lnSpc>
                <a:spcPts val="1800"/>
              </a:lnSpc>
            </a:pPr>
            <a:r>
              <a:rPr lang="zh-CN" sz="16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建设背景与企业需求</a:t>
            </a:r>
          </a:p>
        </p:txBody>
      </p:sp>
      <p:sp>
        <p:nvSpPr>
          <p:cNvPr id="33" name="TextBox 8">
            <a:extLst>
              <a:ext uri="{FF2B5EF4-FFF2-40B4-BE49-F238E27FC236}">
                <a16:creationId xmlns:a16="http://schemas.microsoft.com/office/drawing/2014/main" id="{B4EDCE19-8027-83B6-B1A8-ABAB5C9A0341}"/>
              </a:ext>
            </a:extLst>
          </p:cNvPr>
          <p:cNvSpPr txBox="1"/>
          <p:nvPr/>
        </p:nvSpPr>
        <p:spPr>
          <a:xfrm>
            <a:off x="791210" y="3491748"/>
            <a:ext cx="1792224" cy="7056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1080"/>
              </a:spcBef>
            </a:pP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AI进入智能体驱动阶段，识别企业成熟度、人才短板及投资回报影响。</a:t>
            </a: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1CF0D34F-6766-AFC8-CD4E-7B94CAEB85FF}"/>
              </a:ext>
            </a:extLst>
          </p:cNvPr>
          <p:cNvSpPr txBox="1"/>
          <p:nvPr/>
        </p:nvSpPr>
        <p:spPr>
          <a:xfrm>
            <a:off x="2985770" y="1952048"/>
            <a:ext cx="179222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324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F383B270-DAE3-ABE7-E7A6-3F576D0D05DF}"/>
              </a:ext>
            </a:extLst>
          </p:cNvPr>
          <p:cNvSpPr txBox="1"/>
          <p:nvPr/>
        </p:nvSpPr>
        <p:spPr>
          <a:xfrm>
            <a:off x="2985770" y="2424488"/>
            <a:ext cx="179222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250"/>
              </a:lnSpc>
              <a:spcBef>
                <a:spcPts val="480"/>
              </a:spcBef>
            </a:pPr>
            <a:r>
              <a:rPr lang="zh-CN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建设什么</a:t>
            </a:r>
          </a:p>
        </p:txBody>
      </p:sp>
      <p:sp>
        <p:nvSpPr>
          <p:cNvPr id="41" name="TextBox 12">
            <a:extLst>
              <a:ext uri="{FF2B5EF4-FFF2-40B4-BE49-F238E27FC236}">
                <a16:creationId xmlns:a16="http://schemas.microsoft.com/office/drawing/2014/main" id="{388EB1A8-B702-46E0-773F-BC38DD5F4DAA}"/>
              </a:ext>
            </a:extLst>
          </p:cNvPr>
          <p:cNvSpPr txBox="1"/>
          <p:nvPr/>
        </p:nvSpPr>
        <p:spPr>
          <a:xfrm>
            <a:off x="2985770" y="3079808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>
              <a:lnSpc>
                <a:spcPts val="1800"/>
              </a:lnSpc>
            </a:pPr>
            <a:r>
              <a:rPr lang="zh-CN" sz="16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总体方案与培养路径</a:t>
            </a: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75B115AF-857F-F40A-C836-95F36E0993DC}"/>
              </a:ext>
            </a:extLst>
          </p:cNvPr>
          <p:cNvSpPr txBox="1"/>
          <p:nvPr/>
        </p:nvSpPr>
        <p:spPr>
          <a:xfrm>
            <a:off x="2985770" y="3491748"/>
            <a:ext cx="1792224" cy="7056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1080"/>
              </a:spcBef>
            </a:pP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明确定位、目标、总体蓝图、四层人才路径与培养运营闭环。</a:t>
            </a:r>
          </a:p>
        </p:txBody>
      </p:sp>
      <p:sp>
        <p:nvSpPr>
          <p:cNvPr id="47" name="TextBox 15">
            <a:extLst>
              <a:ext uri="{FF2B5EF4-FFF2-40B4-BE49-F238E27FC236}">
                <a16:creationId xmlns:a16="http://schemas.microsoft.com/office/drawing/2014/main" id="{3BA5C88B-9E11-5317-F99A-2DFF5DBE3E3C}"/>
              </a:ext>
            </a:extLst>
          </p:cNvPr>
          <p:cNvSpPr txBox="1"/>
          <p:nvPr/>
        </p:nvSpPr>
        <p:spPr>
          <a:xfrm>
            <a:off x="5172710" y="1952048"/>
            <a:ext cx="179222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324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49" name="TextBox 16">
            <a:extLst>
              <a:ext uri="{FF2B5EF4-FFF2-40B4-BE49-F238E27FC236}">
                <a16:creationId xmlns:a16="http://schemas.microsoft.com/office/drawing/2014/main" id="{B8FC48E2-4C92-FDF9-67EC-35DC81C00B0B}"/>
              </a:ext>
            </a:extLst>
          </p:cNvPr>
          <p:cNvSpPr txBox="1"/>
          <p:nvPr/>
        </p:nvSpPr>
        <p:spPr>
          <a:xfrm>
            <a:off x="5172710" y="2424488"/>
            <a:ext cx="179222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250"/>
              </a:lnSpc>
              <a:spcBef>
                <a:spcPts val="480"/>
              </a:spcBef>
            </a:pPr>
            <a:r>
              <a:rPr lang="zh-CN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如何培养</a:t>
            </a:r>
          </a:p>
        </p:txBody>
      </p:sp>
      <p:sp>
        <p:nvSpPr>
          <p:cNvPr id="51" name="TextBox 17">
            <a:extLst>
              <a:ext uri="{FF2B5EF4-FFF2-40B4-BE49-F238E27FC236}">
                <a16:creationId xmlns:a16="http://schemas.microsoft.com/office/drawing/2014/main" id="{19241B19-0831-20DF-2D99-02829C820818}"/>
              </a:ext>
            </a:extLst>
          </p:cNvPr>
          <p:cNvSpPr txBox="1"/>
          <p:nvPr/>
        </p:nvSpPr>
        <p:spPr>
          <a:xfrm>
            <a:off x="5172710" y="3079808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>
              <a:lnSpc>
                <a:spcPts val="1800"/>
              </a:lnSpc>
            </a:pPr>
            <a:r>
              <a:rPr lang="zh-CN" sz="16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分层培养与能力认证</a:t>
            </a:r>
          </a:p>
        </p:txBody>
      </p:sp>
      <p:sp>
        <p:nvSpPr>
          <p:cNvPr id="53" name="TextBox 18">
            <a:extLst>
              <a:ext uri="{FF2B5EF4-FFF2-40B4-BE49-F238E27FC236}">
                <a16:creationId xmlns:a16="http://schemas.microsoft.com/office/drawing/2014/main" id="{FCB09997-D41E-F349-0017-6DE41E3DD440}"/>
              </a:ext>
            </a:extLst>
          </p:cNvPr>
          <p:cNvSpPr txBox="1"/>
          <p:nvPr/>
        </p:nvSpPr>
        <p:spPr>
          <a:xfrm>
            <a:off x="5172710" y="3491748"/>
            <a:ext cx="1792224" cy="7056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1080"/>
              </a:spcBef>
            </a:pP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覆盖全员、ADEA、ADEP、ADEE，贯通课程、项目、认证与人才档案。</a:t>
            </a:r>
          </a:p>
        </p:txBody>
      </p:sp>
      <p:sp>
        <p:nvSpPr>
          <p:cNvPr id="57" name="TextBox 20">
            <a:extLst>
              <a:ext uri="{FF2B5EF4-FFF2-40B4-BE49-F238E27FC236}">
                <a16:creationId xmlns:a16="http://schemas.microsoft.com/office/drawing/2014/main" id="{892DB0E1-E8D4-B9D6-9E98-FF6E5323CA39}"/>
              </a:ext>
            </a:extLst>
          </p:cNvPr>
          <p:cNvSpPr txBox="1"/>
          <p:nvPr/>
        </p:nvSpPr>
        <p:spPr>
          <a:xfrm>
            <a:off x="7367270" y="1952048"/>
            <a:ext cx="179222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324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59" name="TextBox 21">
            <a:extLst>
              <a:ext uri="{FF2B5EF4-FFF2-40B4-BE49-F238E27FC236}">
                <a16:creationId xmlns:a16="http://schemas.microsoft.com/office/drawing/2014/main" id="{6D6D0FAF-D7EB-F2CC-482D-E68EAADB5DEF}"/>
              </a:ext>
            </a:extLst>
          </p:cNvPr>
          <p:cNvSpPr txBox="1"/>
          <p:nvPr/>
        </p:nvSpPr>
        <p:spPr>
          <a:xfrm>
            <a:off x="7367270" y="2424488"/>
            <a:ext cx="179222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250"/>
              </a:lnSpc>
              <a:spcBef>
                <a:spcPts val="480"/>
              </a:spcBef>
            </a:pPr>
            <a:r>
              <a:rPr lang="zh-CN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如何落地</a:t>
            </a:r>
          </a:p>
        </p:txBody>
      </p:sp>
      <p:sp>
        <p:nvSpPr>
          <p:cNvPr id="61" name="TextBox 22">
            <a:extLst>
              <a:ext uri="{FF2B5EF4-FFF2-40B4-BE49-F238E27FC236}">
                <a16:creationId xmlns:a16="http://schemas.microsoft.com/office/drawing/2014/main" id="{811FFA2B-0AFA-6BC5-ACCB-6BB5DE9AF3EE}"/>
              </a:ext>
            </a:extLst>
          </p:cNvPr>
          <p:cNvSpPr txBox="1"/>
          <p:nvPr/>
        </p:nvSpPr>
        <p:spPr>
          <a:xfrm>
            <a:off x="7367270" y="3079808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>
              <a:lnSpc>
                <a:spcPts val="1800"/>
              </a:lnSpc>
            </a:pPr>
            <a:r>
              <a:rPr lang="zh-CN" sz="16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产品支撑与项目实施</a:t>
            </a:r>
          </a:p>
        </p:txBody>
      </p:sp>
      <p:sp>
        <p:nvSpPr>
          <p:cNvPr id="63" name="TextBox 23">
            <a:extLst>
              <a:ext uri="{FF2B5EF4-FFF2-40B4-BE49-F238E27FC236}">
                <a16:creationId xmlns:a16="http://schemas.microsoft.com/office/drawing/2014/main" id="{A5FD733E-B23E-EC9E-70E6-9D5DD4DDDDD4}"/>
              </a:ext>
            </a:extLst>
          </p:cNvPr>
          <p:cNvSpPr txBox="1"/>
          <p:nvPr/>
        </p:nvSpPr>
        <p:spPr>
          <a:xfrm>
            <a:off x="7367270" y="3491748"/>
            <a:ext cx="1792224" cy="7056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1080"/>
              </a:spcBef>
            </a:pP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纳米Work与实训平台协同，按试点、规模、完善、运营分阶段推进。</a:t>
            </a:r>
          </a:p>
        </p:txBody>
      </p:sp>
      <p:sp>
        <p:nvSpPr>
          <p:cNvPr id="67" name="TextBox 25">
            <a:extLst>
              <a:ext uri="{FF2B5EF4-FFF2-40B4-BE49-F238E27FC236}">
                <a16:creationId xmlns:a16="http://schemas.microsoft.com/office/drawing/2014/main" id="{BD044601-3C44-026F-1C85-6DCDEC42A53A}"/>
              </a:ext>
            </a:extLst>
          </p:cNvPr>
          <p:cNvSpPr txBox="1"/>
          <p:nvPr/>
        </p:nvSpPr>
        <p:spPr>
          <a:xfrm>
            <a:off x="9554210" y="1952048"/>
            <a:ext cx="179222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324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</a:p>
        </p:txBody>
      </p:sp>
      <p:sp>
        <p:nvSpPr>
          <p:cNvPr id="69" name="TextBox 26">
            <a:extLst>
              <a:ext uri="{FF2B5EF4-FFF2-40B4-BE49-F238E27FC236}">
                <a16:creationId xmlns:a16="http://schemas.microsoft.com/office/drawing/2014/main" id="{F5DB3AE6-323D-E7F0-7518-EA0750CABDDD}"/>
              </a:ext>
            </a:extLst>
          </p:cNvPr>
          <p:cNvSpPr txBox="1"/>
          <p:nvPr/>
        </p:nvSpPr>
        <p:spPr>
          <a:xfrm>
            <a:off x="9554210" y="2424488"/>
            <a:ext cx="179222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250"/>
              </a:lnSpc>
              <a:spcBef>
                <a:spcPts val="480"/>
              </a:spcBef>
            </a:pPr>
            <a:r>
              <a:rPr lang="zh-CN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形成什么</a:t>
            </a:r>
          </a:p>
        </p:txBody>
      </p:sp>
      <p:sp>
        <p:nvSpPr>
          <p:cNvPr id="71" name="TextBox 27">
            <a:extLst>
              <a:ext uri="{FF2B5EF4-FFF2-40B4-BE49-F238E27FC236}">
                <a16:creationId xmlns:a16="http://schemas.microsoft.com/office/drawing/2014/main" id="{9B23B6E5-D07A-3055-8996-05A0EDDF1516}"/>
              </a:ext>
            </a:extLst>
          </p:cNvPr>
          <p:cNvSpPr txBox="1"/>
          <p:nvPr/>
        </p:nvSpPr>
        <p:spPr>
          <a:xfrm>
            <a:off x="9554210" y="3079808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>
              <a:lnSpc>
                <a:spcPts val="1800"/>
              </a:lnSpc>
            </a:pPr>
            <a:r>
              <a:rPr lang="zh-CN" sz="160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交付成果与方案价值</a:t>
            </a:r>
          </a:p>
        </p:txBody>
      </p:sp>
      <p:sp>
        <p:nvSpPr>
          <p:cNvPr id="73" name="TextBox 28">
            <a:extLst>
              <a:ext uri="{FF2B5EF4-FFF2-40B4-BE49-F238E27FC236}">
                <a16:creationId xmlns:a16="http://schemas.microsoft.com/office/drawing/2014/main" id="{E8919C73-99CA-21BD-ED7B-6680EFEA28AE}"/>
              </a:ext>
            </a:extLst>
          </p:cNvPr>
          <p:cNvSpPr txBox="1"/>
          <p:nvPr/>
        </p:nvSpPr>
        <p:spPr>
          <a:xfrm>
            <a:off x="9554210" y="3491748"/>
            <a:ext cx="1792224" cy="70561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10000"/>
          </a:bodyPr>
          <a:lstStyle/>
          <a:p>
            <a:pPr>
              <a:lnSpc>
                <a:spcPct val="150000"/>
              </a:lnSpc>
              <a:spcBef>
                <a:spcPts val="1080"/>
              </a:spcBef>
            </a:pP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形成可检查的人员、项目、资产与机制，并明确下一步启动动作。</a:t>
            </a:r>
          </a:p>
        </p:txBody>
      </p:sp>
      <p:sp>
        <p:nvSpPr>
          <p:cNvPr id="77" name="TextBox 30">
            <a:extLst>
              <a:ext uri="{FF2B5EF4-FFF2-40B4-BE49-F238E27FC236}">
                <a16:creationId xmlns:a16="http://schemas.microsoft.com/office/drawing/2014/main" id="{EEEF6011-0B57-1169-4E4E-6C1927A03069}"/>
              </a:ext>
            </a:extLst>
          </p:cNvPr>
          <p:cNvSpPr txBox="1"/>
          <p:nvPr/>
        </p:nvSpPr>
        <p:spPr>
          <a:xfrm>
            <a:off x="615950" y="5352989"/>
            <a:ext cx="10905744" cy="597373"/>
          </a:xfrm>
          <a:prstGeom prst="rect">
            <a:avLst/>
          </a:prstGeom>
          <a:noFill/>
        </p:spPr>
        <p:txBody>
          <a:bodyPr wrap="square" lIns="182880" tIns="106680" rIns="182880" bIns="106680" anchor="ctr">
            <a:normAutofit/>
          </a:bodyPr>
          <a:lstStyle/>
          <a:p>
            <a:pPr algn="ctr">
              <a:lnSpc>
                <a:spcPts val="1800"/>
              </a:lnSpc>
              <a:spcBef>
                <a:spcPts val="1200"/>
              </a:spcBef>
            </a:pPr>
            <a:r>
              <a:rPr lang="zh-CN" sz="14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主线：人才标准 → 分层培养 → 项目证据 → 产品支撑 → 持续运营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4547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9BEDF-8314-B394-EE74-6E301CA1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3B3B6-54F6-7605-FE79-09EB3C37C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zh-CN" altLang="en-US" dirty="0"/>
              <a:t>人工智能进入智能体驱动的企业级应用阶段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F563D98-A1E5-61EE-7831-04D7181F29FE}"/>
              </a:ext>
            </a:extLst>
          </p:cNvPr>
          <p:cNvSpPr/>
          <p:nvPr/>
        </p:nvSpPr>
        <p:spPr>
          <a:xfrm>
            <a:off x="670560" y="1115292"/>
            <a:ext cx="10850880" cy="563880"/>
          </a:xfrm>
          <a:prstGeom prst="roundRect">
            <a:avLst>
              <a:gd name="adj" fmla="val 21622"/>
            </a:avLst>
          </a:prstGeom>
          <a:solidFill>
            <a:srgbClr val="ECF7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962F140-EDAE-2594-AE4F-5DDB56ACD7A9}"/>
              </a:ext>
            </a:extLst>
          </p:cNvPr>
          <p:cNvSpPr/>
          <p:nvPr/>
        </p:nvSpPr>
        <p:spPr>
          <a:xfrm>
            <a:off x="670560" y="1816332"/>
            <a:ext cx="4974788" cy="45720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718247B-39CD-8DD5-BB82-26408273562D}"/>
              </a:ext>
            </a:extLst>
          </p:cNvPr>
          <p:cNvSpPr/>
          <p:nvPr/>
        </p:nvSpPr>
        <p:spPr>
          <a:xfrm>
            <a:off x="678180" y="1823952"/>
            <a:ext cx="4959548" cy="514350"/>
          </a:xfrm>
          <a:prstGeom prst="rect">
            <a:avLst/>
          </a:prstGeom>
          <a:solidFill>
            <a:srgbClr val="F5F9FF"/>
          </a:solidFill>
          <a:ln>
            <a:noFill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87EC9B5F-BB23-C729-95F2-E3669F8644F1}"/>
              </a:ext>
            </a:extLst>
          </p:cNvPr>
          <p:cNvSpPr/>
          <p:nvPr/>
        </p:nvSpPr>
        <p:spPr>
          <a:xfrm>
            <a:off x="845820" y="2475462"/>
            <a:ext cx="4624268" cy="1413510"/>
          </a:xfrm>
          <a:prstGeom prst="roundRect">
            <a:avLst>
              <a:gd name="adj" fmla="val 9704"/>
            </a:avLst>
          </a:prstGeom>
          <a:solidFill>
            <a:srgbClr val="FAFCFE"/>
          </a:solidFill>
          <a:ln w="9525">
            <a:solidFill>
              <a:srgbClr val="DCE7F2"/>
            </a:solidFill>
            <a:prstDash val="solid"/>
          </a:ln>
        </p:spPr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11281FB4-81F5-4620-BC85-59078955A9E2}"/>
              </a:ext>
            </a:extLst>
          </p:cNvPr>
          <p:cNvSpPr/>
          <p:nvPr/>
        </p:nvSpPr>
        <p:spPr>
          <a:xfrm>
            <a:off x="990600" y="2620242"/>
            <a:ext cx="1036320" cy="1123950"/>
          </a:xfrm>
          <a:prstGeom prst="roundRect">
            <a:avLst>
              <a:gd name="adj" fmla="val 10294"/>
            </a:avLst>
          </a:prstGeom>
          <a:solidFill>
            <a:srgbClr val="E8EEF8"/>
          </a:solidFill>
          <a:ln>
            <a:noFill/>
          </a:ln>
        </p:spPr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AEB4A241-B87D-758D-DEB5-1995EFA484BC}"/>
              </a:ext>
            </a:extLst>
          </p:cNvPr>
          <p:cNvSpPr/>
          <p:nvPr/>
        </p:nvSpPr>
        <p:spPr>
          <a:xfrm>
            <a:off x="1237672" y="3995652"/>
            <a:ext cx="3837699" cy="434340"/>
          </a:xfrm>
          <a:prstGeom prst="roundRect">
            <a:avLst>
              <a:gd name="adj" fmla="val 50000"/>
            </a:avLst>
          </a:prstGeom>
          <a:solidFill>
            <a:srgbClr val="0565FF"/>
          </a:solidFill>
          <a:ln>
            <a:noFill/>
          </a:ln>
        </p:spPr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B5902BBA-C472-2A30-0444-E820F64E4EFA}"/>
              </a:ext>
            </a:extLst>
          </p:cNvPr>
          <p:cNvSpPr/>
          <p:nvPr/>
        </p:nvSpPr>
        <p:spPr>
          <a:xfrm>
            <a:off x="845820" y="4625340"/>
            <a:ext cx="4624268" cy="1413510"/>
          </a:xfrm>
          <a:prstGeom prst="roundRect">
            <a:avLst>
              <a:gd name="adj" fmla="val 7563"/>
            </a:avLst>
          </a:prstGeom>
          <a:solidFill>
            <a:srgbClr val="EBFAFF"/>
          </a:solidFill>
          <a:ln w="19050">
            <a:solidFill>
              <a:srgbClr val="73C9FF"/>
            </a:solidFill>
            <a:prstDash val="solid"/>
          </a:ln>
        </p:spPr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C86F1B4D-7626-A8B3-2447-F89E339B4D41}"/>
              </a:ext>
            </a:extLst>
          </p:cNvPr>
          <p:cNvSpPr/>
          <p:nvPr/>
        </p:nvSpPr>
        <p:spPr>
          <a:xfrm>
            <a:off x="5797748" y="1816332"/>
            <a:ext cx="5723692" cy="45720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6E97FCDD-3AF1-D130-06CD-6507C29D20BA}"/>
              </a:ext>
            </a:extLst>
          </p:cNvPr>
          <p:cNvSpPr/>
          <p:nvPr/>
        </p:nvSpPr>
        <p:spPr>
          <a:xfrm>
            <a:off x="10614660" y="1961112"/>
            <a:ext cx="731520" cy="289560"/>
          </a:xfrm>
          <a:prstGeom prst="roundRect">
            <a:avLst>
              <a:gd name="adj" fmla="val 50000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4811D92F-D617-D355-CB9D-4497D864F296}"/>
              </a:ext>
            </a:extLst>
          </p:cNvPr>
          <p:cNvSpPr/>
          <p:nvPr/>
        </p:nvSpPr>
        <p:spPr>
          <a:xfrm>
            <a:off x="5973008" y="2372592"/>
            <a:ext cx="1730097" cy="1535073"/>
          </a:xfrm>
          <a:prstGeom prst="roundRect">
            <a:avLst>
              <a:gd name="adj" fmla="val 7942"/>
            </a:avLst>
          </a:prstGeom>
          <a:solidFill>
            <a:srgbClr val="F7FB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A5F0A6A9-0ACA-7235-40DD-A87C4AEF2969}"/>
              </a:ext>
            </a:extLst>
          </p:cNvPr>
          <p:cNvSpPr/>
          <p:nvPr/>
        </p:nvSpPr>
        <p:spPr>
          <a:xfrm>
            <a:off x="6094928" y="2494512"/>
            <a:ext cx="259080" cy="259080"/>
          </a:xfrm>
          <a:prstGeom prst="roundRect">
            <a:avLst>
              <a:gd name="adj" fmla="val 29412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42E660A8-CAE9-EE8E-852E-D5DC1F290529}"/>
              </a:ext>
            </a:extLst>
          </p:cNvPr>
          <p:cNvSpPr/>
          <p:nvPr/>
        </p:nvSpPr>
        <p:spPr>
          <a:xfrm>
            <a:off x="7794546" y="2372592"/>
            <a:ext cx="1730097" cy="1535073"/>
          </a:xfrm>
          <a:prstGeom prst="roundRect">
            <a:avLst>
              <a:gd name="adj" fmla="val 7942"/>
            </a:avLst>
          </a:prstGeom>
          <a:solidFill>
            <a:srgbClr val="F7FB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0AA32244-1FC3-40D1-A2B8-A2C43BB7F3F4}"/>
              </a:ext>
            </a:extLst>
          </p:cNvPr>
          <p:cNvSpPr/>
          <p:nvPr/>
        </p:nvSpPr>
        <p:spPr>
          <a:xfrm>
            <a:off x="7916466" y="2494512"/>
            <a:ext cx="259080" cy="259080"/>
          </a:xfrm>
          <a:prstGeom prst="roundRect">
            <a:avLst>
              <a:gd name="adj" fmla="val 29412"/>
            </a:avLst>
          </a:prstGeom>
          <a:solidFill>
            <a:srgbClr val="0565FF"/>
          </a:solidFill>
          <a:ln>
            <a:noFill/>
          </a:ln>
        </p:spPr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40C075EF-3859-E2AC-65DB-3F41526B0414}"/>
              </a:ext>
            </a:extLst>
          </p:cNvPr>
          <p:cNvSpPr/>
          <p:nvPr/>
        </p:nvSpPr>
        <p:spPr>
          <a:xfrm>
            <a:off x="9616083" y="2372592"/>
            <a:ext cx="1730097" cy="1535073"/>
          </a:xfrm>
          <a:prstGeom prst="roundRect">
            <a:avLst>
              <a:gd name="adj" fmla="val 7942"/>
            </a:avLst>
          </a:prstGeom>
          <a:solidFill>
            <a:srgbClr val="F7FB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9CCCF17A-EECC-C9F8-0C23-F16578E81127}"/>
              </a:ext>
            </a:extLst>
          </p:cNvPr>
          <p:cNvSpPr/>
          <p:nvPr/>
        </p:nvSpPr>
        <p:spPr>
          <a:xfrm>
            <a:off x="9738003" y="2494512"/>
            <a:ext cx="259080" cy="259080"/>
          </a:xfrm>
          <a:prstGeom prst="roundRect">
            <a:avLst>
              <a:gd name="adj" fmla="val 29412"/>
            </a:avLst>
          </a:prstGeom>
          <a:solidFill>
            <a:srgbClr val="1787F5"/>
          </a:solidFill>
          <a:ln>
            <a:noFill/>
          </a:ln>
        </p:spPr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C10651D6-849B-C834-5CA6-82BD856E9568}"/>
              </a:ext>
            </a:extLst>
          </p:cNvPr>
          <p:cNvSpPr/>
          <p:nvPr/>
        </p:nvSpPr>
        <p:spPr>
          <a:xfrm>
            <a:off x="5973008" y="3999105"/>
            <a:ext cx="1730097" cy="1535073"/>
          </a:xfrm>
          <a:prstGeom prst="roundRect">
            <a:avLst>
              <a:gd name="adj" fmla="val 7942"/>
            </a:avLst>
          </a:prstGeom>
          <a:solidFill>
            <a:srgbClr val="F2FCFF"/>
          </a:solidFill>
          <a:ln w="9525">
            <a:solidFill>
              <a:srgbClr val="BFE6FA"/>
            </a:solidFill>
            <a:prstDash val="solid"/>
          </a:ln>
        </p:spPr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6C294D8E-C535-C567-CFFD-83C73D5A7FC9}"/>
              </a:ext>
            </a:extLst>
          </p:cNvPr>
          <p:cNvSpPr/>
          <p:nvPr/>
        </p:nvSpPr>
        <p:spPr>
          <a:xfrm>
            <a:off x="6094928" y="4121025"/>
            <a:ext cx="259080" cy="259080"/>
          </a:xfrm>
          <a:prstGeom prst="roundRect">
            <a:avLst>
              <a:gd name="adj" fmla="val 29412"/>
            </a:avLst>
          </a:prstGeom>
          <a:solidFill>
            <a:srgbClr val="00A7FF"/>
          </a:solidFill>
          <a:ln>
            <a:noFill/>
          </a:ln>
        </p:spPr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4EF0FEE8-56C3-C250-1094-982BDB745B95}"/>
              </a:ext>
            </a:extLst>
          </p:cNvPr>
          <p:cNvSpPr/>
          <p:nvPr/>
        </p:nvSpPr>
        <p:spPr>
          <a:xfrm>
            <a:off x="7794546" y="3999105"/>
            <a:ext cx="1730097" cy="1535073"/>
          </a:xfrm>
          <a:prstGeom prst="roundRect">
            <a:avLst>
              <a:gd name="adj" fmla="val 7942"/>
            </a:avLst>
          </a:prstGeom>
          <a:solidFill>
            <a:srgbClr val="F2FFFC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161DC410-028F-5950-890F-622590D9C047}"/>
              </a:ext>
            </a:extLst>
          </p:cNvPr>
          <p:cNvSpPr/>
          <p:nvPr/>
        </p:nvSpPr>
        <p:spPr>
          <a:xfrm>
            <a:off x="7916466" y="4121025"/>
            <a:ext cx="259080" cy="259080"/>
          </a:xfrm>
          <a:prstGeom prst="roundRect">
            <a:avLst>
              <a:gd name="adj" fmla="val 29412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90E0B07F-A700-BEEA-458E-AB35281F6150}"/>
              </a:ext>
            </a:extLst>
          </p:cNvPr>
          <p:cNvSpPr/>
          <p:nvPr/>
        </p:nvSpPr>
        <p:spPr>
          <a:xfrm>
            <a:off x="9616083" y="3999105"/>
            <a:ext cx="1730097" cy="1535073"/>
          </a:xfrm>
          <a:prstGeom prst="roundRect">
            <a:avLst>
              <a:gd name="adj" fmla="val 7942"/>
            </a:avLst>
          </a:prstGeom>
          <a:solidFill>
            <a:srgbClr val="F2FFFC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45" name="Shape 24">
            <a:extLst>
              <a:ext uri="{FF2B5EF4-FFF2-40B4-BE49-F238E27FC236}">
                <a16:creationId xmlns:a16="http://schemas.microsoft.com/office/drawing/2014/main" id="{1912CEB4-4DF9-0CBA-0CE9-EA558EC83353}"/>
              </a:ext>
            </a:extLst>
          </p:cNvPr>
          <p:cNvSpPr/>
          <p:nvPr/>
        </p:nvSpPr>
        <p:spPr>
          <a:xfrm>
            <a:off x="9738003" y="4121025"/>
            <a:ext cx="259080" cy="259080"/>
          </a:xfrm>
          <a:prstGeom prst="roundRect">
            <a:avLst>
              <a:gd name="adj" fmla="val 29412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47" name="Shape 25">
            <a:extLst>
              <a:ext uri="{FF2B5EF4-FFF2-40B4-BE49-F238E27FC236}">
                <a16:creationId xmlns:a16="http://schemas.microsoft.com/office/drawing/2014/main" id="{241F27E3-83BB-496A-AB10-74851567576B}"/>
              </a:ext>
            </a:extLst>
          </p:cNvPr>
          <p:cNvSpPr/>
          <p:nvPr/>
        </p:nvSpPr>
        <p:spPr>
          <a:xfrm>
            <a:off x="5973008" y="5640858"/>
            <a:ext cx="5373172" cy="602694"/>
          </a:xfrm>
          <a:prstGeom prst="roundRect">
            <a:avLst>
              <a:gd name="adj" fmla="val 17701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7E9C9039-797D-D265-F396-3B27C27B0173}"/>
              </a:ext>
            </a:extLst>
          </p:cNvPr>
          <p:cNvSpPr/>
          <p:nvPr/>
        </p:nvSpPr>
        <p:spPr>
          <a:xfrm>
            <a:off x="6003488" y="5640858"/>
            <a:ext cx="914" cy="602694"/>
          </a:xfrm>
          <a:prstGeom prst="line">
            <a:avLst/>
          </a:prstGeom>
          <a:noFill/>
          <a:ln w="76200">
            <a:solidFill>
              <a:srgbClr val="0565FF"/>
            </a:solidFill>
            <a:prstDash val="solid"/>
          </a:ln>
        </p:spPr>
      </p:sp>
      <p:sp>
        <p:nvSpPr>
          <p:cNvPr id="51" name="TextBox 5">
            <a:extLst>
              <a:ext uri="{FF2B5EF4-FFF2-40B4-BE49-F238E27FC236}">
                <a16:creationId xmlns:a16="http://schemas.microsoft.com/office/drawing/2014/main" id="{3B08D598-A017-39B6-2C45-69BB6F2644D1}"/>
              </a:ext>
            </a:extLst>
          </p:cNvPr>
          <p:cNvSpPr txBox="1"/>
          <p:nvPr/>
        </p:nvSpPr>
        <p:spPr>
          <a:xfrm>
            <a:off x="1059180" y="1260072"/>
            <a:ext cx="957986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05"/>
              </a:lnSpc>
            </a:pPr>
            <a:r>
              <a:rPr lang="zh-CN" sz="1560" b="1" dirty="0">
                <a:solidFill>
                  <a:srgbClr val="0F2A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AI从“回答问题”走向“完成任务”，企业竞争随之转向人才、场景、数据、工程、治理与运营的综合能力。</a:t>
            </a:r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B31BB3F0-3216-290F-81C7-61B75D14C765}"/>
              </a:ext>
            </a:extLst>
          </p:cNvPr>
          <p:cNvSpPr txBox="1"/>
          <p:nvPr/>
        </p:nvSpPr>
        <p:spPr>
          <a:xfrm>
            <a:off x="861060" y="1938252"/>
            <a:ext cx="119786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250"/>
              </a:lnSpc>
            </a:pPr>
            <a:r>
              <a:rPr lang="zh-CN" sz="15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应用形态跃迁</a:t>
            </a:r>
          </a:p>
        </p:txBody>
      </p:sp>
      <p:sp>
        <p:nvSpPr>
          <p:cNvPr id="55" name="TextBox 7">
            <a:extLst>
              <a:ext uri="{FF2B5EF4-FFF2-40B4-BE49-F238E27FC236}">
                <a16:creationId xmlns:a16="http://schemas.microsoft.com/office/drawing/2014/main" id="{5824CEF2-01FB-DAD2-F173-4DFBC05ED13A}"/>
              </a:ext>
            </a:extLst>
          </p:cNvPr>
          <p:cNvSpPr txBox="1"/>
          <p:nvPr/>
        </p:nvSpPr>
        <p:spPr>
          <a:xfrm>
            <a:off x="3688532" y="1991592"/>
            <a:ext cx="18222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40"/>
              </a:lnSpc>
            </a:pPr>
            <a:r>
              <a:rPr lang="zh-CN" sz="100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从个人可用，到企业可运营</a:t>
            </a:r>
          </a:p>
        </p:txBody>
      </p:sp>
      <p:sp>
        <p:nvSpPr>
          <p:cNvPr id="57" name="TextBox 8">
            <a:extLst>
              <a:ext uri="{FF2B5EF4-FFF2-40B4-BE49-F238E27FC236}">
                <a16:creationId xmlns:a16="http://schemas.microsoft.com/office/drawing/2014/main" id="{BF506282-B9E2-5431-3B13-05E2D37A62A6}"/>
              </a:ext>
            </a:extLst>
          </p:cNvPr>
          <p:cNvSpPr txBox="1"/>
          <p:nvPr/>
        </p:nvSpPr>
        <p:spPr>
          <a:xfrm>
            <a:off x="1082040" y="3134592"/>
            <a:ext cx="908304" cy="5303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0"/>
              </a:lnSpc>
              <a:spcBef>
                <a:spcPts val="240"/>
              </a:spcBef>
            </a:pPr>
            <a:r>
              <a:rPr lang="zh-CN" sz="132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个人问答工具</a:t>
            </a:r>
          </a:p>
        </p:txBody>
      </p:sp>
      <p:sp>
        <p:nvSpPr>
          <p:cNvPr id="59" name="TextBox 9">
            <a:extLst>
              <a:ext uri="{FF2B5EF4-FFF2-40B4-BE49-F238E27FC236}">
                <a16:creationId xmlns:a16="http://schemas.microsoft.com/office/drawing/2014/main" id="{AD9DCC88-15B9-11D0-43C6-7E7DD58C6522}"/>
              </a:ext>
            </a:extLst>
          </p:cNvPr>
          <p:cNvSpPr txBox="1"/>
          <p:nvPr/>
        </p:nvSpPr>
        <p:spPr>
          <a:xfrm>
            <a:off x="2164080" y="2624052"/>
            <a:ext cx="104546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核心目的</a:t>
            </a:r>
          </a:p>
        </p:txBody>
      </p:sp>
      <p:sp>
        <p:nvSpPr>
          <p:cNvPr id="61" name="TextBox 10">
            <a:extLst>
              <a:ext uri="{FF2B5EF4-FFF2-40B4-BE49-F238E27FC236}">
                <a16:creationId xmlns:a16="http://schemas.microsoft.com/office/drawing/2014/main" id="{AF04D0C5-968F-AD0D-648D-CC695BA018CD}"/>
              </a:ext>
            </a:extLst>
          </p:cNvPr>
          <p:cNvSpPr txBox="1"/>
          <p:nvPr/>
        </p:nvSpPr>
        <p:spPr>
          <a:xfrm>
            <a:off x="2164080" y="2883132"/>
            <a:ext cx="1045464" cy="6446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4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获取答案、生成内容、辅助个人判断</a:t>
            </a:r>
          </a:p>
        </p:txBody>
      </p:sp>
      <p:sp>
        <p:nvSpPr>
          <p:cNvPr id="63" name="TextBox 11">
            <a:extLst>
              <a:ext uri="{FF2B5EF4-FFF2-40B4-BE49-F238E27FC236}">
                <a16:creationId xmlns:a16="http://schemas.microsoft.com/office/drawing/2014/main" id="{70A40D6E-D50C-060A-3C7F-C036F88E8F32}"/>
              </a:ext>
            </a:extLst>
          </p:cNvPr>
          <p:cNvSpPr txBox="1"/>
          <p:nvPr/>
        </p:nvSpPr>
        <p:spPr>
          <a:xfrm>
            <a:off x="3246120" y="2624052"/>
            <a:ext cx="104546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能力边界</a:t>
            </a:r>
          </a:p>
        </p:txBody>
      </p:sp>
      <p:sp>
        <p:nvSpPr>
          <p:cNvPr id="65" name="TextBox 12">
            <a:extLst>
              <a:ext uri="{FF2B5EF4-FFF2-40B4-BE49-F238E27FC236}">
                <a16:creationId xmlns:a16="http://schemas.microsoft.com/office/drawing/2014/main" id="{ADB366F7-6FEB-386D-A961-EA64EE9C63AA}"/>
              </a:ext>
            </a:extLst>
          </p:cNvPr>
          <p:cNvSpPr txBox="1"/>
          <p:nvPr/>
        </p:nvSpPr>
        <p:spPr>
          <a:xfrm>
            <a:off x="3246120" y="2883132"/>
            <a:ext cx="1045464" cy="6446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4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单次交互为主，依赖用户自行核验与执行</a:t>
            </a:r>
          </a:p>
        </p:txBody>
      </p:sp>
      <p:sp>
        <p:nvSpPr>
          <p:cNvPr id="67" name="TextBox 13">
            <a:extLst>
              <a:ext uri="{FF2B5EF4-FFF2-40B4-BE49-F238E27FC236}">
                <a16:creationId xmlns:a16="http://schemas.microsoft.com/office/drawing/2014/main" id="{668B11A0-BE7B-9C61-1A1D-065571BFCC9B}"/>
              </a:ext>
            </a:extLst>
          </p:cNvPr>
          <p:cNvSpPr txBox="1"/>
          <p:nvPr/>
        </p:nvSpPr>
        <p:spPr>
          <a:xfrm>
            <a:off x="4335780" y="2624052"/>
            <a:ext cx="104546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评价标准</a:t>
            </a:r>
          </a:p>
        </p:txBody>
      </p:sp>
      <p:sp>
        <p:nvSpPr>
          <p:cNvPr id="69" name="TextBox 14">
            <a:extLst>
              <a:ext uri="{FF2B5EF4-FFF2-40B4-BE49-F238E27FC236}">
                <a16:creationId xmlns:a16="http://schemas.microsoft.com/office/drawing/2014/main" id="{AC94EEAA-062B-0F88-CD04-8F8C33CB8A0D}"/>
              </a:ext>
            </a:extLst>
          </p:cNvPr>
          <p:cNvSpPr txBox="1"/>
          <p:nvPr/>
        </p:nvSpPr>
        <p:spPr>
          <a:xfrm>
            <a:off x="4335780" y="2883132"/>
            <a:ext cx="1045464" cy="6446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4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能否回答、是否好用、个人是否愿意尝试</a:t>
            </a:r>
          </a:p>
        </p:txBody>
      </p:sp>
      <p:sp>
        <p:nvSpPr>
          <p:cNvPr id="71" name="TextBox 15">
            <a:extLst>
              <a:ext uri="{FF2B5EF4-FFF2-40B4-BE49-F238E27FC236}">
                <a16:creationId xmlns:a16="http://schemas.microsoft.com/office/drawing/2014/main" id="{50AF8ACD-B1C3-04BF-8892-939157F1BDB8}"/>
              </a:ext>
            </a:extLst>
          </p:cNvPr>
          <p:cNvSpPr txBox="1"/>
          <p:nvPr/>
        </p:nvSpPr>
        <p:spPr>
          <a:xfrm>
            <a:off x="1374832" y="4035599"/>
            <a:ext cx="3543752" cy="407093"/>
          </a:xfrm>
          <a:prstGeom prst="rect">
            <a:avLst/>
          </a:prstGeom>
          <a:noFill/>
        </p:spPr>
        <p:txBody>
          <a:bodyPr wrap="square" lIns="167640" tIns="60960" rIns="167640" bIns="60960" anchor="t">
            <a:noAutofit/>
          </a:bodyPr>
          <a:lstStyle/>
          <a:p>
            <a:pPr algn="ctr">
              <a:lnSpc>
                <a:spcPts val="1620"/>
              </a:lnSpc>
            </a:pPr>
            <a:r>
              <a:rPr lang="zh-CN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理解任务 → 调用工具 → 执行流程 → 反馈结果</a:t>
            </a:r>
          </a:p>
        </p:txBody>
      </p:sp>
      <p:sp>
        <p:nvSpPr>
          <p:cNvPr id="73" name="TextBox 16">
            <a:extLst>
              <a:ext uri="{FF2B5EF4-FFF2-40B4-BE49-F238E27FC236}">
                <a16:creationId xmlns:a16="http://schemas.microsoft.com/office/drawing/2014/main" id="{E2701907-0CCF-5D6E-9192-3064D343E33C}"/>
              </a:ext>
            </a:extLst>
          </p:cNvPr>
          <p:cNvSpPr txBox="1"/>
          <p:nvPr/>
        </p:nvSpPr>
        <p:spPr>
          <a:xfrm>
            <a:off x="1089660" y="5291052"/>
            <a:ext cx="908304" cy="5303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0"/>
              </a:lnSpc>
              <a:spcBef>
                <a:spcPts val="240"/>
              </a:spcBef>
            </a:pPr>
            <a:r>
              <a:rPr lang="zh-CN" sz="132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企业任务智能体</a:t>
            </a:r>
          </a:p>
        </p:txBody>
      </p:sp>
      <p:sp>
        <p:nvSpPr>
          <p:cNvPr id="75" name="TextBox 17">
            <a:extLst>
              <a:ext uri="{FF2B5EF4-FFF2-40B4-BE49-F238E27FC236}">
                <a16:creationId xmlns:a16="http://schemas.microsoft.com/office/drawing/2014/main" id="{2247E71E-C3D0-13FE-AA97-3EE2D17DAD05}"/>
              </a:ext>
            </a:extLst>
          </p:cNvPr>
          <p:cNvSpPr txBox="1"/>
          <p:nvPr/>
        </p:nvSpPr>
        <p:spPr>
          <a:xfrm>
            <a:off x="2171700" y="4855442"/>
            <a:ext cx="104546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核心目的</a:t>
            </a:r>
          </a:p>
        </p:txBody>
      </p:sp>
      <p:sp>
        <p:nvSpPr>
          <p:cNvPr id="77" name="TextBox 18">
            <a:extLst>
              <a:ext uri="{FF2B5EF4-FFF2-40B4-BE49-F238E27FC236}">
                <a16:creationId xmlns:a16="http://schemas.microsoft.com/office/drawing/2014/main" id="{749E2590-FB8E-C904-569D-ACA9D47E5F6C}"/>
              </a:ext>
            </a:extLst>
          </p:cNvPr>
          <p:cNvSpPr txBox="1"/>
          <p:nvPr/>
        </p:nvSpPr>
        <p:spPr>
          <a:xfrm>
            <a:off x="2171700" y="5114522"/>
            <a:ext cx="1045464" cy="64465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pPr>
              <a:lnSpc>
                <a:spcPts val="1620"/>
              </a:lnSpc>
              <a:spcBef>
                <a:spcPts val="4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嵌入岗位与流程，协助完成真实业务任务</a:t>
            </a:r>
          </a:p>
        </p:txBody>
      </p:sp>
      <p:sp>
        <p:nvSpPr>
          <p:cNvPr id="79" name="TextBox 19">
            <a:extLst>
              <a:ext uri="{FF2B5EF4-FFF2-40B4-BE49-F238E27FC236}">
                <a16:creationId xmlns:a16="http://schemas.microsoft.com/office/drawing/2014/main" id="{7CB6AE2A-932F-2F8E-34C9-59452BD161D4}"/>
              </a:ext>
            </a:extLst>
          </p:cNvPr>
          <p:cNvSpPr txBox="1"/>
          <p:nvPr/>
        </p:nvSpPr>
        <p:spPr>
          <a:xfrm>
            <a:off x="3253740" y="4855442"/>
            <a:ext cx="104546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关键能力</a:t>
            </a:r>
          </a:p>
        </p:txBody>
      </p:sp>
      <p:sp>
        <p:nvSpPr>
          <p:cNvPr id="81" name="TextBox 20">
            <a:extLst>
              <a:ext uri="{FF2B5EF4-FFF2-40B4-BE49-F238E27FC236}">
                <a16:creationId xmlns:a16="http://schemas.microsoft.com/office/drawing/2014/main" id="{FC51F4F2-FDA0-B61E-0EDE-F6244693A0CD}"/>
              </a:ext>
            </a:extLst>
          </p:cNvPr>
          <p:cNvSpPr txBox="1"/>
          <p:nvPr/>
        </p:nvSpPr>
        <p:spPr>
          <a:xfrm>
            <a:off x="3253740" y="5114522"/>
            <a:ext cx="1045464" cy="64465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pPr>
              <a:lnSpc>
                <a:spcPts val="1620"/>
              </a:lnSpc>
              <a:spcBef>
                <a:spcPts val="4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知识检索、工具调用、过程记忆、结果反馈</a:t>
            </a:r>
          </a:p>
        </p:txBody>
      </p:sp>
      <p:sp>
        <p:nvSpPr>
          <p:cNvPr id="83" name="TextBox 21">
            <a:extLst>
              <a:ext uri="{FF2B5EF4-FFF2-40B4-BE49-F238E27FC236}">
                <a16:creationId xmlns:a16="http://schemas.microsoft.com/office/drawing/2014/main" id="{D5686253-EB14-6F53-A527-7C66AD24605B}"/>
              </a:ext>
            </a:extLst>
          </p:cNvPr>
          <p:cNvSpPr txBox="1"/>
          <p:nvPr/>
        </p:nvSpPr>
        <p:spPr>
          <a:xfrm>
            <a:off x="4328160" y="4855442"/>
            <a:ext cx="104546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企业标准</a:t>
            </a:r>
          </a:p>
        </p:txBody>
      </p:sp>
      <p:sp>
        <p:nvSpPr>
          <p:cNvPr id="85" name="TextBox 22">
            <a:extLst>
              <a:ext uri="{FF2B5EF4-FFF2-40B4-BE49-F238E27FC236}">
                <a16:creationId xmlns:a16="http://schemas.microsoft.com/office/drawing/2014/main" id="{F52F5CDF-B81D-69E5-1955-AB2D91A6A240}"/>
              </a:ext>
            </a:extLst>
          </p:cNvPr>
          <p:cNvSpPr txBox="1"/>
          <p:nvPr/>
        </p:nvSpPr>
        <p:spPr>
          <a:xfrm>
            <a:off x="4328160" y="5114522"/>
            <a:ext cx="1045464" cy="6446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4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准确、稳定、安全、可追溯、可持续运营</a:t>
            </a:r>
          </a:p>
        </p:txBody>
      </p:sp>
      <p:sp>
        <p:nvSpPr>
          <p:cNvPr id="87" name="TextBox 23">
            <a:extLst>
              <a:ext uri="{FF2B5EF4-FFF2-40B4-BE49-F238E27FC236}">
                <a16:creationId xmlns:a16="http://schemas.microsoft.com/office/drawing/2014/main" id="{B62D7449-EFDA-7064-C644-5ECC09041E02}"/>
              </a:ext>
            </a:extLst>
          </p:cNvPr>
          <p:cNvSpPr txBox="1"/>
          <p:nvPr/>
        </p:nvSpPr>
        <p:spPr>
          <a:xfrm>
            <a:off x="5974080" y="1961112"/>
            <a:ext cx="253136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250"/>
              </a:lnSpc>
            </a:pPr>
            <a:r>
              <a:rPr lang="zh-CN" sz="15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规模化落地需要六项企业能力</a:t>
            </a:r>
          </a:p>
        </p:txBody>
      </p:sp>
      <p:sp>
        <p:nvSpPr>
          <p:cNvPr id="89" name="TextBox 24">
            <a:extLst>
              <a:ext uri="{FF2B5EF4-FFF2-40B4-BE49-F238E27FC236}">
                <a16:creationId xmlns:a16="http://schemas.microsoft.com/office/drawing/2014/main" id="{0CD99BA1-B4E7-E03B-CBB5-D1C71C0B5D6D}"/>
              </a:ext>
            </a:extLst>
          </p:cNvPr>
          <p:cNvSpPr txBox="1"/>
          <p:nvPr/>
        </p:nvSpPr>
        <p:spPr>
          <a:xfrm>
            <a:off x="6431280" y="2502132"/>
            <a:ext cx="37490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</a:t>
            </a:r>
          </a:p>
        </p:txBody>
      </p:sp>
      <p:sp>
        <p:nvSpPr>
          <p:cNvPr id="91" name="TextBox 25">
            <a:extLst>
              <a:ext uri="{FF2B5EF4-FFF2-40B4-BE49-F238E27FC236}">
                <a16:creationId xmlns:a16="http://schemas.microsoft.com/office/drawing/2014/main" id="{8EBADEC9-D8F5-0D2E-7190-52FABFBCD4F9}"/>
              </a:ext>
            </a:extLst>
          </p:cNvPr>
          <p:cNvSpPr txBox="1"/>
          <p:nvPr/>
        </p:nvSpPr>
        <p:spPr>
          <a:xfrm>
            <a:off x="6096000" y="2837412"/>
            <a:ext cx="1540764" cy="6446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66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员工会用、骨干会搭、工程师会做、负责人会推进。</a:t>
            </a:r>
          </a:p>
        </p:txBody>
      </p:sp>
      <p:sp>
        <p:nvSpPr>
          <p:cNvPr id="93" name="TextBox 26">
            <a:extLst>
              <a:ext uri="{FF2B5EF4-FFF2-40B4-BE49-F238E27FC236}">
                <a16:creationId xmlns:a16="http://schemas.microsoft.com/office/drawing/2014/main" id="{07E82205-2CCA-FAD8-44F3-4DF429116502}"/>
              </a:ext>
            </a:extLst>
          </p:cNvPr>
          <p:cNvSpPr txBox="1"/>
          <p:nvPr/>
        </p:nvSpPr>
        <p:spPr>
          <a:xfrm>
            <a:off x="8252460" y="2502132"/>
            <a:ext cx="37490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</a:t>
            </a:r>
          </a:p>
        </p:txBody>
      </p:sp>
      <p:sp>
        <p:nvSpPr>
          <p:cNvPr id="95" name="TextBox 27">
            <a:extLst>
              <a:ext uri="{FF2B5EF4-FFF2-40B4-BE49-F238E27FC236}">
                <a16:creationId xmlns:a16="http://schemas.microsoft.com/office/drawing/2014/main" id="{A8D29CB3-E1C4-AB50-7783-1ACCDCA33BB4}"/>
              </a:ext>
            </a:extLst>
          </p:cNvPr>
          <p:cNvSpPr txBox="1"/>
          <p:nvPr/>
        </p:nvSpPr>
        <p:spPr>
          <a:xfrm>
            <a:off x="7917180" y="2837412"/>
            <a:ext cx="1540764" cy="6446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66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从业务痛点出发，判断价值、边界与可落地优先级。</a:t>
            </a:r>
          </a:p>
        </p:txBody>
      </p:sp>
      <p:sp>
        <p:nvSpPr>
          <p:cNvPr id="97" name="TextBox 28">
            <a:extLst>
              <a:ext uri="{FF2B5EF4-FFF2-40B4-BE49-F238E27FC236}">
                <a16:creationId xmlns:a16="http://schemas.microsoft.com/office/drawing/2014/main" id="{AA11AD65-8DEC-701B-B217-0913638FA8D8}"/>
              </a:ext>
            </a:extLst>
          </p:cNvPr>
          <p:cNvSpPr txBox="1"/>
          <p:nvPr/>
        </p:nvSpPr>
        <p:spPr>
          <a:xfrm>
            <a:off x="10073640" y="2502132"/>
            <a:ext cx="37490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</a:p>
        </p:txBody>
      </p:sp>
      <p:sp>
        <p:nvSpPr>
          <p:cNvPr id="99" name="TextBox 29">
            <a:extLst>
              <a:ext uri="{FF2B5EF4-FFF2-40B4-BE49-F238E27FC236}">
                <a16:creationId xmlns:a16="http://schemas.microsoft.com/office/drawing/2014/main" id="{002446B9-1A75-552F-DDF6-12F1FBE9BB0C}"/>
              </a:ext>
            </a:extLst>
          </p:cNvPr>
          <p:cNvSpPr txBox="1"/>
          <p:nvPr/>
        </p:nvSpPr>
        <p:spPr>
          <a:xfrm>
            <a:off x="9738360" y="2837412"/>
            <a:ext cx="1540764" cy="6446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66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知识可检索、数据可授权、来源可确认、使用可审计。</a:t>
            </a:r>
          </a:p>
        </p:txBody>
      </p:sp>
      <p:sp>
        <p:nvSpPr>
          <p:cNvPr id="101" name="TextBox 30">
            <a:extLst>
              <a:ext uri="{FF2B5EF4-FFF2-40B4-BE49-F238E27FC236}">
                <a16:creationId xmlns:a16="http://schemas.microsoft.com/office/drawing/2014/main" id="{9CCCF2A5-B0B7-6863-A8DC-4A42075A519E}"/>
              </a:ext>
            </a:extLst>
          </p:cNvPr>
          <p:cNvSpPr txBox="1"/>
          <p:nvPr/>
        </p:nvSpPr>
        <p:spPr>
          <a:xfrm>
            <a:off x="6431280" y="4132812"/>
            <a:ext cx="37490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</a:t>
            </a:r>
          </a:p>
        </p:txBody>
      </p:sp>
      <p:sp>
        <p:nvSpPr>
          <p:cNvPr id="103" name="TextBox 31">
            <a:extLst>
              <a:ext uri="{FF2B5EF4-FFF2-40B4-BE49-F238E27FC236}">
                <a16:creationId xmlns:a16="http://schemas.microsoft.com/office/drawing/2014/main" id="{1D5B01CF-017C-18F9-260A-8646D93682B4}"/>
              </a:ext>
            </a:extLst>
          </p:cNvPr>
          <p:cNvSpPr txBox="1"/>
          <p:nvPr/>
        </p:nvSpPr>
        <p:spPr>
          <a:xfrm>
            <a:off x="6096000" y="4460472"/>
            <a:ext cx="1540764" cy="6446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66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应用可集成、可测试、可回归、可维护并稳定运行。</a:t>
            </a:r>
          </a:p>
        </p:txBody>
      </p:sp>
      <p:sp>
        <p:nvSpPr>
          <p:cNvPr id="105" name="TextBox 32">
            <a:extLst>
              <a:ext uri="{FF2B5EF4-FFF2-40B4-BE49-F238E27FC236}">
                <a16:creationId xmlns:a16="http://schemas.microsoft.com/office/drawing/2014/main" id="{784847FD-78B8-E939-9BD7-3E165EA38F88}"/>
              </a:ext>
            </a:extLst>
          </p:cNvPr>
          <p:cNvSpPr txBox="1"/>
          <p:nvPr/>
        </p:nvSpPr>
        <p:spPr>
          <a:xfrm>
            <a:off x="8252460" y="4132812"/>
            <a:ext cx="37490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治理</a:t>
            </a:r>
          </a:p>
        </p:txBody>
      </p:sp>
      <p:sp>
        <p:nvSpPr>
          <p:cNvPr id="107" name="TextBox 33">
            <a:extLst>
              <a:ext uri="{FF2B5EF4-FFF2-40B4-BE49-F238E27FC236}">
                <a16:creationId xmlns:a16="http://schemas.microsoft.com/office/drawing/2014/main" id="{CD0E34D4-B361-1D49-115A-8E307F48BCEF}"/>
              </a:ext>
            </a:extLst>
          </p:cNvPr>
          <p:cNvSpPr txBox="1"/>
          <p:nvPr/>
        </p:nvSpPr>
        <p:spPr>
          <a:xfrm>
            <a:off x="7917180" y="4460472"/>
            <a:ext cx="1540764" cy="6446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66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权限可控、结果可核验、风险有门槛、责任有归属。</a:t>
            </a:r>
          </a:p>
        </p:txBody>
      </p:sp>
      <p:sp>
        <p:nvSpPr>
          <p:cNvPr id="109" name="TextBox 34">
            <a:extLst>
              <a:ext uri="{FF2B5EF4-FFF2-40B4-BE49-F238E27FC236}">
                <a16:creationId xmlns:a16="http://schemas.microsoft.com/office/drawing/2014/main" id="{E6AAF9F8-919B-29FD-ADCD-54AFFA5FF737}"/>
              </a:ext>
            </a:extLst>
          </p:cNvPr>
          <p:cNvSpPr txBox="1"/>
          <p:nvPr/>
        </p:nvSpPr>
        <p:spPr>
          <a:xfrm>
            <a:off x="10073640" y="4132812"/>
            <a:ext cx="37490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</a:t>
            </a:r>
          </a:p>
        </p:txBody>
      </p:sp>
      <p:sp>
        <p:nvSpPr>
          <p:cNvPr id="111" name="TextBox 35">
            <a:extLst>
              <a:ext uri="{FF2B5EF4-FFF2-40B4-BE49-F238E27FC236}">
                <a16:creationId xmlns:a16="http://schemas.microsoft.com/office/drawing/2014/main" id="{464C6BA7-5EEA-8891-F33C-32562849522F}"/>
              </a:ext>
            </a:extLst>
          </p:cNvPr>
          <p:cNvSpPr txBox="1"/>
          <p:nvPr/>
        </p:nvSpPr>
        <p:spPr>
          <a:xfrm>
            <a:off x="9738360" y="4460472"/>
            <a:ext cx="1540764" cy="6446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66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持续监测使用、效果、成本与反馈，推动迭代和复制。</a:t>
            </a:r>
          </a:p>
        </p:txBody>
      </p:sp>
      <p:sp>
        <p:nvSpPr>
          <p:cNvPr id="113" name="TextBox 36">
            <a:extLst>
              <a:ext uri="{FF2B5EF4-FFF2-40B4-BE49-F238E27FC236}">
                <a16:creationId xmlns:a16="http://schemas.microsoft.com/office/drawing/2014/main" id="{ACD44289-CB88-BDCD-E523-7D391C4D3442}"/>
              </a:ext>
            </a:extLst>
          </p:cNvPr>
          <p:cNvSpPr txBox="1"/>
          <p:nvPr/>
        </p:nvSpPr>
        <p:spPr>
          <a:xfrm>
            <a:off x="6172200" y="5733012"/>
            <a:ext cx="5091684" cy="4465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55"/>
              </a:lnSpc>
            </a:pPr>
            <a:r>
              <a:rPr lang="zh-CN" sz="1140" b="1" dirty="0">
                <a:solidFill>
                  <a:srgbClr val="0F2A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评价焦点已改变：业务愿意用、流程接得住、结果能核验、数据与权限可控、投入能够持续。</a:t>
            </a:r>
          </a:p>
        </p:txBody>
      </p:sp>
      <p:sp>
        <p:nvSpPr>
          <p:cNvPr id="115" name="TextBox 37">
            <a:extLst>
              <a:ext uri="{FF2B5EF4-FFF2-40B4-BE49-F238E27FC236}">
                <a16:creationId xmlns:a16="http://schemas.microsoft.com/office/drawing/2014/main" id="{3F2DD189-8B05-E900-780E-6E3198F7A8D1}"/>
              </a:ext>
            </a:extLst>
          </p:cNvPr>
          <p:cNvSpPr txBox="1"/>
          <p:nvPr/>
        </p:nvSpPr>
        <p:spPr>
          <a:xfrm>
            <a:off x="1356360" y="2730732"/>
            <a:ext cx="36728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970"/>
              </a:lnSpc>
            </a:pPr>
            <a:r>
              <a:rPr lang="en-US" sz="19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17" name="TextBox 38">
            <a:extLst>
              <a:ext uri="{FF2B5EF4-FFF2-40B4-BE49-F238E27FC236}">
                <a16:creationId xmlns:a16="http://schemas.microsoft.com/office/drawing/2014/main" id="{7EAC8A6F-7E6E-0540-F71A-8B0CB31F576A}"/>
              </a:ext>
            </a:extLst>
          </p:cNvPr>
          <p:cNvSpPr txBox="1"/>
          <p:nvPr/>
        </p:nvSpPr>
        <p:spPr>
          <a:xfrm>
            <a:off x="1363980" y="4879572"/>
            <a:ext cx="36728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970"/>
              </a:lnSpc>
            </a:pPr>
            <a:r>
              <a:rPr lang="en-US" sz="19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19" name="TextBox 39">
            <a:extLst>
              <a:ext uri="{FF2B5EF4-FFF2-40B4-BE49-F238E27FC236}">
                <a16:creationId xmlns:a16="http://schemas.microsoft.com/office/drawing/2014/main" id="{06280451-648F-0E33-BB33-0121D0693056}"/>
              </a:ext>
            </a:extLst>
          </p:cNvPr>
          <p:cNvSpPr txBox="1"/>
          <p:nvPr/>
        </p:nvSpPr>
        <p:spPr>
          <a:xfrm>
            <a:off x="10736580" y="2014452"/>
            <a:ext cx="54254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40"/>
              </a:lnSpc>
            </a:pPr>
            <a:r>
              <a:rPr lang="zh-CN" sz="9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缺一不可</a:t>
            </a:r>
          </a:p>
        </p:txBody>
      </p:sp>
      <p:sp>
        <p:nvSpPr>
          <p:cNvPr id="121" name="TextBox 40">
            <a:extLst>
              <a:ext uri="{FF2B5EF4-FFF2-40B4-BE49-F238E27FC236}">
                <a16:creationId xmlns:a16="http://schemas.microsoft.com/office/drawing/2014/main" id="{29F4C316-EF65-58AE-037F-460B657E192B}"/>
              </a:ext>
            </a:extLst>
          </p:cNvPr>
          <p:cNvSpPr txBox="1"/>
          <p:nvPr/>
        </p:nvSpPr>
        <p:spPr>
          <a:xfrm>
            <a:off x="6133465" y="2522452"/>
            <a:ext cx="22405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23" name="TextBox 41">
            <a:extLst>
              <a:ext uri="{FF2B5EF4-FFF2-40B4-BE49-F238E27FC236}">
                <a16:creationId xmlns:a16="http://schemas.microsoft.com/office/drawing/2014/main" id="{A25DE3C9-BCCC-59DD-C701-818DCD9539E2}"/>
              </a:ext>
            </a:extLst>
          </p:cNvPr>
          <p:cNvSpPr txBox="1"/>
          <p:nvPr/>
        </p:nvSpPr>
        <p:spPr>
          <a:xfrm>
            <a:off x="7948652" y="2522452"/>
            <a:ext cx="22405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25" name="TextBox 42">
            <a:extLst>
              <a:ext uri="{FF2B5EF4-FFF2-40B4-BE49-F238E27FC236}">
                <a16:creationId xmlns:a16="http://schemas.microsoft.com/office/drawing/2014/main" id="{38DE3860-87DA-0164-F115-12CF5C50857B}"/>
              </a:ext>
            </a:extLst>
          </p:cNvPr>
          <p:cNvSpPr txBox="1"/>
          <p:nvPr/>
        </p:nvSpPr>
        <p:spPr>
          <a:xfrm>
            <a:off x="9776539" y="2522452"/>
            <a:ext cx="22405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27" name="TextBox 43">
            <a:extLst>
              <a:ext uri="{FF2B5EF4-FFF2-40B4-BE49-F238E27FC236}">
                <a16:creationId xmlns:a16="http://schemas.microsoft.com/office/drawing/2014/main" id="{F74EBAEB-8246-08E5-369F-F1C43FE8F303}"/>
              </a:ext>
            </a:extLst>
          </p:cNvPr>
          <p:cNvSpPr txBox="1"/>
          <p:nvPr/>
        </p:nvSpPr>
        <p:spPr>
          <a:xfrm>
            <a:off x="6127115" y="4148965"/>
            <a:ext cx="22405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129" name="TextBox 44">
            <a:extLst>
              <a:ext uri="{FF2B5EF4-FFF2-40B4-BE49-F238E27FC236}">
                <a16:creationId xmlns:a16="http://schemas.microsoft.com/office/drawing/2014/main" id="{39632212-A148-7249-19EA-8515E0EFB26E}"/>
              </a:ext>
            </a:extLst>
          </p:cNvPr>
          <p:cNvSpPr txBox="1"/>
          <p:nvPr/>
        </p:nvSpPr>
        <p:spPr>
          <a:xfrm>
            <a:off x="7948652" y="4148965"/>
            <a:ext cx="22405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</a:p>
        </p:txBody>
      </p:sp>
      <p:sp>
        <p:nvSpPr>
          <p:cNvPr id="131" name="TextBox 45">
            <a:extLst>
              <a:ext uri="{FF2B5EF4-FFF2-40B4-BE49-F238E27FC236}">
                <a16:creationId xmlns:a16="http://schemas.microsoft.com/office/drawing/2014/main" id="{C680A5FB-A9E9-9252-880A-F57F6C5542D2}"/>
              </a:ext>
            </a:extLst>
          </p:cNvPr>
          <p:cNvSpPr txBox="1"/>
          <p:nvPr/>
        </p:nvSpPr>
        <p:spPr>
          <a:xfrm>
            <a:off x="9770189" y="4148965"/>
            <a:ext cx="22405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8281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258CE-9D58-4D38-1AB0-40C1E954F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571840-FFF7-C457-FFAE-9FB5EB9DF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zh-CN" altLang="en-US" dirty="0"/>
              <a:t>企业</a:t>
            </a:r>
            <a:r>
              <a:rPr lang="en-US" altLang="zh-CN" dirty="0"/>
              <a:t>AI</a:t>
            </a:r>
            <a:r>
              <a:rPr lang="zh-CN" altLang="en-US" dirty="0"/>
              <a:t>建设的四个发展阶段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84EA68EE-754F-85CF-06CC-7C68DC1AB5BA}"/>
              </a:ext>
            </a:extLst>
          </p:cNvPr>
          <p:cNvSpPr/>
          <p:nvPr/>
        </p:nvSpPr>
        <p:spPr>
          <a:xfrm>
            <a:off x="609600" y="1105124"/>
            <a:ext cx="10972800" cy="586740"/>
          </a:xfrm>
          <a:prstGeom prst="roundRect">
            <a:avLst>
              <a:gd name="adj" fmla="val 23377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5B5CEF0-C022-DF0A-63BD-2E0EC09394AC}"/>
              </a:ext>
            </a:extLst>
          </p:cNvPr>
          <p:cNvSpPr/>
          <p:nvPr/>
        </p:nvSpPr>
        <p:spPr>
          <a:xfrm>
            <a:off x="800100" y="1234664"/>
            <a:ext cx="929640" cy="327660"/>
          </a:xfrm>
          <a:prstGeom prst="roundRect">
            <a:avLst>
              <a:gd name="adj" fmla="val 18605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5BC359C-F14F-E7D2-DF1C-D7F5078C814D}"/>
              </a:ext>
            </a:extLst>
          </p:cNvPr>
          <p:cNvSpPr/>
          <p:nvPr/>
        </p:nvSpPr>
        <p:spPr>
          <a:xfrm>
            <a:off x="609600" y="1844264"/>
            <a:ext cx="2651760" cy="3185636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34DF8AE-250D-3DA3-BA6A-9E7EBA16AFCE}"/>
              </a:ext>
            </a:extLst>
          </p:cNvPr>
          <p:cNvSpPr/>
          <p:nvPr/>
        </p:nvSpPr>
        <p:spPr>
          <a:xfrm>
            <a:off x="769620" y="2173829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8E1C901E-AED5-777F-31BD-5052F344C574}"/>
              </a:ext>
            </a:extLst>
          </p:cNvPr>
          <p:cNvSpPr/>
          <p:nvPr/>
        </p:nvSpPr>
        <p:spPr>
          <a:xfrm>
            <a:off x="769620" y="2743424"/>
            <a:ext cx="2331720" cy="914"/>
          </a:xfrm>
          <a:prstGeom prst="line">
            <a:avLst/>
          </a:prstGeom>
          <a:noFill/>
          <a:ln w="9525">
            <a:solidFill>
              <a:srgbClr val="E1E8FF"/>
            </a:solidFill>
            <a:prstDash val="solid"/>
          </a:ln>
        </p:spPr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927190C6-7E70-3067-32D8-3E1AB4CF6EAF}"/>
              </a:ext>
            </a:extLst>
          </p:cNvPr>
          <p:cNvSpPr/>
          <p:nvPr/>
        </p:nvSpPr>
        <p:spPr>
          <a:xfrm>
            <a:off x="769620" y="3577814"/>
            <a:ext cx="2331720" cy="816769"/>
          </a:xfrm>
          <a:prstGeom prst="roundRect">
            <a:avLst>
              <a:gd name="adj" fmla="val 11195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7FC5631B-8BA2-0C31-1FD8-951EE2EBEDFA}"/>
              </a:ext>
            </a:extLst>
          </p:cNvPr>
          <p:cNvSpPr/>
          <p:nvPr/>
        </p:nvSpPr>
        <p:spPr>
          <a:xfrm>
            <a:off x="3383280" y="1844264"/>
            <a:ext cx="2651760" cy="3185636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5E3FD158-D58D-34D1-6AA9-289EB03282FA}"/>
              </a:ext>
            </a:extLst>
          </p:cNvPr>
          <p:cNvSpPr/>
          <p:nvPr/>
        </p:nvSpPr>
        <p:spPr>
          <a:xfrm>
            <a:off x="3543300" y="2173829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0565FF"/>
          </a:solidFill>
          <a:ln>
            <a:noFill/>
          </a:ln>
        </p:spPr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44A906D6-EF4B-4452-B92F-16E0610B84C4}"/>
              </a:ext>
            </a:extLst>
          </p:cNvPr>
          <p:cNvSpPr/>
          <p:nvPr/>
        </p:nvSpPr>
        <p:spPr>
          <a:xfrm>
            <a:off x="3543300" y="2743424"/>
            <a:ext cx="2331720" cy="914"/>
          </a:xfrm>
          <a:prstGeom prst="line">
            <a:avLst/>
          </a:prstGeom>
          <a:noFill/>
          <a:ln w="9525">
            <a:solidFill>
              <a:srgbClr val="E1E8FF"/>
            </a:solidFill>
            <a:prstDash val="solid"/>
          </a:ln>
        </p:spPr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89199478-79EC-398D-067B-EE6B74BC334C}"/>
              </a:ext>
            </a:extLst>
          </p:cNvPr>
          <p:cNvSpPr/>
          <p:nvPr/>
        </p:nvSpPr>
        <p:spPr>
          <a:xfrm>
            <a:off x="3543300" y="3577814"/>
            <a:ext cx="2331720" cy="816769"/>
          </a:xfrm>
          <a:prstGeom prst="roundRect">
            <a:avLst>
              <a:gd name="adj" fmla="val 11195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8E6F0706-A876-0B7F-B0B3-1496AC4F5A05}"/>
              </a:ext>
            </a:extLst>
          </p:cNvPr>
          <p:cNvSpPr/>
          <p:nvPr/>
        </p:nvSpPr>
        <p:spPr>
          <a:xfrm>
            <a:off x="6156960" y="1844264"/>
            <a:ext cx="2651760" cy="3185636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F91645CD-872C-7D86-92F8-67C0A869CCC1}"/>
              </a:ext>
            </a:extLst>
          </p:cNvPr>
          <p:cNvSpPr/>
          <p:nvPr/>
        </p:nvSpPr>
        <p:spPr>
          <a:xfrm>
            <a:off x="6316980" y="2173829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00A7FF"/>
          </a:solidFill>
          <a:ln>
            <a:noFill/>
          </a:ln>
        </p:spPr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4F65F51E-876B-91DF-D4F9-BDF801A13F58}"/>
              </a:ext>
            </a:extLst>
          </p:cNvPr>
          <p:cNvSpPr/>
          <p:nvPr/>
        </p:nvSpPr>
        <p:spPr>
          <a:xfrm>
            <a:off x="6316980" y="2743424"/>
            <a:ext cx="2331720" cy="914"/>
          </a:xfrm>
          <a:prstGeom prst="line">
            <a:avLst/>
          </a:prstGeom>
          <a:noFill/>
          <a:ln w="9525">
            <a:solidFill>
              <a:srgbClr val="E1E8FF"/>
            </a:solidFill>
            <a:prstDash val="solid"/>
          </a:ln>
        </p:spPr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740624EC-C129-55FC-24B9-6B3889B7BD14}"/>
              </a:ext>
            </a:extLst>
          </p:cNvPr>
          <p:cNvSpPr/>
          <p:nvPr/>
        </p:nvSpPr>
        <p:spPr>
          <a:xfrm>
            <a:off x="6316980" y="3577814"/>
            <a:ext cx="2331720" cy="816769"/>
          </a:xfrm>
          <a:prstGeom prst="roundRect">
            <a:avLst>
              <a:gd name="adj" fmla="val 11195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AD643A75-43DF-E04E-2039-47B7F18563DE}"/>
              </a:ext>
            </a:extLst>
          </p:cNvPr>
          <p:cNvSpPr/>
          <p:nvPr/>
        </p:nvSpPr>
        <p:spPr>
          <a:xfrm>
            <a:off x="8930640" y="1844264"/>
            <a:ext cx="2651760" cy="3185636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BDE8DA"/>
            </a:solidFill>
            <a:prstDash val="solid"/>
          </a:ln>
        </p:spPr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8276C707-5204-42A2-2A4F-324E96E149C6}"/>
              </a:ext>
            </a:extLst>
          </p:cNvPr>
          <p:cNvSpPr/>
          <p:nvPr/>
        </p:nvSpPr>
        <p:spPr>
          <a:xfrm>
            <a:off x="9090660" y="2173829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CA28CF92-CDCA-CDA1-EC31-58474299322B}"/>
              </a:ext>
            </a:extLst>
          </p:cNvPr>
          <p:cNvSpPr/>
          <p:nvPr/>
        </p:nvSpPr>
        <p:spPr>
          <a:xfrm>
            <a:off x="9090660" y="2743424"/>
            <a:ext cx="2331720" cy="914"/>
          </a:xfrm>
          <a:prstGeom prst="line">
            <a:avLst/>
          </a:prstGeom>
          <a:noFill/>
          <a:ln w="9525">
            <a:solidFill>
              <a:srgbClr val="D9F2E9"/>
            </a:solidFill>
            <a:prstDash val="solid"/>
          </a:ln>
        </p:spPr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9768AEB4-920F-2149-6579-A40101CF0444}"/>
              </a:ext>
            </a:extLst>
          </p:cNvPr>
          <p:cNvSpPr/>
          <p:nvPr/>
        </p:nvSpPr>
        <p:spPr>
          <a:xfrm>
            <a:off x="9090660" y="3577814"/>
            <a:ext cx="2331720" cy="816769"/>
          </a:xfrm>
          <a:prstGeom prst="roundRect">
            <a:avLst>
              <a:gd name="adj" fmla="val 11195"/>
            </a:avLst>
          </a:prstGeom>
          <a:solidFill>
            <a:srgbClr val="EAF8F3"/>
          </a:solidFill>
          <a:ln>
            <a:noFill/>
          </a:ln>
        </p:spPr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AC3588A5-5300-1CA0-F305-1B7A45E08DF2}"/>
              </a:ext>
            </a:extLst>
          </p:cNvPr>
          <p:cNvSpPr/>
          <p:nvPr/>
        </p:nvSpPr>
        <p:spPr>
          <a:xfrm>
            <a:off x="609600" y="5182300"/>
            <a:ext cx="6221730" cy="1264087"/>
          </a:xfrm>
          <a:prstGeom prst="roundRect">
            <a:avLst>
              <a:gd name="adj" fmla="val 10851"/>
            </a:avLst>
          </a:prstGeom>
          <a:solidFill>
            <a:srgbClr val="F8FC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9FAFB255-5AA2-0124-8546-E4753662B414}"/>
              </a:ext>
            </a:extLst>
          </p:cNvPr>
          <p:cNvSpPr/>
          <p:nvPr/>
        </p:nvSpPr>
        <p:spPr>
          <a:xfrm>
            <a:off x="769620" y="5654740"/>
            <a:ext cx="1906191" cy="505778"/>
          </a:xfrm>
          <a:prstGeom prst="roundRect">
            <a:avLst>
              <a:gd name="adj" fmla="val 1205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5" name="Shape 24">
            <a:extLst>
              <a:ext uri="{FF2B5EF4-FFF2-40B4-BE49-F238E27FC236}">
                <a16:creationId xmlns:a16="http://schemas.microsoft.com/office/drawing/2014/main" id="{8F4DF318-D9FB-CB88-CD73-78CA99495CA9}"/>
              </a:ext>
            </a:extLst>
          </p:cNvPr>
          <p:cNvSpPr/>
          <p:nvPr/>
        </p:nvSpPr>
        <p:spPr>
          <a:xfrm>
            <a:off x="2767251" y="5654740"/>
            <a:ext cx="1906310" cy="505778"/>
          </a:xfrm>
          <a:prstGeom prst="roundRect">
            <a:avLst>
              <a:gd name="adj" fmla="val 1205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7" name="Shape 25">
            <a:extLst>
              <a:ext uri="{FF2B5EF4-FFF2-40B4-BE49-F238E27FC236}">
                <a16:creationId xmlns:a16="http://schemas.microsoft.com/office/drawing/2014/main" id="{D2F2528D-B29F-F2C9-94D8-13A644366694}"/>
              </a:ext>
            </a:extLst>
          </p:cNvPr>
          <p:cNvSpPr/>
          <p:nvPr/>
        </p:nvSpPr>
        <p:spPr>
          <a:xfrm>
            <a:off x="4765000" y="5654740"/>
            <a:ext cx="1906310" cy="505778"/>
          </a:xfrm>
          <a:prstGeom prst="roundRect">
            <a:avLst>
              <a:gd name="adj" fmla="val 1205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675CCEB8-4D6D-A056-E367-CA7143C46847}"/>
              </a:ext>
            </a:extLst>
          </p:cNvPr>
          <p:cNvSpPr/>
          <p:nvPr/>
        </p:nvSpPr>
        <p:spPr>
          <a:xfrm>
            <a:off x="6983730" y="5182300"/>
            <a:ext cx="4598670" cy="1264087"/>
          </a:xfrm>
          <a:prstGeom prst="roundRect">
            <a:avLst>
              <a:gd name="adj" fmla="val 10851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51" name="Shape 27">
            <a:extLst>
              <a:ext uri="{FF2B5EF4-FFF2-40B4-BE49-F238E27FC236}">
                <a16:creationId xmlns:a16="http://schemas.microsoft.com/office/drawing/2014/main" id="{C6B400F9-FA1C-BDE8-6CAA-3BDA1C7F2C28}"/>
              </a:ext>
            </a:extLst>
          </p:cNvPr>
          <p:cNvSpPr/>
          <p:nvPr/>
        </p:nvSpPr>
        <p:spPr>
          <a:xfrm>
            <a:off x="7136130" y="5647120"/>
            <a:ext cx="1370290" cy="677347"/>
          </a:xfrm>
          <a:prstGeom prst="roundRect">
            <a:avLst>
              <a:gd name="adj" fmla="val 9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0113626D-3F9F-4519-4CBB-1431D0089E21}"/>
              </a:ext>
            </a:extLst>
          </p:cNvPr>
          <p:cNvSpPr/>
          <p:nvPr/>
        </p:nvSpPr>
        <p:spPr>
          <a:xfrm>
            <a:off x="8597860" y="5647120"/>
            <a:ext cx="1370290" cy="677347"/>
          </a:xfrm>
          <a:prstGeom prst="roundRect">
            <a:avLst>
              <a:gd name="adj" fmla="val 9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55" name="Shape 29">
            <a:extLst>
              <a:ext uri="{FF2B5EF4-FFF2-40B4-BE49-F238E27FC236}">
                <a16:creationId xmlns:a16="http://schemas.microsoft.com/office/drawing/2014/main" id="{F2A42B19-EBC8-74EF-A34D-24ACCA040D1E}"/>
              </a:ext>
            </a:extLst>
          </p:cNvPr>
          <p:cNvSpPr/>
          <p:nvPr/>
        </p:nvSpPr>
        <p:spPr>
          <a:xfrm>
            <a:off x="10059591" y="5647120"/>
            <a:ext cx="1370290" cy="677347"/>
          </a:xfrm>
          <a:prstGeom prst="roundRect">
            <a:avLst>
              <a:gd name="adj" fmla="val 9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57" name="TextBox 5">
            <a:extLst>
              <a:ext uri="{FF2B5EF4-FFF2-40B4-BE49-F238E27FC236}">
                <a16:creationId xmlns:a16="http://schemas.microsoft.com/office/drawing/2014/main" id="{9C2E633D-C81B-6320-4520-82BF1AFDD0FD}"/>
              </a:ext>
            </a:extLst>
          </p:cNvPr>
          <p:cNvSpPr txBox="1"/>
          <p:nvPr/>
        </p:nvSpPr>
        <p:spPr>
          <a:xfrm>
            <a:off x="1851660" y="1280384"/>
            <a:ext cx="878738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915"/>
              </a:lnSpc>
            </a:pPr>
            <a:r>
              <a:rPr lang="zh-CN" sz="132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企业AI不是一次性“上线”，而是从个人尝试走向组织运营；每次升级都必须同步补齐人才、工程、治理与协作能力。</a:t>
            </a:r>
          </a:p>
        </p:txBody>
      </p:sp>
      <p:sp>
        <p:nvSpPr>
          <p:cNvPr id="59" name="TextBox 6">
            <a:extLst>
              <a:ext uri="{FF2B5EF4-FFF2-40B4-BE49-F238E27FC236}">
                <a16:creationId xmlns:a16="http://schemas.microsoft.com/office/drawing/2014/main" id="{F4900A72-5405-0FC4-6F0D-002705F127E1}"/>
              </a:ext>
            </a:extLst>
          </p:cNvPr>
          <p:cNvSpPr txBox="1"/>
          <p:nvPr/>
        </p:nvSpPr>
        <p:spPr>
          <a:xfrm>
            <a:off x="1226820" y="2415764"/>
            <a:ext cx="12969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240"/>
              </a:spcBef>
            </a:pPr>
            <a:r>
              <a:rPr lang="zh-CN" sz="108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个人试用 · 零散提效</a:t>
            </a:r>
          </a:p>
        </p:txBody>
      </p:sp>
      <p:sp>
        <p:nvSpPr>
          <p:cNvPr id="61" name="TextBox 7">
            <a:extLst>
              <a:ext uri="{FF2B5EF4-FFF2-40B4-BE49-F238E27FC236}">
                <a16:creationId xmlns:a16="http://schemas.microsoft.com/office/drawing/2014/main" id="{4DAE89D0-5AA2-17CA-36FD-0ABBA28B3521}"/>
              </a:ext>
            </a:extLst>
          </p:cNvPr>
          <p:cNvSpPr txBox="1"/>
          <p:nvPr/>
        </p:nvSpPr>
        <p:spPr>
          <a:xfrm>
            <a:off x="769620" y="3078704"/>
            <a:ext cx="238658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员工自发尝试问答、写作与信息整理，方法、权限和质量标准尚未统一。</a:t>
            </a:r>
          </a:p>
        </p:txBody>
      </p:sp>
      <p:sp>
        <p:nvSpPr>
          <p:cNvPr id="63" name="TextBox 8">
            <a:extLst>
              <a:ext uri="{FF2B5EF4-FFF2-40B4-BE49-F238E27FC236}">
                <a16:creationId xmlns:a16="http://schemas.microsoft.com/office/drawing/2014/main" id="{8DDB2956-7BA6-6568-A2B4-D2C53FA6606A}"/>
              </a:ext>
            </a:extLst>
          </p:cNvPr>
          <p:cNvSpPr txBox="1"/>
          <p:nvPr/>
        </p:nvSpPr>
        <p:spPr>
          <a:xfrm>
            <a:off x="891540" y="3909284"/>
            <a:ext cx="214274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基础认知、安全使用、任务表达、上下文组织与结果核验。</a:t>
            </a:r>
          </a:p>
        </p:txBody>
      </p:sp>
      <p:sp>
        <p:nvSpPr>
          <p:cNvPr id="65" name="TextBox 9">
            <a:extLst>
              <a:ext uri="{FF2B5EF4-FFF2-40B4-BE49-F238E27FC236}">
                <a16:creationId xmlns:a16="http://schemas.microsoft.com/office/drawing/2014/main" id="{1004AB89-3541-F7CC-8E4F-0E3A9449CB3E}"/>
              </a:ext>
            </a:extLst>
          </p:cNvPr>
          <p:cNvSpPr txBox="1"/>
          <p:nvPr/>
        </p:nvSpPr>
        <p:spPr>
          <a:xfrm>
            <a:off x="4000500" y="2415764"/>
            <a:ext cx="14340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240"/>
              </a:spcBef>
            </a:pPr>
            <a:r>
              <a:rPr lang="zh-CN" sz="108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原型验证 · 小范围使用</a:t>
            </a:r>
          </a:p>
        </p:txBody>
      </p:sp>
      <p:sp>
        <p:nvSpPr>
          <p:cNvPr id="67" name="TextBox 10">
            <a:extLst>
              <a:ext uri="{FF2B5EF4-FFF2-40B4-BE49-F238E27FC236}">
                <a16:creationId xmlns:a16="http://schemas.microsoft.com/office/drawing/2014/main" id="{319E0E52-3F73-FD1B-7173-AF1898DEB8E2}"/>
              </a:ext>
            </a:extLst>
          </p:cNvPr>
          <p:cNvSpPr txBox="1"/>
          <p:nvPr/>
        </p:nvSpPr>
        <p:spPr>
          <a:xfrm>
            <a:off x="3543300" y="3078704"/>
            <a:ext cx="238658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围绕明确业务任务构建原型，开始接入企业知识、工具与有限流程。</a:t>
            </a:r>
          </a:p>
        </p:txBody>
      </p:sp>
      <p:sp>
        <p:nvSpPr>
          <p:cNvPr id="69" name="TextBox 11">
            <a:extLst>
              <a:ext uri="{FF2B5EF4-FFF2-40B4-BE49-F238E27FC236}">
                <a16:creationId xmlns:a16="http://schemas.microsoft.com/office/drawing/2014/main" id="{BFF7AC82-7A26-3120-0E47-DADC44BF6863}"/>
              </a:ext>
            </a:extLst>
          </p:cNvPr>
          <p:cNvSpPr txBox="1"/>
          <p:nvPr/>
        </p:nvSpPr>
        <p:spPr>
          <a:xfrm>
            <a:off x="3665220" y="3909284"/>
            <a:ext cx="214274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业务人员定义目标与指标；技术人员完成知识、工具和工作流接入。</a:t>
            </a:r>
          </a:p>
        </p:txBody>
      </p:sp>
      <p:sp>
        <p:nvSpPr>
          <p:cNvPr id="71" name="TextBox 12">
            <a:extLst>
              <a:ext uri="{FF2B5EF4-FFF2-40B4-BE49-F238E27FC236}">
                <a16:creationId xmlns:a16="http://schemas.microsoft.com/office/drawing/2014/main" id="{F2DE732A-AC25-FAA7-14F7-C8FF115A32D1}"/>
              </a:ext>
            </a:extLst>
          </p:cNvPr>
          <p:cNvSpPr txBox="1"/>
          <p:nvPr/>
        </p:nvSpPr>
        <p:spPr>
          <a:xfrm>
            <a:off x="6774180" y="2415764"/>
            <a:ext cx="12969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240"/>
              </a:spcBef>
            </a:pPr>
            <a:r>
              <a:rPr lang="zh-CN" sz="108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流程嵌入 · 多人协作</a:t>
            </a:r>
          </a:p>
        </p:txBody>
      </p:sp>
      <p:sp>
        <p:nvSpPr>
          <p:cNvPr id="73" name="TextBox 13">
            <a:extLst>
              <a:ext uri="{FF2B5EF4-FFF2-40B4-BE49-F238E27FC236}">
                <a16:creationId xmlns:a16="http://schemas.microsoft.com/office/drawing/2014/main" id="{9DF73E40-D640-1532-1145-8852F573ACC8}"/>
              </a:ext>
            </a:extLst>
          </p:cNvPr>
          <p:cNvSpPr txBox="1"/>
          <p:nvPr/>
        </p:nvSpPr>
        <p:spPr>
          <a:xfrm>
            <a:off x="6316980" y="3078704"/>
            <a:ext cx="238658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应用进入真实流程和多人协作，复用范围扩大，交付与运维压力上升。</a:t>
            </a:r>
          </a:p>
        </p:txBody>
      </p:sp>
      <p:sp>
        <p:nvSpPr>
          <p:cNvPr id="75" name="TextBox 14">
            <a:extLst>
              <a:ext uri="{FF2B5EF4-FFF2-40B4-BE49-F238E27FC236}">
                <a16:creationId xmlns:a16="http://schemas.microsoft.com/office/drawing/2014/main" id="{B3A35199-4E58-7246-6469-E97097451126}"/>
              </a:ext>
            </a:extLst>
          </p:cNvPr>
          <p:cNvSpPr txBox="1"/>
          <p:nvPr/>
        </p:nvSpPr>
        <p:spPr>
          <a:xfrm>
            <a:off x="6438900" y="3909284"/>
            <a:ext cx="214274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工程交付、测试评估、版本发布、运行监测及跨部门协同。</a:t>
            </a:r>
          </a:p>
        </p:txBody>
      </p:sp>
      <p:sp>
        <p:nvSpPr>
          <p:cNvPr id="77" name="TextBox 15">
            <a:extLst>
              <a:ext uri="{FF2B5EF4-FFF2-40B4-BE49-F238E27FC236}">
                <a16:creationId xmlns:a16="http://schemas.microsoft.com/office/drawing/2014/main" id="{9778CD09-63E5-2E6E-00DA-0BB7FECA5439}"/>
              </a:ext>
            </a:extLst>
          </p:cNvPr>
          <p:cNvSpPr txBox="1"/>
          <p:nvPr/>
        </p:nvSpPr>
        <p:spPr>
          <a:xfrm>
            <a:off x="9547860" y="2415764"/>
            <a:ext cx="12969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240"/>
              </a:spcBef>
            </a:pPr>
            <a:r>
              <a:rPr lang="zh-CN" sz="108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体系治理 · 持续优化</a:t>
            </a:r>
          </a:p>
        </p:txBody>
      </p:sp>
      <p:sp>
        <p:nvSpPr>
          <p:cNvPr id="79" name="TextBox 16">
            <a:extLst>
              <a:ext uri="{FF2B5EF4-FFF2-40B4-BE49-F238E27FC236}">
                <a16:creationId xmlns:a16="http://schemas.microsoft.com/office/drawing/2014/main" id="{D89AC6AF-1A05-3B8A-4A76-26CACB646CDF}"/>
              </a:ext>
            </a:extLst>
          </p:cNvPr>
          <p:cNvSpPr txBox="1"/>
          <p:nvPr/>
        </p:nvSpPr>
        <p:spPr>
          <a:xfrm>
            <a:off x="9090660" y="3078704"/>
            <a:ext cx="238658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多场景、多部门持续运行，关注公共能力复用、风险与投入产出。</a:t>
            </a:r>
          </a:p>
        </p:txBody>
      </p:sp>
      <p:sp>
        <p:nvSpPr>
          <p:cNvPr id="81" name="TextBox 17">
            <a:extLst>
              <a:ext uri="{FF2B5EF4-FFF2-40B4-BE49-F238E27FC236}">
                <a16:creationId xmlns:a16="http://schemas.microsoft.com/office/drawing/2014/main" id="{EDC80006-EEB9-52BB-31AA-416C133D6EA3}"/>
              </a:ext>
            </a:extLst>
          </p:cNvPr>
          <p:cNvSpPr txBox="1"/>
          <p:nvPr/>
        </p:nvSpPr>
        <p:spPr>
          <a:xfrm>
            <a:off x="9212580" y="3909284"/>
            <a:ext cx="214274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总体架构、标准治理、成本控制、风险管理与持续运营。</a:t>
            </a:r>
          </a:p>
        </p:txBody>
      </p:sp>
      <p:sp>
        <p:nvSpPr>
          <p:cNvPr id="83" name="TextBox 18">
            <a:extLst>
              <a:ext uri="{FF2B5EF4-FFF2-40B4-BE49-F238E27FC236}">
                <a16:creationId xmlns:a16="http://schemas.microsoft.com/office/drawing/2014/main" id="{63538BB7-3059-C3B1-73D1-FE920A98F2B1}"/>
              </a:ext>
            </a:extLst>
          </p:cNvPr>
          <p:cNvSpPr txBox="1"/>
          <p:nvPr/>
        </p:nvSpPr>
        <p:spPr>
          <a:xfrm>
            <a:off x="902970" y="5336764"/>
            <a:ext cx="357530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980"/>
              </a:lnSpc>
            </a:pPr>
            <a:r>
              <a:rPr lang="zh-CN" sz="132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成熟度要分部门评估，不能给全公司贴一个标签</a:t>
            </a:r>
          </a:p>
        </p:txBody>
      </p:sp>
      <p:sp>
        <p:nvSpPr>
          <p:cNvPr id="85" name="TextBox 19">
            <a:extLst>
              <a:ext uri="{FF2B5EF4-FFF2-40B4-BE49-F238E27FC236}">
                <a16:creationId xmlns:a16="http://schemas.microsoft.com/office/drawing/2014/main" id="{A10ACDF0-16E7-A52B-AE23-4DF69A5CEB31}"/>
              </a:ext>
            </a:extLst>
          </p:cNvPr>
          <p:cNvSpPr txBox="1"/>
          <p:nvPr/>
        </p:nvSpPr>
        <p:spPr>
          <a:xfrm>
            <a:off x="7139940" y="5303744"/>
            <a:ext cx="435254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980"/>
              </a:lnSpc>
            </a:pPr>
            <a:r>
              <a:rPr lang="zh-CN" sz="13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诊断结果直接转化为三项配置</a:t>
            </a:r>
          </a:p>
        </p:txBody>
      </p:sp>
      <p:sp>
        <p:nvSpPr>
          <p:cNvPr id="87" name="TextBox 20">
            <a:extLst>
              <a:ext uri="{FF2B5EF4-FFF2-40B4-BE49-F238E27FC236}">
                <a16:creationId xmlns:a16="http://schemas.microsoft.com/office/drawing/2014/main" id="{4833AA8B-BD40-F82D-85B0-EBD45D355635}"/>
              </a:ext>
            </a:extLst>
          </p:cNvPr>
          <p:cNvSpPr txBox="1"/>
          <p:nvPr/>
        </p:nvSpPr>
        <p:spPr>
          <a:xfrm>
            <a:off x="922020" y="1295624"/>
            <a:ext cx="74066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成熟度判断</a:t>
            </a:r>
          </a:p>
        </p:txBody>
      </p:sp>
      <p:sp>
        <p:nvSpPr>
          <p:cNvPr id="89" name="TextBox 21">
            <a:extLst>
              <a:ext uri="{FF2B5EF4-FFF2-40B4-BE49-F238E27FC236}">
                <a16:creationId xmlns:a16="http://schemas.microsoft.com/office/drawing/2014/main" id="{7BCDE2BE-E5BD-864E-FC7A-1554735FBFE5}"/>
              </a:ext>
            </a:extLst>
          </p:cNvPr>
          <p:cNvSpPr txBox="1"/>
          <p:nvPr/>
        </p:nvSpPr>
        <p:spPr>
          <a:xfrm>
            <a:off x="817523" y="2217009"/>
            <a:ext cx="299299" cy="2941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340"/>
              </a:lnSpc>
            </a:pPr>
            <a:r>
              <a:rPr lang="en-US" sz="15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91" name="TextBox 22">
            <a:extLst>
              <a:ext uri="{FF2B5EF4-FFF2-40B4-BE49-F238E27FC236}">
                <a16:creationId xmlns:a16="http://schemas.microsoft.com/office/drawing/2014/main" id="{D1DC081E-5A9D-1D66-0A9B-BE7A63ACD7BE}"/>
              </a:ext>
            </a:extLst>
          </p:cNvPr>
          <p:cNvSpPr txBox="1"/>
          <p:nvPr/>
        </p:nvSpPr>
        <p:spPr>
          <a:xfrm>
            <a:off x="1226820" y="2095724"/>
            <a:ext cx="129692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250"/>
              </a:lnSpc>
            </a:pPr>
            <a:r>
              <a:rPr lang="zh-CN" sz="15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分散探索</a:t>
            </a:r>
          </a:p>
        </p:txBody>
      </p:sp>
      <p:sp>
        <p:nvSpPr>
          <p:cNvPr id="93" name="TextBox 23">
            <a:extLst>
              <a:ext uri="{FF2B5EF4-FFF2-40B4-BE49-F238E27FC236}">
                <a16:creationId xmlns:a16="http://schemas.microsoft.com/office/drawing/2014/main" id="{6FEF7B7D-5E67-6797-0434-8B48695E8304}"/>
              </a:ext>
            </a:extLst>
          </p:cNvPr>
          <p:cNvSpPr txBox="1"/>
          <p:nvPr/>
        </p:nvSpPr>
        <p:spPr>
          <a:xfrm>
            <a:off x="769620" y="2842484"/>
            <a:ext cx="23865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组织状态</a:t>
            </a:r>
          </a:p>
        </p:txBody>
      </p:sp>
      <p:sp>
        <p:nvSpPr>
          <p:cNvPr id="95" name="TextBox 24">
            <a:extLst>
              <a:ext uri="{FF2B5EF4-FFF2-40B4-BE49-F238E27FC236}">
                <a16:creationId xmlns:a16="http://schemas.microsoft.com/office/drawing/2014/main" id="{F425F7D9-7F2D-B22B-3A72-B53135F119C8}"/>
              </a:ext>
            </a:extLst>
          </p:cNvPr>
          <p:cNvSpPr txBox="1"/>
          <p:nvPr/>
        </p:nvSpPr>
        <p:spPr>
          <a:xfrm>
            <a:off x="891540" y="3673064"/>
            <a:ext cx="21427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人才重点</a:t>
            </a:r>
          </a:p>
        </p:txBody>
      </p:sp>
      <p:sp>
        <p:nvSpPr>
          <p:cNvPr id="97" name="TextBox 25">
            <a:extLst>
              <a:ext uri="{FF2B5EF4-FFF2-40B4-BE49-F238E27FC236}">
                <a16:creationId xmlns:a16="http://schemas.microsoft.com/office/drawing/2014/main" id="{7E2439B7-D88F-F014-4AD1-202F6BB64532}"/>
              </a:ext>
            </a:extLst>
          </p:cNvPr>
          <p:cNvSpPr txBox="1"/>
          <p:nvPr/>
        </p:nvSpPr>
        <p:spPr>
          <a:xfrm>
            <a:off x="769620" y="4486023"/>
            <a:ext cx="601218" cy="39667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升级标</a:t>
            </a:r>
          </a:p>
        </p:txBody>
      </p:sp>
      <p:sp>
        <p:nvSpPr>
          <p:cNvPr id="99" name="TextBox 26">
            <a:extLst>
              <a:ext uri="{FF2B5EF4-FFF2-40B4-BE49-F238E27FC236}">
                <a16:creationId xmlns:a16="http://schemas.microsoft.com/office/drawing/2014/main" id="{87AAEA30-1C74-B6A3-882F-419CB161D65F}"/>
              </a:ext>
            </a:extLst>
          </p:cNvPr>
          <p:cNvSpPr txBox="1"/>
          <p:nvPr/>
        </p:nvSpPr>
        <p:spPr>
          <a:xfrm>
            <a:off x="769619" y="4677952"/>
            <a:ext cx="495443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志：</a:t>
            </a:r>
          </a:p>
        </p:txBody>
      </p:sp>
      <p:sp>
        <p:nvSpPr>
          <p:cNvPr id="101" name="TextBox 27">
            <a:extLst>
              <a:ext uri="{FF2B5EF4-FFF2-40B4-BE49-F238E27FC236}">
                <a16:creationId xmlns:a16="http://schemas.microsoft.com/office/drawing/2014/main" id="{A5B28D0B-5E29-9881-1F36-3ADF8C439E53}"/>
              </a:ext>
            </a:extLst>
          </p:cNvPr>
          <p:cNvSpPr txBox="1"/>
          <p:nvPr/>
        </p:nvSpPr>
        <p:spPr>
          <a:xfrm>
            <a:off x="1371243" y="4486023"/>
            <a:ext cx="202082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形成可复用岗位案例与首批</a:t>
            </a:r>
          </a:p>
        </p:txBody>
      </p:sp>
      <p:sp>
        <p:nvSpPr>
          <p:cNvPr id="103" name="TextBox 28">
            <a:extLst>
              <a:ext uri="{FF2B5EF4-FFF2-40B4-BE49-F238E27FC236}">
                <a16:creationId xmlns:a16="http://schemas.microsoft.com/office/drawing/2014/main" id="{471D23A6-59A0-62CB-0D19-A27142036944}"/>
              </a:ext>
            </a:extLst>
          </p:cNvPr>
          <p:cNvSpPr txBox="1"/>
          <p:nvPr/>
        </p:nvSpPr>
        <p:spPr>
          <a:xfrm>
            <a:off x="1371243" y="4677952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种子人员</a:t>
            </a:r>
          </a:p>
        </p:txBody>
      </p:sp>
      <p:sp>
        <p:nvSpPr>
          <p:cNvPr id="105" name="TextBox 29">
            <a:extLst>
              <a:ext uri="{FF2B5EF4-FFF2-40B4-BE49-F238E27FC236}">
                <a16:creationId xmlns:a16="http://schemas.microsoft.com/office/drawing/2014/main" id="{F8AB7046-67DD-7A95-8E61-A79E077B3B5C}"/>
              </a:ext>
            </a:extLst>
          </p:cNvPr>
          <p:cNvSpPr txBox="1"/>
          <p:nvPr/>
        </p:nvSpPr>
        <p:spPr>
          <a:xfrm>
            <a:off x="3591203" y="2210659"/>
            <a:ext cx="299299" cy="2941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340"/>
              </a:lnSpc>
            </a:pPr>
            <a:r>
              <a:rPr lang="en-US" sz="15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07" name="TextBox 30">
            <a:extLst>
              <a:ext uri="{FF2B5EF4-FFF2-40B4-BE49-F238E27FC236}">
                <a16:creationId xmlns:a16="http://schemas.microsoft.com/office/drawing/2014/main" id="{14802574-F8AF-988D-617D-B0953570B17D}"/>
              </a:ext>
            </a:extLst>
          </p:cNvPr>
          <p:cNvSpPr txBox="1"/>
          <p:nvPr/>
        </p:nvSpPr>
        <p:spPr>
          <a:xfrm>
            <a:off x="4000500" y="2095724"/>
            <a:ext cx="143408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250"/>
              </a:lnSpc>
            </a:pPr>
            <a:r>
              <a:rPr lang="zh-CN" sz="15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场景试点</a:t>
            </a:r>
          </a:p>
        </p:txBody>
      </p:sp>
      <p:sp>
        <p:nvSpPr>
          <p:cNvPr id="109" name="TextBox 31">
            <a:extLst>
              <a:ext uri="{FF2B5EF4-FFF2-40B4-BE49-F238E27FC236}">
                <a16:creationId xmlns:a16="http://schemas.microsoft.com/office/drawing/2014/main" id="{5AD1201D-6104-EEB8-C75A-307C1E17BA35}"/>
              </a:ext>
            </a:extLst>
          </p:cNvPr>
          <p:cNvSpPr txBox="1"/>
          <p:nvPr/>
        </p:nvSpPr>
        <p:spPr>
          <a:xfrm>
            <a:off x="3543300" y="2842484"/>
            <a:ext cx="23865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组织状态</a:t>
            </a:r>
          </a:p>
        </p:txBody>
      </p:sp>
      <p:sp>
        <p:nvSpPr>
          <p:cNvPr id="111" name="TextBox 32">
            <a:extLst>
              <a:ext uri="{FF2B5EF4-FFF2-40B4-BE49-F238E27FC236}">
                <a16:creationId xmlns:a16="http://schemas.microsoft.com/office/drawing/2014/main" id="{1DDF101D-234A-AA61-F543-E1342D931D2B}"/>
              </a:ext>
            </a:extLst>
          </p:cNvPr>
          <p:cNvSpPr txBox="1"/>
          <p:nvPr/>
        </p:nvSpPr>
        <p:spPr>
          <a:xfrm>
            <a:off x="3665220" y="3673064"/>
            <a:ext cx="21427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人才重点</a:t>
            </a:r>
          </a:p>
        </p:txBody>
      </p:sp>
      <p:sp>
        <p:nvSpPr>
          <p:cNvPr id="113" name="TextBox 33">
            <a:extLst>
              <a:ext uri="{FF2B5EF4-FFF2-40B4-BE49-F238E27FC236}">
                <a16:creationId xmlns:a16="http://schemas.microsoft.com/office/drawing/2014/main" id="{C57EAE4D-57FC-AB83-87A2-871FCA20A73E}"/>
              </a:ext>
            </a:extLst>
          </p:cNvPr>
          <p:cNvSpPr txBox="1"/>
          <p:nvPr/>
        </p:nvSpPr>
        <p:spPr>
          <a:xfrm>
            <a:off x="3543300" y="4486023"/>
            <a:ext cx="601218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升级标</a:t>
            </a:r>
          </a:p>
        </p:txBody>
      </p:sp>
      <p:sp>
        <p:nvSpPr>
          <p:cNvPr id="115" name="TextBox 34">
            <a:extLst>
              <a:ext uri="{FF2B5EF4-FFF2-40B4-BE49-F238E27FC236}">
                <a16:creationId xmlns:a16="http://schemas.microsoft.com/office/drawing/2014/main" id="{B91E1D92-1DFA-A71A-B2A2-D08FFE3000FB}"/>
              </a:ext>
            </a:extLst>
          </p:cNvPr>
          <p:cNvSpPr txBox="1"/>
          <p:nvPr/>
        </p:nvSpPr>
        <p:spPr>
          <a:xfrm>
            <a:off x="3543300" y="4677952"/>
            <a:ext cx="44348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志：</a:t>
            </a:r>
          </a:p>
        </p:txBody>
      </p:sp>
      <p:sp>
        <p:nvSpPr>
          <p:cNvPr id="117" name="TextBox 35">
            <a:extLst>
              <a:ext uri="{FF2B5EF4-FFF2-40B4-BE49-F238E27FC236}">
                <a16:creationId xmlns:a16="http://schemas.microsoft.com/office/drawing/2014/main" id="{9C95ACA4-C2E1-46C4-D3A2-F562A021AF73}"/>
              </a:ext>
            </a:extLst>
          </p:cNvPr>
          <p:cNvSpPr txBox="1"/>
          <p:nvPr/>
        </p:nvSpPr>
        <p:spPr>
          <a:xfrm>
            <a:off x="4144923" y="4486023"/>
            <a:ext cx="202082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原型通过测试、安全检查与</a:t>
            </a:r>
          </a:p>
        </p:txBody>
      </p:sp>
      <p:sp>
        <p:nvSpPr>
          <p:cNvPr id="119" name="TextBox 36">
            <a:extLst>
              <a:ext uri="{FF2B5EF4-FFF2-40B4-BE49-F238E27FC236}">
                <a16:creationId xmlns:a16="http://schemas.microsoft.com/office/drawing/2014/main" id="{75D5482B-57E5-E18C-A784-DED7FBE42A9F}"/>
              </a:ext>
            </a:extLst>
          </p:cNvPr>
          <p:cNvSpPr txBox="1"/>
          <p:nvPr/>
        </p:nvSpPr>
        <p:spPr>
          <a:xfrm>
            <a:off x="4144923" y="4677952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业务验收</a:t>
            </a:r>
          </a:p>
        </p:txBody>
      </p:sp>
      <p:sp>
        <p:nvSpPr>
          <p:cNvPr id="121" name="TextBox 37">
            <a:extLst>
              <a:ext uri="{FF2B5EF4-FFF2-40B4-BE49-F238E27FC236}">
                <a16:creationId xmlns:a16="http://schemas.microsoft.com/office/drawing/2014/main" id="{1562FB8D-F8E1-7447-0A85-EF9F035B9A97}"/>
              </a:ext>
            </a:extLst>
          </p:cNvPr>
          <p:cNvSpPr txBox="1"/>
          <p:nvPr/>
        </p:nvSpPr>
        <p:spPr>
          <a:xfrm>
            <a:off x="6364883" y="2210659"/>
            <a:ext cx="299299" cy="2941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340"/>
              </a:lnSpc>
            </a:pPr>
            <a:r>
              <a:rPr lang="en-US" sz="15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23" name="TextBox 38">
            <a:extLst>
              <a:ext uri="{FF2B5EF4-FFF2-40B4-BE49-F238E27FC236}">
                <a16:creationId xmlns:a16="http://schemas.microsoft.com/office/drawing/2014/main" id="{883301AD-36E6-ADE3-77E1-B2F2800381F2}"/>
              </a:ext>
            </a:extLst>
          </p:cNvPr>
          <p:cNvSpPr txBox="1"/>
          <p:nvPr/>
        </p:nvSpPr>
        <p:spPr>
          <a:xfrm>
            <a:off x="6774180" y="2095724"/>
            <a:ext cx="129692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250"/>
              </a:lnSpc>
            </a:pPr>
            <a:r>
              <a:rPr lang="zh-CN" sz="15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部门复制</a:t>
            </a:r>
          </a:p>
        </p:txBody>
      </p:sp>
      <p:sp>
        <p:nvSpPr>
          <p:cNvPr id="125" name="TextBox 39">
            <a:extLst>
              <a:ext uri="{FF2B5EF4-FFF2-40B4-BE49-F238E27FC236}">
                <a16:creationId xmlns:a16="http://schemas.microsoft.com/office/drawing/2014/main" id="{F4E07145-2B2E-C5E5-F027-1F4ADF8B17D2}"/>
              </a:ext>
            </a:extLst>
          </p:cNvPr>
          <p:cNvSpPr txBox="1"/>
          <p:nvPr/>
        </p:nvSpPr>
        <p:spPr>
          <a:xfrm>
            <a:off x="6316980" y="2842484"/>
            <a:ext cx="23865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组织状态</a:t>
            </a:r>
          </a:p>
        </p:txBody>
      </p:sp>
      <p:sp>
        <p:nvSpPr>
          <p:cNvPr id="127" name="TextBox 40">
            <a:extLst>
              <a:ext uri="{FF2B5EF4-FFF2-40B4-BE49-F238E27FC236}">
                <a16:creationId xmlns:a16="http://schemas.microsoft.com/office/drawing/2014/main" id="{8ECD2E18-DC58-A6AD-BED8-DAFB2425051B}"/>
              </a:ext>
            </a:extLst>
          </p:cNvPr>
          <p:cNvSpPr txBox="1"/>
          <p:nvPr/>
        </p:nvSpPr>
        <p:spPr>
          <a:xfrm>
            <a:off x="6438900" y="3673064"/>
            <a:ext cx="21427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人才重点</a:t>
            </a:r>
          </a:p>
        </p:txBody>
      </p:sp>
      <p:sp>
        <p:nvSpPr>
          <p:cNvPr id="129" name="TextBox 41">
            <a:extLst>
              <a:ext uri="{FF2B5EF4-FFF2-40B4-BE49-F238E27FC236}">
                <a16:creationId xmlns:a16="http://schemas.microsoft.com/office/drawing/2014/main" id="{726D97E9-0CFD-404C-4F2D-63C82CEDCCAE}"/>
              </a:ext>
            </a:extLst>
          </p:cNvPr>
          <p:cNvSpPr txBox="1"/>
          <p:nvPr/>
        </p:nvSpPr>
        <p:spPr>
          <a:xfrm>
            <a:off x="6316980" y="4486023"/>
            <a:ext cx="601218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升级标</a:t>
            </a:r>
          </a:p>
        </p:txBody>
      </p:sp>
      <p:sp>
        <p:nvSpPr>
          <p:cNvPr id="131" name="TextBox 42">
            <a:extLst>
              <a:ext uri="{FF2B5EF4-FFF2-40B4-BE49-F238E27FC236}">
                <a16:creationId xmlns:a16="http://schemas.microsoft.com/office/drawing/2014/main" id="{7109DC6D-5C98-1BD8-0DC8-7F3EEE0DA765}"/>
              </a:ext>
            </a:extLst>
          </p:cNvPr>
          <p:cNvSpPr txBox="1"/>
          <p:nvPr/>
        </p:nvSpPr>
        <p:spPr>
          <a:xfrm>
            <a:off x="6316980" y="4677952"/>
            <a:ext cx="44348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志：</a:t>
            </a:r>
          </a:p>
        </p:txBody>
      </p:sp>
      <p:sp>
        <p:nvSpPr>
          <p:cNvPr id="133" name="TextBox 43">
            <a:extLst>
              <a:ext uri="{FF2B5EF4-FFF2-40B4-BE49-F238E27FC236}">
                <a16:creationId xmlns:a16="http://schemas.microsoft.com/office/drawing/2014/main" id="{1AC773EB-93F8-90E4-C4B3-0FCDB08A4159}"/>
              </a:ext>
            </a:extLst>
          </p:cNvPr>
          <p:cNvSpPr txBox="1"/>
          <p:nvPr/>
        </p:nvSpPr>
        <p:spPr>
          <a:xfrm>
            <a:off x="6918603" y="4486023"/>
            <a:ext cx="202082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形成标准组件、项目机制与</a:t>
            </a:r>
          </a:p>
        </p:txBody>
      </p:sp>
      <p:sp>
        <p:nvSpPr>
          <p:cNvPr id="135" name="TextBox 44">
            <a:extLst>
              <a:ext uri="{FF2B5EF4-FFF2-40B4-BE49-F238E27FC236}">
                <a16:creationId xmlns:a16="http://schemas.microsoft.com/office/drawing/2014/main" id="{B73F0CC6-E45F-F6BC-3CF0-F1FA15B46BAA}"/>
              </a:ext>
            </a:extLst>
          </p:cNvPr>
          <p:cNvSpPr txBox="1"/>
          <p:nvPr/>
        </p:nvSpPr>
        <p:spPr>
          <a:xfrm>
            <a:off x="6918603" y="4677952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运营责任</a:t>
            </a:r>
          </a:p>
        </p:txBody>
      </p:sp>
      <p:sp>
        <p:nvSpPr>
          <p:cNvPr id="137" name="TextBox 45">
            <a:extLst>
              <a:ext uri="{FF2B5EF4-FFF2-40B4-BE49-F238E27FC236}">
                <a16:creationId xmlns:a16="http://schemas.microsoft.com/office/drawing/2014/main" id="{054D2750-173C-B683-BEE0-4BD68D055A2A}"/>
              </a:ext>
            </a:extLst>
          </p:cNvPr>
          <p:cNvSpPr txBox="1"/>
          <p:nvPr/>
        </p:nvSpPr>
        <p:spPr>
          <a:xfrm>
            <a:off x="9138563" y="2210659"/>
            <a:ext cx="299299" cy="2941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340"/>
              </a:lnSpc>
            </a:pPr>
            <a:r>
              <a:rPr lang="en-US" sz="15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139" name="TextBox 46">
            <a:extLst>
              <a:ext uri="{FF2B5EF4-FFF2-40B4-BE49-F238E27FC236}">
                <a16:creationId xmlns:a16="http://schemas.microsoft.com/office/drawing/2014/main" id="{A046BBB0-3134-2C22-907B-D33A99240ED2}"/>
              </a:ext>
            </a:extLst>
          </p:cNvPr>
          <p:cNvSpPr txBox="1"/>
          <p:nvPr/>
        </p:nvSpPr>
        <p:spPr>
          <a:xfrm>
            <a:off x="9547860" y="2095724"/>
            <a:ext cx="129692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250"/>
              </a:lnSpc>
            </a:pPr>
            <a:r>
              <a:rPr lang="zh-CN" sz="1500" b="1" dirty="0">
                <a:solidFill>
                  <a:srgbClr val="008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规模运营</a:t>
            </a:r>
          </a:p>
        </p:txBody>
      </p:sp>
      <p:sp>
        <p:nvSpPr>
          <p:cNvPr id="141" name="TextBox 47">
            <a:extLst>
              <a:ext uri="{FF2B5EF4-FFF2-40B4-BE49-F238E27FC236}">
                <a16:creationId xmlns:a16="http://schemas.microsoft.com/office/drawing/2014/main" id="{13C4DF25-A6A4-7CAA-77F6-FCCDAE095E80}"/>
              </a:ext>
            </a:extLst>
          </p:cNvPr>
          <p:cNvSpPr txBox="1"/>
          <p:nvPr/>
        </p:nvSpPr>
        <p:spPr>
          <a:xfrm>
            <a:off x="9090660" y="2842484"/>
            <a:ext cx="23865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8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组织状态</a:t>
            </a:r>
          </a:p>
        </p:txBody>
      </p:sp>
      <p:sp>
        <p:nvSpPr>
          <p:cNvPr id="143" name="TextBox 48">
            <a:extLst>
              <a:ext uri="{FF2B5EF4-FFF2-40B4-BE49-F238E27FC236}">
                <a16:creationId xmlns:a16="http://schemas.microsoft.com/office/drawing/2014/main" id="{3FBA9CC7-C6E7-6C69-BDD5-A793A1F12C37}"/>
              </a:ext>
            </a:extLst>
          </p:cNvPr>
          <p:cNvSpPr txBox="1"/>
          <p:nvPr/>
        </p:nvSpPr>
        <p:spPr>
          <a:xfrm>
            <a:off x="9212580" y="3673064"/>
            <a:ext cx="21427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7A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人才重点</a:t>
            </a:r>
          </a:p>
        </p:txBody>
      </p:sp>
      <p:sp>
        <p:nvSpPr>
          <p:cNvPr id="145" name="TextBox 49">
            <a:extLst>
              <a:ext uri="{FF2B5EF4-FFF2-40B4-BE49-F238E27FC236}">
                <a16:creationId xmlns:a16="http://schemas.microsoft.com/office/drawing/2014/main" id="{052584F6-00DC-9959-52EC-B070764F09E3}"/>
              </a:ext>
            </a:extLst>
          </p:cNvPr>
          <p:cNvSpPr txBox="1"/>
          <p:nvPr/>
        </p:nvSpPr>
        <p:spPr>
          <a:xfrm>
            <a:off x="9090660" y="4486023"/>
            <a:ext cx="601218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</a:pPr>
            <a:r>
              <a:rPr lang="zh-CN" sz="108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稳定标</a:t>
            </a:r>
          </a:p>
        </p:txBody>
      </p:sp>
      <p:sp>
        <p:nvSpPr>
          <p:cNvPr id="147" name="TextBox 50">
            <a:extLst>
              <a:ext uri="{FF2B5EF4-FFF2-40B4-BE49-F238E27FC236}">
                <a16:creationId xmlns:a16="http://schemas.microsoft.com/office/drawing/2014/main" id="{8F90AAE5-D4AA-2FC8-4682-83D3B6982985}"/>
              </a:ext>
            </a:extLst>
          </p:cNvPr>
          <p:cNvSpPr txBox="1"/>
          <p:nvPr/>
        </p:nvSpPr>
        <p:spPr>
          <a:xfrm>
            <a:off x="9090660" y="4677952"/>
            <a:ext cx="44348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</a:pPr>
            <a:r>
              <a:rPr lang="zh-CN" sz="108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志：</a:t>
            </a:r>
          </a:p>
        </p:txBody>
      </p:sp>
      <p:sp>
        <p:nvSpPr>
          <p:cNvPr id="149" name="TextBox 51">
            <a:extLst>
              <a:ext uri="{FF2B5EF4-FFF2-40B4-BE49-F238E27FC236}">
                <a16:creationId xmlns:a16="http://schemas.microsoft.com/office/drawing/2014/main" id="{7D3D6070-07D8-7A2B-EC1B-BCD71D701844}"/>
              </a:ext>
            </a:extLst>
          </p:cNvPr>
          <p:cNvSpPr txBox="1"/>
          <p:nvPr/>
        </p:nvSpPr>
        <p:spPr>
          <a:xfrm>
            <a:off x="9667756" y="4486023"/>
            <a:ext cx="202082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人才、资产、标准与业务价</a:t>
            </a:r>
          </a:p>
        </p:txBody>
      </p:sp>
      <p:sp>
        <p:nvSpPr>
          <p:cNvPr id="151" name="TextBox 52">
            <a:extLst>
              <a:ext uri="{FF2B5EF4-FFF2-40B4-BE49-F238E27FC236}">
                <a16:creationId xmlns:a16="http://schemas.microsoft.com/office/drawing/2014/main" id="{19178EEE-3B6C-90DB-3C03-B5AF008EBA66}"/>
              </a:ext>
            </a:extLst>
          </p:cNvPr>
          <p:cNvSpPr txBox="1"/>
          <p:nvPr/>
        </p:nvSpPr>
        <p:spPr>
          <a:xfrm>
            <a:off x="9667756" y="4677952"/>
            <a:ext cx="916686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值同步增长</a:t>
            </a:r>
          </a:p>
        </p:txBody>
      </p:sp>
      <p:sp>
        <p:nvSpPr>
          <p:cNvPr id="153" name="TextBox 53">
            <a:extLst>
              <a:ext uri="{FF2B5EF4-FFF2-40B4-BE49-F238E27FC236}">
                <a16:creationId xmlns:a16="http://schemas.microsoft.com/office/drawing/2014/main" id="{60B7FA8E-2BA6-D5D1-45B2-CF64934CD00D}"/>
              </a:ext>
            </a:extLst>
          </p:cNvPr>
          <p:cNvSpPr txBox="1"/>
          <p:nvPr/>
        </p:nvSpPr>
        <p:spPr>
          <a:xfrm>
            <a:off x="861060" y="5715224"/>
            <a:ext cx="177698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场景基础：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频率、价值、流程稳定度</a:t>
            </a:r>
          </a:p>
        </p:txBody>
      </p:sp>
      <p:sp>
        <p:nvSpPr>
          <p:cNvPr id="155" name="TextBox 54">
            <a:extLst>
              <a:ext uri="{FF2B5EF4-FFF2-40B4-BE49-F238E27FC236}">
                <a16:creationId xmlns:a16="http://schemas.microsoft.com/office/drawing/2014/main" id="{D2778537-F2B3-C3E5-3AC0-BCD7864A4F39}"/>
              </a:ext>
            </a:extLst>
          </p:cNvPr>
          <p:cNvSpPr txBox="1"/>
          <p:nvPr/>
        </p:nvSpPr>
        <p:spPr>
          <a:xfrm>
            <a:off x="2857500" y="5715224"/>
            <a:ext cx="177698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数据条件：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来源、质量、授权与敏感度</a:t>
            </a:r>
          </a:p>
        </p:txBody>
      </p:sp>
      <p:sp>
        <p:nvSpPr>
          <p:cNvPr id="157" name="TextBox 55">
            <a:extLst>
              <a:ext uri="{FF2B5EF4-FFF2-40B4-BE49-F238E27FC236}">
                <a16:creationId xmlns:a16="http://schemas.microsoft.com/office/drawing/2014/main" id="{5205CD5D-9830-69A6-2056-274A64F843F9}"/>
              </a:ext>
            </a:extLst>
          </p:cNvPr>
          <p:cNvSpPr txBox="1"/>
          <p:nvPr/>
        </p:nvSpPr>
        <p:spPr>
          <a:xfrm>
            <a:off x="4853940" y="5715224"/>
            <a:ext cx="177698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组织能力：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人才、协作、治理与运营责任</a:t>
            </a:r>
          </a:p>
        </p:txBody>
      </p:sp>
      <p:sp>
        <p:nvSpPr>
          <p:cNvPr id="159" name="TextBox 56">
            <a:extLst>
              <a:ext uri="{FF2B5EF4-FFF2-40B4-BE49-F238E27FC236}">
                <a16:creationId xmlns:a16="http://schemas.microsoft.com/office/drawing/2014/main" id="{0FEDF5A2-A260-E451-E8B8-6E32A351B16B}"/>
              </a:ext>
            </a:extLst>
          </p:cNvPr>
          <p:cNvSpPr txBox="1"/>
          <p:nvPr/>
        </p:nvSpPr>
        <p:spPr>
          <a:xfrm>
            <a:off x="7231380" y="5707604"/>
            <a:ext cx="1243584" cy="583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人才层级</a:t>
            </a:r>
            <a:endParaRPr lang="en-US" altLang="zh-CN" sz="108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1460"/>
              </a:lnSpc>
            </a:pPr>
            <a:r>
              <a:rPr lang="zh-CN" sz="10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全员 / ADEA / ADEP / ADEE</a:t>
            </a:r>
          </a:p>
        </p:txBody>
      </p:sp>
      <p:sp>
        <p:nvSpPr>
          <p:cNvPr id="161" name="TextBox 57">
            <a:extLst>
              <a:ext uri="{FF2B5EF4-FFF2-40B4-BE49-F238E27FC236}">
                <a16:creationId xmlns:a16="http://schemas.microsoft.com/office/drawing/2014/main" id="{6DD45FB0-9D7B-C8CA-01E4-0414B8ED5128}"/>
              </a:ext>
            </a:extLst>
          </p:cNvPr>
          <p:cNvSpPr txBox="1"/>
          <p:nvPr/>
        </p:nvSpPr>
        <p:spPr>
          <a:xfrm>
            <a:off x="8686800" y="5707604"/>
            <a:ext cx="1243584" cy="583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培养内容</a:t>
            </a:r>
            <a:endParaRPr lang="en-US" altLang="zh-CN" sz="108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1460"/>
              </a:lnSpc>
            </a:pPr>
            <a:r>
              <a:rPr lang="zh-CN" sz="10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认知、场景、工程、治理</a:t>
            </a:r>
          </a:p>
        </p:txBody>
      </p:sp>
      <p:sp>
        <p:nvSpPr>
          <p:cNvPr id="163" name="TextBox 58">
            <a:extLst>
              <a:ext uri="{FF2B5EF4-FFF2-40B4-BE49-F238E27FC236}">
                <a16:creationId xmlns:a16="http://schemas.microsoft.com/office/drawing/2014/main" id="{D090E698-2452-D130-6ABE-32FFD84F162A}"/>
              </a:ext>
            </a:extLst>
          </p:cNvPr>
          <p:cNvSpPr txBox="1"/>
          <p:nvPr/>
        </p:nvSpPr>
        <p:spPr>
          <a:xfrm>
            <a:off x="10149840" y="5707604"/>
            <a:ext cx="1243584" cy="583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建设节奏</a:t>
            </a:r>
            <a:endParaRPr lang="en-US" altLang="zh-CN" sz="108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1460"/>
              </a:lnSpc>
            </a:pPr>
            <a:r>
              <a:rPr lang="zh-CN" sz="10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试点、复制、扩围、运营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582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A2369-8A87-D28F-3A74-D38331FAC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BE9E8C-56C1-8160-58F3-40243A063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zh-CN" altLang="en-US" dirty="0"/>
              <a:t>企业</a:t>
            </a:r>
            <a:r>
              <a:rPr lang="en-US" altLang="zh-CN" dirty="0"/>
              <a:t>AI</a:t>
            </a:r>
            <a:r>
              <a:rPr lang="zh-CN" altLang="en-US" dirty="0"/>
              <a:t>人才培养面临的核心问题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642081B-9E40-5EB1-7C57-37665BA53FF5}"/>
              </a:ext>
            </a:extLst>
          </p:cNvPr>
          <p:cNvSpPr/>
          <p:nvPr/>
        </p:nvSpPr>
        <p:spPr>
          <a:xfrm>
            <a:off x="609600" y="990600"/>
            <a:ext cx="10972800" cy="441960"/>
          </a:xfrm>
          <a:prstGeom prst="roundRect">
            <a:avLst>
              <a:gd name="adj" fmla="val 27586"/>
            </a:avLst>
          </a:prstGeom>
          <a:solidFill>
            <a:srgbClr val="ECF7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7CDCFE6-0ED4-5183-1B1C-8DB69EFE4866}"/>
              </a:ext>
            </a:extLst>
          </p:cNvPr>
          <p:cNvSpPr/>
          <p:nvPr/>
        </p:nvSpPr>
        <p:spPr>
          <a:xfrm>
            <a:off x="609600" y="1554480"/>
            <a:ext cx="10972800" cy="4183380"/>
          </a:xfrm>
          <a:prstGeom prst="roundRect">
            <a:avLst>
              <a:gd name="adj" fmla="val 3643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358B298D-3A45-603E-7E56-571C128E2DB4}"/>
              </a:ext>
            </a:extLst>
          </p:cNvPr>
          <p:cNvSpPr/>
          <p:nvPr/>
        </p:nvSpPr>
        <p:spPr>
          <a:xfrm>
            <a:off x="617220" y="1562100"/>
            <a:ext cx="10957560" cy="365760"/>
          </a:xfrm>
          <a:prstGeom prst="rect">
            <a:avLst/>
          </a:prstGeom>
          <a:solidFill>
            <a:srgbClr val="0565FF"/>
          </a:solidFill>
          <a:ln>
            <a:noFill/>
          </a:ln>
        </p:spPr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7C74830-D961-C6CA-0822-55564EB446E9}"/>
              </a:ext>
            </a:extLst>
          </p:cNvPr>
          <p:cNvSpPr/>
          <p:nvPr/>
        </p:nvSpPr>
        <p:spPr>
          <a:xfrm>
            <a:off x="1413510" y="1642110"/>
            <a:ext cx="914" cy="20574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7BC13B1E-BA15-3F6C-80ED-3917262DD41D}"/>
              </a:ext>
            </a:extLst>
          </p:cNvPr>
          <p:cNvSpPr/>
          <p:nvPr/>
        </p:nvSpPr>
        <p:spPr>
          <a:xfrm>
            <a:off x="3928110" y="1642110"/>
            <a:ext cx="914" cy="20574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DEEB7513-54D3-DDB8-568E-331B88177B88}"/>
              </a:ext>
            </a:extLst>
          </p:cNvPr>
          <p:cNvSpPr/>
          <p:nvPr/>
        </p:nvSpPr>
        <p:spPr>
          <a:xfrm>
            <a:off x="9063990" y="1642110"/>
            <a:ext cx="914" cy="20574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2A0EFB20-CA03-BAD6-C34C-4EEE675398EC}"/>
              </a:ext>
            </a:extLst>
          </p:cNvPr>
          <p:cNvSpPr/>
          <p:nvPr/>
        </p:nvSpPr>
        <p:spPr>
          <a:xfrm>
            <a:off x="617220" y="2686050"/>
            <a:ext cx="10957560" cy="914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D56B82A6-2A52-601C-111D-DB45706B8A5A}"/>
              </a:ext>
            </a:extLst>
          </p:cNvPr>
          <p:cNvSpPr/>
          <p:nvPr/>
        </p:nvSpPr>
        <p:spPr>
          <a:xfrm>
            <a:off x="617220" y="1927860"/>
            <a:ext cx="792480" cy="754380"/>
          </a:xfrm>
          <a:prstGeom prst="rect">
            <a:avLst/>
          </a:prstGeom>
          <a:solidFill>
            <a:srgbClr val="F5FBFF"/>
          </a:solidFill>
          <a:ln>
            <a:noFill/>
          </a:ln>
        </p:spPr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5399A4AE-C991-A51A-4179-965BA593270E}"/>
              </a:ext>
            </a:extLst>
          </p:cNvPr>
          <p:cNvSpPr/>
          <p:nvPr/>
        </p:nvSpPr>
        <p:spPr>
          <a:xfrm>
            <a:off x="838200" y="2129790"/>
            <a:ext cx="350520" cy="350520"/>
          </a:xfrm>
          <a:prstGeom prst="ellipse">
            <a:avLst/>
          </a:prstGeom>
          <a:solidFill>
            <a:srgbClr val="0721A8"/>
          </a:solidFill>
          <a:ln>
            <a:noFill/>
          </a:ln>
        </p:spPr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8052EEF3-3583-7D77-B823-580EE775BB41}"/>
              </a:ext>
            </a:extLst>
          </p:cNvPr>
          <p:cNvSpPr/>
          <p:nvPr/>
        </p:nvSpPr>
        <p:spPr>
          <a:xfrm>
            <a:off x="1413510" y="1927860"/>
            <a:ext cx="914" cy="754380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31734C3D-FE75-7F78-B1C5-2766CC649581}"/>
              </a:ext>
            </a:extLst>
          </p:cNvPr>
          <p:cNvSpPr/>
          <p:nvPr/>
        </p:nvSpPr>
        <p:spPr>
          <a:xfrm>
            <a:off x="3928110" y="1927860"/>
            <a:ext cx="914" cy="754380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23CC812C-DF30-D42E-15AA-3751E88943CC}"/>
              </a:ext>
            </a:extLst>
          </p:cNvPr>
          <p:cNvSpPr/>
          <p:nvPr/>
        </p:nvSpPr>
        <p:spPr>
          <a:xfrm>
            <a:off x="9060180" y="1927860"/>
            <a:ext cx="2514600" cy="754380"/>
          </a:xfrm>
          <a:prstGeom prst="rect">
            <a:avLst/>
          </a:prstGeom>
          <a:solidFill>
            <a:srgbClr val="F8FCFF"/>
          </a:solidFill>
          <a:ln>
            <a:noFill/>
          </a:ln>
        </p:spPr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19A31F04-5E4B-AA20-2ACE-1E9EAE3AA9DF}"/>
              </a:ext>
            </a:extLst>
          </p:cNvPr>
          <p:cNvSpPr/>
          <p:nvPr/>
        </p:nvSpPr>
        <p:spPr>
          <a:xfrm>
            <a:off x="9063990" y="1927860"/>
            <a:ext cx="914" cy="754380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EE768C34-3E37-C8D8-FCD5-D31393D035F0}"/>
              </a:ext>
            </a:extLst>
          </p:cNvPr>
          <p:cNvSpPr/>
          <p:nvPr/>
        </p:nvSpPr>
        <p:spPr>
          <a:xfrm>
            <a:off x="617220" y="2689860"/>
            <a:ext cx="10957560" cy="762000"/>
          </a:xfrm>
          <a:prstGeom prst="rect">
            <a:avLst/>
          </a:prstGeom>
          <a:solidFill>
            <a:srgbClr val="FBFDFF"/>
          </a:solidFill>
          <a:ln>
            <a:noFill/>
          </a:ln>
        </p:spPr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B1DF7311-9166-2AFF-84F8-01A1DC7E53B2}"/>
              </a:ext>
            </a:extLst>
          </p:cNvPr>
          <p:cNvSpPr/>
          <p:nvPr/>
        </p:nvSpPr>
        <p:spPr>
          <a:xfrm>
            <a:off x="617220" y="3448050"/>
            <a:ext cx="10957560" cy="914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18710170-CF9E-1F9A-1D0D-2C2588B5FC43}"/>
              </a:ext>
            </a:extLst>
          </p:cNvPr>
          <p:cNvSpPr/>
          <p:nvPr/>
        </p:nvSpPr>
        <p:spPr>
          <a:xfrm>
            <a:off x="617220" y="2689860"/>
            <a:ext cx="792480" cy="754380"/>
          </a:xfrm>
          <a:prstGeom prst="rect">
            <a:avLst/>
          </a:prstGeom>
          <a:solidFill>
            <a:srgbClr val="EFF8FF"/>
          </a:solidFill>
          <a:ln>
            <a:noFill/>
          </a:ln>
        </p:spPr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654FB1CB-D71D-E38C-47EF-DB74329D2862}"/>
              </a:ext>
            </a:extLst>
          </p:cNvPr>
          <p:cNvSpPr/>
          <p:nvPr/>
        </p:nvSpPr>
        <p:spPr>
          <a:xfrm>
            <a:off x="838200" y="2891790"/>
            <a:ext cx="350520" cy="350520"/>
          </a:xfrm>
          <a:prstGeom prst="ellipse">
            <a:avLst/>
          </a:prstGeom>
          <a:solidFill>
            <a:srgbClr val="0565FF"/>
          </a:solidFill>
          <a:ln>
            <a:noFill/>
          </a:ln>
        </p:spPr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C2265E1F-306D-0DE0-B682-D4DC9D872A32}"/>
              </a:ext>
            </a:extLst>
          </p:cNvPr>
          <p:cNvSpPr/>
          <p:nvPr/>
        </p:nvSpPr>
        <p:spPr>
          <a:xfrm>
            <a:off x="1413510" y="2689860"/>
            <a:ext cx="914" cy="754380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24C6C8AC-ED9D-F30B-829A-6EDD9F6E1E6D}"/>
              </a:ext>
            </a:extLst>
          </p:cNvPr>
          <p:cNvSpPr/>
          <p:nvPr/>
        </p:nvSpPr>
        <p:spPr>
          <a:xfrm>
            <a:off x="3928110" y="2689860"/>
            <a:ext cx="914" cy="754380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43" name="Shape 22">
            <a:extLst>
              <a:ext uri="{FF2B5EF4-FFF2-40B4-BE49-F238E27FC236}">
                <a16:creationId xmlns:a16="http://schemas.microsoft.com/office/drawing/2014/main" id="{5EBE9F93-9942-28BE-006D-1981851A9762}"/>
              </a:ext>
            </a:extLst>
          </p:cNvPr>
          <p:cNvSpPr/>
          <p:nvPr/>
        </p:nvSpPr>
        <p:spPr>
          <a:xfrm>
            <a:off x="9060180" y="2689860"/>
            <a:ext cx="2514600" cy="754380"/>
          </a:xfrm>
          <a:prstGeom prst="rect">
            <a:avLst/>
          </a:prstGeom>
          <a:solidFill>
            <a:srgbClr val="F8FCFF"/>
          </a:solidFill>
          <a:ln>
            <a:noFill/>
          </a:ln>
        </p:spPr>
      </p:sp>
      <p:sp>
        <p:nvSpPr>
          <p:cNvPr id="45" name="Shape 23">
            <a:extLst>
              <a:ext uri="{FF2B5EF4-FFF2-40B4-BE49-F238E27FC236}">
                <a16:creationId xmlns:a16="http://schemas.microsoft.com/office/drawing/2014/main" id="{E8DAE5BD-CC9B-2601-EE16-91ADCDBD76FA}"/>
              </a:ext>
            </a:extLst>
          </p:cNvPr>
          <p:cNvSpPr/>
          <p:nvPr/>
        </p:nvSpPr>
        <p:spPr>
          <a:xfrm>
            <a:off x="9063990" y="2689860"/>
            <a:ext cx="914" cy="754380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47" name="Shape 24">
            <a:extLst>
              <a:ext uri="{FF2B5EF4-FFF2-40B4-BE49-F238E27FC236}">
                <a16:creationId xmlns:a16="http://schemas.microsoft.com/office/drawing/2014/main" id="{AA847291-75CE-1868-BF56-AC885225BC92}"/>
              </a:ext>
            </a:extLst>
          </p:cNvPr>
          <p:cNvSpPr/>
          <p:nvPr/>
        </p:nvSpPr>
        <p:spPr>
          <a:xfrm>
            <a:off x="617220" y="4210050"/>
            <a:ext cx="10957560" cy="914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49" name="Shape 25">
            <a:extLst>
              <a:ext uri="{FF2B5EF4-FFF2-40B4-BE49-F238E27FC236}">
                <a16:creationId xmlns:a16="http://schemas.microsoft.com/office/drawing/2014/main" id="{2BB4CD84-F7D9-28CC-CD92-7C4AAE56E05A}"/>
              </a:ext>
            </a:extLst>
          </p:cNvPr>
          <p:cNvSpPr/>
          <p:nvPr/>
        </p:nvSpPr>
        <p:spPr>
          <a:xfrm>
            <a:off x="617220" y="3451860"/>
            <a:ext cx="792480" cy="754380"/>
          </a:xfrm>
          <a:prstGeom prst="rect">
            <a:avLst/>
          </a:prstGeom>
          <a:solidFill>
            <a:srgbClr val="F5FBFF"/>
          </a:solidFill>
          <a:ln>
            <a:noFill/>
          </a:ln>
        </p:spPr>
      </p:sp>
      <p:sp>
        <p:nvSpPr>
          <p:cNvPr id="51" name="Shape 26">
            <a:extLst>
              <a:ext uri="{FF2B5EF4-FFF2-40B4-BE49-F238E27FC236}">
                <a16:creationId xmlns:a16="http://schemas.microsoft.com/office/drawing/2014/main" id="{C446920C-156A-8042-8C00-7D2A8B4DFDAC}"/>
              </a:ext>
            </a:extLst>
          </p:cNvPr>
          <p:cNvSpPr/>
          <p:nvPr/>
        </p:nvSpPr>
        <p:spPr>
          <a:xfrm>
            <a:off x="838200" y="3653790"/>
            <a:ext cx="350520" cy="350520"/>
          </a:xfrm>
          <a:prstGeom prst="ellipse">
            <a:avLst/>
          </a:prstGeom>
          <a:solidFill>
            <a:srgbClr val="00A7FF"/>
          </a:solidFill>
          <a:ln>
            <a:noFill/>
          </a:ln>
        </p:spPr>
      </p:sp>
      <p:sp>
        <p:nvSpPr>
          <p:cNvPr id="53" name="Shape 27">
            <a:extLst>
              <a:ext uri="{FF2B5EF4-FFF2-40B4-BE49-F238E27FC236}">
                <a16:creationId xmlns:a16="http://schemas.microsoft.com/office/drawing/2014/main" id="{6149BFB5-2882-FD46-3961-73C2532315DA}"/>
              </a:ext>
            </a:extLst>
          </p:cNvPr>
          <p:cNvSpPr/>
          <p:nvPr/>
        </p:nvSpPr>
        <p:spPr>
          <a:xfrm>
            <a:off x="1413510" y="3451860"/>
            <a:ext cx="914" cy="754380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55" name="Shape 28">
            <a:extLst>
              <a:ext uri="{FF2B5EF4-FFF2-40B4-BE49-F238E27FC236}">
                <a16:creationId xmlns:a16="http://schemas.microsoft.com/office/drawing/2014/main" id="{46C8ED4F-F76D-3AD2-0F76-8275E33A50AA}"/>
              </a:ext>
            </a:extLst>
          </p:cNvPr>
          <p:cNvSpPr/>
          <p:nvPr/>
        </p:nvSpPr>
        <p:spPr>
          <a:xfrm>
            <a:off x="3928110" y="3451860"/>
            <a:ext cx="914" cy="754380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57" name="Shape 29">
            <a:extLst>
              <a:ext uri="{FF2B5EF4-FFF2-40B4-BE49-F238E27FC236}">
                <a16:creationId xmlns:a16="http://schemas.microsoft.com/office/drawing/2014/main" id="{D76041E2-3E43-EEA7-C74E-1AA96A638879}"/>
              </a:ext>
            </a:extLst>
          </p:cNvPr>
          <p:cNvSpPr/>
          <p:nvPr/>
        </p:nvSpPr>
        <p:spPr>
          <a:xfrm>
            <a:off x="9060180" y="3451860"/>
            <a:ext cx="2514600" cy="754380"/>
          </a:xfrm>
          <a:prstGeom prst="rect">
            <a:avLst/>
          </a:prstGeom>
          <a:solidFill>
            <a:srgbClr val="F8FCFF"/>
          </a:solidFill>
          <a:ln>
            <a:noFill/>
          </a:ln>
        </p:spPr>
      </p:sp>
      <p:sp>
        <p:nvSpPr>
          <p:cNvPr id="59" name="Shape 30">
            <a:extLst>
              <a:ext uri="{FF2B5EF4-FFF2-40B4-BE49-F238E27FC236}">
                <a16:creationId xmlns:a16="http://schemas.microsoft.com/office/drawing/2014/main" id="{0FDAF753-5AB8-0B16-E9A0-51254087EB4F}"/>
              </a:ext>
            </a:extLst>
          </p:cNvPr>
          <p:cNvSpPr/>
          <p:nvPr/>
        </p:nvSpPr>
        <p:spPr>
          <a:xfrm>
            <a:off x="9063990" y="3451860"/>
            <a:ext cx="914" cy="754380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61" name="Shape 31">
            <a:extLst>
              <a:ext uri="{FF2B5EF4-FFF2-40B4-BE49-F238E27FC236}">
                <a16:creationId xmlns:a16="http://schemas.microsoft.com/office/drawing/2014/main" id="{2709DCD2-4AB4-89AB-323F-51F4A9F05140}"/>
              </a:ext>
            </a:extLst>
          </p:cNvPr>
          <p:cNvSpPr/>
          <p:nvPr/>
        </p:nvSpPr>
        <p:spPr>
          <a:xfrm>
            <a:off x="617220" y="4213860"/>
            <a:ext cx="10957560" cy="762000"/>
          </a:xfrm>
          <a:prstGeom prst="rect">
            <a:avLst/>
          </a:prstGeom>
          <a:solidFill>
            <a:srgbClr val="FBFDFF"/>
          </a:solidFill>
          <a:ln>
            <a:noFill/>
          </a:ln>
        </p:spPr>
      </p:sp>
      <p:sp>
        <p:nvSpPr>
          <p:cNvPr id="63" name="Shape 32">
            <a:extLst>
              <a:ext uri="{FF2B5EF4-FFF2-40B4-BE49-F238E27FC236}">
                <a16:creationId xmlns:a16="http://schemas.microsoft.com/office/drawing/2014/main" id="{1FE547CC-382C-2F33-EF3E-9B4D0A6E167E}"/>
              </a:ext>
            </a:extLst>
          </p:cNvPr>
          <p:cNvSpPr/>
          <p:nvPr/>
        </p:nvSpPr>
        <p:spPr>
          <a:xfrm>
            <a:off x="617220" y="4972050"/>
            <a:ext cx="10957560" cy="914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65" name="Shape 33">
            <a:extLst>
              <a:ext uri="{FF2B5EF4-FFF2-40B4-BE49-F238E27FC236}">
                <a16:creationId xmlns:a16="http://schemas.microsoft.com/office/drawing/2014/main" id="{E2CFE320-5330-5F7B-2B7F-5C80C64E7E5C}"/>
              </a:ext>
            </a:extLst>
          </p:cNvPr>
          <p:cNvSpPr/>
          <p:nvPr/>
        </p:nvSpPr>
        <p:spPr>
          <a:xfrm>
            <a:off x="617220" y="4213860"/>
            <a:ext cx="792480" cy="754380"/>
          </a:xfrm>
          <a:prstGeom prst="rect">
            <a:avLst/>
          </a:prstGeom>
          <a:solidFill>
            <a:srgbClr val="EFF8FF"/>
          </a:solidFill>
          <a:ln>
            <a:noFill/>
          </a:ln>
        </p:spPr>
      </p:sp>
      <p:sp>
        <p:nvSpPr>
          <p:cNvPr id="67" name="Shape 34">
            <a:extLst>
              <a:ext uri="{FF2B5EF4-FFF2-40B4-BE49-F238E27FC236}">
                <a16:creationId xmlns:a16="http://schemas.microsoft.com/office/drawing/2014/main" id="{70905183-27BF-641E-C94C-9375B3F31FE1}"/>
              </a:ext>
            </a:extLst>
          </p:cNvPr>
          <p:cNvSpPr/>
          <p:nvPr/>
        </p:nvSpPr>
        <p:spPr>
          <a:xfrm>
            <a:off x="838200" y="4415790"/>
            <a:ext cx="350520" cy="350520"/>
          </a:xfrm>
          <a:prstGeom prst="ellipse">
            <a:avLst/>
          </a:prstGeom>
          <a:solidFill>
            <a:srgbClr val="028CCF"/>
          </a:solidFill>
          <a:ln>
            <a:noFill/>
          </a:ln>
        </p:spPr>
      </p:sp>
      <p:sp>
        <p:nvSpPr>
          <p:cNvPr id="69" name="Shape 35">
            <a:extLst>
              <a:ext uri="{FF2B5EF4-FFF2-40B4-BE49-F238E27FC236}">
                <a16:creationId xmlns:a16="http://schemas.microsoft.com/office/drawing/2014/main" id="{4296F79A-AE19-CE23-6822-591EFB2EBD86}"/>
              </a:ext>
            </a:extLst>
          </p:cNvPr>
          <p:cNvSpPr/>
          <p:nvPr/>
        </p:nvSpPr>
        <p:spPr>
          <a:xfrm>
            <a:off x="1413510" y="4213860"/>
            <a:ext cx="914" cy="754380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71" name="Shape 36">
            <a:extLst>
              <a:ext uri="{FF2B5EF4-FFF2-40B4-BE49-F238E27FC236}">
                <a16:creationId xmlns:a16="http://schemas.microsoft.com/office/drawing/2014/main" id="{85EF3A06-1871-F797-B335-F26A82376BAA}"/>
              </a:ext>
            </a:extLst>
          </p:cNvPr>
          <p:cNvSpPr/>
          <p:nvPr/>
        </p:nvSpPr>
        <p:spPr>
          <a:xfrm>
            <a:off x="3928110" y="4213860"/>
            <a:ext cx="914" cy="754380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73" name="Shape 37">
            <a:extLst>
              <a:ext uri="{FF2B5EF4-FFF2-40B4-BE49-F238E27FC236}">
                <a16:creationId xmlns:a16="http://schemas.microsoft.com/office/drawing/2014/main" id="{AFD77818-ADEE-61E1-D374-2019F6726B1B}"/>
              </a:ext>
            </a:extLst>
          </p:cNvPr>
          <p:cNvSpPr/>
          <p:nvPr/>
        </p:nvSpPr>
        <p:spPr>
          <a:xfrm>
            <a:off x="9060180" y="4213860"/>
            <a:ext cx="2514600" cy="754380"/>
          </a:xfrm>
          <a:prstGeom prst="rect">
            <a:avLst/>
          </a:prstGeom>
          <a:solidFill>
            <a:srgbClr val="F8FCFF"/>
          </a:solidFill>
          <a:ln>
            <a:noFill/>
          </a:ln>
        </p:spPr>
      </p:sp>
      <p:sp>
        <p:nvSpPr>
          <p:cNvPr id="75" name="Shape 38">
            <a:extLst>
              <a:ext uri="{FF2B5EF4-FFF2-40B4-BE49-F238E27FC236}">
                <a16:creationId xmlns:a16="http://schemas.microsoft.com/office/drawing/2014/main" id="{A3A799E1-DD49-B7EB-A605-66753B812982}"/>
              </a:ext>
            </a:extLst>
          </p:cNvPr>
          <p:cNvSpPr/>
          <p:nvPr/>
        </p:nvSpPr>
        <p:spPr>
          <a:xfrm>
            <a:off x="9063990" y="4213860"/>
            <a:ext cx="914" cy="754380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77" name="Shape 39">
            <a:extLst>
              <a:ext uri="{FF2B5EF4-FFF2-40B4-BE49-F238E27FC236}">
                <a16:creationId xmlns:a16="http://schemas.microsoft.com/office/drawing/2014/main" id="{44E958FB-957A-1C4B-C68D-DEF44C855CE0}"/>
              </a:ext>
            </a:extLst>
          </p:cNvPr>
          <p:cNvSpPr/>
          <p:nvPr/>
        </p:nvSpPr>
        <p:spPr>
          <a:xfrm>
            <a:off x="617220" y="4975860"/>
            <a:ext cx="792480" cy="762000"/>
          </a:xfrm>
          <a:prstGeom prst="rect">
            <a:avLst/>
          </a:prstGeom>
          <a:solidFill>
            <a:srgbClr val="F5FBFF"/>
          </a:solidFill>
          <a:ln>
            <a:noFill/>
          </a:ln>
        </p:spPr>
      </p:sp>
      <p:sp>
        <p:nvSpPr>
          <p:cNvPr id="79" name="Shape 40">
            <a:extLst>
              <a:ext uri="{FF2B5EF4-FFF2-40B4-BE49-F238E27FC236}">
                <a16:creationId xmlns:a16="http://schemas.microsoft.com/office/drawing/2014/main" id="{593164A7-F3FD-88AC-70DE-256F5BD49969}"/>
              </a:ext>
            </a:extLst>
          </p:cNvPr>
          <p:cNvSpPr/>
          <p:nvPr/>
        </p:nvSpPr>
        <p:spPr>
          <a:xfrm>
            <a:off x="838200" y="5181600"/>
            <a:ext cx="350520" cy="350520"/>
          </a:xfrm>
          <a:prstGeom prst="ellipse">
            <a:avLst/>
          </a:prstGeom>
          <a:solidFill>
            <a:srgbClr val="00AB7A"/>
          </a:solidFill>
          <a:ln>
            <a:noFill/>
          </a:ln>
        </p:spPr>
      </p:sp>
      <p:sp>
        <p:nvSpPr>
          <p:cNvPr id="81" name="Shape 41">
            <a:extLst>
              <a:ext uri="{FF2B5EF4-FFF2-40B4-BE49-F238E27FC236}">
                <a16:creationId xmlns:a16="http://schemas.microsoft.com/office/drawing/2014/main" id="{F7584EEA-C7AC-3743-3A8D-F4469524235A}"/>
              </a:ext>
            </a:extLst>
          </p:cNvPr>
          <p:cNvSpPr/>
          <p:nvPr/>
        </p:nvSpPr>
        <p:spPr>
          <a:xfrm>
            <a:off x="1413510" y="4975860"/>
            <a:ext cx="914" cy="762000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83" name="Shape 42">
            <a:extLst>
              <a:ext uri="{FF2B5EF4-FFF2-40B4-BE49-F238E27FC236}">
                <a16:creationId xmlns:a16="http://schemas.microsoft.com/office/drawing/2014/main" id="{6AC5FA11-4587-A6EE-1BCD-8D34B51FB3EF}"/>
              </a:ext>
            </a:extLst>
          </p:cNvPr>
          <p:cNvSpPr/>
          <p:nvPr/>
        </p:nvSpPr>
        <p:spPr>
          <a:xfrm>
            <a:off x="3928110" y="4975860"/>
            <a:ext cx="914" cy="762000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85" name="Shape 43">
            <a:extLst>
              <a:ext uri="{FF2B5EF4-FFF2-40B4-BE49-F238E27FC236}">
                <a16:creationId xmlns:a16="http://schemas.microsoft.com/office/drawing/2014/main" id="{6D5AFD68-F8BC-643A-C90F-554B27B2ABCD}"/>
              </a:ext>
            </a:extLst>
          </p:cNvPr>
          <p:cNvSpPr/>
          <p:nvPr/>
        </p:nvSpPr>
        <p:spPr>
          <a:xfrm>
            <a:off x="9060180" y="4975860"/>
            <a:ext cx="2514600" cy="762000"/>
          </a:xfrm>
          <a:prstGeom prst="rect">
            <a:avLst/>
          </a:prstGeom>
          <a:solidFill>
            <a:srgbClr val="F8FCFF"/>
          </a:solidFill>
          <a:ln>
            <a:noFill/>
          </a:ln>
        </p:spPr>
      </p:sp>
      <p:sp>
        <p:nvSpPr>
          <p:cNvPr id="87" name="Shape 44">
            <a:extLst>
              <a:ext uri="{FF2B5EF4-FFF2-40B4-BE49-F238E27FC236}">
                <a16:creationId xmlns:a16="http://schemas.microsoft.com/office/drawing/2014/main" id="{DD0206AB-6237-7E96-D5E3-CA166B0E7C27}"/>
              </a:ext>
            </a:extLst>
          </p:cNvPr>
          <p:cNvSpPr/>
          <p:nvPr/>
        </p:nvSpPr>
        <p:spPr>
          <a:xfrm>
            <a:off x="9063990" y="4975860"/>
            <a:ext cx="914" cy="762000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89" name="Shape 45">
            <a:extLst>
              <a:ext uri="{FF2B5EF4-FFF2-40B4-BE49-F238E27FC236}">
                <a16:creationId xmlns:a16="http://schemas.microsoft.com/office/drawing/2014/main" id="{B1FC1131-6414-2C68-C4E6-1A204084F9EA}"/>
              </a:ext>
            </a:extLst>
          </p:cNvPr>
          <p:cNvSpPr/>
          <p:nvPr/>
        </p:nvSpPr>
        <p:spPr>
          <a:xfrm>
            <a:off x="609600" y="5859780"/>
            <a:ext cx="10972800" cy="655320"/>
          </a:xfrm>
          <a:prstGeom prst="roundRect">
            <a:avLst>
              <a:gd name="adj" fmla="val 20930"/>
            </a:avLst>
          </a:prstGeom>
          <a:solidFill>
            <a:srgbClr val="EBFAFF"/>
          </a:solidFill>
          <a:ln w="19050">
            <a:solidFill>
              <a:srgbClr val="00A7FF"/>
            </a:solidFill>
            <a:prstDash val="solid"/>
          </a:ln>
        </p:spPr>
      </p:sp>
      <p:sp>
        <p:nvSpPr>
          <p:cNvPr id="91" name="TextBox 4">
            <a:extLst>
              <a:ext uri="{FF2B5EF4-FFF2-40B4-BE49-F238E27FC236}">
                <a16:creationId xmlns:a16="http://schemas.microsoft.com/office/drawing/2014/main" id="{02B79B86-B96F-52E2-A065-45CD208ED213}"/>
              </a:ext>
            </a:extLst>
          </p:cNvPr>
          <p:cNvSpPr txBox="1"/>
          <p:nvPr/>
        </p:nvSpPr>
        <p:spPr>
          <a:xfrm>
            <a:off x="982980" y="1074420"/>
            <a:ext cx="851306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05"/>
              </a:lnSpc>
            </a:pPr>
            <a:r>
              <a:rPr lang="zh-CN" sz="1560" b="1" dirty="0">
                <a:solidFill>
                  <a:srgbClr val="0F2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五类人才短板不是“培训问题”，而是直接影响 AI 投资回报、交付质量与规模化推广的经营问题</a:t>
            </a:r>
          </a:p>
        </p:txBody>
      </p:sp>
      <p:sp>
        <p:nvSpPr>
          <p:cNvPr id="93" name="TextBox 5">
            <a:extLst>
              <a:ext uri="{FF2B5EF4-FFF2-40B4-BE49-F238E27FC236}">
                <a16:creationId xmlns:a16="http://schemas.microsoft.com/office/drawing/2014/main" id="{A6BBB930-9B74-BF8A-A406-B2B45EE801B7}"/>
              </a:ext>
            </a:extLst>
          </p:cNvPr>
          <p:cNvSpPr txBox="1"/>
          <p:nvPr/>
        </p:nvSpPr>
        <p:spPr>
          <a:xfrm>
            <a:off x="4061460" y="1645920"/>
            <a:ext cx="4916424" cy="233172"/>
          </a:xfrm>
          <a:prstGeom prst="rect">
            <a:avLst/>
          </a:prstGeom>
          <a:noFill/>
        </p:spPr>
        <p:txBody>
          <a:bodyPr wrap="square" lIns="144780" tIns="0" rIns="13716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典型表现与直接影响</a:t>
            </a:r>
          </a:p>
        </p:txBody>
      </p:sp>
      <p:sp>
        <p:nvSpPr>
          <p:cNvPr id="95" name="TextBox 6">
            <a:extLst>
              <a:ext uri="{FF2B5EF4-FFF2-40B4-BE49-F238E27FC236}">
                <a16:creationId xmlns:a16="http://schemas.microsoft.com/office/drawing/2014/main" id="{52BF654E-3C9C-1D49-D32D-ABCB0D13B83F}"/>
              </a:ext>
            </a:extLst>
          </p:cNvPr>
          <p:cNvSpPr txBox="1"/>
          <p:nvPr/>
        </p:nvSpPr>
        <p:spPr>
          <a:xfrm>
            <a:off x="9197340" y="1645920"/>
            <a:ext cx="2295144" cy="233172"/>
          </a:xfrm>
          <a:prstGeom prst="rect">
            <a:avLst/>
          </a:prstGeom>
          <a:noFill/>
        </p:spPr>
        <p:txBody>
          <a:bodyPr wrap="square" lIns="144780" tIns="0" rIns="13716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对应建设需求</a:t>
            </a:r>
          </a:p>
        </p:txBody>
      </p:sp>
      <p:sp>
        <p:nvSpPr>
          <p:cNvPr id="97" name="TextBox 7">
            <a:extLst>
              <a:ext uri="{FF2B5EF4-FFF2-40B4-BE49-F238E27FC236}">
                <a16:creationId xmlns:a16="http://schemas.microsoft.com/office/drawing/2014/main" id="{29A9E66D-8B62-69A4-1898-98A1EAD62F9B}"/>
              </a:ext>
            </a:extLst>
          </p:cNvPr>
          <p:cNvSpPr txBox="1"/>
          <p:nvPr/>
        </p:nvSpPr>
        <p:spPr>
          <a:xfrm>
            <a:off x="1554480" y="2087880"/>
            <a:ext cx="228752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5"/>
              </a:lnSpc>
            </a:pPr>
            <a:r>
              <a:rPr lang="zh-CN" sz="132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全员认知与使用碎片化</a:t>
            </a:r>
          </a:p>
        </p:txBody>
      </p:sp>
      <p:sp>
        <p:nvSpPr>
          <p:cNvPr id="99" name="TextBox 8">
            <a:extLst>
              <a:ext uri="{FF2B5EF4-FFF2-40B4-BE49-F238E27FC236}">
                <a16:creationId xmlns:a16="http://schemas.microsoft.com/office/drawing/2014/main" id="{75416F07-7D15-06C1-2C08-F7C4E4FE4EC6}"/>
              </a:ext>
            </a:extLst>
          </p:cNvPr>
          <p:cNvSpPr txBox="1"/>
          <p:nvPr/>
        </p:nvSpPr>
        <p:spPr>
          <a:xfrm>
            <a:off x="1554480" y="2339340"/>
            <a:ext cx="228752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会提问，不等于会完成岗位任务</a:t>
            </a:r>
          </a:p>
        </p:txBody>
      </p:sp>
      <p:sp>
        <p:nvSpPr>
          <p:cNvPr id="101" name="TextBox 9">
            <a:extLst>
              <a:ext uri="{FF2B5EF4-FFF2-40B4-BE49-F238E27FC236}">
                <a16:creationId xmlns:a16="http://schemas.microsoft.com/office/drawing/2014/main" id="{F77441BE-D7F6-3E71-6EAC-E5F2F3C95FD7}"/>
              </a:ext>
            </a:extLst>
          </p:cNvPr>
          <p:cNvSpPr txBox="1"/>
          <p:nvPr/>
        </p:nvSpPr>
        <p:spPr>
          <a:xfrm>
            <a:off x="4069080" y="2103120"/>
            <a:ext cx="490880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表现：</a:t>
            </a: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任务表达、上下文组织、结果核验与安全意识不足；</a:t>
            </a:r>
            <a:endParaRPr lang="en-US" altLang="zh-CN" sz="120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1565"/>
              </a:lnSpc>
            </a:pPr>
            <a:r>
              <a:rPr 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影响：</a:t>
            </a: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低效试用、结果失真与数据风险并存。</a:t>
            </a:r>
          </a:p>
        </p:txBody>
      </p:sp>
      <p:sp>
        <p:nvSpPr>
          <p:cNvPr id="103" name="TextBox 10">
            <a:extLst>
              <a:ext uri="{FF2B5EF4-FFF2-40B4-BE49-F238E27FC236}">
                <a16:creationId xmlns:a16="http://schemas.microsoft.com/office/drawing/2014/main" id="{E6B4593B-BE5A-3A50-5954-EA2527B25C43}"/>
              </a:ext>
            </a:extLst>
          </p:cNvPr>
          <p:cNvSpPr txBox="1"/>
          <p:nvPr/>
        </p:nvSpPr>
        <p:spPr>
          <a:xfrm>
            <a:off x="9204960" y="2103120"/>
            <a:ext cx="228752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b="1" dirty="0">
                <a:solidFill>
                  <a:srgbClr val="0F2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建立全员 AI 素养、岗位实操与安全使用底线，形成可复用的提效方法。</a:t>
            </a:r>
          </a:p>
        </p:txBody>
      </p:sp>
      <p:sp>
        <p:nvSpPr>
          <p:cNvPr id="105" name="TextBox 11">
            <a:extLst>
              <a:ext uri="{FF2B5EF4-FFF2-40B4-BE49-F238E27FC236}">
                <a16:creationId xmlns:a16="http://schemas.microsoft.com/office/drawing/2014/main" id="{FC21A6F8-DB81-6166-771D-47F72DD25B5D}"/>
              </a:ext>
            </a:extLst>
          </p:cNvPr>
          <p:cNvSpPr txBox="1"/>
          <p:nvPr/>
        </p:nvSpPr>
        <p:spPr>
          <a:xfrm>
            <a:off x="1554480" y="2849880"/>
            <a:ext cx="228752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5"/>
              </a:lnSpc>
            </a:pPr>
            <a:r>
              <a:rPr lang="zh-CN" sz="132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业务场景难以准确定义</a:t>
            </a:r>
          </a:p>
        </p:txBody>
      </p:sp>
      <p:sp>
        <p:nvSpPr>
          <p:cNvPr id="107" name="TextBox 12">
            <a:extLst>
              <a:ext uri="{FF2B5EF4-FFF2-40B4-BE49-F238E27FC236}">
                <a16:creationId xmlns:a16="http://schemas.microsoft.com/office/drawing/2014/main" id="{5D2EF987-FF90-C44A-6D80-7CD21D3ABFEC}"/>
              </a:ext>
            </a:extLst>
          </p:cNvPr>
          <p:cNvSpPr txBox="1"/>
          <p:nvPr/>
        </p:nvSpPr>
        <p:spPr>
          <a:xfrm>
            <a:off x="1554480" y="3101340"/>
            <a:ext cx="228752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经验与流程无法转成可实施任务</a:t>
            </a:r>
          </a:p>
        </p:txBody>
      </p:sp>
      <p:sp>
        <p:nvSpPr>
          <p:cNvPr id="109" name="TextBox 13">
            <a:extLst>
              <a:ext uri="{FF2B5EF4-FFF2-40B4-BE49-F238E27FC236}">
                <a16:creationId xmlns:a16="http://schemas.microsoft.com/office/drawing/2014/main" id="{D6D90D40-2063-C5E1-4FBD-8AE3D2426124}"/>
              </a:ext>
            </a:extLst>
          </p:cNvPr>
          <p:cNvSpPr txBox="1"/>
          <p:nvPr/>
        </p:nvSpPr>
        <p:spPr>
          <a:xfrm>
            <a:off x="4069080" y="2865120"/>
            <a:ext cx="490880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表现：</a:t>
            </a: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目标、输入输出、资料来源和评价指标含糊；</a:t>
            </a:r>
            <a:endParaRPr lang="en-US" altLang="zh-CN" sz="120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1565"/>
              </a:lnSpc>
            </a:pPr>
            <a:r>
              <a:rPr 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影响：</a:t>
            </a: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原型反复、需求漂移、价值难验证。</a:t>
            </a:r>
          </a:p>
        </p:txBody>
      </p:sp>
      <p:sp>
        <p:nvSpPr>
          <p:cNvPr id="111" name="TextBox 14">
            <a:extLst>
              <a:ext uri="{FF2B5EF4-FFF2-40B4-BE49-F238E27FC236}">
                <a16:creationId xmlns:a16="http://schemas.microsoft.com/office/drawing/2014/main" id="{542666DE-B417-91F4-138F-75000D0F9D39}"/>
              </a:ext>
            </a:extLst>
          </p:cNvPr>
          <p:cNvSpPr txBox="1"/>
          <p:nvPr/>
        </p:nvSpPr>
        <p:spPr>
          <a:xfrm>
            <a:off x="9204960" y="2766060"/>
            <a:ext cx="2287524" cy="621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b="1" dirty="0">
                <a:solidFill>
                  <a:srgbClr val="0F2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培养业务骨干的场景识别、任务拆解和需求定义能力，以价值指标牵引项目。</a:t>
            </a:r>
          </a:p>
        </p:txBody>
      </p:sp>
      <p:sp>
        <p:nvSpPr>
          <p:cNvPr id="113" name="TextBox 15">
            <a:extLst>
              <a:ext uri="{FF2B5EF4-FFF2-40B4-BE49-F238E27FC236}">
                <a16:creationId xmlns:a16="http://schemas.microsoft.com/office/drawing/2014/main" id="{0EC94A16-FD86-EAFF-93F7-3E10A2346406}"/>
              </a:ext>
            </a:extLst>
          </p:cNvPr>
          <p:cNvSpPr txBox="1"/>
          <p:nvPr/>
        </p:nvSpPr>
        <p:spPr>
          <a:xfrm>
            <a:off x="1554480" y="3611880"/>
            <a:ext cx="228752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5"/>
              </a:lnSpc>
            </a:pPr>
            <a:r>
              <a:rPr lang="zh-CN" sz="132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工程交付能力存在断层</a:t>
            </a:r>
          </a:p>
        </p:txBody>
      </p:sp>
      <p:sp>
        <p:nvSpPr>
          <p:cNvPr id="115" name="TextBox 16">
            <a:extLst>
              <a:ext uri="{FF2B5EF4-FFF2-40B4-BE49-F238E27FC236}">
                <a16:creationId xmlns:a16="http://schemas.microsoft.com/office/drawing/2014/main" id="{EAB237AB-C37E-B238-CED2-F9A4097A5239}"/>
              </a:ext>
            </a:extLst>
          </p:cNvPr>
          <p:cNvSpPr txBox="1"/>
          <p:nvPr/>
        </p:nvSpPr>
        <p:spPr>
          <a:xfrm>
            <a:off x="1554480" y="3863340"/>
            <a:ext cx="228752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会调用模型，缺少完整工程能力</a:t>
            </a:r>
          </a:p>
        </p:txBody>
      </p:sp>
      <p:sp>
        <p:nvSpPr>
          <p:cNvPr id="117" name="TextBox 17">
            <a:extLst>
              <a:ext uri="{FF2B5EF4-FFF2-40B4-BE49-F238E27FC236}">
                <a16:creationId xmlns:a16="http://schemas.microsoft.com/office/drawing/2014/main" id="{24A8504B-7C45-0592-A7A9-50BC0BF8B987}"/>
              </a:ext>
            </a:extLst>
          </p:cNvPr>
          <p:cNvSpPr txBox="1"/>
          <p:nvPr/>
        </p:nvSpPr>
        <p:spPr>
          <a:xfrm>
            <a:off x="4069080" y="3627120"/>
            <a:ext cx="490880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表现：</a:t>
            </a: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RAG、工具集成、工作流、多智能体、评测优化与运维不足；</a:t>
            </a:r>
            <a:endParaRPr lang="en-US" altLang="zh-CN" sz="120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1565"/>
              </a:lnSpc>
            </a:pPr>
            <a:r>
              <a:rPr 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影响：</a:t>
            </a: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项目停在演示，难以稳定上线。</a:t>
            </a:r>
          </a:p>
        </p:txBody>
      </p:sp>
      <p:sp>
        <p:nvSpPr>
          <p:cNvPr id="119" name="TextBox 18">
            <a:extLst>
              <a:ext uri="{FF2B5EF4-FFF2-40B4-BE49-F238E27FC236}">
                <a16:creationId xmlns:a16="http://schemas.microsoft.com/office/drawing/2014/main" id="{3C507A50-B05E-5543-31A6-4BD0E6C06D7B}"/>
              </a:ext>
            </a:extLst>
          </p:cNvPr>
          <p:cNvSpPr txBox="1"/>
          <p:nvPr/>
        </p:nvSpPr>
        <p:spPr>
          <a:xfrm>
            <a:off x="9204960" y="3528060"/>
            <a:ext cx="2287524" cy="621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b="1" dirty="0">
                <a:solidFill>
                  <a:srgbClr val="0F2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以分级项目实训补齐构建、测试、交付、维护能力，沉淀可核验工程证据。</a:t>
            </a:r>
          </a:p>
        </p:txBody>
      </p:sp>
      <p:sp>
        <p:nvSpPr>
          <p:cNvPr id="121" name="TextBox 19">
            <a:extLst>
              <a:ext uri="{FF2B5EF4-FFF2-40B4-BE49-F238E27FC236}">
                <a16:creationId xmlns:a16="http://schemas.microsoft.com/office/drawing/2014/main" id="{B698FD6B-F458-62D5-FF95-29CCCA3239D5}"/>
              </a:ext>
            </a:extLst>
          </p:cNvPr>
          <p:cNvSpPr txBox="1"/>
          <p:nvPr/>
        </p:nvSpPr>
        <p:spPr>
          <a:xfrm>
            <a:off x="1554480" y="4373880"/>
            <a:ext cx="228752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5"/>
              </a:lnSpc>
            </a:pPr>
            <a:r>
              <a:rPr lang="zh-CN" sz="132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人才标准与成长路径缺失</a:t>
            </a:r>
          </a:p>
        </p:txBody>
      </p:sp>
      <p:sp>
        <p:nvSpPr>
          <p:cNvPr id="123" name="TextBox 20">
            <a:extLst>
              <a:ext uri="{FF2B5EF4-FFF2-40B4-BE49-F238E27FC236}">
                <a16:creationId xmlns:a16="http://schemas.microsoft.com/office/drawing/2014/main" id="{A2500055-3833-C268-97C6-1E7322CBB57C}"/>
              </a:ext>
            </a:extLst>
          </p:cNvPr>
          <p:cNvSpPr txBox="1"/>
          <p:nvPr/>
        </p:nvSpPr>
        <p:spPr>
          <a:xfrm>
            <a:off x="1554480" y="4625340"/>
            <a:ext cx="228752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课程、岗位、等级之间没有统一语言</a:t>
            </a:r>
          </a:p>
        </p:txBody>
      </p:sp>
      <p:sp>
        <p:nvSpPr>
          <p:cNvPr id="125" name="TextBox 21">
            <a:extLst>
              <a:ext uri="{FF2B5EF4-FFF2-40B4-BE49-F238E27FC236}">
                <a16:creationId xmlns:a16="http://schemas.microsoft.com/office/drawing/2014/main" id="{CFB90A69-4692-02A0-BD6E-1706F11C0E3B}"/>
              </a:ext>
            </a:extLst>
          </p:cNvPr>
          <p:cNvSpPr txBox="1"/>
          <p:nvPr/>
        </p:nvSpPr>
        <p:spPr>
          <a:xfrm>
            <a:off x="4069080" y="4389120"/>
            <a:ext cx="490880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表现：</a:t>
            </a: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能力无法分层、作品难比较、项目角色无依据；</a:t>
            </a:r>
            <a:endParaRPr lang="en-US" altLang="zh-CN" sz="120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1565"/>
              </a:lnSpc>
            </a:pPr>
            <a:r>
              <a:rPr 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影响：</a:t>
            </a: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选人、组队和培养资源配置错配。</a:t>
            </a:r>
          </a:p>
        </p:txBody>
      </p:sp>
      <p:sp>
        <p:nvSpPr>
          <p:cNvPr id="127" name="TextBox 22">
            <a:extLst>
              <a:ext uri="{FF2B5EF4-FFF2-40B4-BE49-F238E27FC236}">
                <a16:creationId xmlns:a16="http://schemas.microsoft.com/office/drawing/2014/main" id="{2691F27D-B707-C391-BF8B-C896485CFF84}"/>
              </a:ext>
            </a:extLst>
          </p:cNvPr>
          <p:cNvSpPr txBox="1"/>
          <p:nvPr/>
        </p:nvSpPr>
        <p:spPr>
          <a:xfrm>
            <a:off x="9204960" y="4389120"/>
            <a:ext cx="228752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b="1" dirty="0">
                <a:solidFill>
                  <a:srgbClr val="0F2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建立四层人才标准、认证评价与人才档案，贯通培养推荐和项目选人。</a:t>
            </a:r>
          </a:p>
        </p:txBody>
      </p:sp>
      <p:sp>
        <p:nvSpPr>
          <p:cNvPr id="129" name="TextBox 23">
            <a:extLst>
              <a:ext uri="{FF2B5EF4-FFF2-40B4-BE49-F238E27FC236}">
                <a16:creationId xmlns:a16="http://schemas.microsoft.com/office/drawing/2014/main" id="{81595A4F-239C-E3B6-6E22-1D9DD09440E2}"/>
              </a:ext>
            </a:extLst>
          </p:cNvPr>
          <p:cNvSpPr txBox="1"/>
          <p:nvPr/>
        </p:nvSpPr>
        <p:spPr>
          <a:xfrm>
            <a:off x="1554480" y="5143500"/>
            <a:ext cx="228752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5"/>
              </a:lnSpc>
            </a:pPr>
            <a:r>
              <a:rPr lang="zh-CN" sz="132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培养与项目运营相互割裂</a:t>
            </a:r>
          </a:p>
        </p:txBody>
      </p:sp>
      <p:sp>
        <p:nvSpPr>
          <p:cNvPr id="131" name="TextBox 24">
            <a:extLst>
              <a:ext uri="{FF2B5EF4-FFF2-40B4-BE49-F238E27FC236}">
                <a16:creationId xmlns:a16="http://schemas.microsoft.com/office/drawing/2014/main" id="{5792270B-8C41-0F62-570F-0EE44118CACA}"/>
              </a:ext>
            </a:extLst>
          </p:cNvPr>
          <p:cNvSpPr txBox="1"/>
          <p:nvPr/>
        </p:nvSpPr>
        <p:spPr>
          <a:xfrm>
            <a:off x="1554480" y="5387340"/>
            <a:ext cx="228752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学、练、评、证、用没有形成闭环</a:t>
            </a:r>
          </a:p>
        </p:txBody>
      </p:sp>
      <p:sp>
        <p:nvSpPr>
          <p:cNvPr id="133" name="TextBox 25">
            <a:extLst>
              <a:ext uri="{FF2B5EF4-FFF2-40B4-BE49-F238E27FC236}">
                <a16:creationId xmlns:a16="http://schemas.microsoft.com/office/drawing/2014/main" id="{F9F4CB06-7FF5-341E-540C-2DDCFA616D62}"/>
              </a:ext>
            </a:extLst>
          </p:cNvPr>
          <p:cNvSpPr txBox="1"/>
          <p:nvPr/>
        </p:nvSpPr>
        <p:spPr>
          <a:xfrm>
            <a:off x="4069080" y="5158740"/>
            <a:ext cx="490880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表现：</a:t>
            </a: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培训结束即终止，案例、作品、标准与反馈无法沉淀；</a:t>
            </a:r>
            <a:endParaRPr lang="en-US" altLang="zh-CN" sz="120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1565"/>
              </a:lnSpc>
            </a:pPr>
            <a:r>
              <a:rPr 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影响：</a:t>
            </a: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成果难延续、优秀经验难复制。</a:t>
            </a:r>
          </a:p>
        </p:txBody>
      </p:sp>
      <p:sp>
        <p:nvSpPr>
          <p:cNvPr id="135" name="TextBox 26">
            <a:extLst>
              <a:ext uri="{FF2B5EF4-FFF2-40B4-BE49-F238E27FC236}">
                <a16:creationId xmlns:a16="http://schemas.microsoft.com/office/drawing/2014/main" id="{B9193FD3-33A3-B1F9-C851-13B8062A6344}"/>
              </a:ext>
            </a:extLst>
          </p:cNvPr>
          <p:cNvSpPr txBox="1"/>
          <p:nvPr/>
        </p:nvSpPr>
        <p:spPr>
          <a:xfrm>
            <a:off x="9204960" y="5059680"/>
            <a:ext cx="2287524" cy="621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b="1" dirty="0">
                <a:solidFill>
                  <a:srgbClr val="0F2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贯通学习、实践、评价、认证、应用与运营，持续沉淀人才、项目和资产。</a:t>
            </a:r>
          </a:p>
        </p:txBody>
      </p:sp>
      <p:sp>
        <p:nvSpPr>
          <p:cNvPr id="137" name="TextBox 27">
            <a:extLst>
              <a:ext uri="{FF2B5EF4-FFF2-40B4-BE49-F238E27FC236}">
                <a16:creationId xmlns:a16="http://schemas.microsoft.com/office/drawing/2014/main" id="{763BBBF4-58C3-D095-022F-F59534003436}"/>
              </a:ext>
            </a:extLst>
          </p:cNvPr>
          <p:cNvSpPr txBox="1"/>
          <p:nvPr/>
        </p:nvSpPr>
        <p:spPr>
          <a:xfrm>
            <a:off x="807720" y="5974080"/>
            <a:ext cx="170078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</a:pPr>
            <a:r>
              <a:rPr lang="zh-CN" sz="108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共同建设指向</a:t>
            </a:r>
          </a:p>
        </p:txBody>
      </p:sp>
      <p:sp>
        <p:nvSpPr>
          <p:cNvPr id="139" name="TextBox 28">
            <a:extLst>
              <a:ext uri="{FF2B5EF4-FFF2-40B4-BE49-F238E27FC236}">
                <a16:creationId xmlns:a16="http://schemas.microsoft.com/office/drawing/2014/main" id="{47964A1D-BC05-686E-6963-9342E7C282DF}"/>
              </a:ext>
            </a:extLst>
          </p:cNvPr>
          <p:cNvSpPr txBox="1"/>
          <p:nvPr/>
        </p:nvSpPr>
        <p:spPr>
          <a:xfrm>
            <a:off x="807720" y="6179820"/>
            <a:ext cx="170078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30"/>
              </a:lnSpc>
              <a:spcBef>
                <a:spcPts val="240"/>
              </a:spcBef>
            </a:pPr>
            <a:r>
              <a:rPr lang="zh-CN" sz="144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一体化人才培养体系</a:t>
            </a:r>
          </a:p>
        </p:txBody>
      </p:sp>
      <p:sp>
        <p:nvSpPr>
          <p:cNvPr id="141" name="TextBox 29">
            <a:extLst>
              <a:ext uri="{FF2B5EF4-FFF2-40B4-BE49-F238E27FC236}">
                <a16:creationId xmlns:a16="http://schemas.microsoft.com/office/drawing/2014/main" id="{2F0769BA-6734-AF4B-13AC-B3C6627E45C7}"/>
              </a:ext>
            </a:extLst>
          </p:cNvPr>
          <p:cNvSpPr txBox="1"/>
          <p:nvPr/>
        </p:nvSpPr>
        <p:spPr>
          <a:xfrm>
            <a:off x="617220" y="1645920"/>
            <a:ext cx="8473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序号</a:t>
            </a:r>
          </a:p>
        </p:txBody>
      </p:sp>
      <p:sp>
        <p:nvSpPr>
          <p:cNvPr id="143" name="TextBox 30">
            <a:extLst>
              <a:ext uri="{FF2B5EF4-FFF2-40B4-BE49-F238E27FC236}">
                <a16:creationId xmlns:a16="http://schemas.microsoft.com/office/drawing/2014/main" id="{10912ED5-A18F-12E6-E52F-3193047D4E44}"/>
              </a:ext>
            </a:extLst>
          </p:cNvPr>
          <p:cNvSpPr txBox="1"/>
          <p:nvPr/>
        </p:nvSpPr>
        <p:spPr>
          <a:xfrm>
            <a:off x="1546860" y="1645920"/>
            <a:ext cx="22951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核心问题</a:t>
            </a:r>
          </a:p>
        </p:txBody>
      </p:sp>
      <p:sp>
        <p:nvSpPr>
          <p:cNvPr id="145" name="TextBox 31">
            <a:extLst>
              <a:ext uri="{FF2B5EF4-FFF2-40B4-BE49-F238E27FC236}">
                <a16:creationId xmlns:a16="http://schemas.microsoft.com/office/drawing/2014/main" id="{B649CB80-4A86-74B0-584A-29997DC6220D}"/>
              </a:ext>
            </a:extLst>
          </p:cNvPr>
          <p:cNvSpPr txBox="1"/>
          <p:nvPr/>
        </p:nvSpPr>
        <p:spPr>
          <a:xfrm>
            <a:off x="897295" y="2190750"/>
            <a:ext cx="261676" cy="2484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425"/>
              </a:lnSpc>
            </a:pPr>
            <a:r>
              <a:rPr lang="en-US" sz="13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47" name="TextBox 32">
            <a:extLst>
              <a:ext uri="{FF2B5EF4-FFF2-40B4-BE49-F238E27FC236}">
                <a16:creationId xmlns:a16="http://schemas.microsoft.com/office/drawing/2014/main" id="{8A4EE1B9-1069-7F44-B6BD-53035F262F52}"/>
              </a:ext>
            </a:extLst>
          </p:cNvPr>
          <p:cNvSpPr txBox="1"/>
          <p:nvPr/>
        </p:nvSpPr>
        <p:spPr>
          <a:xfrm>
            <a:off x="897295" y="2952750"/>
            <a:ext cx="261676" cy="2484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425"/>
              </a:lnSpc>
            </a:pPr>
            <a:r>
              <a:rPr lang="en-US" sz="13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49" name="TextBox 33">
            <a:extLst>
              <a:ext uri="{FF2B5EF4-FFF2-40B4-BE49-F238E27FC236}">
                <a16:creationId xmlns:a16="http://schemas.microsoft.com/office/drawing/2014/main" id="{FBD845B3-7F0A-3D9E-5532-C03FB2C05C92}"/>
              </a:ext>
            </a:extLst>
          </p:cNvPr>
          <p:cNvSpPr txBox="1"/>
          <p:nvPr/>
        </p:nvSpPr>
        <p:spPr>
          <a:xfrm>
            <a:off x="897295" y="3714750"/>
            <a:ext cx="261676" cy="2484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425"/>
              </a:lnSpc>
            </a:pPr>
            <a:r>
              <a:rPr lang="en-US" sz="13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51" name="TextBox 34">
            <a:extLst>
              <a:ext uri="{FF2B5EF4-FFF2-40B4-BE49-F238E27FC236}">
                <a16:creationId xmlns:a16="http://schemas.microsoft.com/office/drawing/2014/main" id="{C49DFCD8-BE1E-63B5-7FC2-F43657740BC2}"/>
              </a:ext>
            </a:extLst>
          </p:cNvPr>
          <p:cNvSpPr txBox="1"/>
          <p:nvPr/>
        </p:nvSpPr>
        <p:spPr>
          <a:xfrm>
            <a:off x="890945" y="4470400"/>
            <a:ext cx="261676" cy="2484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425"/>
              </a:lnSpc>
            </a:pPr>
            <a:r>
              <a:rPr lang="en-US" sz="13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153" name="TextBox 35">
            <a:extLst>
              <a:ext uri="{FF2B5EF4-FFF2-40B4-BE49-F238E27FC236}">
                <a16:creationId xmlns:a16="http://schemas.microsoft.com/office/drawing/2014/main" id="{6789C877-6451-9C3C-7BDC-25BFE0E406DB}"/>
              </a:ext>
            </a:extLst>
          </p:cNvPr>
          <p:cNvSpPr txBox="1"/>
          <p:nvPr/>
        </p:nvSpPr>
        <p:spPr>
          <a:xfrm>
            <a:off x="890945" y="5236210"/>
            <a:ext cx="261676" cy="2484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425"/>
              </a:lnSpc>
            </a:pPr>
            <a:r>
              <a:rPr lang="en-US" sz="132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</a:p>
        </p:txBody>
      </p:sp>
      <p:sp>
        <p:nvSpPr>
          <p:cNvPr id="155" name="TextBox 36">
            <a:extLst>
              <a:ext uri="{FF2B5EF4-FFF2-40B4-BE49-F238E27FC236}">
                <a16:creationId xmlns:a16="http://schemas.microsoft.com/office/drawing/2014/main" id="{BA29E349-FB51-3FBC-ACDE-8B9AC72900B2}"/>
              </a:ext>
            </a:extLst>
          </p:cNvPr>
          <p:cNvSpPr txBox="1"/>
          <p:nvPr/>
        </p:nvSpPr>
        <p:spPr>
          <a:xfrm>
            <a:off x="2851266" y="6092190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4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全员提效</a:t>
            </a:r>
          </a:p>
        </p:txBody>
      </p:sp>
      <p:sp>
        <p:nvSpPr>
          <p:cNvPr id="157" name="TextBox 37">
            <a:extLst>
              <a:ext uri="{FF2B5EF4-FFF2-40B4-BE49-F238E27FC236}">
                <a16:creationId xmlns:a16="http://schemas.microsoft.com/office/drawing/2014/main" id="{FBEC1C34-0D2E-740A-4CF8-007CE0A4BA1D}"/>
              </a:ext>
            </a:extLst>
          </p:cNvPr>
          <p:cNvSpPr txBox="1"/>
          <p:nvPr/>
        </p:nvSpPr>
        <p:spPr>
          <a:xfrm>
            <a:off x="4177665" y="6065520"/>
            <a:ext cx="325526" cy="3008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440" b="1" dirty="0">
                <a:solidFill>
                  <a:srgbClr val="00A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</a:t>
            </a:r>
          </a:p>
        </p:txBody>
      </p:sp>
      <p:sp>
        <p:nvSpPr>
          <p:cNvPr id="159" name="TextBox 38">
            <a:extLst>
              <a:ext uri="{FF2B5EF4-FFF2-40B4-BE49-F238E27FC236}">
                <a16:creationId xmlns:a16="http://schemas.microsoft.com/office/drawing/2014/main" id="{909A885C-0049-8EC9-3AF2-54A2A7BE521B}"/>
              </a:ext>
            </a:extLst>
          </p:cNvPr>
          <p:cNvSpPr txBox="1"/>
          <p:nvPr/>
        </p:nvSpPr>
        <p:spPr>
          <a:xfrm>
            <a:off x="4805796" y="6092190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4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专业进阶</a:t>
            </a:r>
          </a:p>
        </p:txBody>
      </p:sp>
      <p:sp>
        <p:nvSpPr>
          <p:cNvPr id="161" name="TextBox 39">
            <a:extLst>
              <a:ext uri="{FF2B5EF4-FFF2-40B4-BE49-F238E27FC236}">
                <a16:creationId xmlns:a16="http://schemas.microsoft.com/office/drawing/2014/main" id="{571AC195-96BB-B2D3-1251-A2CEB6A28B5A}"/>
              </a:ext>
            </a:extLst>
          </p:cNvPr>
          <p:cNvSpPr txBox="1"/>
          <p:nvPr/>
        </p:nvSpPr>
        <p:spPr>
          <a:xfrm>
            <a:off x="6132195" y="6065520"/>
            <a:ext cx="325526" cy="3008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440" b="1" dirty="0">
                <a:solidFill>
                  <a:srgbClr val="00A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</a:t>
            </a:r>
          </a:p>
        </p:txBody>
      </p:sp>
      <p:sp>
        <p:nvSpPr>
          <p:cNvPr id="163" name="TextBox 40">
            <a:extLst>
              <a:ext uri="{FF2B5EF4-FFF2-40B4-BE49-F238E27FC236}">
                <a16:creationId xmlns:a16="http://schemas.microsoft.com/office/drawing/2014/main" id="{476F5CA7-6F9F-B315-0F3B-A89B761E51AB}"/>
              </a:ext>
            </a:extLst>
          </p:cNvPr>
          <p:cNvSpPr txBox="1"/>
          <p:nvPr/>
        </p:nvSpPr>
        <p:spPr>
          <a:xfrm>
            <a:off x="6760326" y="6092190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4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项目落地</a:t>
            </a:r>
          </a:p>
        </p:txBody>
      </p:sp>
      <p:sp>
        <p:nvSpPr>
          <p:cNvPr id="165" name="TextBox 41">
            <a:extLst>
              <a:ext uri="{FF2B5EF4-FFF2-40B4-BE49-F238E27FC236}">
                <a16:creationId xmlns:a16="http://schemas.microsoft.com/office/drawing/2014/main" id="{C8A060DE-5653-39F0-622F-35A749F9F89E}"/>
              </a:ext>
            </a:extLst>
          </p:cNvPr>
          <p:cNvSpPr txBox="1"/>
          <p:nvPr/>
        </p:nvSpPr>
        <p:spPr>
          <a:xfrm>
            <a:off x="8086725" y="6065520"/>
            <a:ext cx="325526" cy="3008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440" b="1" dirty="0">
                <a:solidFill>
                  <a:srgbClr val="00A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</a:t>
            </a:r>
          </a:p>
        </p:txBody>
      </p:sp>
      <p:sp>
        <p:nvSpPr>
          <p:cNvPr id="167" name="TextBox 42">
            <a:extLst>
              <a:ext uri="{FF2B5EF4-FFF2-40B4-BE49-F238E27FC236}">
                <a16:creationId xmlns:a16="http://schemas.microsoft.com/office/drawing/2014/main" id="{F539443A-2BFA-A626-5E28-DE8E0D08B067}"/>
              </a:ext>
            </a:extLst>
          </p:cNvPr>
          <p:cNvSpPr txBox="1"/>
          <p:nvPr/>
        </p:nvSpPr>
        <p:spPr>
          <a:xfrm>
            <a:off x="8714856" y="6092190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4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组织治理</a:t>
            </a:r>
          </a:p>
        </p:txBody>
      </p:sp>
      <p:sp>
        <p:nvSpPr>
          <p:cNvPr id="169" name="TextBox 43">
            <a:extLst>
              <a:ext uri="{FF2B5EF4-FFF2-40B4-BE49-F238E27FC236}">
                <a16:creationId xmlns:a16="http://schemas.microsoft.com/office/drawing/2014/main" id="{FBEBAF41-6533-85A9-C357-F00324CA05CF}"/>
              </a:ext>
            </a:extLst>
          </p:cNvPr>
          <p:cNvSpPr txBox="1"/>
          <p:nvPr/>
        </p:nvSpPr>
        <p:spPr>
          <a:xfrm>
            <a:off x="10041255" y="6065520"/>
            <a:ext cx="325526" cy="3008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440" b="1" dirty="0">
                <a:solidFill>
                  <a:srgbClr val="00A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</a:t>
            </a:r>
          </a:p>
        </p:txBody>
      </p:sp>
      <p:sp>
        <p:nvSpPr>
          <p:cNvPr id="171" name="TextBox 44">
            <a:extLst>
              <a:ext uri="{FF2B5EF4-FFF2-40B4-BE49-F238E27FC236}">
                <a16:creationId xmlns:a16="http://schemas.microsoft.com/office/drawing/2014/main" id="{7D3626E4-5334-F94D-2843-740612E798CD}"/>
              </a:ext>
            </a:extLst>
          </p:cNvPr>
          <p:cNvSpPr txBox="1"/>
          <p:nvPr/>
        </p:nvSpPr>
        <p:spPr>
          <a:xfrm>
            <a:off x="10669386" y="6092190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40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持续运营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8538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E5A51-8AEC-9F33-D5A6-8A2983BB6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64B7B-F9D0-6B89-37ED-6EF1D12B7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zh-CN" altLang="en-US" dirty="0"/>
              <a:t>方案定位与总体建设目标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1A6D5FA-C004-7597-33E1-CEF41421148B}"/>
              </a:ext>
            </a:extLst>
          </p:cNvPr>
          <p:cNvSpPr/>
          <p:nvPr/>
        </p:nvSpPr>
        <p:spPr>
          <a:xfrm>
            <a:off x="609600" y="1560828"/>
            <a:ext cx="4111704" cy="1900595"/>
          </a:xfrm>
          <a:prstGeom prst="roundRect">
            <a:avLst>
              <a:gd name="adj" fmla="val 8019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D7F644DC-24B4-3D41-CA0E-DB6435A40A47}"/>
              </a:ext>
            </a:extLst>
          </p:cNvPr>
          <p:cNvSpPr/>
          <p:nvPr/>
        </p:nvSpPr>
        <p:spPr>
          <a:xfrm>
            <a:off x="739140" y="1690368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0565FF"/>
          </a:solidFill>
          <a:ln>
            <a:noFill/>
          </a:ln>
        </p:spPr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FF04D790-A9C9-B2C4-8141-D18FB62FA551}"/>
              </a:ext>
            </a:extLst>
          </p:cNvPr>
          <p:cNvSpPr/>
          <p:nvPr/>
        </p:nvSpPr>
        <p:spPr>
          <a:xfrm>
            <a:off x="609600" y="3552863"/>
            <a:ext cx="4111704" cy="1706880"/>
          </a:xfrm>
          <a:prstGeom prst="roundRect">
            <a:avLst>
              <a:gd name="adj" fmla="val 8929"/>
            </a:avLst>
          </a:prstGeom>
          <a:solidFill>
            <a:srgbClr val="F8FC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31524968-2A3A-D426-0D25-DDEE3FC5A354}"/>
              </a:ext>
            </a:extLst>
          </p:cNvPr>
          <p:cNvSpPr/>
          <p:nvPr/>
        </p:nvSpPr>
        <p:spPr>
          <a:xfrm>
            <a:off x="739140" y="3682403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00A7FF"/>
          </a:solidFill>
          <a:ln>
            <a:noFill/>
          </a:ln>
        </p:spPr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17C44AB7-BBE8-B6C5-7D09-097F061605D5}"/>
              </a:ext>
            </a:extLst>
          </p:cNvPr>
          <p:cNvSpPr/>
          <p:nvPr/>
        </p:nvSpPr>
        <p:spPr>
          <a:xfrm>
            <a:off x="609600" y="5351183"/>
            <a:ext cx="4111704" cy="692587"/>
          </a:xfrm>
          <a:prstGeom prst="roundRect">
            <a:avLst>
              <a:gd name="adj" fmla="val 19804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3F44F299-FA00-864A-A4FA-D0BDD1A70F24}"/>
              </a:ext>
            </a:extLst>
          </p:cNvPr>
          <p:cNvSpPr/>
          <p:nvPr/>
        </p:nvSpPr>
        <p:spPr>
          <a:xfrm>
            <a:off x="739140" y="5548826"/>
            <a:ext cx="487680" cy="297180"/>
          </a:xfrm>
          <a:prstGeom prst="roundRect">
            <a:avLst>
              <a:gd name="adj" fmla="val 20513"/>
            </a:avLst>
          </a:prstGeom>
          <a:noFill/>
          <a:ln w="19050">
            <a:solidFill>
              <a:srgbClr val="0565FF"/>
            </a:solidFill>
            <a:prstDash val="solid"/>
          </a:ln>
        </p:spPr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35CDACD7-83A8-2D33-8D06-30786698259D}"/>
              </a:ext>
            </a:extLst>
          </p:cNvPr>
          <p:cNvSpPr/>
          <p:nvPr/>
        </p:nvSpPr>
        <p:spPr>
          <a:xfrm>
            <a:off x="4873704" y="1560828"/>
            <a:ext cx="6708696" cy="3780855"/>
          </a:xfrm>
          <a:prstGeom prst="roundRect">
            <a:avLst>
              <a:gd name="adj" fmla="val 4727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5CDA3C17-B982-6BB7-9DF9-F52C82797B5D}"/>
              </a:ext>
            </a:extLst>
          </p:cNvPr>
          <p:cNvSpPr/>
          <p:nvPr/>
        </p:nvSpPr>
        <p:spPr>
          <a:xfrm>
            <a:off x="10523220" y="1907538"/>
            <a:ext cx="929640" cy="327660"/>
          </a:xfrm>
          <a:prstGeom prst="roundRect">
            <a:avLst>
              <a:gd name="adj" fmla="val 50000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D35EA8E3-F5DC-D94B-F28B-A7ECCE79B46B}"/>
              </a:ext>
            </a:extLst>
          </p:cNvPr>
          <p:cNvSpPr/>
          <p:nvPr/>
        </p:nvSpPr>
        <p:spPr>
          <a:xfrm>
            <a:off x="5003244" y="2345110"/>
            <a:ext cx="3179088" cy="1360395"/>
          </a:xfrm>
          <a:prstGeom prst="roundRect">
            <a:avLst>
              <a:gd name="adj" fmla="val 10898"/>
            </a:avLst>
          </a:prstGeom>
          <a:solidFill>
            <a:srgbClr val="F8FC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8C650ECD-B941-3EBA-EA2E-A6CBBC592585}"/>
              </a:ext>
            </a:extLst>
          </p:cNvPr>
          <p:cNvSpPr/>
          <p:nvPr/>
        </p:nvSpPr>
        <p:spPr>
          <a:xfrm>
            <a:off x="5102304" y="2444170"/>
            <a:ext cx="335280" cy="335280"/>
          </a:xfrm>
          <a:prstGeom prst="roundRect">
            <a:avLst>
              <a:gd name="adj" fmla="val 27273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F143C86E-078E-30BD-7AA7-F10E17FDD243}"/>
              </a:ext>
            </a:extLst>
          </p:cNvPr>
          <p:cNvSpPr/>
          <p:nvPr/>
        </p:nvSpPr>
        <p:spPr>
          <a:xfrm>
            <a:off x="8273772" y="2345110"/>
            <a:ext cx="3179088" cy="1349318"/>
          </a:xfrm>
          <a:prstGeom prst="roundRect">
            <a:avLst>
              <a:gd name="adj" fmla="val 10898"/>
            </a:avLst>
          </a:prstGeom>
          <a:solidFill>
            <a:srgbClr val="F8FC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C6CED1D9-7093-9F73-75F6-679A7AB80DB5}"/>
              </a:ext>
            </a:extLst>
          </p:cNvPr>
          <p:cNvSpPr/>
          <p:nvPr/>
        </p:nvSpPr>
        <p:spPr>
          <a:xfrm>
            <a:off x="8372832" y="2444170"/>
            <a:ext cx="335280" cy="335280"/>
          </a:xfrm>
          <a:prstGeom prst="roundRect">
            <a:avLst>
              <a:gd name="adj" fmla="val 27273"/>
            </a:avLst>
          </a:prstGeom>
          <a:solidFill>
            <a:srgbClr val="0565FF"/>
          </a:solidFill>
          <a:ln>
            <a:noFill/>
          </a:ln>
        </p:spPr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CC18053C-CD19-225F-182A-FB4A917F320D}"/>
              </a:ext>
            </a:extLst>
          </p:cNvPr>
          <p:cNvSpPr/>
          <p:nvPr/>
        </p:nvSpPr>
        <p:spPr>
          <a:xfrm>
            <a:off x="5003244" y="3832346"/>
            <a:ext cx="3179088" cy="1404090"/>
          </a:xfrm>
          <a:prstGeom prst="roundRect">
            <a:avLst>
              <a:gd name="adj" fmla="val 10898"/>
            </a:avLst>
          </a:prstGeom>
          <a:solidFill>
            <a:srgbClr val="F8FC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C8C28E77-8F18-3946-AC5F-56048C96B518}"/>
              </a:ext>
            </a:extLst>
          </p:cNvPr>
          <p:cNvSpPr/>
          <p:nvPr/>
        </p:nvSpPr>
        <p:spPr>
          <a:xfrm>
            <a:off x="5102304" y="3931406"/>
            <a:ext cx="335280" cy="335280"/>
          </a:xfrm>
          <a:prstGeom prst="roundRect">
            <a:avLst>
              <a:gd name="adj" fmla="val 27273"/>
            </a:avLst>
          </a:prstGeom>
          <a:solidFill>
            <a:srgbClr val="00A7FF"/>
          </a:solidFill>
          <a:ln>
            <a:noFill/>
          </a:ln>
        </p:spPr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BC63908E-ED35-9BD3-8D98-3E931BF264D5}"/>
              </a:ext>
            </a:extLst>
          </p:cNvPr>
          <p:cNvSpPr/>
          <p:nvPr/>
        </p:nvSpPr>
        <p:spPr>
          <a:xfrm>
            <a:off x="8273772" y="3832346"/>
            <a:ext cx="3179088" cy="1404090"/>
          </a:xfrm>
          <a:prstGeom prst="roundRect">
            <a:avLst>
              <a:gd name="adj" fmla="val 10898"/>
            </a:avLst>
          </a:prstGeom>
          <a:solidFill>
            <a:srgbClr val="F1FBF7"/>
          </a:solidFill>
          <a:ln w="9525">
            <a:solidFill>
              <a:srgbClr val="BDE8DA"/>
            </a:solidFill>
            <a:prstDash val="solid"/>
          </a:ln>
        </p:spPr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FC9275A4-A95C-F39C-A518-D9C679B7D7B8}"/>
              </a:ext>
            </a:extLst>
          </p:cNvPr>
          <p:cNvSpPr/>
          <p:nvPr/>
        </p:nvSpPr>
        <p:spPr>
          <a:xfrm>
            <a:off x="8372832" y="3931406"/>
            <a:ext cx="335280" cy="335280"/>
          </a:xfrm>
          <a:prstGeom prst="roundRect">
            <a:avLst>
              <a:gd name="adj" fmla="val 27273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F106FD1C-8EE2-42B2-0CC6-ADF99065C2A1}"/>
              </a:ext>
            </a:extLst>
          </p:cNvPr>
          <p:cNvSpPr/>
          <p:nvPr/>
        </p:nvSpPr>
        <p:spPr>
          <a:xfrm>
            <a:off x="4873704" y="5467604"/>
            <a:ext cx="6708696" cy="510540"/>
          </a:xfrm>
          <a:prstGeom prst="roundRect">
            <a:avLst>
              <a:gd name="adj" fmla="val 29851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52F5C08E-3321-EF8A-4700-E3C6E43B6090}"/>
              </a:ext>
            </a:extLst>
          </p:cNvPr>
          <p:cNvSpPr/>
          <p:nvPr/>
        </p:nvSpPr>
        <p:spPr>
          <a:xfrm>
            <a:off x="6016704" y="5559044"/>
            <a:ext cx="1284684" cy="327660"/>
          </a:xfrm>
          <a:prstGeom prst="roundRect">
            <a:avLst>
              <a:gd name="adj" fmla="val 18605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45" name="Shape 24">
            <a:extLst>
              <a:ext uri="{FF2B5EF4-FFF2-40B4-BE49-F238E27FC236}">
                <a16:creationId xmlns:a16="http://schemas.microsoft.com/office/drawing/2014/main" id="{AC1EA55B-85D6-2F67-C8C8-07D6163DAF0B}"/>
              </a:ext>
            </a:extLst>
          </p:cNvPr>
          <p:cNvSpPr/>
          <p:nvPr/>
        </p:nvSpPr>
        <p:spPr>
          <a:xfrm>
            <a:off x="7392829" y="5559044"/>
            <a:ext cx="1284803" cy="327660"/>
          </a:xfrm>
          <a:prstGeom prst="roundRect">
            <a:avLst>
              <a:gd name="adj" fmla="val 18605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47" name="Shape 25">
            <a:extLst>
              <a:ext uri="{FF2B5EF4-FFF2-40B4-BE49-F238E27FC236}">
                <a16:creationId xmlns:a16="http://schemas.microsoft.com/office/drawing/2014/main" id="{5BF748CF-6742-566F-2B79-F5A79EABFED9}"/>
              </a:ext>
            </a:extLst>
          </p:cNvPr>
          <p:cNvSpPr/>
          <p:nvPr/>
        </p:nvSpPr>
        <p:spPr>
          <a:xfrm>
            <a:off x="8769072" y="5559044"/>
            <a:ext cx="1284684" cy="327660"/>
          </a:xfrm>
          <a:prstGeom prst="roundRect">
            <a:avLst>
              <a:gd name="adj" fmla="val 18605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AF907392-A7C1-2EC4-0505-22957DA7805C}"/>
              </a:ext>
            </a:extLst>
          </p:cNvPr>
          <p:cNvSpPr/>
          <p:nvPr/>
        </p:nvSpPr>
        <p:spPr>
          <a:xfrm>
            <a:off x="10145197" y="5559044"/>
            <a:ext cx="1284803" cy="327660"/>
          </a:xfrm>
          <a:prstGeom prst="roundRect">
            <a:avLst>
              <a:gd name="adj" fmla="val 18605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A06EE8EE-0B73-DA6F-F6B1-564F4981F3D4}"/>
              </a:ext>
            </a:extLst>
          </p:cNvPr>
          <p:cNvSpPr txBox="1"/>
          <p:nvPr/>
        </p:nvSpPr>
        <p:spPr>
          <a:xfrm>
            <a:off x="1135379" y="1697988"/>
            <a:ext cx="2503747" cy="3169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2250"/>
              </a:lnSpc>
            </a:pPr>
            <a:r>
              <a:rPr lang="zh-CN" sz="16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建设定位：八项能力贯通</a:t>
            </a:r>
          </a:p>
        </p:txBody>
      </p:sp>
      <p:sp>
        <p:nvSpPr>
          <p:cNvPr id="55" name="TextBox 7">
            <a:extLst>
              <a:ext uri="{FF2B5EF4-FFF2-40B4-BE49-F238E27FC236}">
                <a16:creationId xmlns:a16="http://schemas.microsoft.com/office/drawing/2014/main" id="{B8F43C3D-2AF2-828C-CA3E-8458AF8946AC}"/>
              </a:ext>
            </a:extLst>
          </p:cNvPr>
          <p:cNvSpPr txBox="1"/>
          <p:nvPr/>
        </p:nvSpPr>
        <p:spPr>
          <a:xfrm>
            <a:off x="739140" y="2086608"/>
            <a:ext cx="3910584" cy="8808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50000"/>
              </a:lnSpc>
              <a:spcBef>
                <a:spcPts val="720"/>
              </a:spcBef>
            </a:pP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面向企业AI应用与智能体建设，形成从人才标准到持续运营的完整体系，让“学、练、评、用、管”处于同一条价值链。</a:t>
            </a:r>
          </a:p>
        </p:txBody>
      </p:sp>
      <p:sp>
        <p:nvSpPr>
          <p:cNvPr id="57" name="TextBox 8">
            <a:extLst>
              <a:ext uri="{FF2B5EF4-FFF2-40B4-BE49-F238E27FC236}">
                <a16:creationId xmlns:a16="http://schemas.microsoft.com/office/drawing/2014/main" id="{75D170F0-3CFE-981C-785D-9F6E2E449A1A}"/>
              </a:ext>
            </a:extLst>
          </p:cNvPr>
          <p:cNvSpPr txBox="1"/>
          <p:nvPr/>
        </p:nvSpPr>
        <p:spPr>
          <a:xfrm>
            <a:off x="794674" y="2846530"/>
            <a:ext cx="3754374" cy="544946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Autofit/>
          </a:bodyPr>
          <a:lstStyle/>
          <a:p>
            <a:pPr algn="ctr">
              <a:lnSpc>
                <a:spcPts val="1345"/>
              </a:lnSpc>
              <a:spcBef>
                <a:spcPts val="720"/>
              </a:spcBef>
            </a:pPr>
            <a:r>
              <a:rPr lang="en-US" altLang="zh-CN" sz="10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sz="10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人才标准｜课程学习｜场景实践｜项目实训｜</a:t>
            </a:r>
            <a:endParaRPr lang="en-US" altLang="zh-CN" sz="1000" b="1" dirty="0">
              <a:solidFill>
                <a:srgbClr val="0721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1345"/>
              </a:lnSpc>
              <a:spcBef>
                <a:spcPts val="720"/>
              </a:spcBef>
            </a:pPr>
            <a:r>
              <a:rPr lang="zh-CN" sz="10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能力评价｜认证管理｜产品支撑｜运营机制</a:t>
            </a:r>
          </a:p>
        </p:txBody>
      </p:sp>
      <p:sp>
        <p:nvSpPr>
          <p:cNvPr id="59" name="TextBox 9">
            <a:extLst>
              <a:ext uri="{FF2B5EF4-FFF2-40B4-BE49-F238E27FC236}">
                <a16:creationId xmlns:a16="http://schemas.microsoft.com/office/drawing/2014/main" id="{DD3EE140-CD47-3D0B-4F43-9C80D4E92E9C}"/>
              </a:ext>
            </a:extLst>
          </p:cNvPr>
          <p:cNvSpPr txBox="1"/>
          <p:nvPr/>
        </p:nvSpPr>
        <p:spPr>
          <a:xfrm>
            <a:off x="1135380" y="3694428"/>
            <a:ext cx="3201924" cy="3169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2250"/>
              </a:lnSpc>
            </a:pPr>
            <a:r>
              <a:rPr lang="zh-CN" sz="16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服务对象：覆盖使用、建设与管理</a:t>
            </a:r>
          </a:p>
        </p:txBody>
      </p:sp>
      <p:sp>
        <p:nvSpPr>
          <p:cNvPr id="61" name="TextBox 10">
            <a:extLst>
              <a:ext uri="{FF2B5EF4-FFF2-40B4-BE49-F238E27FC236}">
                <a16:creationId xmlns:a16="http://schemas.microsoft.com/office/drawing/2014/main" id="{8F02525B-4B28-C057-91E7-3C8689523E24}"/>
              </a:ext>
            </a:extLst>
          </p:cNvPr>
          <p:cNvSpPr txBox="1"/>
          <p:nvPr/>
        </p:nvSpPr>
        <p:spPr>
          <a:xfrm>
            <a:off x="861060" y="4129924"/>
            <a:ext cx="1693164" cy="324612"/>
          </a:xfrm>
          <a:prstGeom prst="rect">
            <a:avLst/>
          </a:prstGeom>
          <a:noFill/>
        </p:spPr>
        <p:txBody>
          <a:bodyPr wrap="square" lIns="121920" tIns="91440" rIns="121920" bIns="91440" anchor="t">
            <a:noAutofit/>
          </a:bodyPr>
          <a:lstStyle/>
          <a:p>
            <a:r>
              <a:rPr lang="zh-CN" sz="120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广泛员工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｜安全用AI、完成岗位提效</a:t>
            </a:r>
          </a:p>
        </p:txBody>
      </p:sp>
      <p:sp>
        <p:nvSpPr>
          <p:cNvPr id="63" name="TextBox 11">
            <a:extLst>
              <a:ext uri="{FF2B5EF4-FFF2-40B4-BE49-F238E27FC236}">
                <a16:creationId xmlns:a16="http://schemas.microsoft.com/office/drawing/2014/main" id="{76E0FA0E-5ADB-6260-CA28-157DB1762EBE}"/>
              </a:ext>
            </a:extLst>
          </p:cNvPr>
          <p:cNvSpPr txBox="1"/>
          <p:nvPr/>
        </p:nvSpPr>
        <p:spPr>
          <a:xfrm>
            <a:off x="2834640" y="4129924"/>
            <a:ext cx="1693164" cy="324612"/>
          </a:xfrm>
          <a:prstGeom prst="rect">
            <a:avLst/>
          </a:prstGeom>
          <a:noFill/>
        </p:spPr>
        <p:txBody>
          <a:bodyPr wrap="square" lIns="121920" tIns="91440" rIns="121920" bIns="91440" anchor="t">
            <a:noAutofit/>
          </a:bodyPr>
          <a:lstStyle/>
          <a:p>
            <a:r>
              <a:rPr lang="zh-CN" sz="120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业务骨干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｜识别场景、定义需求和价值</a:t>
            </a:r>
          </a:p>
        </p:txBody>
      </p:sp>
      <p:sp>
        <p:nvSpPr>
          <p:cNvPr id="65" name="TextBox 12">
            <a:extLst>
              <a:ext uri="{FF2B5EF4-FFF2-40B4-BE49-F238E27FC236}">
                <a16:creationId xmlns:a16="http://schemas.microsoft.com/office/drawing/2014/main" id="{F94C3EC2-6756-206D-C9B1-2AF3C9A8A4BB}"/>
              </a:ext>
            </a:extLst>
          </p:cNvPr>
          <p:cNvSpPr txBox="1"/>
          <p:nvPr/>
        </p:nvSpPr>
        <p:spPr>
          <a:xfrm>
            <a:off x="861060" y="4701424"/>
            <a:ext cx="1693164" cy="324612"/>
          </a:xfrm>
          <a:prstGeom prst="rect">
            <a:avLst/>
          </a:prstGeom>
          <a:noFill/>
        </p:spPr>
        <p:txBody>
          <a:bodyPr wrap="square" lIns="121920" tIns="91440" rIns="121920" bIns="91440" anchor="t">
            <a:noAutofit/>
          </a:bodyPr>
          <a:lstStyle/>
          <a:p>
            <a:r>
              <a:rPr lang="zh-CN" sz="120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技术人员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｜构建、交付与治理智能体</a:t>
            </a:r>
          </a:p>
        </p:txBody>
      </p:sp>
      <p:sp>
        <p:nvSpPr>
          <p:cNvPr id="67" name="TextBox 13">
            <a:extLst>
              <a:ext uri="{FF2B5EF4-FFF2-40B4-BE49-F238E27FC236}">
                <a16:creationId xmlns:a16="http://schemas.microsoft.com/office/drawing/2014/main" id="{99521D76-4BAB-19D8-F871-8AD2C957DAD4}"/>
              </a:ext>
            </a:extLst>
          </p:cNvPr>
          <p:cNvSpPr txBox="1"/>
          <p:nvPr/>
        </p:nvSpPr>
        <p:spPr>
          <a:xfrm>
            <a:off x="2834640" y="4701424"/>
            <a:ext cx="1693164" cy="324612"/>
          </a:xfrm>
          <a:prstGeom prst="rect">
            <a:avLst/>
          </a:prstGeom>
          <a:noFill/>
        </p:spPr>
        <p:txBody>
          <a:bodyPr wrap="square" lIns="121920" tIns="91440" rIns="121920" bIns="91440" anchor="t">
            <a:noAutofit/>
          </a:bodyPr>
          <a:lstStyle/>
          <a:p>
            <a:r>
              <a:rPr lang="zh-CN" sz="120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培养管理者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｜组织培养、选人与持续运营</a:t>
            </a:r>
          </a:p>
        </p:txBody>
      </p:sp>
      <p:sp>
        <p:nvSpPr>
          <p:cNvPr id="69" name="TextBox 14">
            <a:extLst>
              <a:ext uri="{FF2B5EF4-FFF2-40B4-BE49-F238E27FC236}">
                <a16:creationId xmlns:a16="http://schemas.microsoft.com/office/drawing/2014/main" id="{5EEAB16F-DC91-4855-5F5B-D080318D1DCA}"/>
              </a:ext>
            </a:extLst>
          </p:cNvPr>
          <p:cNvSpPr txBox="1"/>
          <p:nvPr/>
        </p:nvSpPr>
        <p:spPr>
          <a:xfrm>
            <a:off x="1318260" y="5416548"/>
            <a:ext cx="3331464" cy="583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1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培养不能替代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企业战略决策、生产系统建设和业务制度设计；但可为其准备人员、方法、项目证据与治理基础。</a:t>
            </a:r>
          </a:p>
        </p:txBody>
      </p:sp>
      <p:sp>
        <p:nvSpPr>
          <p:cNvPr id="71" name="TextBox 15">
            <a:extLst>
              <a:ext uri="{FF2B5EF4-FFF2-40B4-BE49-F238E27FC236}">
                <a16:creationId xmlns:a16="http://schemas.microsoft.com/office/drawing/2014/main" id="{8528C20B-CD70-FD7A-59FF-28447ACFD1FB}"/>
              </a:ext>
            </a:extLst>
          </p:cNvPr>
          <p:cNvSpPr txBox="1"/>
          <p:nvPr/>
        </p:nvSpPr>
        <p:spPr>
          <a:xfrm>
            <a:off x="5006340" y="1690368"/>
            <a:ext cx="45811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en-US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OVERALL OBJECTIVES</a:t>
            </a:r>
          </a:p>
        </p:txBody>
      </p:sp>
      <p:sp>
        <p:nvSpPr>
          <p:cNvPr id="73" name="TextBox 16">
            <a:extLst>
              <a:ext uri="{FF2B5EF4-FFF2-40B4-BE49-F238E27FC236}">
                <a16:creationId xmlns:a16="http://schemas.microsoft.com/office/drawing/2014/main" id="{AA18CBF2-DFB6-A67D-F737-D755364837EC}"/>
              </a:ext>
            </a:extLst>
          </p:cNvPr>
          <p:cNvSpPr txBox="1"/>
          <p:nvPr/>
        </p:nvSpPr>
        <p:spPr>
          <a:xfrm>
            <a:off x="5006340" y="1926588"/>
            <a:ext cx="4581144" cy="3398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430"/>
              </a:lnSpc>
              <a:spcBef>
                <a:spcPts val="240"/>
              </a:spcBef>
            </a:pPr>
            <a:r>
              <a:rPr lang="zh-CN" sz="162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四类目标，从“会使用”走向“可持续创造价值”</a:t>
            </a:r>
          </a:p>
        </p:txBody>
      </p:sp>
      <p:sp>
        <p:nvSpPr>
          <p:cNvPr id="75" name="TextBox 17">
            <a:extLst>
              <a:ext uri="{FF2B5EF4-FFF2-40B4-BE49-F238E27FC236}">
                <a16:creationId xmlns:a16="http://schemas.microsoft.com/office/drawing/2014/main" id="{2897DE89-6C65-D7ED-A279-62045550E4A3}"/>
              </a:ext>
            </a:extLst>
          </p:cNvPr>
          <p:cNvSpPr txBox="1"/>
          <p:nvPr/>
        </p:nvSpPr>
        <p:spPr>
          <a:xfrm>
            <a:off x="5532119" y="2423044"/>
            <a:ext cx="2309553" cy="300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扩大员工AI应用基础</a:t>
            </a:r>
          </a:p>
        </p:txBody>
      </p:sp>
      <p:sp>
        <p:nvSpPr>
          <p:cNvPr id="77" name="TextBox 18">
            <a:extLst>
              <a:ext uri="{FF2B5EF4-FFF2-40B4-BE49-F238E27FC236}">
                <a16:creationId xmlns:a16="http://schemas.microsoft.com/office/drawing/2014/main" id="{41CB2E77-7B1B-BCBE-6B65-8D4679D7DACC}"/>
              </a:ext>
            </a:extLst>
          </p:cNvPr>
          <p:cNvSpPr txBox="1"/>
          <p:nvPr/>
        </p:nvSpPr>
        <p:spPr>
          <a:xfrm>
            <a:off x="5105400" y="2844220"/>
            <a:ext cx="3034284" cy="5532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4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让更多员工在明确边界内安全、有效使用AI完成真实岗位任务并对输出负责。形成岗位案例、提示模板和标准工作方法。</a:t>
            </a:r>
          </a:p>
        </p:txBody>
      </p:sp>
      <p:sp>
        <p:nvSpPr>
          <p:cNvPr id="79" name="TextBox 19">
            <a:extLst>
              <a:ext uri="{FF2B5EF4-FFF2-40B4-BE49-F238E27FC236}">
                <a16:creationId xmlns:a16="http://schemas.microsoft.com/office/drawing/2014/main" id="{03A0AC9E-6943-B4B5-4E5D-BA3C01B3FD9C}"/>
              </a:ext>
            </a:extLst>
          </p:cNvPr>
          <p:cNvSpPr txBox="1"/>
          <p:nvPr/>
        </p:nvSpPr>
        <p:spPr>
          <a:xfrm>
            <a:off x="8801100" y="2432280"/>
            <a:ext cx="1844040" cy="2808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建立专业人才梯队</a:t>
            </a:r>
          </a:p>
        </p:txBody>
      </p:sp>
      <p:sp>
        <p:nvSpPr>
          <p:cNvPr id="81" name="TextBox 20">
            <a:extLst>
              <a:ext uri="{FF2B5EF4-FFF2-40B4-BE49-F238E27FC236}">
                <a16:creationId xmlns:a16="http://schemas.microsoft.com/office/drawing/2014/main" id="{AD97A90D-6B57-F015-19C8-14D6BACF08B9}"/>
              </a:ext>
            </a:extLst>
          </p:cNvPr>
          <p:cNvSpPr txBox="1"/>
          <p:nvPr/>
        </p:nvSpPr>
        <p:spPr>
          <a:xfrm>
            <a:off x="8374380" y="2844220"/>
            <a:ext cx="3034284" cy="5532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4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建设ADEA、ADEP、ADEE三级人才供给，覆盖助手构建、复杂交付和规模化治理。形成评价、认证与动态人才画像。</a:t>
            </a:r>
          </a:p>
        </p:txBody>
      </p:sp>
      <p:sp>
        <p:nvSpPr>
          <p:cNvPr id="83" name="TextBox 21">
            <a:extLst>
              <a:ext uri="{FF2B5EF4-FFF2-40B4-BE49-F238E27FC236}">
                <a16:creationId xmlns:a16="http://schemas.microsoft.com/office/drawing/2014/main" id="{F0CE5B81-A404-5D1A-B54F-B6F6AA7136B3}"/>
              </a:ext>
            </a:extLst>
          </p:cNvPr>
          <p:cNvSpPr txBox="1"/>
          <p:nvPr/>
        </p:nvSpPr>
        <p:spPr>
          <a:xfrm>
            <a:off x="5532120" y="3893237"/>
            <a:ext cx="1920240" cy="2941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交付真实业务成果</a:t>
            </a:r>
          </a:p>
        </p:txBody>
      </p:sp>
      <p:sp>
        <p:nvSpPr>
          <p:cNvPr id="85" name="TextBox 22">
            <a:extLst>
              <a:ext uri="{FF2B5EF4-FFF2-40B4-BE49-F238E27FC236}">
                <a16:creationId xmlns:a16="http://schemas.microsoft.com/office/drawing/2014/main" id="{1304D1AE-637C-C7B0-FE13-888E8D011A3A}"/>
              </a:ext>
            </a:extLst>
          </p:cNvPr>
          <p:cNvSpPr txBox="1"/>
          <p:nvPr/>
        </p:nvSpPr>
        <p:spPr>
          <a:xfrm>
            <a:off x="5105400" y="4325265"/>
            <a:ext cx="3034284" cy="5532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4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围绕真实场景形成可运行、可测试、可交付的智能体成果，而非停留在课程演示。形成助手、复杂应用及交付材料。</a:t>
            </a:r>
          </a:p>
        </p:txBody>
      </p:sp>
      <p:sp>
        <p:nvSpPr>
          <p:cNvPr id="87" name="TextBox 23">
            <a:extLst>
              <a:ext uri="{FF2B5EF4-FFF2-40B4-BE49-F238E27FC236}">
                <a16:creationId xmlns:a16="http://schemas.microsoft.com/office/drawing/2014/main" id="{6B840290-A36F-337B-A4B6-056EE8E5337F}"/>
              </a:ext>
            </a:extLst>
          </p:cNvPr>
          <p:cNvSpPr txBox="1"/>
          <p:nvPr/>
        </p:nvSpPr>
        <p:spPr>
          <a:xfrm>
            <a:off x="8801100" y="3902471"/>
            <a:ext cx="2162464" cy="29956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b="1" dirty="0">
                <a:solidFill>
                  <a:srgbClr val="007A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沉淀组织运营机制</a:t>
            </a:r>
          </a:p>
        </p:txBody>
      </p:sp>
      <p:sp>
        <p:nvSpPr>
          <p:cNvPr id="89" name="TextBox 24">
            <a:extLst>
              <a:ext uri="{FF2B5EF4-FFF2-40B4-BE49-F238E27FC236}">
                <a16:creationId xmlns:a16="http://schemas.microsoft.com/office/drawing/2014/main" id="{234D812F-2539-DD0E-320E-369240639DB5}"/>
              </a:ext>
            </a:extLst>
          </p:cNvPr>
          <p:cNvSpPr txBox="1"/>
          <p:nvPr/>
        </p:nvSpPr>
        <p:spPr>
          <a:xfrm>
            <a:off x="8374380" y="4325265"/>
            <a:ext cx="3034284" cy="5532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4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把个人和项目经验转化为标准、档案、案例资产、治理规范和持续运营机制，支撑资产复用、人才选拔与更新闭环。</a:t>
            </a:r>
          </a:p>
        </p:txBody>
      </p:sp>
      <p:sp>
        <p:nvSpPr>
          <p:cNvPr id="93" name="TextBox 26">
            <a:extLst>
              <a:ext uri="{FF2B5EF4-FFF2-40B4-BE49-F238E27FC236}">
                <a16:creationId xmlns:a16="http://schemas.microsoft.com/office/drawing/2014/main" id="{A7531498-AA11-4806-0C2F-2E826591B820}"/>
              </a:ext>
            </a:extLst>
          </p:cNvPr>
          <p:cNvSpPr txBox="1"/>
          <p:nvPr/>
        </p:nvSpPr>
        <p:spPr>
          <a:xfrm>
            <a:off x="772160" y="1707513"/>
            <a:ext cx="230124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070"/>
              </a:lnSpc>
            </a:pPr>
            <a:r>
              <a:rPr lang="zh-CN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</a:t>
            </a:r>
          </a:p>
        </p:txBody>
      </p:sp>
      <p:sp>
        <p:nvSpPr>
          <p:cNvPr id="95" name="TextBox 27">
            <a:extLst>
              <a:ext uri="{FF2B5EF4-FFF2-40B4-BE49-F238E27FC236}">
                <a16:creationId xmlns:a16="http://schemas.microsoft.com/office/drawing/2014/main" id="{E4C4CC84-0077-02B8-FDE9-5E0510D95EDB}"/>
              </a:ext>
            </a:extLst>
          </p:cNvPr>
          <p:cNvSpPr txBox="1"/>
          <p:nvPr/>
        </p:nvSpPr>
        <p:spPr>
          <a:xfrm>
            <a:off x="784860" y="3699548"/>
            <a:ext cx="230124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070"/>
              </a:lnSpc>
            </a:pPr>
            <a:r>
              <a:rPr lang="zh-CN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</a:p>
        </p:txBody>
      </p:sp>
      <p:sp>
        <p:nvSpPr>
          <p:cNvPr id="97" name="TextBox 28">
            <a:extLst>
              <a:ext uri="{FF2B5EF4-FFF2-40B4-BE49-F238E27FC236}">
                <a16:creationId xmlns:a16="http://schemas.microsoft.com/office/drawing/2014/main" id="{B815F843-1913-D440-7B67-CBCC6FFFBDE3}"/>
              </a:ext>
            </a:extLst>
          </p:cNvPr>
          <p:cNvSpPr txBox="1"/>
          <p:nvPr/>
        </p:nvSpPr>
        <p:spPr>
          <a:xfrm>
            <a:off x="830580" y="5576568"/>
            <a:ext cx="359664" cy="2636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</a:p>
        </p:txBody>
      </p:sp>
      <p:sp>
        <p:nvSpPr>
          <p:cNvPr id="99" name="TextBox 29">
            <a:extLst>
              <a:ext uri="{FF2B5EF4-FFF2-40B4-BE49-F238E27FC236}">
                <a16:creationId xmlns:a16="http://schemas.microsoft.com/office/drawing/2014/main" id="{81466848-ED59-C3D3-BBDC-92B1CBBC85A3}"/>
              </a:ext>
            </a:extLst>
          </p:cNvPr>
          <p:cNvSpPr txBox="1"/>
          <p:nvPr/>
        </p:nvSpPr>
        <p:spPr>
          <a:xfrm>
            <a:off x="10645140" y="1972308"/>
            <a:ext cx="74066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目标可验收</a:t>
            </a:r>
          </a:p>
        </p:txBody>
      </p:sp>
      <p:sp>
        <p:nvSpPr>
          <p:cNvPr id="101" name="TextBox 30">
            <a:extLst>
              <a:ext uri="{FF2B5EF4-FFF2-40B4-BE49-F238E27FC236}">
                <a16:creationId xmlns:a16="http://schemas.microsoft.com/office/drawing/2014/main" id="{9EA89205-0B9D-6FED-BC63-6117FC579082}"/>
              </a:ext>
            </a:extLst>
          </p:cNvPr>
          <p:cNvSpPr txBox="1"/>
          <p:nvPr/>
        </p:nvSpPr>
        <p:spPr>
          <a:xfrm>
            <a:off x="5144373" y="2470840"/>
            <a:ext cx="280487" cy="2636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03" name="TextBox 31">
            <a:extLst>
              <a:ext uri="{FF2B5EF4-FFF2-40B4-BE49-F238E27FC236}">
                <a16:creationId xmlns:a16="http://schemas.microsoft.com/office/drawing/2014/main" id="{15CED782-F25A-4226-9CAE-D0B431274C9D}"/>
              </a:ext>
            </a:extLst>
          </p:cNvPr>
          <p:cNvSpPr txBox="1"/>
          <p:nvPr/>
        </p:nvSpPr>
        <p:spPr>
          <a:xfrm>
            <a:off x="8421251" y="2470840"/>
            <a:ext cx="280487" cy="2636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05" name="TextBox 32">
            <a:extLst>
              <a:ext uri="{FF2B5EF4-FFF2-40B4-BE49-F238E27FC236}">
                <a16:creationId xmlns:a16="http://schemas.microsoft.com/office/drawing/2014/main" id="{78932F13-D973-F225-BFD1-AA8794A8337E}"/>
              </a:ext>
            </a:extLst>
          </p:cNvPr>
          <p:cNvSpPr txBox="1"/>
          <p:nvPr/>
        </p:nvSpPr>
        <p:spPr>
          <a:xfrm>
            <a:off x="5144373" y="3970776"/>
            <a:ext cx="280487" cy="2636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07" name="TextBox 33">
            <a:extLst>
              <a:ext uri="{FF2B5EF4-FFF2-40B4-BE49-F238E27FC236}">
                <a16:creationId xmlns:a16="http://schemas.microsoft.com/office/drawing/2014/main" id="{5A281922-B2AC-29C7-B2D0-CD10BFF74059}"/>
              </a:ext>
            </a:extLst>
          </p:cNvPr>
          <p:cNvSpPr txBox="1"/>
          <p:nvPr/>
        </p:nvSpPr>
        <p:spPr>
          <a:xfrm>
            <a:off x="8414901" y="3958076"/>
            <a:ext cx="280487" cy="2636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109" name="TextBox 34">
            <a:extLst>
              <a:ext uri="{FF2B5EF4-FFF2-40B4-BE49-F238E27FC236}">
                <a16:creationId xmlns:a16="http://schemas.microsoft.com/office/drawing/2014/main" id="{2109D496-9884-996E-BAC1-F6CE77C78CA9}"/>
              </a:ext>
            </a:extLst>
          </p:cNvPr>
          <p:cNvSpPr txBox="1"/>
          <p:nvPr/>
        </p:nvSpPr>
        <p:spPr>
          <a:xfrm>
            <a:off x="5029200" y="5588571"/>
            <a:ext cx="786384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zh-CN" sz="14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成功口径</a:t>
            </a:r>
          </a:p>
        </p:txBody>
      </p:sp>
      <p:sp>
        <p:nvSpPr>
          <p:cNvPr id="111" name="TextBox 35">
            <a:extLst>
              <a:ext uri="{FF2B5EF4-FFF2-40B4-BE49-F238E27FC236}">
                <a16:creationId xmlns:a16="http://schemas.microsoft.com/office/drawing/2014/main" id="{4EC068C9-3B20-A983-8D95-72CF738DF0A2}"/>
              </a:ext>
            </a:extLst>
          </p:cNvPr>
          <p:cNvSpPr txBox="1"/>
          <p:nvPr/>
        </p:nvSpPr>
        <p:spPr>
          <a:xfrm>
            <a:off x="6080760" y="5619051"/>
            <a:ext cx="12207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人员有能力</a:t>
            </a:r>
          </a:p>
        </p:txBody>
      </p:sp>
      <p:sp>
        <p:nvSpPr>
          <p:cNvPr id="113" name="TextBox 36">
            <a:extLst>
              <a:ext uri="{FF2B5EF4-FFF2-40B4-BE49-F238E27FC236}">
                <a16:creationId xmlns:a16="http://schemas.microsoft.com/office/drawing/2014/main" id="{9120E569-B632-D908-BC0A-25A03C8925D6}"/>
              </a:ext>
            </a:extLst>
          </p:cNvPr>
          <p:cNvSpPr txBox="1"/>
          <p:nvPr/>
        </p:nvSpPr>
        <p:spPr>
          <a:xfrm>
            <a:off x="7452360" y="5619051"/>
            <a:ext cx="12207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项目有成果</a:t>
            </a:r>
          </a:p>
        </p:txBody>
      </p:sp>
      <p:sp>
        <p:nvSpPr>
          <p:cNvPr id="115" name="TextBox 37">
            <a:extLst>
              <a:ext uri="{FF2B5EF4-FFF2-40B4-BE49-F238E27FC236}">
                <a16:creationId xmlns:a16="http://schemas.microsoft.com/office/drawing/2014/main" id="{7622288C-EA1A-3A1F-CFAF-57DD7AB42C3F}"/>
              </a:ext>
            </a:extLst>
          </p:cNvPr>
          <p:cNvSpPr txBox="1"/>
          <p:nvPr/>
        </p:nvSpPr>
        <p:spPr>
          <a:xfrm>
            <a:off x="8831580" y="5619051"/>
            <a:ext cx="12207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评价有标准</a:t>
            </a:r>
          </a:p>
        </p:txBody>
      </p:sp>
      <p:sp>
        <p:nvSpPr>
          <p:cNvPr id="117" name="TextBox 38">
            <a:extLst>
              <a:ext uri="{FF2B5EF4-FFF2-40B4-BE49-F238E27FC236}">
                <a16:creationId xmlns:a16="http://schemas.microsoft.com/office/drawing/2014/main" id="{27A28A31-98FF-4A6F-A4CA-805EB61B3D08}"/>
              </a:ext>
            </a:extLst>
          </p:cNvPr>
          <p:cNvSpPr txBox="1"/>
          <p:nvPr/>
        </p:nvSpPr>
        <p:spPr>
          <a:xfrm>
            <a:off x="10203180" y="5619051"/>
            <a:ext cx="12207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组织有机制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5501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544A5-5590-7C84-532D-2DA5C7C17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20819-5D37-B0B6-0326-2B12F5C2F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zh-CN" altLang="en-US" dirty="0"/>
              <a:t>企业</a:t>
            </a:r>
            <a:r>
              <a:rPr lang="en-US" altLang="zh-CN" dirty="0"/>
              <a:t>AI</a:t>
            </a:r>
            <a:r>
              <a:rPr lang="zh-CN" altLang="en-US" dirty="0"/>
              <a:t>人才培养体系总体蓝图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B611A41-D31D-8742-1CAF-6D3E507F7B3D}"/>
              </a:ext>
            </a:extLst>
          </p:cNvPr>
          <p:cNvSpPr/>
          <p:nvPr/>
        </p:nvSpPr>
        <p:spPr>
          <a:xfrm>
            <a:off x="670560" y="1116222"/>
            <a:ext cx="10850880" cy="487680"/>
          </a:xfrm>
          <a:prstGeom prst="roundRect">
            <a:avLst>
              <a:gd name="adj" fmla="val 25000"/>
            </a:avLst>
          </a:prstGeom>
          <a:solidFill>
            <a:srgbClr val="ECF7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64AEFF3-463D-1380-2785-6CB6FFEBB278}"/>
              </a:ext>
            </a:extLst>
          </p:cNvPr>
          <p:cNvSpPr/>
          <p:nvPr/>
        </p:nvSpPr>
        <p:spPr>
          <a:xfrm>
            <a:off x="670560" y="1710582"/>
            <a:ext cx="1866900" cy="469392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EE5B3AA-FA0C-F784-43C6-0D1210F1B293}"/>
              </a:ext>
            </a:extLst>
          </p:cNvPr>
          <p:cNvSpPr/>
          <p:nvPr/>
        </p:nvSpPr>
        <p:spPr>
          <a:xfrm>
            <a:off x="792480" y="2370426"/>
            <a:ext cx="1623060" cy="741283"/>
          </a:xfrm>
          <a:prstGeom prst="roundRect">
            <a:avLst>
              <a:gd name="adj" fmla="val 12335"/>
            </a:avLst>
          </a:prstGeom>
          <a:solidFill>
            <a:srgbClr val="F7FBFF"/>
          </a:solidFill>
          <a:ln w="9525">
            <a:solidFill>
              <a:srgbClr val="DCE7F2"/>
            </a:solidFill>
            <a:prstDash val="solid"/>
          </a:ln>
        </p:spPr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69805E02-F45E-B86A-DCDF-0EA5AD3FEC70}"/>
              </a:ext>
            </a:extLst>
          </p:cNvPr>
          <p:cNvSpPr/>
          <p:nvPr/>
        </p:nvSpPr>
        <p:spPr>
          <a:xfrm>
            <a:off x="792480" y="3165050"/>
            <a:ext cx="1623060" cy="741283"/>
          </a:xfrm>
          <a:prstGeom prst="roundRect">
            <a:avLst>
              <a:gd name="adj" fmla="val 12335"/>
            </a:avLst>
          </a:prstGeom>
          <a:solidFill>
            <a:srgbClr val="F7FBFF"/>
          </a:solidFill>
          <a:ln w="9525">
            <a:solidFill>
              <a:srgbClr val="DCE7F2"/>
            </a:solidFill>
            <a:prstDash val="solid"/>
          </a:ln>
        </p:spPr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2A447530-3094-2309-D8AC-163033F6DA5C}"/>
              </a:ext>
            </a:extLst>
          </p:cNvPr>
          <p:cNvSpPr/>
          <p:nvPr/>
        </p:nvSpPr>
        <p:spPr>
          <a:xfrm>
            <a:off x="792480" y="3959673"/>
            <a:ext cx="1623060" cy="741283"/>
          </a:xfrm>
          <a:prstGeom prst="roundRect">
            <a:avLst>
              <a:gd name="adj" fmla="val 12335"/>
            </a:avLst>
          </a:prstGeom>
          <a:solidFill>
            <a:srgbClr val="F7FBFF"/>
          </a:solidFill>
          <a:ln w="9525">
            <a:solidFill>
              <a:srgbClr val="DCE7F2"/>
            </a:solidFill>
            <a:prstDash val="solid"/>
          </a:ln>
        </p:spPr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5CA88290-DB73-22A9-11FE-EBE92C955B42}"/>
              </a:ext>
            </a:extLst>
          </p:cNvPr>
          <p:cNvSpPr/>
          <p:nvPr/>
        </p:nvSpPr>
        <p:spPr>
          <a:xfrm>
            <a:off x="792480" y="4754296"/>
            <a:ext cx="1623060" cy="741283"/>
          </a:xfrm>
          <a:prstGeom prst="roundRect">
            <a:avLst>
              <a:gd name="adj" fmla="val 12335"/>
            </a:avLst>
          </a:prstGeom>
          <a:solidFill>
            <a:srgbClr val="F7FBFF"/>
          </a:solidFill>
          <a:ln w="9525">
            <a:solidFill>
              <a:srgbClr val="DCE7F2"/>
            </a:solidFill>
            <a:prstDash val="solid"/>
          </a:ln>
        </p:spPr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3F969EEB-4BA9-9A15-69CF-58C108ABCA87}"/>
              </a:ext>
            </a:extLst>
          </p:cNvPr>
          <p:cNvSpPr/>
          <p:nvPr/>
        </p:nvSpPr>
        <p:spPr>
          <a:xfrm>
            <a:off x="792480" y="5548919"/>
            <a:ext cx="1623060" cy="741283"/>
          </a:xfrm>
          <a:prstGeom prst="roundRect">
            <a:avLst>
              <a:gd name="adj" fmla="val 12335"/>
            </a:avLst>
          </a:prstGeom>
          <a:solidFill>
            <a:srgbClr val="F7FBFF"/>
          </a:solidFill>
          <a:ln w="9525">
            <a:solidFill>
              <a:srgbClr val="DCE7F2"/>
            </a:solidFill>
            <a:prstDash val="solid"/>
          </a:ln>
        </p:spPr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19D8EB63-FD5F-3AB6-FF7D-20D2375E8C74}"/>
              </a:ext>
            </a:extLst>
          </p:cNvPr>
          <p:cNvSpPr/>
          <p:nvPr/>
        </p:nvSpPr>
        <p:spPr>
          <a:xfrm>
            <a:off x="2651760" y="3737502"/>
            <a:ext cx="320040" cy="320040"/>
          </a:xfrm>
          <a:prstGeom prst="ellipse">
            <a:avLst/>
          </a:prstGeom>
          <a:solidFill>
            <a:srgbClr val="0565FF"/>
          </a:solidFill>
          <a:ln>
            <a:noFill/>
          </a:ln>
        </p:spPr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D0502554-979B-BFD0-C902-F7C70B683E1E}"/>
              </a:ext>
            </a:extLst>
          </p:cNvPr>
          <p:cNvSpPr/>
          <p:nvPr/>
        </p:nvSpPr>
        <p:spPr>
          <a:xfrm>
            <a:off x="3086100" y="1710582"/>
            <a:ext cx="5943600" cy="46939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8CCBFF"/>
            </a:solidFill>
            <a:prstDash val="solid"/>
          </a:ln>
        </p:spPr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55ABA8A4-F0CF-0E71-5FC1-48EECDB4826D}"/>
              </a:ext>
            </a:extLst>
          </p:cNvPr>
          <p:cNvSpPr/>
          <p:nvPr/>
        </p:nvSpPr>
        <p:spPr>
          <a:xfrm>
            <a:off x="7947660" y="2005857"/>
            <a:ext cx="777240" cy="32766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248662F1-A721-A065-86A1-5523BF2E9F7A}"/>
              </a:ext>
            </a:extLst>
          </p:cNvPr>
          <p:cNvSpPr/>
          <p:nvPr/>
        </p:nvSpPr>
        <p:spPr>
          <a:xfrm>
            <a:off x="3238500" y="4057077"/>
            <a:ext cx="1085017" cy="766524"/>
          </a:xfrm>
          <a:prstGeom prst="roundRect">
            <a:avLst>
              <a:gd name="adj" fmla="val 11929"/>
            </a:avLst>
          </a:prstGeom>
          <a:solidFill>
            <a:srgbClr val="F7FB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349DC4ED-D1B8-3C9F-C828-24ECF1667AA7}"/>
              </a:ext>
            </a:extLst>
          </p:cNvPr>
          <p:cNvSpPr/>
          <p:nvPr/>
        </p:nvSpPr>
        <p:spPr>
          <a:xfrm>
            <a:off x="4376857" y="4057077"/>
            <a:ext cx="1085136" cy="766524"/>
          </a:xfrm>
          <a:prstGeom prst="roundRect">
            <a:avLst>
              <a:gd name="adj" fmla="val 11929"/>
            </a:avLst>
          </a:prstGeom>
          <a:solidFill>
            <a:srgbClr val="F7FB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557E5A05-BAC7-842F-4CE6-162E90F42D01}"/>
              </a:ext>
            </a:extLst>
          </p:cNvPr>
          <p:cNvSpPr/>
          <p:nvPr/>
        </p:nvSpPr>
        <p:spPr>
          <a:xfrm>
            <a:off x="5515332" y="4057077"/>
            <a:ext cx="1085017" cy="766524"/>
          </a:xfrm>
          <a:prstGeom prst="roundRect">
            <a:avLst>
              <a:gd name="adj" fmla="val 11929"/>
            </a:avLst>
          </a:prstGeom>
          <a:solidFill>
            <a:srgbClr val="F7FB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D86EFBEC-4BDF-A72B-FA55-FEDEB98F355A}"/>
              </a:ext>
            </a:extLst>
          </p:cNvPr>
          <p:cNvSpPr/>
          <p:nvPr/>
        </p:nvSpPr>
        <p:spPr>
          <a:xfrm>
            <a:off x="6653689" y="4057077"/>
            <a:ext cx="1085136" cy="766524"/>
          </a:xfrm>
          <a:prstGeom prst="roundRect">
            <a:avLst>
              <a:gd name="adj" fmla="val 11929"/>
            </a:avLst>
          </a:prstGeom>
          <a:solidFill>
            <a:srgbClr val="F7FB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3D859740-EF8B-6565-06EF-8F26EA193762}"/>
              </a:ext>
            </a:extLst>
          </p:cNvPr>
          <p:cNvSpPr/>
          <p:nvPr/>
        </p:nvSpPr>
        <p:spPr>
          <a:xfrm>
            <a:off x="7792164" y="4057077"/>
            <a:ext cx="1085017" cy="766524"/>
          </a:xfrm>
          <a:prstGeom prst="roundRect">
            <a:avLst>
              <a:gd name="adj" fmla="val 11929"/>
            </a:avLst>
          </a:prstGeom>
          <a:solidFill>
            <a:srgbClr val="F7FB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45" name="Shape 24">
            <a:extLst>
              <a:ext uri="{FF2B5EF4-FFF2-40B4-BE49-F238E27FC236}">
                <a16:creationId xmlns:a16="http://schemas.microsoft.com/office/drawing/2014/main" id="{ACD96DA6-DCFD-3598-6E1B-B85C200F6614}"/>
              </a:ext>
            </a:extLst>
          </p:cNvPr>
          <p:cNvSpPr/>
          <p:nvPr/>
        </p:nvSpPr>
        <p:spPr>
          <a:xfrm>
            <a:off x="3238500" y="4922661"/>
            <a:ext cx="2781300" cy="822960"/>
          </a:xfrm>
          <a:prstGeom prst="roundRect">
            <a:avLst>
              <a:gd name="adj" fmla="val 12963"/>
            </a:avLst>
          </a:prstGeom>
          <a:solidFill>
            <a:srgbClr val="EBFAFF"/>
          </a:solidFill>
          <a:ln w="9525">
            <a:solidFill>
              <a:srgbClr val="BFE6FA"/>
            </a:solidFill>
            <a:prstDash val="solid"/>
          </a:ln>
        </p:spPr>
      </p:sp>
      <p:sp>
        <p:nvSpPr>
          <p:cNvPr id="47" name="Shape 25">
            <a:extLst>
              <a:ext uri="{FF2B5EF4-FFF2-40B4-BE49-F238E27FC236}">
                <a16:creationId xmlns:a16="http://schemas.microsoft.com/office/drawing/2014/main" id="{E342CAFF-88A2-949B-D41A-BCCDE2F2B130}"/>
              </a:ext>
            </a:extLst>
          </p:cNvPr>
          <p:cNvSpPr/>
          <p:nvPr/>
        </p:nvSpPr>
        <p:spPr>
          <a:xfrm>
            <a:off x="6096000" y="4922661"/>
            <a:ext cx="2781300" cy="822960"/>
          </a:xfrm>
          <a:prstGeom prst="roundRect">
            <a:avLst>
              <a:gd name="adj" fmla="val 12963"/>
            </a:avLst>
          </a:prstGeom>
          <a:solidFill>
            <a:srgbClr val="F2FFFC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5BA3AAEF-B9AE-F1DD-66FE-579B8E44C91C}"/>
              </a:ext>
            </a:extLst>
          </p:cNvPr>
          <p:cNvSpPr/>
          <p:nvPr/>
        </p:nvSpPr>
        <p:spPr>
          <a:xfrm>
            <a:off x="3238500" y="5837061"/>
            <a:ext cx="5638800" cy="342900"/>
          </a:xfrm>
          <a:prstGeom prst="roundRect">
            <a:avLst>
              <a:gd name="adj" fmla="val 28889"/>
            </a:avLst>
          </a:prstGeom>
          <a:solidFill>
            <a:srgbClr val="EFFFFA"/>
          </a:solidFill>
          <a:ln>
            <a:noFill/>
          </a:ln>
        </p:spPr>
      </p:sp>
      <p:sp>
        <p:nvSpPr>
          <p:cNvPr id="51" name="Shape 27">
            <a:extLst>
              <a:ext uri="{FF2B5EF4-FFF2-40B4-BE49-F238E27FC236}">
                <a16:creationId xmlns:a16="http://schemas.microsoft.com/office/drawing/2014/main" id="{FC1D0B20-35DE-E7DA-6AEC-987F012DCA41}"/>
              </a:ext>
            </a:extLst>
          </p:cNvPr>
          <p:cNvSpPr/>
          <p:nvPr/>
        </p:nvSpPr>
        <p:spPr>
          <a:xfrm>
            <a:off x="3268980" y="5837061"/>
            <a:ext cx="914" cy="342900"/>
          </a:xfrm>
          <a:prstGeom prst="line">
            <a:avLst/>
          </a:prstGeom>
          <a:noFill/>
          <a:ln w="76200">
            <a:solidFill>
              <a:srgbClr val="00AB7A"/>
            </a:solidFill>
            <a:prstDash val="solid"/>
          </a:ln>
        </p:spPr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8C27A6F2-24C5-1D22-71EE-3A281291E3FB}"/>
              </a:ext>
            </a:extLst>
          </p:cNvPr>
          <p:cNvSpPr/>
          <p:nvPr/>
        </p:nvSpPr>
        <p:spPr>
          <a:xfrm>
            <a:off x="9144000" y="3737502"/>
            <a:ext cx="320040" cy="320040"/>
          </a:xfrm>
          <a:prstGeom prst="ellipse">
            <a:avLst/>
          </a:prstGeom>
          <a:solidFill>
            <a:srgbClr val="00AB7A"/>
          </a:solidFill>
          <a:ln>
            <a:noFill/>
          </a:ln>
        </p:spPr>
      </p:sp>
      <p:sp>
        <p:nvSpPr>
          <p:cNvPr id="55" name="Shape 29">
            <a:extLst>
              <a:ext uri="{FF2B5EF4-FFF2-40B4-BE49-F238E27FC236}">
                <a16:creationId xmlns:a16="http://schemas.microsoft.com/office/drawing/2014/main" id="{BC611060-404F-6A1E-DA29-0648FC694E79}"/>
              </a:ext>
            </a:extLst>
          </p:cNvPr>
          <p:cNvSpPr/>
          <p:nvPr/>
        </p:nvSpPr>
        <p:spPr>
          <a:xfrm>
            <a:off x="9578340" y="1710582"/>
            <a:ext cx="1943100" cy="4693920"/>
          </a:xfrm>
          <a:prstGeom prst="roundRect">
            <a:avLst>
              <a:gd name="adj" fmla="val 7843"/>
            </a:avLst>
          </a:prstGeom>
          <a:solidFill>
            <a:srgbClr val="F7FFFD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59" name="Shape 31">
            <a:extLst>
              <a:ext uri="{FF2B5EF4-FFF2-40B4-BE49-F238E27FC236}">
                <a16:creationId xmlns:a16="http://schemas.microsoft.com/office/drawing/2014/main" id="{5B27B8B6-DFB2-822B-B2FF-2A7393081908}"/>
              </a:ext>
            </a:extLst>
          </p:cNvPr>
          <p:cNvSpPr/>
          <p:nvPr/>
        </p:nvSpPr>
        <p:spPr>
          <a:xfrm>
            <a:off x="9700260" y="2370426"/>
            <a:ext cx="822960" cy="127099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61" name="Shape 32">
            <a:extLst>
              <a:ext uri="{FF2B5EF4-FFF2-40B4-BE49-F238E27FC236}">
                <a16:creationId xmlns:a16="http://schemas.microsoft.com/office/drawing/2014/main" id="{028E79E9-643D-DB5D-79D8-088A22FA1025}"/>
              </a:ext>
            </a:extLst>
          </p:cNvPr>
          <p:cNvSpPr/>
          <p:nvPr/>
        </p:nvSpPr>
        <p:spPr>
          <a:xfrm>
            <a:off x="10576560" y="2370426"/>
            <a:ext cx="822960" cy="127099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63" name="Shape 33">
            <a:extLst>
              <a:ext uri="{FF2B5EF4-FFF2-40B4-BE49-F238E27FC236}">
                <a16:creationId xmlns:a16="http://schemas.microsoft.com/office/drawing/2014/main" id="{34EB1B56-122E-3233-EF88-815D4A39F8CE}"/>
              </a:ext>
            </a:extLst>
          </p:cNvPr>
          <p:cNvSpPr/>
          <p:nvPr/>
        </p:nvSpPr>
        <p:spPr>
          <a:xfrm>
            <a:off x="9700260" y="3694759"/>
            <a:ext cx="822960" cy="127099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65" name="Shape 34">
            <a:extLst>
              <a:ext uri="{FF2B5EF4-FFF2-40B4-BE49-F238E27FC236}">
                <a16:creationId xmlns:a16="http://schemas.microsoft.com/office/drawing/2014/main" id="{C3D3358B-BEFB-16E1-5236-3B00F7FFDA92}"/>
              </a:ext>
            </a:extLst>
          </p:cNvPr>
          <p:cNvSpPr/>
          <p:nvPr/>
        </p:nvSpPr>
        <p:spPr>
          <a:xfrm>
            <a:off x="10576560" y="3694759"/>
            <a:ext cx="822960" cy="127099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67" name="Shape 35">
            <a:extLst>
              <a:ext uri="{FF2B5EF4-FFF2-40B4-BE49-F238E27FC236}">
                <a16:creationId xmlns:a16="http://schemas.microsoft.com/office/drawing/2014/main" id="{3DCF2E2D-378D-53AE-157C-85B1038495CC}"/>
              </a:ext>
            </a:extLst>
          </p:cNvPr>
          <p:cNvSpPr/>
          <p:nvPr/>
        </p:nvSpPr>
        <p:spPr>
          <a:xfrm>
            <a:off x="9700260" y="5019091"/>
            <a:ext cx="822960" cy="127099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69" name="Shape 36">
            <a:extLst>
              <a:ext uri="{FF2B5EF4-FFF2-40B4-BE49-F238E27FC236}">
                <a16:creationId xmlns:a16="http://schemas.microsoft.com/office/drawing/2014/main" id="{73C3A6A7-8252-183A-71A6-504C8E657492}"/>
              </a:ext>
            </a:extLst>
          </p:cNvPr>
          <p:cNvSpPr/>
          <p:nvPr/>
        </p:nvSpPr>
        <p:spPr>
          <a:xfrm>
            <a:off x="10576560" y="5019091"/>
            <a:ext cx="822960" cy="127099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71" name="TextBox 5">
            <a:extLst>
              <a:ext uri="{FF2B5EF4-FFF2-40B4-BE49-F238E27FC236}">
                <a16:creationId xmlns:a16="http://schemas.microsoft.com/office/drawing/2014/main" id="{BE9F76A5-31E0-14C1-117D-14664777DE95}"/>
              </a:ext>
            </a:extLst>
          </p:cNvPr>
          <p:cNvSpPr txBox="1"/>
          <p:nvPr/>
        </p:nvSpPr>
        <p:spPr>
          <a:xfrm>
            <a:off x="1059180" y="1230522"/>
            <a:ext cx="8833104" cy="2865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25"/>
              </a:lnSpc>
            </a:pPr>
            <a:r>
              <a:rPr lang="zh-CN" sz="1500" b="1" dirty="0">
                <a:solidFill>
                  <a:srgbClr val="0F2A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各组成部分不是并列堆砌，而是围绕人才成长与业务落地协同运转，形成企业可持续运营的AI能力底座。</a:t>
            </a:r>
          </a:p>
        </p:txBody>
      </p:sp>
      <p:sp>
        <p:nvSpPr>
          <p:cNvPr id="73" name="TextBox 6">
            <a:extLst>
              <a:ext uri="{FF2B5EF4-FFF2-40B4-BE49-F238E27FC236}">
                <a16:creationId xmlns:a16="http://schemas.microsoft.com/office/drawing/2014/main" id="{254FC88D-29C9-CC1B-9429-6164EBC007A8}"/>
              </a:ext>
            </a:extLst>
          </p:cNvPr>
          <p:cNvSpPr txBox="1"/>
          <p:nvPr/>
        </p:nvSpPr>
        <p:spPr>
          <a:xfrm>
            <a:off x="792480" y="1824882"/>
            <a:ext cx="990138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2160"/>
              </a:lnSpc>
            </a:pPr>
            <a:r>
              <a:rPr lang="zh-CN" sz="16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企业输入</a:t>
            </a:r>
          </a:p>
        </p:txBody>
      </p:sp>
      <p:sp>
        <p:nvSpPr>
          <p:cNvPr id="75" name="TextBox 7">
            <a:extLst>
              <a:ext uri="{FF2B5EF4-FFF2-40B4-BE49-F238E27FC236}">
                <a16:creationId xmlns:a16="http://schemas.microsoft.com/office/drawing/2014/main" id="{A600BB88-31AE-92CD-6AAA-94BB91BB61DF}"/>
              </a:ext>
            </a:extLst>
          </p:cNvPr>
          <p:cNvSpPr txBox="1"/>
          <p:nvPr/>
        </p:nvSpPr>
        <p:spPr>
          <a:xfrm>
            <a:off x="792480" y="2129682"/>
            <a:ext cx="1677924" cy="195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  <a:spcBef>
                <a:spcPts val="240"/>
              </a:spcBef>
            </a:pPr>
            <a:r>
              <a:rPr lang="zh-CN" sz="10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确定范围、优先级与约束</a:t>
            </a:r>
          </a:p>
        </p:txBody>
      </p:sp>
      <p:sp>
        <p:nvSpPr>
          <p:cNvPr id="77" name="TextBox 8">
            <a:extLst>
              <a:ext uri="{FF2B5EF4-FFF2-40B4-BE49-F238E27FC236}">
                <a16:creationId xmlns:a16="http://schemas.microsoft.com/office/drawing/2014/main" id="{4076AD9B-F9C8-B0FE-FC1E-DEF8C7AFCE5E}"/>
              </a:ext>
            </a:extLst>
          </p:cNvPr>
          <p:cNvSpPr txBox="1"/>
          <p:nvPr/>
        </p:nvSpPr>
        <p:spPr>
          <a:xfrm>
            <a:off x="883920" y="2556402"/>
            <a:ext cx="14950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1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战略方向｜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业务目标与AI建设重点</a:t>
            </a:r>
          </a:p>
        </p:txBody>
      </p:sp>
      <p:sp>
        <p:nvSpPr>
          <p:cNvPr id="79" name="TextBox 9">
            <a:extLst>
              <a:ext uri="{FF2B5EF4-FFF2-40B4-BE49-F238E27FC236}">
                <a16:creationId xmlns:a16="http://schemas.microsoft.com/office/drawing/2014/main" id="{2EE26D54-95D9-3D55-9F97-F292801F4405}"/>
              </a:ext>
            </a:extLst>
          </p:cNvPr>
          <p:cNvSpPr txBox="1"/>
          <p:nvPr/>
        </p:nvSpPr>
        <p:spPr>
          <a:xfrm>
            <a:off x="883920" y="3348882"/>
            <a:ext cx="14950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1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重点场景｜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岗位痛点、流程与价值假设</a:t>
            </a:r>
          </a:p>
        </p:txBody>
      </p:sp>
      <p:sp>
        <p:nvSpPr>
          <p:cNvPr id="81" name="TextBox 10">
            <a:extLst>
              <a:ext uri="{FF2B5EF4-FFF2-40B4-BE49-F238E27FC236}">
                <a16:creationId xmlns:a16="http://schemas.microsoft.com/office/drawing/2014/main" id="{C4C49663-C044-F6D8-DB34-A6EF7DD81DA7}"/>
              </a:ext>
            </a:extLst>
          </p:cNvPr>
          <p:cNvSpPr txBox="1"/>
          <p:nvPr/>
        </p:nvSpPr>
        <p:spPr>
          <a:xfrm>
            <a:off x="883920" y="4148982"/>
            <a:ext cx="14950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1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人员基础｜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角色结构与现有能力水平</a:t>
            </a:r>
          </a:p>
        </p:txBody>
      </p:sp>
      <p:sp>
        <p:nvSpPr>
          <p:cNvPr id="83" name="TextBox 11">
            <a:extLst>
              <a:ext uri="{FF2B5EF4-FFF2-40B4-BE49-F238E27FC236}">
                <a16:creationId xmlns:a16="http://schemas.microsoft.com/office/drawing/2014/main" id="{35F92941-C896-944D-F27B-CC2233A538B9}"/>
              </a:ext>
            </a:extLst>
          </p:cNvPr>
          <p:cNvSpPr txBox="1"/>
          <p:nvPr/>
        </p:nvSpPr>
        <p:spPr>
          <a:xfrm>
            <a:off x="883920" y="4941462"/>
            <a:ext cx="14950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1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数据与系统｜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知识、接口、环境与权限</a:t>
            </a:r>
          </a:p>
        </p:txBody>
      </p:sp>
      <p:sp>
        <p:nvSpPr>
          <p:cNvPr id="85" name="TextBox 12">
            <a:extLst>
              <a:ext uri="{FF2B5EF4-FFF2-40B4-BE49-F238E27FC236}">
                <a16:creationId xmlns:a16="http://schemas.microsoft.com/office/drawing/2014/main" id="{35D3DA77-8A00-B3CF-692E-9B3F4E6ED60F}"/>
              </a:ext>
            </a:extLst>
          </p:cNvPr>
          <p:cNvSpPr txBox="1"/>
          <p:nvPr/>
        </p:nvSpPr>
        <p:spPr>
          <a:xfrm>
            <a:off x="883920" y="5733942"/>
            <a:ext cx="14950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1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安全要求｜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合规边界、治理与审计规则</a:t>
            </a:r>
          </a:p>
        </p:txBody>
      </p:sp>
      <p:sp>
        <p:nvSpPr>
          <p:cNvPr id="87" name="TextBox 13">
            <a:extLst>
              <a:ext uri="{FF2B5EF4-FFF2-40B4-BE49-F238E27FC236}">
                <a16:creationId xmlns:a16="http://schemas.microsoft.com/office/drawing/2014/main" id="{1C69ECFA-BE4C-0AFA-8A13-93FDEA159F4D}"/>
              </a:ext>
            </a:extLst>
          </p:cNvPr>
          <p:cNvSpPr txBox="1"/>
          <p:nvPr/>
        </p:nvSpPr>
        <p:spPr>
          <a:xfrm>
            <a:off x="2689860" y="4133742"/>
            <a:ext cx="298704" cy="3931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550"/>
              </a:lnSpc>
            </a:pPr>
            <a:r>
              <a:rPr lang="zh-CN" sz="100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</a:p>
          <a:p>
            <a:pPr algn="ctr">
              <a:lnSpc>
                <a:spcPts val="1550"/>
              </a:lnSpc>
            </a:pPr>
            <a:r>
              <a:rPr lang="zh-CN" sz="100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</a:t>
            </a:r>
          </a:p>
        </p:txBody>
      </p:sp>
      <p:sp>
        <p:nvSpPr>
          <p:cNvPr id="89" name="TextBox 14">
            <a:extLst>
              <a:ext uri="{FF2B5EF4-FFF2-40B4-BE49-F238E27FC236}">
                <a16:creationId xmlns:a16="http://schemas.microsoft.com/office/drawing/2014/main" id="{F6F0C920-AB1C-57C3-161A-8939A714DDAB}"/>
              </a:ext>
            </a:extLst>
          </p:cNvPr>
          <p:cNvSpPr txBox="1"/>
          <p:nvPr/>
        </p:nvSpPr>
        <p:spPr>
          <a:xfrm>
            <a:off x="3238500" y="1851552"/>
            <a:ext cx="4253484" cy="29794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40"/>
              </a:lnSpc>
            </a:pPr>
            <a:r>
              <a:rPr 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一个目标</a:t>
            </a:r>
          </a:p>
        </p:txBody>
      </p:sp>
      <p:sp>
        <p:nvSpPr>
          <p:cNvPr id="91" name="TextBox 15">
            <a:extLst>
              <a:ext uri="{FF2B5EF4-FFF2-40B4-BE49-F238E27FC236}">
                <a16:creationId xmlns:a16="http://schemas.microsoft.com/office/drawing/2014/main" id="{39D63331-B7FA-3AEE-5DF1-5181069CBAB4}"/>
              </a:ext>
            </a:extLst>
          </p:cNvPr>
          <p:cNvSpPr txBox="1"/>
          <p:nvPr/>
        </p:nvSpPr>
        <p:spPr>
          <a:xfrm>
            <a:off x="3198669" y="2137302"/>
            <a:ext cx="4746336" cy="2445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2070"/>
              </a:lnSpc>
              <a:spcBef>
                <a:spcPts val="120"/>
              </a:spcBef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推动企业AI安全、有效、可持续进入岗位与业务流程</a:t>
            </a:r>
          </a:p>
        </p:txBody>
      </p:sp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553CCFA6-7B0C-D336-D312-A8C9EA39D924}"/>
              </a:ext>
            </a:extLst>
          </p:cNvPr>
          <p:cNvGrpSpPr/>
          <p:nvPr/>
        </p:nvGrpSpPr>
        <p:grpSpPr>
          <a:xfrm>
            <a:off x="3238500" y="2865012"/>
            <a:ext cx="5638800" cy="739902"/>
            <a:chOff x="3238500" y="2785110"/>
            <a:chExt cx="5638800" cy="560070"/>
          </a:xfrm>
        </p:grpSpPr>
        <p:sp>
          <p:nvSpPr>
            <p:cNvPr id="27" name="Shape 15">
              <a:extLst>
                <a:ext uri="{FF2B5EF4-FFF2-40B4-BE49-F238E27FC236}">
                  <a16:creationId xmlns:a16="http://schemas.microsoft.com/office/drawing/2014/main" id="{6FE4D527-B868-840D-55A8-5E868CB58278}"/>
                </a:ext>
              </a:extLst>
            </p:cNvPr>
            <p:cNvSpPr/>
            <p:nvPr/>
          </p:nvSpPr>
          <p:spPr>
            <a:xfrm>
              <a:off x="3238500" y="2785110"/>
              <a:ext cx="1363980" cy="560070"/>
            </a:xfrm>
            <a:prstGeom prst="roundRect">
              <a:avLst>
                <a:gd name="adj" fmla="val 16327"/>
              </a:avLst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4D88B06C-595B-EBC9-DD7A-6EAB17385D2C}"/>
                </a:ext>
              </a:extLst>
            </p:cNvPr>
            <p:cNvSpPr/>
            <p:nvPr/>
          </p:nvSpPr>
          <p:spPr>
            <a:xfrm>
              <a:off x="4663440" y="2785110"/>
              <a:ext cx="1363980" cy="560070"/>
            </a:xfrm>
            <a:prstGeom prst="roundRect">
              <a:avLst>
                <a:gd name="adj" fmla="val 16327"/>
              </a:avLst>
            </a:prstGeom>
            <a:solidFill>
              <a:srgbClr val="E1E8FF"/>
            </a:solidFill>
            <a:ln>
              <a:noFill/>
            </a:ln>
          </p:spPr>
        </p:sp>
        <p:sp>
          <p:nvSpPr>
            <p:cNvPr id="31" name="Shape 17">
              <a:extLst>
                <a:ext uri="{FF2B5EF4-FFF2-40B4-BE49-F238E27FC236}">
                  <a16:creationId xmlns:a16="http://schemas.microsoft.com/office/drawing/2014/main" id="{5DAD8F80-6943-B477-7DDF-E3AA2D6A2E7C}"/>
                </a:ext>
              </a:extLst>
            </p:cNvPr>
            <p:cNvSpPr/>
            <p:nvPr/>
          </p:nvSpPr>
          <p:spPr>
            <a:xfrm>
              <a:off x="6088380" y="2785110"/>
              <a:ext cx="1363980" cy="560070"/>
            </a:xfrm>
            <a:prstGeom prst="roundRect">
              <a:avLst>
                <a:gd name="adj" fmla="val 16327"/>
              </a:avLst>
            </a:prstGeom>
            <a:solidFill>
              <a:srgbClr val="DDF3FF"/>
            </a:solidFill>
            <a:ln>
              <a:noFill/>
            </a:ln>
          </p:spPr>
        </p:sp>
        <p:sp>
          <p:nvSpPr>
            <p:cNvPr id="33" name="Shape 18">
              <a:extLst>
                <a:ext uri="{FF2B5EF4-FFF2-40B4-BE49-F238E27FC236}">
                  <a16:creationId xmlns:a16="http://schemas.microsoft.com/office/drawing/2014/main" id="{EECA69D6-D2E6-14FB-F5E1-831A25493810}"/>
                </a:ext>
              </a:extLst>
            </p:cNvPr>
            <p:cNvSpPr/>
            <p:nvPr/>
          </p:nvSpPr>
          <p:spPr>
            <a:xfrm>
              <a:off x="7513320" y="2785110"/>
              <a:ext cx="1363980" cy="560070"/>
            </a:xfrm>
            <a:prstGeom prst="roundRect">
              <a:avLst>
                <a:gd name="adj" fmla="val 16327"/>
              </a:avLst>
            </a:prstGeom>
            <a:solidFill>
              <a:srgbClr val="D9FFF5"/>
            </a:solidFill>
            <a:ln>
              <a:noFill/>
            </a:ln>
          </p:spPr>
        </p:sp>
        <p:sp>
          <p:nvSpPr>
            <p:cNvPr id="93" name="TextBox 16">
              <a:extLst>
                <a:ext uri="{FF2B5EF4-FFF2-40B4-BE49-F238E27FC236}">
                  <a16:creationId xmlns:a16="http://schemas.microsoft.com/office/drawing/2014/main" id="{6873B8E0-2989-309F-2E94-846B7697AEAE}"/>
                </a:ext>
              </a:extLst>
            </p:cNvPr>
            <p:cNvSpPr txBox="1"/>
            <p:nvPr/>
          </p:nvSpPr>
          <p:spPr>
            <a:xfrm>
              <a:off x="3314700" y="2857500"/>
              <a:ext cx="1266444" cy="2484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ts val="1710"/>
                </a:lnSpc>
              </a:pPr>
              <a:r>
                <a:rPr lang="zh-CN" sz="1200" b="1" dirty="0">
                  <a:solidFill>
                    <a:srgbClr val="0721A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全员应用层</a:t>
              </a:r>
            </a:p>
          </p:txBody>
        </p:sp>
        <p:sp>
          <p:nvSpPr>
            <p:cNvPr id="95" name="TextBox 17">
              <a:extLst>
                <a:ext uri="{FF2B5EF4-FFF2-40B4-BE49-F238E27FC236}">
                  <a16:creationId xmlns:a16="http://schemas.microsoft.com/office/drawing/2014/main" id="{FA04DF0E-C554-E6A3-3083-3D57D27D15F6}"/>
                </a:ext>
              </a:extLst>
            </p:cNvPr>
            <p:cNvSpPr txBox="1"/>
            <p:nvPr/>
          </p:nvSpPr>
          <p:spPr>
            <a:xfrm>
              <a:off x="3314700" y="3093720"/>
              <a:ext cx="1266444" cy="2103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ts val="1440"/>
                </a:lnSpc>
                <a:spcBef>
                  <a:spcPts val="180"/>
                </a:spcBef>
              </a:pPr>
              <a:r>
                <a:rPr lang="zh-CN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会用 · 岗位提效</a:t>
              </a:r>
            </a:p>
          </p:txBody>
        </p:sp>
        <p:sp>
          <p:nvSpPr>
            <p:cNvPr id="97" name="TextBox 18">
              <a:extLst>
                <a:ext uri="{FF2B5EF4-FFF2-40B4-BE49-F238E27FC236}">
                  <a16:creationId xmlns:a16="http://schemas.microsoft.com/office/drawing/2014/main" id="{ECBE70CC-0E8C-51D7-9A19-514457D2666C}"/>
                </a:ext>
              </a:extLst>
            </p:cNvPr>
            <p:cNvSpPr txBox="1"/>
            <p:nvPr/>
          </p:nvSpPr>
          <p:spPr>
            <a:xfrm>
              <a:off x="4739640" y="2857500"/>
              <a:ext cx="1266444" cy="2484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ts val="1710"/>
                </a:lnSpc>
              </a:pPr>
              <a:r>
                <a:rPr lang="zh-CN" sz="1200" b="1" dirty="0">
                  <a:solidFill>
                    <a:srgbClr val="0721A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ADEA 初级</a:t>
              </a:r>
            </a:p>
          </p:txBody>
        </p:sp>
        <p:sp>
          <p:nvSpPr>
            <p:cNvPr id="99" name="TextBox 19">
              <a:extLst>
                <a:ext uri="{FF2B5EF4-FFF2-40B4-BE49-F238E27FC236}">
                  <a16:creationId xmlns:a16="http://schemas.microsoft.com/office/drawing/2014/main" id="{1497FC5A-1A31-4E1D-8CCE-62786ED7D0A2}"/>
                </a:ext>
              </a:extLst>
            </p:cNvPr>
            <p:cNvSpPr txBox="1"/>
            <p:nvPr/>
          </p:nvSpPr>
          <p:spPr>
            <a:xfrm>
              <a:off x="4739640" y="3093720"/>
              <a:ext cx="1266444" cy="2103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ts val="1440"/>
                </a:lnSpc>
                <a:spcBef>
                  <a:spcPts val="180"/>
                </a:spcBef>
              </a:pPr>
              <a:r>
                <a:rPr lang="zh-CN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会搭 · 单场景助手</a:t>
              </a:r>
            </a:p>
          </p:txBody>
        </p:sp>
        <p:sp>
          <p:nvSpPr>
            <p:cNvPr id="101" name="TextBox 20">
              <a:extLst>
                <a:ext uri="{FF2B5EF4-FFF2-40B4-BE49-F238E27FC236}">
                  <a16:creationId xmlns:a16="http://schemas.microsoft.com/office/drawing/2014/main" id="{AE7B7272-12F9-654F-6657-7646EEA8E739}"/>
                </a:ext>
              </a:extLst>
            </p:cNvPr>
            <p:cNvSpPr txBox="1"/>
            <p:nvPr/>
          </p:nvSpPr>
          <p:spPr>
            <a:xfrm>
              <a:off x="6164580" y="2857500"/>
              <a:ext cx="1266444" cy="2484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ts val="1710"/>
                </a:lnSpc>
              </a:pPr>
              <a:r>
                <a:rPr lang="zh-CN" sz="1200" b="1" dirty="0">
                  <a:solidFill>
                    <a:srgbClr val="0565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ADEP 中级</a:t>
              </a:r>
            </a:p>
          </p:txBody>
        </p:sp>
        <p:sp>
          <p:nvSpPr>
            <p:cNvPr id="103" name="TextBox 21">
              <a:extLst>
                <a:ext uri="{FF2B5EF4-FFF2-40B4-BE49-F238E27FC236}">
                  <a16:creationId xmlns:a16="http://schemas.microsoft.com/office/drawing/2014/main" id="{059E45E0-7549-8A1A-5AE3-D15DD1E79115}"/>
                </a:ext>
              </a:extLst>
            </p:cNvPr>
            <p:cNvSpPr txBox="1"/>
            <p:nvPr/>
          </p:nvSpPr>
          <p:spPr>
            <a:xfrm>
              <a:off x="6164580" y="3093720"/>
              <a:ext cx="1266444" cy="2103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ts val="1440"/>
                </a:lnSpc>
                <a:spcBef>
                  <a:spcPts val="180"/>
                </a:spcBef>
              </a:pPr>
              <a:r>
                <a:rPr lang="zh-CN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会做 · 复杂应用</a:t>
              </a:r>
            </a:p>
          </p:txBody>
        </p:sp>
        <p:sp>
          <p:nvSpPr>
            <p:cNvPr id="105" name="TextBox 22">
              <a:extLst>
                <a:ext uri="{FF2B5EF4-FFF2-40B4-BE49-F238E27FC236}">
                  <a16:creationId xmlns:a16="http://schemas.microsoft.com/office/drawing/2014/main" id="{48990C91-2665-F18C-0A2D-BDAC3D451A67}"/>
                </a:ext>
              </a:extLst>
            </p:cNvPr>
            <p:cNvSpPr txBox="1"/>
            <p:nvPr/>
          </p:nvSpPr>
          <p:spPr>
            <a:xfrm>
              <a:off x="7589520" y="2857500"/>
              <a:ext cx="1266444" cy="2484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ts val="1710"/>
                </a:lnSpc>
              </a:pPr>
              <a:r>
                <a:rPr lang="zh-CN" sz="1200" b="1" dirty="0">
                  <a:solidFill>
                    <a:srgbClr val="007C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ADEE 高级</a:t>
              </a:r>
            </a:p>
          </p:txBody>
        </p:sp>
        <p:sp>
          <p:nvSpPr>
            <p:cNvPr id="107" name="TextBox 23">
              <a:extLst>
                <a:ext uri="{FF2B5EF4-FFF2-40B4-BE49-F238E27FC236}">
                  <a16:creationId xmlns:a16="http://schemas.microsoft.com/office/drawing/2014/main" id="{96F19BE4-8168-FB08-BEC3-11E29240530A}"/>
                </a:ext>
              </a:extLst>
            </p:cNvPr>
            <p:cNvSpPr txBox="1"/>
            <p:nvPr/>
          </p:nvSpPr>
          <p:spPr>
            <a:xfrm>
              <a:off x="7589520" y="3093720"/>
              <a:ext cx="1266444" cy="2103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ts val="1440"/>
                </a:lnSpc>
                <a:spcBef>
                  <a:spcPts val="180"/>
                </a:spcBef>
              </a:pPr>
              <a:r>
                <a:rPr lang="zh-CN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会促 · 架构推进</a:t>
              </a:r>
            </a:p>
          </p:txBody>
        </p:sp>
      </p:grpSp>
      <p:sp>
        <p:nvSpPr>
          <p:cNvPr id="109" name="TextBox 24">
            <a:extLst>
              <a:ext uri="{FF2B5EF4-FFF2-40B4-BE49-F238E27FC236}">
                <a16:creationId xmlns:a16="http://schemas.microsoft.com/office/drawing/2014/main" id="{DED16394-9690-4FDB-0B38-E3634CB4B2E1}"/>
              </a:ext>
            </a:extLst>
          </p:cNvPr>
          <p:cNvSpPr txBox="1"/>
          <p:nvPr/>
        </p:nvSpPr>
        <p:spPr>
          <a:xfrm>
            <a:off x="3307080" y="4369497"/>
            <a:ext cx="9997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580"/>
              </a:lnSpc>
            </a:pPr>
            <a:r>
              <a:rPr lang="zh-CN" sz="110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分层与</a:t>
            </a:r>
          </a:p>
          <a:p>
            <a:pPr algn="ctr">
              <a:lnSpc>
                <a:spcPts val="1580"/>
              </a:lnSpc>
            </a:pPr>
            <a:r>
              <a:rPr lang="zh-CN" sz="110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能力标准</a:t>
            </a:r>
          </a:p>
        </p:txBody>
      </p:sp>
      <p:sp>
        <p:nvSpPr>
          <p:cNvPr id="111" name="TextBox 25">
            <a:extLst>
              <a:ext uri="{FF2B5EF4-FFF2-40B4-BE49-F238E27FC236}">
                <a16:creationId xmlns:a16="http://schemas.microsoft.com/office/drawing/2014/main" id="{422446C0-4DD2-A9C5-7D4B-0F40FFCCB05F}"/>
              </a:ext>
            </a:extLst>
          </p:cNvPr>
          <p:cNvSpPr txBox="1"/>
          <p:nvPr/>
        </p:nvSpPr>
        <p:spPr>
          <a:xfrm>
            <a:off x="4442460" y="4369497"/>
            <a:ext cx="9997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580"/>
              </a:lnSpc>
            </a:pPr>
            <a:r>
              <a:rPr lang="zh-CN" sz="110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培养与</a:t>
            </a:r>
          </a:p>
          <a:p>
            <a:pPr algn="ctr">
              <a:lnSpc>
                <a:spcPts val="1580"/>
              </a:lnSpc>
            </a:pPr>
            <a:r>
              <a:rPr lang="zh-CN" sz="110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课程体系</a:t>
            </a:r>
          </a:p>
        </p:txBody>
      </p:sp>
      <p:sp>
        <p:nvSpPr>
          <p:cNvPr id="113" name="TextBox 26">
            <a:extLst>
              <a:ext uri="{FF2B5EF4-FFF2-40B4-BE49-F238E27FC236}">
                <a16:creationId xmlns:a16="http://schemas.microsoft.com/office/drawing/2014/main" id="{4DFB1016-A1E3-7AEC-5A5E-A6D2F545D9C7}"/>
              </a:ext>
            </a:extLst>
          </p:cNvPr>
          <p:cNvSpPr txBox="1"/>
          <p:nvPr/>
        </p:nvSpPr>
        <p:spPr>
          <a:xfrm>
            <a:off x="5585460" y="4369497"/>
            <a:ext cx="9997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580"/>
              </a:lnSpc>
            </a:pPr>
            <a:r>
              <a:rPr lang="zh-CN" sz="110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场景与</a:t>
            </a:r>
          </a:p>
          <a:p>
            <a:pPr algn="ctr">
              <a:lnSpc>
                <a:spcPts val="1580"/>
              </a:lnSpc>
            </a:pPr>
            <a:r>
              <a:rPr lang="zh-CN" sz="110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项目实训</a:t>
            </a:r>
          </a:p>
        </p:txBody>
      </p:sp>
      <p:sp>
        <p:nvSpPr>
          <p:cNvPr id="115" name="TextBox 27">
            <a:extLst>
              <a:ext uri="{FF2B5EF4-FFF2-40B4-BE49-F238E27FC236}">
                <a16:creationId xmlns:a16="http://schemas.microsoft.com/office/drawing/2014/main" id="{80C02250-0359-97B6-D026-C0DE82FF7783}"/>
              </a:ext>
            </a:extLst>
          </p:cNvPr>
          <p:cNvSpPr txBox="1"/>
          <p:nvPr/>
        </p:nvSpPr>
        <p:spPr>
          <a:xfrm>
            <a:off x="6720840" y="4369497"/>
            <a:ext cx="9997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580"/>
              </a:lnSpc>
            </a:pPr>
            <a:r>
              <a:rPr lang="zh-CN" sz="110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评价认证</a:t>
            </a:r>
          </a:p>
          <a:p>
            <a:pPr algn="ctr">
              <a:lnSpc>
                <a:spcPts val="1580"/>
              </a:lnSpc>
            </a:pPr>
            <a:r>
              <a:rPr lang="zh-CN" sz="110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人才档案</a:t>
            </a:r>
          </a:p>
        </p:txBody>
      </p:sp>
      <p:sp>
        <p:nvSpPr>
          <p:cNvPr id="117" name="TextBox 28">
            <a:extLst>
              <a:ext uri="{FF2B5EF4-FFF2-40B4-BE49-F238E27FC236}">
                <a16:creationId xmlns:a16="http://schemas.microsoft.com/office/drawing/2014/main" id="{2360EF68-E4F5-546D-4264-A5F3C8E10B03}"/>
              </a:ext>
            </a:extLst>
          </p:cNvPr>
          <p:cNvSpPr txBox="1"/>
          <p:nvPr/>
        </p:nvSpPr>
        <p:spPr>
          <a:xfrm>
            <a:off x="7863840" y="4369497"/>
            <a:ext cx="9997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580"/>
              </a:lnSpc>
            </a:pPr>
            <a:r>
              <a:rPr lang="zh-CN" sz="110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学习运营</a:t>
            </a:r>
          </a:p>
          <a:p>
            <a:pPr algn="ctr">
              <a:lnSpc>
                <a:spcPts val="1580"/>
              </a:lnSpc>
            </a:pPr>
            <a:r>
              <a:rPr lang="zh-CN" sz="110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持续进阶</a:t>
            </a:r>
          </a:p>
        </p:txBody>
      </p:sp>
      <p:sp>
        <p:nvSpPr>
          <p:cNvPr id="119" name="TextBox 29">
            <a:extLst>
              <a:ext uri="{FF2B5EF4-FFF2-40B4-BE49-F238E27FC236}">
                <a16:creationId xmlns:a16="http://schemas.microsoft.com/office/drawing/2014/main" id="{03BDDBB2-7B80-2975-A9B7-3B5A3282DED5}"/>
              </a:ext>
            </a:extLst>
          </p:cNvPr>
          <p:cNvSpPr txBox="1"/>
          <p:nvPr/>
        </p:nvSpPr>
        <p:spPr>
          <a:xfrm>
            <a:off x="3360420" y="5009577"/>
            <a:ext cx="259232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40"/>
              </a:lnSpc>
            </a:pPr>
            <a:r>
              <a:rPr lang="zh-CN" sz="100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产品支撑 01</a:t>
            </a:r>
          </a:p>
        </p:txBody>
      </p:sp>
      <p:sp>
        <p:nvSpPr>
          <p:cNvPr id="121" name="TextBox 30">
            <a:extLst>
              <a:ext uri="{FF2B5EF4-FFF2-40B4-BE49-F238E27FC236}">
                <a16:creationId xmlns:a16="http://schemas.microsoft.com/office/drawing/2014/main" id="{EF7DF970-17F3-A880-E64B-D213F8D83E14}"/>
              </a:ext>
            </a:extLst>
          </p:cNvPr>
          <p:cNvSpPr txBox="1"/>
          <p:nvPr/>
        </p:nvSpPr>
        <p:spPr>
          <a:xfrm>
            <a:off x="3360420" y="5207697"/>
            <a:ext cx="2592324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00"/>
              </a:lnSpc>
              <a:spcBef>
                <a:spcPts val="120"/>
              </a:spcBef>
            </a:pPr>
            <a:r>
              <a:rPr lang="zh-CN" sz="14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纳米Work</a:t>
            </a:r>
          </a:p>
        </p:txBody>
      </p:sp>
      <p:sp>
        <p:nvSpPr>
          <p:cNvPr id="123" name="TextBox 31">
            <a:extLst>
              <a:ext uri="{FF2B5EF4-FFF2-40B4-BE49-F238E27FC236}">
                <a16:creationId xmlns:a16="http://schemas.microsoft.com/office/drawing/2014/main" id="{64BC4C35-758D-9AF6-DE3B-DAB4A811094C}"/>
              </a:ext>
            </a:extLst>
          </p:cNvPr>
          <p:cNvSpPr txBox="1"/>
          <p:nvPr/>
        </p:nvSpPr>
        <p:spPr>
          <a:xfrm>
            <a:off x="3360420" y="5459157"/>
            <a:ext cx="25923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1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全员学习、岗位应用与案例沉淀</a:t>
            </a:r>
          </a:p>
        </p:txBody>
      </p:sp>
      <p:sp>
        <p:nvSpPr>
          <p:cNvPr id="125" name="TextBox 32">
            <a:extLst>
              <a:ext uri="{FF2B5EF4-FFF2-40B4-BE49-F238E27FC236}">
                <a16:creationId xmlns:a16="http://schemas.microsoft.com/office/drawing/2014/main" id="{95CEC0D4-1C18-D24C-0219-B36B71C3D05F}"/>
              </a:ext>
            </a:extLst>
          </p:cNvPr>
          <p:cNvSpPr txBox="1"/>
          <p:nvPr/>
        </p:nvSpPr>
        <p:spPr>
          <a:xfrm>
            <a:off x="6217920" y="5009577"/>
            <a:ext cx="259232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40"/>
              </a:lnSpc>
            </a:pPr>
            <a:r>
              <a:rPr lang="zh-CN" sz="100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产品支撑 02</a:t>
            </a:r>
          </a:p>
        </p:txBody>
      </p:sp>
      <p:sp>
        <p:nvSpPr>
          <p:cNvPr id="127" name="TextBox 33">
            <a:extLst>
              <a:ext uri="{FF2B5EF4-FFF2-40B4-BE49-F238E27FC236}">
                <a16:creationId xmlns:a16="http://schemas.microsoft.com/office/drawing/2014/main" id="{DFBC3B53-492E-F3C2-0A7A-D14FF6AEA9AB}"/>
              </a:ext>
            </a:extLst>
          </p:cNvPr>
          <p:cNvSpPr txBox="1"/>
          <p:nvPr/>
        </p:nvSpPr>
        <p:spPr>
          <a:xfrm>
            <a:off x="6217920" y="5207697"/>
            <a:ext cx="2592324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00"/>
              </a:lnSpc>
              <a:spcBef>
                <a:spcPts val="120"/>
              </a:spcBef>
            </a:pPr>
            <a:r>
              <a:rPr lang="zh-CN" sz="140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智能体应用开发实训平台</a:t>
            </a:r>
          </a:p>
        </p:txBody>
      </p:sp>
      <p:sp>
        <p:nvSpPr>
          <p:cNvPr id="129" name="TextBox 34">
            <a:extLst>
              <a:ext uri="{FF2B5EF4-FFF2-40B4-BE49-F238E27FC236}">
                <a16:creationId xmlns:a16="http://schemas.microsoft.com/office/drawing/2014/main" id="{A4325DDE-696D-A783-FDF5-D8096E089801}"/>
              </a:ext>
            </a:extLst>
          </p:cNvPr>
          <p:cNvSpPr txBox="1"/>
          <p:nvPr/>
        </p:nvSpPr>
        <p:spPr>
          <a:xfrm>
            <a:off x="6217920" y="5459157"/>
            <a:ext cx="25923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1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专业学习、项目开发与统一评测</a:t>
            </a:r>
          </a:p>
        </p:txBody>
      </p:sp>
      <p:sp>
        <p:nvSpPr>
          <p:cNvPr id="131" name="TextBox 35">
            <a:extLst>
              <a:ext uri="{FF2B5EF4-FFF2-40B4-BE49-F238E27FC236}">
                <a16:creationId xmlns:a16="http://schemas.microsoft.com/office/drawing/2014/main" id="{16372B35-8064-9B19-F4E9-752CB97A3942}"/>
              </a:ext>
            </a:extLst>
          </p:cNvPr>
          <p:cNvSpPr txBox="1"/>
          <p:nvPr/>
        </p:nvSpPr>
        <p:spPr>
          <a:xfrm>
            <a:off x="3413760" y="5908737"/>
            <a:ext cx="6035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10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运营闭环</a:t>
            </a:r>
          </a:p>
        </p:txBody>
      </p:sp>
      <p:sp>
        <p:nvSpPr>
          <p:cNvPr id="133" name="TextBox 36">
            <a:extLst>
              <a:ext uri="{FF2B5EF4-FFF2-40B4-BE49-F238E27FC236}">
                <a16:creationId xmlns:a16="http://schemas.microsoft.com/office/drawing/2014/main" id="{54725F9A-1E25-A64C-A967-2B9D406A9F8A}"/>
              </a:ext>
            </a:extLst>
          </p:cNvPr>
          <p:cNvSpPr txBox="1"/>
          <p:nvPr/>
        </p:nvSpPr>
        <p:spPr>
          <a:xfrm>
            <a:off x="4118863" y="5908737"/>
            <a:ext cx="4800600" cy="2331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620"/>
              </a:lnSpc>
            </a:pPr>
            <a:r>
              <a:rPr lang="zh-CN" sz="110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 → 实践 → 测试 → 评价 → 认证 → 项目 → 人才发展 → 迭代更新</a:t>
            </a:r>
          </a:p>
        </p:txBody>
      </p:sp>
      <p:sp>
        <p:nvSpPr>
          <p:cNvPr id="135" name="TextBox 37">
            <a:extLst>
              <a:ext uri="{FF2B5EF4-FFF2-40B4-BE49-F238E27FC236}">
                <a16:creationId xmlns:a16="http://schemas.microsoft.com/office/drawing/2014/main" id="{77DE3880-828B-B4D2-FDA5-A22CA2462847}"/>
              </a:ext>
            </a:extLst>
          </p:cNvPr>
          <p:cNvSpPr txBox="1"/>
          <p:nvPr/>
        </p:nvSpPr>
        <p:spPr>
          <a:xfrm>
            <a:off x="9182100" y="4133742"/>
            <a:ext cx="298704" cy="3931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550"/>
              </a:lnSpc>
            </a:pPr>
            <a:r>
              <a:rPr lang="zh-CN" sz="100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</a:t>
            </a:r>
          </a:p>
          <a:p>
            <a:pPr algn="ctr">
              <a:lnSpc>
                <a:spcPts val="1550"/>
              </a:lnSpc>
            </a:pPr>
            <a:r>
              <a:rPr lang="zh-CN" sz="100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</a:t>
            </a:r>
          </a:p>
        </p:txBody>
      </p:sp>
      <p:sp>
        <p:nvSpPr>
          <p:cNvPr id="137" name="TextBox 38">
            <a:extLst>
              <a:ext uri="{FF2B5EF4-FFF2-40B4-BE49-F238E27FC236}">
                <a16:creationId xmlns:a16="http://schemas.microsoft.com/office/drawing/2014/main" id="{083D6BF2-A21A-1502-1AEE-CB00091BE472}"/>
              </a:ext>
            </a:extLst>
          </p:cNvPr>
          <p:cNvSpPr txBox="1"/>
          <p:nvPr/>
        </p:nvSpPr>
        <p:spPr>
          <a:xfrm>
            <a:off x="9700259" y="1824882"/>
            <a:ext cx="1189413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2160"/>
              </a:lnSpc>
            </a:pPr>
            <a:r>
              <a:rPr lang="zh-CN" sz="160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组织输出</a:t>
            </a:r>
          </a:p>
        </p:txBody>
      </p:sp>
      <p:sp>
        <p:nvSpPr>
          <p:cNvPr id="139" name="TextBox 39">
            <a:extLst>
              <a:ext uri="{FF2B5EF4-FFF2-40B4-BE49-F238E27FC236}">
                <a16:creationId xmlns:a16="http://schemas.microsoft.com/office/drawing/2014/main" id="{04B1F03A-92A3-5BF3-8F18-ED01A0399D3D}"/>
              </a:ext>
            </a:extLst>
          </p:cNvPr>
          <p:cNvSpPr txBox="1"/>
          <p:nvPr/>
        </p:nvSpPr>
        <p:spPr>
          <a:xfrm>
            <a:off x="9700260" y="2129682"/>
            <a:ext cx="1754124" cy="195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  <a:spcBef>
                <a:spcPts val="240"/>
              </a:spcBef>
            </a:pPr>
            <a:r>
              <a:rPr lang="zh-CN" sz="10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作为验收与持续投入依据</a:t>
            </a:r>
          </a:p>
        </p:txBody>
      </p:sp>
      <p:sp>
        <p:nvSpPr>
          <p:cNvPr id="141" name="TextBox 40">
            <a:extLst>
              <a:ext uri="{FF2B5EF4-FFF2-40B4-BE49-F238E27FC236}">
                <a16:creationId xmlns:a16="http://schemas.microsoft.com/office/drawing/2014/main" id="{4BDB1643-83A2-957D-1601-D12026AF6419}"/>
              </a:ext>
            </a:extLst>
          </p:cNvPr>
          <p:cNvSpPr txBox="1"/>
          <p:nvPr/>
        </p:nvSpPr>
        <p:spPr>
          <a:xfrm>
            <a:off x="9776460" y="2716422"/>
            <a:ext cx="7254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20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人才梯队</a:t>
            </a:r>
          </a:p>
        </p:txBody>
      </p:sp>
      <p:sp>
        <p:nvSpPr>
          <p:cNvPr id="143" name="TextBox 41">
            <a:extLst>
              <a:ext uri="{FF2B5EF4-FFF2-40B4-BE49-F238E27FC236}">
                <a16:creationId xmlns:a16="http://schemas.microsoft.com/office/drawing/2014/main" id="{417FFF68-1F6B-6B18-6431-D369DB4A2071}"/>
              </a:ext>
            </a:extLst>
          </p:cNvPr>
          <p:cNvSpPr txBox="1"/>
          <p:nvPr/>
        </p:nvSpPr>
        <p:spPr>
          <a:xfrm>
            <a:off x="9776460" y="2937402"/>
            <a:ext cx="72542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120"/>
              </a:spcBef>
            </a:pP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数量与能力结构</a:t>
            </a:r>
          </a:p>
        </p:txBody>
      </p:sp>
      <p:sp>
        <p:nvSpPr>
          <p:cNvPr id="145" name="TextBox 42">
            <a:extLst>
              <a:ext uri="{FF2B5EF4-FFF2-40B4-BE49-F238E27FC236}">
                <a16:creationId xmlns:a16="http://schemas.microsoft.com/office/drawing/2014/main" id="{E695618E-9B76-CF88-D280-E44EA0EF6555}"/>
              </a:ext>
            </a:extLst>
          </p:cNvPr>
          <p:cNvSpPr txBox="1"/>
          <p:nvPr/>
        </p:nvSpPr>
        <p:spPr>
          <a:xfrm>
            <a:off x="10652760" y="2716422"/>
            <a:ext cx="7254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20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岗位案例</a:t>
            </a:r>
          </a:p>
        </p:txBody>
      </p:sp>
      <p:sp>
        <p:nvSpPr>
          <p:cNvPr id="147" name="TextBox 43">
            <a:extLst>
              <a:ext uri="{FF2B5EF4-FFF2-40B4-BE49-F238E27FC236}">
                <a16:creationId xmlns:a16="http://schemas.microsoft.com/office/drawing/2014/main" id="{8575F3C6-B9F1-C552-71B8-316072D97F52}"/>
              </a:ext>
            </a:extLst>
          </p:cNvPr>
          <p:cNvSpPr txBox="1"/>
          <p:nvPr/>
        </p:nvSpPr>
        <p:spPr>
          <a:xfrm>
            <a:off x="10652760" y="2937402"/>
            <a:ext cx="72542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120"/>
              </a:spcBef>
            </a:pP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真实任务方法</a:t>
            </a:r>
          </a:p>
        </p:txBody>
      </p:sp>
      <p:sp>
        <p:nvSpPr>
          <p:cNvPr id="149" name="TextBox 44">
            <a:extLst>
              <a:ext uri="{FF2B5EF4-FFF2-40B4-BE49-F238E27FC236}">
                <a16:creationId xmlns:a16="http://schemas.microsoft.com/office/drawing/2014/main" id="{A76ADF91-694D-600E-DA2D-56848C20D770}"/>
              </a:ext>
            </a:extLst>
          </p:cNvPr>
          <p:cNvSpPr txBox="1"/>
          <p:nvPr/>
        </p:nvSpPr>
        <p:spPr>
          <a:xfrm>
            <a:off x="9776460" y="3954094"/>
            <a:ext cx="80010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20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智能体项目</a:t>
            </a:r>
          </a:p>
        </p:txBody>
      </p:sp>
      <p:sp>
        <p:nvSpPr>
          <p:cNvPr id="151" name="TextBox 45">
            <a:extLst>
              <a:ext uri="{FF2B5EF4-FFF2-40B4-BE49-F238E27FC236}">
                <a16:creationId xmlns:a16="http://schemas.microsoft.com/office/drawing/2014/main" id="{E40B6755-36F8-A0F6-FA13-341D030F3658}"/>
              </a:ext>
            </a:extLst>
          </p:cNvPr>
          <p:cNvSpPr txBox="1"/>
          <p:nvPr/>
        </p:nvSpPr>
        <p:spPr>
          <a:xfrm>
            <a:off x="9776460" y="4260744"/>
            <a:ext cx="72542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120"/>
              </a:spcBef>
            </a:pP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可运行、可评测</a:t>
            </a:r>
          </a:p>
        </p:txBody>
      </p:sp>
      <p:sp>
        <p:nvSpPr>
          <p:cNvPr id="153" name="TextBox 46">
            <a:extLst>
              <a:ext uri="{FF2B5EF4-FFF2-40B4-BE49-F238E27FC236}">
                <a16:creationId xmlns:a16="http://schemas.microsoft.com/office/drawing/2014/main" id="{F87E1E97-5CC3-F37C-EAA3-B04023FF53DE}"/>
              </a:ext>
            </a:extLst>
          </p:cNvPr>
          <p:cNvSpPr txBox="1"/>
          <p:nvPr/>
        </p:nvSpPr>
        <p:spPr>
          <a:xfrm>
            <a:off x="10652760" y="3959176"/>
            <a:ext cx="7254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20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认证结果</a:t>
            </a:r>
          </a:p>
        </p:txBody>
      </p:sp>
      <p:sp>
        <p:nvSpPr>
          <p:cNvPr id="155" name="TextBox 47">
            <a:extLst>
              <a:ext uri="{FF2B5EF4-FFF2-40B4-BE49-F238E27FC236}">
                <a16:creationId xmlns:a16="http://schemas.microsoft.com/office/drawing/2014/main" id="{469CF5F3-2883-3596-8B29-D86FF216CB64}"/>
              </a:ext>
            </a:extLst>
          </p:cNvPr>
          <p:cNvSpPr txBox="1"/>
          <p:nvPr/>
        </p:nvSpPr>
        <p:spPr>
          <a:xfrm>
            <a:off x="10652760" y="4263282"/>
            <a:ext cx="72542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120"/>
              </a:spcBef>
            </a:pP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统一能力证据</a:t>
            </a:r>
          </a:p>
        </p:txBody>
      </p:sp>
      <p:sp>
        <p:nvSpPr>
          <p:cNvPr id="157" name="TextBox 48">
            <a:extLst>
              <a:ext uri="{FF2B5EF4-FFF2-40B4-BE49-F238E27FC236}">
                <a16:creationId xmlns:a16="http://schemas.microsoft.com/office/drawing/2014/main" id="{B0ADA3DB-855F-30F6-603C-3DE9856D09C2}"/>
              </a:ext>
            </a:extLst>
          </p:cNvPr>
          <p:cNvSpPr txBox="1"/>
          <p:nvPr/>
        </p:nvSpPr>
        <p:spPr>
          <a:xfrm>
            <a:off x="9776460" y="5368182"/>
            <a:ext cx="7254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20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人才画像</a:t>
            </a:r>
          </a:p>
        </p:txBody>
      </p:sp>
      <p:sp>
        <p:nvSpPr>
          <p:cNvPr id="159" name="TextBox 49">
            <a:extLst>
              <a:ext uri="{FF2B5EF4-FFF2-40B4-BE49-F238E27FC236}">
                <a16:creationId xmlns:a16="http://schemas.microsoft.com/office/drawing/2014/main" id="{BC435957-CBA6-CFDD-F803-1C31ACAD7C46}"/>
              </a:ext>
            </a:extLst>
          </p:cNvPr>
          <p:cNvSpPr txBox="1"/>
          <p:nvPr/>
        </p:nvSpPr>
        <p:spPr>
          <a:xfrm>
            <a:off x="9776460" y="5589162"/>
            <a:ext cx="72542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120"/>
              </a:spcBef>
            </a:pP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成长与岗位匹配</a:t>
            </a:r>
          </a:p>
        </p:txBody>
      </p:sp>
      <p:sp>
        <p:nvSpPr>
          <p:cNvPr id="161" name="TextBox 50">
            <a:extLst>
              <a:ext uri="{FF2B5EF4-FFF2-40B4-BE49-F238E27FC236}">
                <a16:creationId xmlns:a16="http://schemas.microsoft.com/office/drawing/2014/main" id="{83422414-F6D1-7C3B-1639-124A90D1ED82}"/>
              </a:ext>
            </a:extLst>
          </p:cNvPr>
          <p:cNvSpPr txBox="1"/>
          <p:nvPr/>
        </p:nvSpPr>
        <p:spPr>
          <a:xfrm>
            <a:off x="10652760" y="5368182"/>
            <a:ext cx="7254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20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治理资产</a:t>
            </a:r>
          </a:p>
        </p:txBody>
      </p:sp>
      <p:sp>
        <p:nvSpPr>
          <p:cNvPr id="163" name="TextBox 51">
            <a:extLst>
              <a:ext uri="{FF2B5EF4-FFF2-40B4-BE49-F238E27FC236}">
                <a16:creationId xmlns:a16="http://schemas.microsoft.com/office/drawing/2014/main" id="{15AE2A94-6789-DF97-C696-4F7DADE4AB8E}"/>
              </a:ext>
            </a:extLst>
          </p:cNvPr>
          <p:cNvSpPr txBox="1"/>
          <p:nvPr/>
        </p:nvSpPr>
        <p:spPr>
          <a:xfrm>
            <a:off x="10652760" y="5589162"/>
            <a:ext cx="72542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120"/>
              </a:spcBef>
            </a:pP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标准、模板与机制</a:t>
            </a:r>
          </a:p>
        </p:txBody>
      </p:sp>
      <p:sp>
        <p:nvSpPr>
          <p:cNvPr id="167" name="TextBox 53">
            <a:extLst>
              <a:ext uri="{FF2B5EF4-FFF2-40B4-BE49-F238E27FC236}">
                <a16:creationId xmlns:a16="http://schemas.microsoft.com/office/drawing/2014/main" id="{C6DDB500-3005-E1C1-B7F0-D9A6B745188A}"/>
              </a:ext>
            </a:extLst>
          </p:cNvPr>
          <p:cNvSpPr txBox="1"/>
          <p:nvPr/>
        </p:nvSpPr>
        <p:spPr>
          <a:xfrm>
            <a:off x="2754749" y="3739407"/>
            <a:ext cx="164592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430"/>
              </a:lnSpc>
            </a:pPr>
            <a:r>
              <a:rPr 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</a:p>
        </p:txBody>
      </p:sp>
      <p:sp>
        <p:nvSpPr>
          <p:cNvPr id="171" name="TextBox 55">
            <a:extLst>
              <a:ext uri="{FF2B5EF4-FFF2-40B4-BE49-F238E27FC236}">
                <a16:creationId xmlns:a16="http://schemas.microsoft.com/office/drawing/2014/main" id="{9B8549FD-5530-EEAE-058C-8B1EEC7BBC3B}"/>
              </a:ext>
            </a:extLst>
          </p:cNvPr>
          <p:cNvSpPr txBox="1"/>
          <p:nvPr/>
        </p:nvSpPr>
        <p:spPr>
          <a:xfrm>
            <a:off x="3238500" y="2533658"/>
            <a:ext cx="1074420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4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四类人才梯队</a:t>
            </a:r>
          </a:p>
        </p:txBody>
      </p:sp>
      <p:sp>
        <p:nvSpPr>
          <p:cNvPr id="173" name="TextBox 56">
            <a:extLst>
              <a:ext uri="{FF2B5EF4-FFF2-40B4-BE49-F238E27FC236}">
                <a16:creationId xmlns:a16="http://schemas.microsoft.com/office/drawing/2014/main" id="{B27A07B8-E6CB-F991-45C1-717CADD7745F}"/>
              </a:ext>
            </a:extLst>
          </p:cNvPr>
          <p:cNvSpPr txBox="1"/>
          <p:nvPr/>
        </p:nvSpPr>
        <p:spPr>
          <a:xfrm>
            <a:off x="3238500" y="3790377"/>
            <a:ext cx="1074420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4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五项建设任务</a:t>
            </a:r>
          </a:p>
        </p:txBody>
      </p:sp>
      <p:sp>
        <p:nvSpPr>
          <p:cNvPr id="175" name="TextBox 57">
            <a:extLst>
              <a:ext uri="{FF2B5EF4-FFF2-40B4-BE49-F238E27FC236}">
                <a16:creationId xmlns:a16="http://schemas.microsoft.com/office/drawing/2014/main" id="{1AAFCEC8-0575-4708-EACE-2439F431CEED}"/>
              </a:ext>
            </a:extLst>
          </p:cNvPr>
          <p:cNvSpPr txBox="1"/>
          <p:nvPr/>
        </p:nvSpPr>
        <p:spPr>
          <a:xfrm>
            <a:off x="3696414" y="4148517"/>
            <a:ext cx="2240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77" name="TextBox 58">
            <a:extLst>
              <a:ext uri="{FF2B5EF4-FFF2-40B4-BE49-F238E27FC236}">
                <a16:creationId xmlns:a16="http://schemas.microsoft.com/office/drawing/2014/main" id="{92B9909E-111E-7E44-B88C-18B3C3909460}"/>
              </a:ext>
            </a:extLst>
          </p:cNvPr>
          <p:cNvSpPr txBox="1"/>
          <p:nvPr/>
        </p:nvSpPr>
        <p:spPr>
          <a:xfrm>
            <a:off x="4834771" y="4148517"/>
            <a:ext cx="2240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79" name="TextBox 59">
            <a:extLst>
              <a:ext uri="{FF2B5EF4-FFF2-40B4-BE49-F238E27FC236}">
                <a16:creationId xmlns:a16="http://schemas.microsoft.com/office/drawing/2014/main" id="{BBEF79AB-117B-7896-59D0-A31529487036}"/>
              </a:ext>
            </a:extLst>
          </p:cNvPr>
          <p:cNvSpPr txBox="1"/>
          <p:nvPr/>
        </p:nvSpPr>
        <p:spPr>
          <a:xfrm>
            <a:off x="5973247" y="4148517"/>
            <a:ext cx="2240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81" name="TextBox 60">
            <a:extLst>
              <a:ext uri="{FF2B5EF4-FFF2-40B4-BE49-F238E27FC236}">
                <a16:creationId xmlns:a16="http://schemas.microsoft.com/office/drawing/2014/main" id="{CEF17E5C-C514-3363-28B7-7AB74EAED0FA}"/>
              </a:ext>
            </a:extLst>
          </p:cNvPr>
          <p:cNvSpPr txBox="1"/>
          <p:nvPr/>
        </p:nvSpPr>
        <p:spPr>
          <a:xfrm>
            <a:off x="7111603" y="4148517"/>
            <a:ext cx="2240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183" name="TextBox 61">
            <a:extLst>
              <a:ext uri="{FF2B5EF4-FFF2-40B4-BE49-F238E27FC236}">
                <a16:creationId xmlns:a16="http://schemas.microsoft.com/office/drawing/2014/main" id="{40EA9D92-A652-A8D6-5D8D-1331A1532C3F}"/>
              </a:ext>
            </a:extLst>
          </p:cNvPr>
          <p:cNvSpPr txBox="1"/>
          <p:nvPr/>
        </p:nvSpPr>
        <p:spPr>
          <a:xfrm>
            <a:off x="8250079" y="4148517"/>
            <a:ext cx="2240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</a:p>
        </p:txBody>
      </p:sp>
      <p:sp>
        <p:nvSpPr>
          <p:cNvPr id="185" name="TextBox 62">
            <a:extLst>
              <a:ext uri="{FF2B5EF4-FFF2-40B4-BE49-F238E27FC236}">
                <a16:creationId xmlns:a16="http://schemas.microsoft.com/office/drawing/2014/main" id="{739C4DD9-AC53-FD10-5FE2-04F00E69EFD7}"/>
              </a:ext>
            </a:extLst>
          </p:cNvPr>
          <p:cNvSpPr txBox="1"/>
          <p:nvPr/>
        </p:nvSpPr>
        <p:spPr>
          <a:xfrm>
            <a:off x="9246989" y="3745757"/>
            <a:ext cx="164592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430"/>
              </a:lnSpc>
            </a:pPr>
            <a:r>
              <a:rPr 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073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57E19-A31C-32D2-7927-D5136676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2ECEE8-E538-1A45-C3E9-1DF44C577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en-US" altLang="zh-CN" dirty="0"/>
              <a:t>“</a:t>
            </a:r>
            <a:r>
              <a:rPr lang="zh-CN" altLang="en-US" dirty="0"/>
              <a:t>会用、会搭、会做、会促</a:t>
            </a:r>
            <a:r>
              <a:rPr lang="en-US" altLang="zh-CN" dirty="0"/>
              <a:t>”</a:t>
            </a:r>
            <a:r>
              <a:rPr lang="zh-CN" altLang="en-US" dirty="0"/>
              <a:t>四层人才成长路径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F8ABB65-B2AD-5F08-EB3F-147A39C59584}"/>
              </a:ext>
            </a:extLst>
          </p:cNvPr>
          <p:cNvSpPr/>
          <p:nvPr/>
        </p:nvSpPr>
        <p:spPr>
          <a:xfrm>
            <a:off x="609600" y="1185911"/>
            <a:ext cx="10972800" cy="441960"/>
          </a:xfrm>
          <a:prstGeom prst="roundRect">
            <a:avLst>
              <a:gd name="adj" fmla="val 27586"/>
            </a:avLst>
          </a:prstGeom>
          <a:solidFill>
            <a:srgbClr val="ECF7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E6355F25-2733-7511-9945-6D6A63161C49}"/>
              </a:ext>
            </a:extLst>
          </p:cNvPr>
          <p:cNvSpPr/>
          <p:nvPr/>
        </p:nvSpPr>
        <p:spPr>
          <a:xfrm>
            <a:off x="609600" y="2710426"/>
            <a:ext cx="2651760" cy="274320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9050">
            <a:solidFill>
              <a:srgbClr val="CFE3F5"/>
            </a:solidFill>
            <a:prstDash val="solid"/>
          </a:ln>
        </p:spPr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F2556DB6-B7FD-5BD1-85A6-DED168BCF744}"/>
              </a:ext>
            </a:extLst>
          </p:cNvPr>
          <p:cNvSpPr/>
          <p:nvPr/>
        </p:nvSpPr>
        <p:spPr>
          <a:xfrm>
            <a:off x="624840" y="2725666"/>
            <a:ext cx="2621280" cy="640080"/>
          </a:xfrm>
          <a:prstGeom prst="rect">
            <a:avLst/>
          </a:prstGeom>
          <a:solidFill>
            <a:srgbClr val="E1E8FF"/>
          </a:solidFill>
          <a:ln>
            <a:noFill/>
          </a:ln>
        </p:spPr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00600503-92E6-2486-188B-064B782A2EBF}"/>
              </a:ext>
            </a:extLst>
          </p:cNvPr>
          <p:cNvSpPr/>
          <p:nvPr/>
        </p:nvSpPr>
        <p:spPr>
          <a:xfrm>
            <a:off x="777240" y="2847586"/>
            <a:ext cx="396240" cy="396240"/>
          </a:xfrm>
          <a:prstGeom prst="roundRect">
            <a:avLst>
              <a:gd name="adj" fmla="val 28846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DAF09633-F9CB-421A-5B8E-378382162092}"/>
              </a:ext>
            </a:extLst>
          </p:cNvPr>
          <p:cNvSpPr/>
          <p:nvPr/>
        </p:nvSpPr>
        <p:spPr>
          <a:xfrm>
            <a:off x="777240" y="4634952"/>
            <a:ext cx="2316480" cy="732234"/>
          </a:xfrm>
          <a:prstGeom prst="roundRect">
            <a:avLst>
              <a:gd name="adj" fmla="val 12488"/>
            </a:avLst>
          </a:prstGeom>
          <a:solidFill>
            <a:srgbClr val="F3F8FF"/>
          </a:solidFill>
          <a:ln w="9525">
            <a:solidFill>
              <a:srgbClr val="D7E9F8"/>
            </a:solidFill>
            <a:prstDash val="solid"/>
          </a:ln>
        </p:spPr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29FE295F-A85C-A077-BD1E-57EE24014ED6}"/>
              </a:ext>
            </a:extLst>
          </p:cNvPr>
          <p:cNvSpPr/>
          <p:nvPr/>
        </p:nvSpPr>
        <p:spPr>
          <a:xfrm>
            <a:off x="3383280" y="2390386"/>
            <a:ext cx="2651760" cy="306324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9050">
            <a:solidFill>
              <a:srgbClr val="B8DDF8"/>
            </a:solidFill>
            <a:prstDash val="solid"/>
          </a:ln>
        </p:spPr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9FEBA198-3C82-0A33-53A5-60FC161D5F8B}"/>
              </a:ext>
            </a:extLst>
          </p:cNvPr>
          <p:cNvSpPr/>
          <p:nvPr/>
        </p:nvSpPr>
        <p:spPr>
          <a:xfrm>
            <a:off x="3398520" y="2405626"/>
            <a:ext cx="2621280" cy="640080"/>
          </a:xfrm>
          <a:prstGeom prst="rect">
            <a:avLst/>
          </a:prstGeom>
          <a:solidFill>
            <a:srgbClr val="D9F2FF"/>
          </a:solidFill>
          <a:ln>
            <a:noFill/>
          </a:ln>
        </p:spPr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C894A384-B496-0787-5354-40DC0C9AEAB9}"/>
              </a:ext>
            </a:extLst>
          </p:cNvPr>
          <p:cNvSpPr/>
          <p:nvPr/>
        </p:nvSpPr>
        <p:spPr>
          <a:xfrm>
            <a:off x="3550920" y="2527546"/>
            <a:ext cx="396240" cy="396240"/>
          </a:xfrm>
          <a:prstGeom prst="roundRect">
            <a:avLst>
              <a:gd name="adj" fmla="val 28846"/>
            </a:avLst>
          </a:prstGeom>
          <a:solidFill>
            <a:srgbClr val="0565FF"/>
          </a:solidFill>
          <a:ln>
            <a:noFill/>
          </a:ln>
        </p:spPr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FBC489AA-2081-A995-6129-391454F45496}"/>
              </a:ext>
            </a:extLst>
          </p:cNvPr>
          <p:cNvSpPr/>
          <p:nvPr/>
        </p:nvSpPr>
        <p:spPr>
          <a:xfrm>
            <a:off x="3550920" y="4584232"/>
            <a:ext cx="2316480" cy="732234"/>
          </a:xfrm>
          <a:prstGeom prst="roundRect">
            <a:avLst>
              <a:gd name="adj" fmla="val 12488"/>
            </a:avLst>
          </a:prstGeom>
          <a:solidFill>
            <a:srgbClr val="F0FAFF"/>
          </a:solidFill>
          <a:ln w="9525">
            <a:solidFill>
              <a:srgbClr val="CDEAF8"/>
            </a:solidFill>
            <a:prstDash val="solid"/>
          </a:ln>
        </p:spPr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CA8EF4FF-8DFA-0F94-36AA-06230B373AF1}"/>
              </a:ext>
            </a:extLst>
          </p:cNvPr>
          <p:cNvSpPr/>
          <p:nvPr/>
        </p:nvSpPr>
        <p:spPr>
          <a:xfrm>
            <a:off x="6156960" y="2070346"/>
            <a:ext cx="2651760" cy="338328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9050">
            <a:solidFill>
              <a:srgbClr val="8ED9FA"/>
            </a:solidFill>
            <a:prstDash val="solid"/>
          </a:ln>
        </p:spPr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304A9541-56CC-60D9-2822-05EA2F20DA16}"/>
              </a:ext>
            </a:extLst>
          </p:cNvPr>
          <p:cNvSpPr/>
          <p:nvPr/>
        </p:nvSpPr>
        <p:spPr>
          <a:xfrm>
            <a:off x="6172200" y="2085586"/>
            <a:ext cx="2621280" cy="640080"/>
          </a:xfrm>
          <a:prstGeom prst="rect">
            <a:avLst/>
          </a:prstGeom>
          <a:solidFill>
            <a:srgbClr val="D8F6FF"/>
          </a:solidFill>
          <a:ln>
            <a:noFill/>
          </a:ln>
        </p:spPr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2F8D40F1-C6A5-3543-E933-F4C720E75DFB}"/>
              </a:ext>
            </a:extLst>
          </p:cNvPr>
          <p:cNvSpPr/>
          <p:nvPr/>
        </p:nvSpPr>
        <p:spPr>
          <a:xfrm>
            <a:off x="6324600" y="2207506"/>
            <a:ext cx="396240" cy="396240"/>
          </a:xfrm>
          <a:prstGeom prst="roundRect">
            <a:avLst>
              <a:gd name="adj" fmla="val 28846"/>
            </a:avLst>
          </a:prstGeom>
          <a:solidFill>
            <a:srgbClr val="00A7FF"/>
          </a:solidFill>
          <a:ln>
            <a:noFill/>
          </a:ln>
        </p:spPr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B3A209D8-08BA-D282-9868-4BDEB6EB5E0D}"/>
              </a:ext>
            </a:extLst>
          </p:cNvPr>
          <p:cNvSpPr/>
          <p:nvPr/>
        </p:nvSpPr>
        <p:spPr>
          <a:xfrm>
            <a:off x="6324600" y="4584232"/>
            <a:ext cx="2316480" cy="732234"/>
          </a:xfrm>
          <a:prstGeom prst="roundRect">
            <a:avLst>
              <a:gd name="adj" fmla="val 12488"/>
            </a:avLst>
          </a:prstGeom>
          <a:solidFill>
            <a:srgbClr val="EEFBFF"/>
          </a:solidFill>
          <a:ln w="9525">
            <a:solidFill>
              <a:srgbClr val="BDEBFA"/>
            </a:solidFill>
            <a:prstDash val="solid"/>
          </a:ln>
        </p:spPr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F9E2CFD3-487D-6C06-FBC4-A6E79301DD08}"/>
              </a:ext>
            </a:extLst>
          </p:cNvPr>
          <p:cNvSpPr/>
          <p:nvPr/>
        </p:nvSpPr>
        <p:spPr>
          <a:xfrm>
            <a:off x="8930640" y="1750306"/>
            <a:ext cx="2651760" cy="370332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9050">
            <a:solidFill>
              <a:srgbClr val="77D8BF"/>
            </a:solidFill>
            <a:prstDash val="solid"/>
          </a:ln>
        </p:spPr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9C62EDD0-6187-76E9-C654-DC0B7D04236B}"/>
              </a:ext>
            </a:extLst>
          </p:cNvPr>
          <p:cNvSpPr/>
          <p:nvPr/>
        </p:nvSpPr>
        <p:spPr>
          <a:xfrm>
            <a:off x="8945880" y="1765546"/>
            <a:ext cx="2621280" cy="640080"/>
          </a:xfrm>
          <a:prstGeom prst="rect">
            <a:avLst/>
          </a:prstGeom>
          <a:solidFill>
            <a:srgbClr val="DDF8F0"/>
          </a:solidFill>
          <a:ln>
            <a:noFill/>
          </a:ln>
        </p:spPr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A1AD892E-CA13-2E13-F60E-0D7F732DEEC5}"/>
              </a:ext>
            </a:extLst>
          </p:cNvPr>
          <p:cNvSpPr/>
          <p:nvPr/>
        </p:nvSpPr>
        <p:spPr>
          <a:xfrm>
            <a:off x="9098280" y="1887466"/>
            <a:ext cx="396240" cy="396240"/>
          </a:xfrm>
          <a:prstGeom prst="roundRect">
            <a:avLst>
              <a:gd name="adj" fmla="val 28846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2F8228E2-3B7E-5C49-29D8-E4F7E1B7FE4E}"/>
              </a:ext>
            </a:extLst>
          </p:cNvPr>
          <p:cNvSpPr/>
          <p:nvPr/>
        </p:nvSpPr>
        <p:spPr>
          <a:xfrm>
            <a:off x="9098280" y="4584232"/>
            <a:ext cx="2316480" cy="732234"/>
          </a:xfrm>
          <a:prstGeom prst="roundRect">
            <a:avLst>
              <a:gd name="adj" fmla="val 12488"/>
            </a:avLst>
          </a:prstGeom>
          <a:solidFill>
            <a:srgbClr val="EFFBF7"/>
          </a:solidFill>
          <a:ln w="9525">
            <a:solidFill>
              <a:srgbClr val="BFE9DA"/>
            </a:solidFill>
            <a:prstDash val="solid"/>
          </a:ln>
        </p:spPr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F8820B5E-6442-F00F-F4F9-C081D7683695}"/>
              </a:ext>
            </a:extLst>
          </p:cNvPr>
          <p:cNvSpPr/>
          <p:nvPr/>
        </p:nvSpPr>
        <p:spPr>
          <a:xfrm>
            <a:off x="609600" y="5575546"/>
            <a:ext cx="10972800" cy="762000"/>
          </a:xfrm>
          <a:prstGeom prst="roundRect">
            <a:avLst>
              <a:gd name="adj" fmla="val 18000"/>
            </a:avLst>
          </a:prstGeom>
          <a:solidFill>
            <a:srgbClr val="F5FBFF"/>
          </a:solidFill>
          <a:ln w="9525">
            <a:solidFill>
              <a:srgbClr val="B8DBF4"/>
            </a:solidFill>
            <a:prstDash val="solid"/>
          </a:ln>
        </p:spPr>
      </p:sp>
      <p:sp>
        <p:nvSpPr>
          <p:cNvPr id="43" name="Shape 22">
            <a:extLst>
              <a:ext uri="{FF2B5EF4-FFF2-40B4-BE49-F238E27FC236}">
                <a16:creationId xmlns:a16="http://schemas.microsoft.com/office/drawing/2014/main" id="{43E4B93D-615B-0FBE-BCE5-E1CD5B66EC40}"/>
              </a:ext>
            </a:extLst>
          </p:cNvPr>
          <p:cNvSpPr/>
          <p:nvPr/>
        </p:nvSpPr>
        <p:spPr>
          <a:xfrm>
            <a:off x="617220" y="5583166"/>
            <a:ext cx="1447800" cy="746760"/>
          </a:xfrm>
          <a:prstGeom prst="rect">
            <a:avLst/>
          </a:prstGeom>
          <a:solidFill>
            <a:srgbClr val="0721A8"/>
          </a:solidFill>
          <a:ln>
            <a:noFill/>
          </a:ln>
        </p:spPr>
      </p:sp>
      <p:sp>
        <p:nvSpPr>
          <p:cNvPr id="45" name="TextBox 4">
            <a:extLst>
              <a:ext uri="{FF2B5EF4-FFF2-40B4-BE49-F238E27FC236}">
                <a16:creationId xmlns:a16="http://schemas.microsoft.com/office/drawing/2014/main" id="{B55A7D9C-96E3-A4E1-FFDF-503D1B47EEF4}"/>
              </a:ext>
            </a:extLst>
          </p:cNvPr>
          <p:cNvSpPr txBox="1"/>
          <p:nvPr/>
        </p:nvSpPr>
        <p:spPr>
          <a:xfrm>
            <a:off x="982980" y="1269731"/>
            <a:ext cx="949604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105"/>
              </a:lnSpc>
            </a:pPr>
            <a:r>
              <a:rPr lang="zh-CN" sz="156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人才按可承担的任务复杂度、工程深度和业务责任分层，而不是简单按职级划分</a:t>
            </a:r>
          </a:p>
        </p:txBody>
      </p:sp>
      <p:sp>
        <p:nvSpPr>
          <p:cNvPr id="49" name="TextBox 6">
            <a:extLst>
              <a:ext uri="{FF2B5EF4-FFF2-40B4-BE49-F238E27FC236}">
                <a16:creationId xmlns:a16="http://schemas.microsoft.com/office/drawing/2014/main" id="{CA9CD4F8-035D-39ED-B2C4-7CCC4C465B64}"/>
              </a:ext>
            </a:extLst>
          </p:cNvPr>
          <p:cNvSpPr txBox="1"/>
          <p:nvPr/>
        </p:nvSpPr>
        <p:spPr>
          <a:xfrm>
            <a:off x="1280160" y="2832346"/>
            <a:ext cx="748284" cy="195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全员应用层</a:t>
            </a:r>
          </a:p>
        </p:txBody>
      </p:sp>
      <p:sp>
        <p:nvSpPr>
          <p:cNvPr id="51" name="TextBox 7">
            <a:extLst>
              <a:ext uri="{FF2B5EF4-FFF2-40B4-BE49-F238E27FC236}">
                <a16:creationId xmlns:a16="http://schemas.microsoft.com/office/drawing/2014/main" id="{655E70E8-427C-FEC3-B263-3F258A7B21DA}"/>
              </a:ext>
            </a:extLst>
          </p:cNvPr>
          <p:cNvSpPr txBox="1"/>
          <p:nvPr/>
        </p:nvSpPr>
        <p:spPr>
          <a:xfrm>
            <a:off x="1280160" y="3022846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865"/>
              </a:lnSpc>
              <a:spcBef>
                <a:spcPts val="180"/>
              </a:spcBef>
            </a:pPr>
            <a:r>
              <a:rPr lang="zh-CN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会用 AI</a:t>
            </a:r>
          </a:p>
        </p:txBody>
      </p:sp>
      <p:sp>
        <p:nvSpPr>
          <p:cNvPr id="53" name="TextBox 8">
            <a:extLst>
              <a:ext uri="{FF2B5EF4-FFF2-40B4-BE49-F238E27FC236}">
                <a16:creationId xmlns:a16="http://schemas.microsoft.com/office/drawing/2014/main" id="{D2133606-14B9-334F-ECBE-33F01EDF5034}"/>
              </a:ext>
            </a:extLst>
          </p:cNvPr>
          <p:cNvSpPr txBox="1"/>
          <p:nvPr/>
        </p:nvSpPr>
        <p:spPr>
          <a:xfrm>
            <a:off x="777240" y="3487666"/>
            <a:ext cx="237134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</a:pPr>
            <a:r>
              <a:rPr lang="zh-CN" sz="11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</a:t>
            </a:r>
          </a:p>
        </p:txBody>
      </p:sp>
      <p:sp>
        <p:nvSpPr>
          <p:cNvPr id="55" name="TextBox 9">
            <a:extLst>
              <a:ext uri="{FF2B5EF4-FFF2-40B4-BE49-F238E27FC236}">
                <a16:creationId xmlns:a16="http://schemas.microsoft.com/office/drawing/2014/main" id="{9F9482D8-26D4-7C14-8AAE-61480CA1E03C}"/>
              </a:ext>
            </a:extLst>
          </p:cNvPr>
          <p:cNvSpPr txBox="1"/>
          <p:nvPr/>
        </p:nvSpPr>
        <p:spPr>
          <a:xfrm>
            <a:off x="777240" y="3685786"/>
            <a:ext cx="2371344" cy="2179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180"/>
              </a:spcBef>
            </a:pPr>
            <a:r>
              <a:rPr lang="zh-CN" sz="11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企业广泛员工、岗位人员</a:t>
            </a:r>
          </a:p>
        </p:txBody>
      </p:sp>
      <p:sp>
        <p:nvSpPr>
          <p:cNvPr id="57" name="TextBox 10">
            <a:extLst>
              <a:ext uri="{FF2B5EF4-FFF2-40B4-BE49-F238E27FC236}">
                <a16:creationId xmlns:a16="http://schemas.microsoft.com/office/drawing/2014/main" id="{873C6B44-6BA3-C2C3-B7C2-53E787C19D1E}"/>
              </a:ext>
            </a:extLst>
          </p:cNvPr>
          <p:cNvSpPr txBox="1"/>
          <p:nvPr/>
        </p:nvSpPr>
        <p:spPr>
          <a:xfrm>
            <a:off x="777240" y="3967726"/>
            <a:ext cx="237134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</a:pPr>
            <a:r>
              <a:rPr lang="zh-CN" sz="11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关键能力</a:t>
            </a:r>
          </a:p>
        </p:txBody>
      </p:sp>
      <p:sp>
        <p:nvSpPr>
          <p:cNvPr id="59" name="TextBox 11">
            <a:extLst>
              <a:ext uri="{FF2B5EF4-FFF2-40B4-BE49-F238E27FC236}">
                <a16:creationId xmlns:a16="http://schemas.microsoft.com/office/drawing/2014/main" id="{1A63E534-9545-92B8-30B3-3E7ACC86DB98}"/>
              </a:ext>
            </a:extLst>
          </p:cNvPr>
          <p:cNvSpPr txBox="1"/>
          <p:nvPr/>
        </p:nvSpPr>
        <p:spPr>
          <a:xfrm>
            <a:off x="777240" y="4158226"/>
            <a:ext cx="237134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1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正确认知 · 任务表达 · 上下文组织 · 结果核验 · 安全使用</a:t>
            </a:r>
          </a:p>
        </p:txBody>
      </p:sp>
      <p:sp>
        <p:nvSpPr>
          <p:cNvPr id="61" name="TextBox 12">
            <a:extLst>
              <a:ext uri="{FF2B5EF4-FFF2-40B4-BE49-F238E27FC236}">
                <a16:creationId xmlns:a16="http://schemas.microsoft.com/office/drawing/2014/main" id="{07213203-A04C-D96F-1F5D-634305F6D939}"/>
              </a:ext>
            </a:extLst>
          </p:cNvPr>
          <p:cNvSpPr txBox="1"/>
          <p:nvPr/>
        </p:nvSpPr>
        <p:spPr>
          <a:xfrm>
            <a:off x="891540" y="4722106"/>
            <a:ext cx="214274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</a:pPr>
            <a:r>
              <a:rPr lang="zh-CN" sz="11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</a:t>
            </a:r>
          </a:p>
        </p:txBody>
      </p:sp>
      <p:sp>
        <p:nvSpPr>
          <p:cNvPr id="63" name="TextBox 13">
            <a:extLst>
              <a:ext uri="{FF2B5EF4-FFF2-40B4-BE49-F238E27FC236}">
                <a16:creationId xmlns:a16="http://schemas.microsoft.com/office/drawing/2014/main" id="{97F704F5-8770-DDAB-8C40-753604939C35}"/>
              </a:ext>
            </a:extLst>
          </p:cNvPr>
          <p:cNvSpPr txBox="1"/>
          <p:nvPr/>
        </p:nvSpPr>
        <p:spPr>
          <a:xfrm>
            <a:off x="891540" y="4912606"/>
            <a:ext cx="21427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1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提示模板、岗位案例、标准工作方法</a:t>
            </a:r>
          </a:p>
        </p:txBody>
      </p:sp>
      <p:sp>
        <p:nvSpPr>
          <p:cNvPr id="65" name="TextBox 14">
            <a:extLst>
              <a:ext uri="{FF2B5EF4-FFF2-40B4-BE49-F238E27FC236}">
                <a16:creationId xmlns:a16="http://schemas.microsoft.com/office/drawing/2014/main" id="{8201EACF-D503-8042-8143-0C2700827E33}"/>
              </a:ext>
            </a:extLst>
          </p:cNvPr>
          <p:cNvSpPr txBox="1"/>
          <p:nvPr/>
        </p:nvSpPr>
        <p:spPr>
          <a:xfrm>
            <a:off x="4053840" y="2512306"/>
            <a:ext cx="877824" cy="195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ADEA · 初级</a:t>
            </a:r>
          </a:p>
        </p:txBody>
      </p:sp>
      <p:sp>
        <p:nvSpPr>
          <p:cNvPr id="67" name="TextBox 15">
            <a:extLst>
              <a:ext uri="{FF2B5EF4-FFF2-40B4-BE49-F238E27FC236}">
                <a16:creationId xmlns:a16="http://schemas.microsoft.com/office/drawing/2014/main" id="{9470F7C8-3E9A-308A-3989-9A26BF002BD8}"/>
              </a:ext>
            </a:extLst>
          </p:cNvPr>
          <p:cNvSpPr txBox="1"/>
          <p:nvPr/>
        </p:nvSpPr>
        <p:spPr>
          <a:xfrm>
            <a:off x="4053840" y="2702806"/>
            <a:ext cx="1045464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865"/>
              </a:lnSpc>
              <a:spcBef>
                <a:spcPts val="180"/>
              </a:spcBef>
            </a:pPr>
            <a:r>
              <a:rPr lang="zh-CN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会搭助手</a:t>
            </a:r>
          </a:p>
        </p:txBody>
      </p:sp>
      <p:sp>
        <p:nvSpPr>
          <p:cNvPr id="69" name="TextBox 16">
            <a:extLst>
              <a:ext uri="{FF2B5EF4-FFF2-40B4-BE49-F238E27FC236}">
                <a16:creationId xmlns:a16="http://schemas.microsoft.com/office/drawing/2014/main" id="{FF79DDA9-B4E6-3BED-F28D-FF99028437B7}"/>
              </a:ext>
            </a:extLst>
          </p:cNvPr>
          <p:cNvSpPr txBox="1"/>
          <p:nvPr/>
        </p:nvSpPr>
        <p:spPr>
          <a:xfrm>
            <a:off x="3550920" y="3167626"/>
            <a:ext cx="237134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</a:pPr>
            <a:r>
              <a:rPr lang="zh-CN" sz="11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</a:t>
            </a:r>
          </a:p>
        </p:txBody>
      </p:sp>
      <p:sp>
        <p:nvSpPr>
          <p:cNvPr id="71" name="TextBox 17">
            <a:extLst>
              <a:ext uri="{FF2B5EF4-FFF2-40B4-BE49-F238E27FC236}">
                <a16:creationId xmlns:a16="http://schemas.microsoft.com/office/drawing/2014/main" id="{27E1E98C-B3B4-1F1B-FBB4-80804CB75D20}"/>
              </a:ext>
            </a:extLst>
          </p:cNvPr>
          <p:cNvSpPr txBox="1"/>
          <p:nvPr/>
        </p:nvSpPr>
        <p:spPr>
          <a:xfrm>
            <a:off x="3550920" y="3365746"/>
            <a:ext cx="237134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180"/>
              </a:spcBef>
            </a:pPr>
            <a:r>
              <a:rPr lang="zh-CN" sz="11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业务技术骨干、初级开发与数字化人员</a:t>
            </a:r>
          </a:p>
        </p:txBody>
      </p:sp>
      <p:sp>
        <p:nvSpPr>
          <p:cNvPr id="73" name="TextBox 18">
            <a:extLst>
              <a:ext uri="{FF2B5EF4-FFF2-40B4-BE49-F238E27FC236}">
                <a16:creationId xmlns:a16="http://schemas.microsoft.com/office/drawing/2014/main" id="{BB18F564-0DC7-81C1-496A-7FF6EA4AF609}"/>
              </a:ext>
            </a:extLst>
          </p:cNvPr>
          <p:cNvSpPr txBox="1"/>
          <p:nvPr/>
        </p:nvSpPr>
        <p:spPr>
          <a:xfrm>
            <a:off x="3550920" y="3838186"/>
            <a:ext cx="237134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</a:pPr>
            <a:r>
              <a:rPr lang="zh-CN" sz="11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关键能力</a:t>
            </a:r>
          </a:p>
        </p:txBody>
      </p:sp>
      <p:sp>
        <p:nvSpPr>
          <p:cNvPr id="75" name="TextBox 19">
            <a:extLst>
              <a:ext uri="{FF2B5EF4-FFF2-40B4-BE49-F238E27FC236}">
                <a16:creationId xmlns:a16="http://schemas.microsoft.com/office/drawing/2014/main" id="{C24D6F5F-7CF0-6552-0B96-201AC8711050}"/>
              </a:ext>
            </a:extLst>
          </p:cNvPr>
          <p:cNvSpPr txBox="1"/>
          <p:nvPr/>
        </p:nvSpPr>
        <p:spPr>
          <a:xfrm>
            <a:off x="3550920" y="4028686"/>
            <a:ext cx="237134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1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围绕单一场景组合提示、知识、工具与基础流程，完成调试和测试</a:t>
            </a:r>
          </a:p>
        </p:txBody>
      </p:sp>
      <p:sp>
        <p:nvSpPr>
          <p:cNvPr id="77" name="TextBox 20">
            <a:extLst>
              <a:ext uri="{FF2B5EF4-FFF2-40B4-BE49-F238E27FC236}">
                <a16:creationId xmlns:a16="http://schemas.microsoft.com/office/drawing/2014/main" id="{CC579406-9936-BFF9-5010-E34B18AEEEC8}"/>
              </a:ext>
            </a:extLst>
          </p:cNvPr>
          <p:cNvSpPr txBox="1"/>
          <p:nvPr/>
        </p:nvSpPr>
        <p:spPr>
          <a:xfrm>
            <a:off x="3665220" y="4668766"/>
            <a:ext cx="214274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</a:t>
            </a:r>
          </a:p>
        </p:txBody>
      </p:sp>
      <p:sp>
        <p:nvSpPr>
          <p:cNvPr id="79" name="TextBox 21">
            <a:extLst>
              <a:ext uri="{FF2B5EF4-FFF2-40B4-BE49-F238E27FC236}">
                <a16:creationId xmlns:a16="http://schemas.microsoft.com/office/drawing/2014/main" id="{8A070215-8B92-61A3-31CF-700E9A328D43}"/>
              </a:ext>
            </a:extLst>
          </p:cNvPr>
          <p:cNvSpPr txBox="1"/>
          <p:nvPr/>
        </p:nvSpPr>
        <p:spPr>
          <a:xfrm>
            <a:off x="3665220" y="4859266"/>
            <a:ext cx="21427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1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可运行 AI 助手、场景说明与测试记录</a:t>
            </a:r>
          </a:p>
        </p:txBody>
      </p:sp>
      <p:sp>
        <p:nvSpPr>
          <p:cNvPr id="81" name="TextBox 22">
            <a:extLst>
              <a:ext uri="{FF2B5EF4-FFF2-40B4-BE49-F238E27FC236}">
                <a16:creationId xmlns:a16="http://schemas.microsoft.com/office/drawing/2014/main" id="{D91E709D-4177-0F12-495D-2048CDA4D580}"/>
              </a:ext>
            </a:extLst>
          </p:cNvPr>
          <p:cNvSpPr txBox="1"/>
          <p:nvPr/>
        </p:nvSpPr>
        <p:spPr>
          <a:xfrm>
            <a:off x="6827520" y="2192266"/>
            <a:ext cx="877824" cy="195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10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ADEP · 中级</a:t>
            </a:r>
          </a:p>
        </p:txBody>
      </p:sp>
      <p:sp>
        <p:nvSpPr>
          <p:cNvPr id="83" name="TextBox 23">
            <a:extLst>
              <a:ext uri="{FF2B5EF4-FFF2-40B4-BE49-F238E27FC236}">
                <a16:creationId xmlns:a16="http://schemas.microsoft.com/office/drawing/2014/main" id="{75CF7323-3487-27F0-15D2-FC5F61F84A06}"/>
              </a:ext>
            </a:extLst>
          </p:cNvPr>
          <p:cNvSpPr txBox="1"/>
          <p:nvPr/>
        </p:nvSpPr>
        <p:spPr>
          <a:xfrm>
            <a:off x="6827520" y="2382766"/>
            <a:ext cx="114452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865"/>
              </a:lnSpc>
              <a:spcBef>
                <a:spcPts val="180"/>
              </a:spcBef>
            </a:pPr>
            <a:r>
              <a:rPr lang="zh-CN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会做项目</a:t>
            </a:r>
          </a:p>
        </p:txBody>
      </p:sp>
      <p:sp>
        <p:nvSpPr>
          <p:cNvPr id="85" name="TextBox 24">
            <a:extLst>
              <a:ext uri="{FF2B5EF4-FFF2-40B4-BE49-F238E27FC236}">
                <a16:creationId xmlns:a16="http://schemas.microsoft.com/office/drawing/2014/main" id="{40729AAE-9352-3D58-B58F-62C31D1BBAE2}"/>
              </a:ext>
            </a:extLst>
          </p:cNvPr>
          <p:cNvSpPr txBox="1"/>
          <p:nvPr/>
        </p:nvSpPr>
        <p:spPr>
          <a:xfrm>
            <a:off x="6324600" y="2847586"/>
            <a:ext cx="237134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</a:pPr>
            <a:r>
              <a:rPr lang="zh-CN" sz="11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</a:t>
            </a:r>
          </a:p>
        </p:txBody>
      </p:sp>
      <p:sp>
        <p:nvSpPr>
          <p:cNvPr id="87" name="TextBox 25">
            <a:extLst>
              <a:ext uri="{FF2B5EF4-FFF2-40B4-BE49-F238E27FC236}">
                <a16:creationId xmlns:a16="http://schemas.microsoft.com/office/drawing/2014/main" id="{AF8878CA-93C1-D189-B4DC-6667F323C7A9}"/>
              </a:ext>
            </a:extLst>
          </p:cNvPr>
          <p:cNvSpPr txBox="1"/>
          <p:nvPr/>
        </p:nvSpPr>
        <p:spPr>
          <a:xfrm>
            <a:off x="6324600" y="3045706"/>
            <a:ext cx="2371344" cy="2179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180"/>
              </a:spcBef>
            </a:pPr>
            <a:r>
              <a:rPr lang="zh-CN" sz="11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开发、集成、交付与项目技术骨干</a:t>
            </a:r>
          </a:p>
        </p:txBody>
      </p:sp>
      <p:sp>
        <p:nvSpPr>
          <p:cNvPr id="89" name="TextBox 26">
            <a:extLst>
              <a:ext uri="{FF2B5EF4-FFF2-40B4-BE49-F238E27FC236}">
                <a16:creationId xmlns:a16="http://schemas.microsoft.com/office/drawing/2014/main" id="{E73E49CC-2C5D-52F1-07CA-C30FDD2960A2}"/>
              </a:ext>
            </a:extLst>
          </p:cNvPr>
          <p:cNvSpPr txBox="1"/>
          <p:nvPr/>
        </p:nvSpPr>
        <p:spPr>
          <a:xfrm>
            <a:off x="6324600" y="3327646"/>
            <a:ext cx="237134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</a:pPr>
            <a:r>
              <a:rPr lang="zh-CN" sz="11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关键能力</a:t>
            </a:r>
          </a:p>
        </p:txBody>
      </p:sp>
      <p:sp>
        <p:nvSpPr>
          <p:cNvPr id="91" name="TextBox 27">
            <a:extLst>
              <a:ext uri="{FF2B5EF4-FFF2-40B4-BE49-F238E27FC236}">
                <a16:creationId xmlns:a16="http://schemas.microsoft.com/office/drawing/2014/main" id="{755367DA-5B1C-E8E0-F4B0-45254237BD1B}"/>
              </a:ext>
            </a:extLst>
          </p:cNvPr>
          <p:cNvSpPr txBox="1"/>
          <p:nvPr/>
        </p:nvSpPr>
        <p:spPr>
          <a:xfrm>
            <a:off x="6324600" y="3518146"/>
            <a:ext cx="237134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1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复杂流程编排 · 系统集成 · 评测优化 · 异常处理 · 上线交付 · 运维准备</a:t>
            </a:r>
          </a:p>
        </p:txBody>
      </p:sp>
      <p:sp>
        <p:nvSpPr>
          <p:cNvPr id="93" name="TextBox 28">
            <a:extLst>
              <a:ext uri="{FF2B5EF4-FFF2-40B4-BE49-F238E27FC236}">
                <a16:creationId xmlns:a16="http://schemas.microsoft.com/office/drawing/2014/main" id="{1E6EDDB1-CB8E-383C-6045-322AC088BD30}"/>
              </a:ext>
            </a:extLst>
          </p:cNvPr>
          <p:cNvSpPr txBox="1"/>
          <p:nvPr/>
        </p:nvSpPr>
        <p:spPr>
          <a:xfrm>
            <a:off x="6438900" y="4668766"/>
            <a:ext cx="214274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</a:pPr>
            <a:r>
              <a:rPr lang="zh-CN" sz="110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</a:t>
            </a:r>
          </a:p>
        </p:txBody>
      </p:sp>
      <p:sp>
        <p:nvSpPr>
          <p:cNvPr id="95" name="TextBox 29">
            <a:extLst>
              <a:ext uri="{FF2B5EF4-FFF2-40B4-BE49-F238E27FC236}">
                <a16:creationId xmlns:a16="http://schemas.microsoft.com/office/drawing/2014/main" id="{944AD1F0-F122-C0D5-A1EA-29436BAF8902}"/>
              </a:ext>
            </a:extLst>
          </p:cNvPr>
          <p:cNvSpPr txBox="1"/>
          <p:nvPr/>
        </p:nvSpPr>
        <p:spPr>
          <a:xfrm>
            <a:off x="6438900" y="4859266"/>
            <a:ext cx="21427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1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可试运行复杂应用、评测报告与完整交付包</a:t>
            </a:r>
          </a:p>
        </p:txBody>
      </p:sp>
      <p:sp>
        <p:nvSpPr>
          <p:cNvPr id="97" name="TextBox 30">
            <a:extLst>
              <a:ext uri="{FF2B5EF4-FFF2-40B4-BE49-F238E27FC236}">
                <a16:creationId xmlns:a16="http://schemas.microsoft.com/office/drawing/2014/main" id="{FDD85872-D6CE-9BFF-8C4B-3E44321D2EAA}"/>
              </a:ext>
            </a:extLst>
          </p:cNvPr>
          <p:cNvSpPr txBox="1"/>
          <p:nvPr/>
        </p:nvSpPr>
        <p:spPr>
          <a:xfrm>
            <a:off x="9601200" y="1872226"/>
            <a:ext cx="877824" cy="195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10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ADEE · 高级</a:t>
            </a:r>
          </a:p>
        </p:txBody>
      </p:sp>
      <p:sp>
        <p:nvSpPr>
          <p:cNvPr id="99" name="TextBox 31">
            <a:extLst>
              <a:ext uri="{FF2B5EF4-FFF2-40B4-BE49-F238E27FC236}">
                <a16:creationId xmlns:a16="http://schemas.microsoft.com/office/drawing/2014/main" id="{2414C5E9-00B5-BE75-A859-307BE4F8CB69}"/>
              </a:ext>
            </a:extLst>
          </p:cNvPr>
          <p:cNvSpPr txBox="1"/>
          <p:nvPr/>
        </p:nvSpPr>
        <p:spPr>
          <a:xfrm>
            <a:off x="9601199" y="2062726"/>
            <a:ext cx="1105877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865"/>
              </a:lnSpc>
              <a:spcBef>
                <a:spcPts val="180"/>
              </a:spcBef>
            </a:pPr>
            <a:r>
              <a:rPr lang="zh-CN" b="1" dirty="0">
                <a:solidFill>
                  <a:srgbClr val="075A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会促转型</a:t>
            </a:r>
          </a:p>
        </p:txBody>
      </p:sp>
      <p:sp>
        <p:nvSpPr>
          <p:cNvPr id="101" name="TextBox 32">
            <a:extLst>
              <a:ext uri="{FF2B5EF4-FFF2-40B4-BE49-F238E27FC236}">
                <a16:creationId xmlns:a16="http://schemas.microsoft.com/office/drawing/2014/main" id="{D623C720-F4C6-B7F5-885E-D5EBA4EB05CE}"/>
              </a:ext>
            </a:extLst>
          </p:cNvPr>
          <p:cNvSpPr txBox="1"/>
          <p:nvPr/>
        </p:nvSpPr>
        <p:spPr>
          <a:xfrm>
            <a:off x="9098280" y="2527546"/>
            <a:ext cx="237134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</a:pPr>
            <a:r>
              <a:rPr lang="zh-CN" sz="11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</a:t>
            </a:r>
          </a:p>
        </p:txBody>
      </p:sp>
      <p:sp>
        <p:nvSpPr>
          <p:cNvPr id="103" name="TextBox 33">
            <a:extLst>
              <a:ext uri="{FF2B5EF4-FFF2-40B4-BE49-F238E27FC236}">
                <a16:creationId xmlns:a16="http://schemas.microsoft.com/office/drawing/2014/main" id="{6D1DE9BC-53E2-A702-B51B-E692E968AA27}"/>
              </a:ext>
            </a:extLst>
          </p:cNvPr>
          <p:cNvSpPr txBox="1"/>
          <p:nvPr/>
        </p:nvSpPr>
        <p:spPr>
          <a:xfrm>
            <a:off x="9098280" y="2725666"/>
            <a:ext cx="237134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180"/>
              </a:spcBef>
            </a:pPr>
            <a:r>
              <a:rPr lang="zh-CN" sz="11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架构师、技术负责人、AI 平台与项目负责人</a:t>
            </a:r>
          </a:p>
        </p:txBody>
      </p:sp>
      <p:sp>
        <p:nvSpPr>
          <p:cNvPr id="105" name="TextBox 34">
            <a:extLst>
              <a:ext uri="{FF2B5EF4-FFF2-40B4-BE49-F238E27FC236}">
                <a16:creationId xmlns:a16="http://schemas.microsoft.com/office/drawing/2014/main" id="{7337F3CA-9E9F-E6FE-6F94-EFED2B9E07BA}"/>
              </a:ext>
            </a:extLst>
          </p:cNvPr>
          <p:cNvSpPr txBox="1"/>
          <p:nvPr/>
        </p:nvSpPr>
        <p:spPr>
          <a:xfrm>
            <a:off x="9098280" y="3198106"/>
            <a:ext cx="237134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</a:pPr>
            <a:r>
              <a:rPr lang="zh-CN" sz="11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关键能力</a:t>
            </a:r>
          </a:p>
        </p:txBody>
      </p:sp>
      <p:sp>
        <p:nvSpPr>
          <p:cNvPr id="107" name="TextBox 35">
            <a:extLst>
              <a:ext uri="{FF2B5EF4-FFF2-40B4-BE49-F238E27FC236}">
                <a16:creationId xmlns:a16="http://schemas.microsoft.com/office/drawing/2014/main" id="{3EEA9DF9-4832-0F60-7C3D-665BA0B6A78F}"/>
              </a:ext>
            </a:extLst>
          </p:cNvPr>
          <p:cNvSpPr txBox="1"/>
          <p:nvPr/>
        </p:nvSpPr>
        <p:spPr>
          <a:xfrm>
            <a:off x="9098280" y="3388606"/>
            <a:ext cx="237134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1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企业总体架构 · 模型与资源策略 · 标准治理 · 成本风险 · 运营机制</a:t>
            </a:r>
          </a:p>
        </p:txBody>
      </p:sp>
      <p:sp>
        <p:nvSpPr>
          <p:cNvPr id="109" name="TextBox 36">
            <a:extLst>
              <a:ext uri="{FF2B5EF4-FFF2-40B4-BE49-F238E27FC236}">
                <a16:creationId xmlns:a16="http://schemas.microsoft.com/office/drawing/2014/main" id="{01D67D22-B120-FDC7-F757-FD2705274E23}"/>
              </a:ext>
            </a:extLst>
          </p:cNvPr>
          <p:cNvSpPr txBox="1"/>
          <p:nvPr/>
        </p:nvSpPr>
        <p:spPr>
          <a:xfrm>
            <a:off x="9212580" y="4668766"/>
            <a:ext cx="214274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</a:pPr>
            <a:r>
              <a:rPr lang="zh-CN" sz="110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</a:t>
            </a:r>
          </a:p>
        </p:txBody>
      </p:sp>
      <p:sp>
        <p:nvSpPr>
          <p:cNvPr id="111" name="TextBox 37">
            <a:extLst>
              <a:ext uri="{FF2B5EF4-FFF2-40B4-BE49-F238E27FC236}">
                <a16:creationId xmlns:a16="http://schemas.microsoft.com/office/drawing/2014/main" id="{07D6C5B4-FB5D-AB9B-DB46-0C25E159E6C5}"/>
              </a:ext>
            </a:extLst>
          </p:cNvPr>
          <p:cNvSpPr txBox="1"/>
          <p:nvPr/>
        </p:nvSpPr>
        <p:spPr>
          <a:xfrm>
            <a:off x="9212580" y="4859266"/>
            <a:ext cx="21427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1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总体架构、治理规范与分阶段实施路线</a:t>
            </a:r>
          </a:p>
        </p:txBody>
      </p:sp>
      <p:sp>
        <p:nvSpPr>
          <p:cNvPr id="113" name="TextBox 38">
            <a:extLst>
              <a:ext uri="{FF2B5EF4-FFF2-40B4-BE49-F238E27FC236}">
                <a16:creationId xmlns:a16="http://schemas.microsoft.com/office/drawing/2014/main" id="{DC5CFA61-5F5C-493F-D192-22E8DE2D5C24}"/>
              </a:ext>
            </a:extLst>
          </p:cNvPr>
          <p:cNvSpPr txBox="1"/>
          <p:nvPr/>
        </p:nvSpPr>
        <p:spPr>
          <a:xfrm>
            <a:off x="784860" y="5644126"/>
            <a:ext cx="116738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</a:pPr>
            <a:r>
              <a:rPr lang="zh-CN" sz="1080" b="1" dirty="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层级协作</a:t>
            </a:r>
          </a:p>
        </p:txBody>
      </p:sp>
      <p:sp>
        <p:nvSpPr>
          <p:cNvPr id="115" name="TextBox 39">
            <a:extLst>
              <a:ext uri="{FF2B5EF4-FFF2-40B4-BE49-F238E27FC236}">
                <a16:creationId xmlns:a16="http://schemas.microsoft.com/office/drawing/2014/main" id="{74CD50F9-C57C-20B0-0863-944D1426E6FF}"/>
              </a:ext>
            </a:extLst>
          </p:cNvPr>
          <p:cNvSpPr txBox="1"/>
          <p:nvPr/>
        </p:nvSpPr>
        <p:spPr>
          <a:xfrm>
            <a:off x="784860" y="5849866"/>
            <a:ext cx="1167384" cy="4465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55"/>
              </a:lnSpc>
              <a:spcBef>
                <a:spcPts val="300"/>
              </a:spcBef>
            </a:pPr>
            <a:r>
              <a:rPr lang="zh-CN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不是人人都要成为架构师</a:t>
            </a:r>
          </a:p>
        </p:txBody>
      </p:sp>
      <p:sp>
        <p:nvSpPr>
          <p:cNvPr id="117" name="TextBox 40">
            <a:extLst>
              <a:ext uri="{FF2B5EF4-FFF2-40B4-BE49-F238E27FC236}">
                <a16:creationId xmlns:a16="http://schemas.microsoft.com/office/drawing/2014/main" id="{81027E5A-089F-8A58-5AA7-FB8527622B86}"/>
              </a:ext>
            </a:extLst>
          </p:cNvPr>
          <p:cNvSpPr txBox="1"/>
          <p:nvPr/>
        </p:nvSpPr>
        <p:spPr>
          <a:xfrm>
            <a:off x="2232660" y="5750806"/>
            <a:ext cx="211226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2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全员 / 业务</a:t>
            </a:r>
          </a:p>
        </p:txBody>
      </p:sp>
      <p:sp>
        <p:nvSpPr>
          <p:cNvPr id="119" name="TextBox 41">
            <a:extLst>
              <a:ext uri="{FF2B5EF4-FFF2-40B4-BE49-F238E27FC236}">
                <a16:creationId xmlns:a16="http://schemas.microsoft.com/office/drawing/2014/main" id="{64945063-13C4-AAEF-888C-CA4464D4B3E3}"/>
              </a:ext>
            </a:extLst>
          </p:cNvPr>
          <p:cNvSpPr txBox="1"/>
          <p:nvPr/>
        </p:nvSpPr>
        <p:spPr>
          <a:xfrm>
            <a:off x="2232660" y="5979406"/>
            <a:ext cx="211226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05"/>
              </a:lnSpc>
              <a:spcBef>
                <a:spcPts val="180"/>
              </a:spcBef>
            </a:pP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贡献真实场景</a:t>
            </a:r>
          </a:p>
        </p:txBody>
      </p:sp>
      <p:sp>
        <p:nvSpPr>
          <p:cNvPr id="121" name="TextBox 42">
            <a:extLst>
              <a:ext uri="{FF2B5EF4-FFF2-40B4-BE49-F238E27FC236}">
                <a16:creationId xmlns:a16="http://schemas.microsoft.com/office/drawing/2014/main" id="{02F533FB-9083-2552-DA7C-AAD0D68AFE05}"/>
              </a:ext>
            </a:extLst>
          </p:cNvPr>
          <p:cNvSpPr txBox="1"/>
          <p:nvPr/>
        </p:nvSpPr>
        <p:spPr>
          <a:xfrm>
            <a:off x="4610100" y="5750806"/>
            <a:ext cx="211226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2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ADEA</a:t>
            </a:r>
          </a:p>
        </p:txBody>
      </p:sp>
      <p:sp>
        <p:nvSpPr>
          <p:cNvPr id="123" name="TextBox 43">
            <a:extLst>
              <a:ext uri="{FF2B5EF4-FFF2-40B4-BE49-F238E27FC236}">
                <a16:creationId xmlns:a16="http://schemas.microsoft.com/office/drawing/2014/main" id="{86E4C50E-CAD3-97B8-0E9A-CB7D18199A0F}"/>
              </a:ext>
            </a:extLst>
          </p:cNvPr>
          <p:cNvSpPr txBox="1"/>
          <p:nvPr/>
        </p:nvSpPr>
        <p:spPr>
          <a:xfrm>
            <a:off x="4610100" y="5979406"/>
            <a:ext cx="211226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05"/>
              </a:lnSpc>
              <a:spcBef>
                <a:spcPts val="180"/>
              </a:spcBef>
            </a:pP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完成功能原型</a:t>
            </a:r>
          </a:p>
        </p:txBody>
      </p:sp>
      <p:sp>
        <p:nvSpPr>
          <p:cNvPr id="125" name="TextBox 44">
            <a:extLst>
              <a:ext uri="{FF2B5EF4-FFF2-40B4-BE49-F238E27FC236}">
                <a16:creationId xmlns:a16="http://schemas.microsoft.com/office/drawing/2014/main" id="{1B6ECF83-46BA-2D42-F358-706E17427403}"/>
              </a:ext>
            </a:extLst>
          </p:cNvPr>
          <p:cNvSpPr txBox="1"/>
          <p:nvPr/>
        </p:nvSpPr>
        <p:spPr>
          <a:xfrm>
            <a:off x="6979920" y="5750806"/>
            <a:ext cx="211226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20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ADEP</a:t>
            </a:r>
          </a:p>
        </p:txBody>
      </p:sp>
      <p:sp>
        <p:nvSpPr>
          <p:cNvPr id="127" name="TextBox 45">
            <a:extLst>
              <a:ext uri="{FF2B5EF4-FFF2-40B4-BE49-F238E27FC236}">
                <a16:creationId xmlns:a16="http://schemas.microsoft.com/office/drawing/2014/main" id="{D479CBCD-109A-6D49-6606-FE9F215C7D28}"/>
              </a:ext>
            </a:extLst>
          </p:cNvPr>
          <p:cNvSpPr txBox="1"/>
          <p:nvPr/>
        </p:nvSpPr>
        <p:spPr>
          <a:xfrm>
            <a:off x="6979920" y="5979406"/>
            <a:ext cx="211226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05"/>
              </a:lnSpc>
              <a:spcBef>
                <a:spcPts val="180"/>
              </a:spcBef>
            </a:pP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解决集成与交付</a:t>
            </a:r>
          </a:p>
        </p:txBody>
      </p:sp>
      <p:sp>
        <p:nvSpPr>
          <p:cNvPr id="129" name="TextBox 46">
            <a:extLst>
              <a:ext uri="{FF2B5EF4-FFF2-40B4-BE49-F238E27FC236}">
                <a16:creationId xmlns:a16="http://schemas.microsoft.com/office/drawing/2014/main" id="{A0B4DBCF-E194-2600-EDB8-E799F3660DC0}"/>
              </a:ext>
            </a:extLst>
          </p:cNvPr>
          <p:cNvSpPr txBox="1"/>
          <p:nvPr/>
        </p:nvSpPr>
        <p:spPr>
          <a:xfrm>
            <a:off x="9357360" y="5750806"/>
            <a:ext cx="211226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20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ADEE</a:t>
            </a:r>
          </a:p>
        </p:txBody>
      </p:sp>
      <p:sp>
        <p:nvSpPr>
          <p:cNvPr id="131" name="TextBox 47">
            <a:extLst>
              <a:ext uri="{FF2B5EF4-FFF2-40B4-BE49-F238E27FC236}">
                <a16:creationId xmlns:a16="http://schemas.microsoft.com/office/drawing/2014/main" id="{21FA9CC5-A450-3675-7FE7-46F6D787F42C}"/>
              </a:ext>
            </a:extLst>
          </p:cNvPr>
          <p:cNvSpPr txBox="1"/>
          <p:nvPr/>
        </p:nvSpPr>
        <p:spPr>
          <a:xfrm>
            <a:off x="9357360" y="5979406"/>
            <a:ext cx="211226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05"/>
              </a:lnSpc>
              <a:spcBef>
                <a:spcPts val="180"/>
              </a:spcBef>
            </a:pP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把控路线与风险</a:t>
            </a:r>
          </a:p>
        </p:txBody>
      </p:sp>
      <p:sp>
        <p:nvSpPr>
          <p:cNvPr id="133" name="TextBox 48">
            <a:extLst>
              <a:ext uri="{FF2B5EF4-FFF2-40B4-BE49-F238E27FC236}">
                <a16:creationId xmlns:a16="http://schemas.microsoft.com/office/drawing/2014/main" id="{BE1008B0-B4FA-29FD-F715-CB1689EA010C}"/>
              </a:ext>
            </a:extLst>
          </p:cNvPr>
          <p:cNvSpPr txBox="1"/>
          <p:nvPr/>
        </p:nvSpPr>
        <p:spPr>
          <a:xfrm>
            <a:off x="853083" y="2912356"/>
            <a:ext cx="299299" cy="2941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34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35" name="TextBox 49">
            <a:extLst>
              <a:ext uri="{FF2B5EF4-FFF2-40B4-BE49-F238E27FC236}">
                <a16:creationId xmlns:a16="http://schemas.microsoft.com/office/drawing/2014/main" id="{B573DB2F-D12F-F278-C352-6831C22A22BC}"/>
              </a:ext>
            </a:extLst>
          </p:cNvPr>
          <p:cNvSpPr txBox="1"/>
          <p:nvPr/>
        </p:nvSpPr>
        <p:spPr>
          <a:xfrm>
            <a:off x="3626763" y="2592316"/>
            <a:ext cx="299299" cy="2941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34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37" name="TextBox 50">
            <a:extLst>
              <a:ext uri="{FF2B5EF4-FFF2-40B4-BE49-F238E27FC236}">
                <a16:creationId xmlns:a16="http://schemas.microsoft.com/office/drawing/2014/main" id="{3629D7C8-E0D2-F9EC-E69A-59304EBCE3A7}"/>
              </a:ext>
            </a:extLst>
          </p:cNvPr>
          <p:cNvSpPr txBox="1"/>
          <p:nvPr/>
        </p:nvSpPr>
        <p:spPr>
          <a:xfrm>
            <a:off x="6400443" y="2272276"/>
            <a:ext cx="299299" cy="2941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34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39" name="TextBox 51">
            <a:extLst>
              <a:ext uri="{FF2B5EF4-FFF2-40B4-BE49-F238E27FC236}">
                <a16:creationId xmlns:a16="http://schemas.microsoft.com/office/drawing/2014/main" id="{FCDB8BB4-3D90-DF1B-EF30-9E850597AFD7}"/>
              </a:ext>
            </a:extLst>
          </p:cNvPr>
          <p:cNvSpPr txBox="1"/>
          <p:nvPr/>
        </p:nvSpPr>
        <p:spPr>
          <a:xfrm>
            <a:off x="9174123" y="1952236"/>
            <a:ext cx="299299" cy="2941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34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141" name="TextBox 52">
            <a:extLst>
              <a:ext uri="{FF2B5EF4-FFF2-40B4-BE49-F238E27FC236}">
                <a16:creationId xmlns:a16="http://schemas.microsoft.com/office/drawing/2014/main" id="{2BB2FB8F-27EB-1833-5524-D2ACE3A76131}"/>
              </a:ext>
            </a:extLst>
          </p:cNvPr>
          <p:cNvSpPr txBox="1"/>
          <p:nvPr/>
        </p:nvSpPr>
        <p:spPr>
          <a:xfrm>
            <a:off x="4290060" y="5796526"/>
            <a:ext cx="374904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143" name="TextBox 53">
            <a:extLst>
              <a:ext uri="{FF2B5EF4-FFF2-40B4-BE49-F238E27FC236}">
                <a16:creationId xmlns:a16="http://schemas.microsoft.com/office/drawing/2014/main" id="{4E6EF228-98BD-6B3F-160B-EC265B2D885C}"/>
              </a:ext>
            </a:extLst>
          </p:cNvPr>
          <p:cNvSpPr txBox="1"/>
          <p:nvPr/>
        </p:nvSpPr>
        <p:spPr>
          <a:xfrm>
            <a:off x="6659880" y="5796526"/>
            <a:ext cx="374904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dirty="0">
                <a:solidFill>
                  <a:srgbClr val="00A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145" name="TextBox 54">
            <a:extLst>
              <a:ext uri="{FF2B5EF4-FFF2-40B4-BE49-F238E27FC236}">
                <a16:creationId xmlns:a16="http://schemas.microsoft.com/office/drawing/2014/main" id="{61707344-5D0C-B9E6-24B5-847622DE5D71}"/>
              </a:ext>
            </a:extLst>
          </p:cNvPr>
          <p:cNvSpPr txBox="1"/>
          <p:nvPr/>
        </p:nvSpPr>
        <p:spPr>
          <a:xfrm>
            <a:off x="9037320" y="5796526"/>
            <a:ext cx="374904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753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B534B-96DD-F53B-7BC7-7D3C819FB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78CE96-00B6-CD00-6F06-E5C478C76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zh-CN" altLang="en-US" dirty="0"/>
              <a:t>学习一实践一评价一认证一应用的培养闭环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036B207-76B6-1726-6992-148EA455D069}"/>
              </a:ext>
            </a:extLst>
          </p:cNvPr>
          <p:cNvSpPr/>
          <p:nvPr/>
        </p:nvSpPr>
        <p:spPr>
          <a:xfrm>
            <a:off x="609600" y="1145222"/>
            <a:ext cx="10972800" cy="586740"/>
          </a:xfrm>
          <a:prstGeom prst="roundRect">
            <a:avLst>
              <a:gd name="adj" fmla="val 23377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529D619-2C41-BF4D-1323-C6EDF776E65B}"/>
              </a:ext>
            </a:extLst>
          </p:cNvPr>
          <p:cNvSpPr/>
          <p:nvPr/>
        </p:nvSpPr>
        <p:spPr>
          <a:xfrm>
            <a:off x="800100" y="1274762"/>
            <a:ext cx="792480" cy="327660"/>
          </a:xfrm>
          <a:prstGeom prst="roundRect">
            <a:avLst>
              <a:gd name="adj" fmla="val 18605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C9A71D4-4694-0850-89F8-60CB8B1804A8}"/>
              </a:ext>
            </a:extLst>
          </p:cNvPr>
          <p:cNvSpPr/>
          <p:nvPr/>
        </p:nvSpPr>
        <p:spPr>
          <a:xfrm>
            <a:off x="609600" y="1884362"/>
            <a:ext cx="10972800" cy="4530566"/>
          </a:xfrm>
          <a:prstGeom prst="roundRect">
            <a:avLst>
              <a:gd name="adj" fmla="val 3700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42042310-05CA-FCA3-BB54-DA4D4FF157B5}"/>
              </a:ext>
            </a:extLst>
          </p:cNvPr>
          <p:cNvSpPr/>
          <p:nvPr/>
        </p:nvSpPr>
        <p:spPr>
          <a:xfrm>
            <a:off x="769620" y="2044382"/>
            <a:ext cx="2057400" cy="3418046"/>
          </a:xfrm>
          <a:prstGeom prst="roundRect">
            <a:avLst>
              <a:gd name="adj" fmla="val 5926"/>
            </a:avLst>
          </a:prstGeom>
          <a:solidFill>
            <a:srgbClr val="F8FC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4340C5A0-BA57-A680-C38D-7C37196B97E9}"/>
              </a:ext>
            </a:extLst>
          </p:cNvPr>
          <p:cNvSpPr/>
          <p:nvPr/>
        </p:nvSpPr>
        <p:spPr>
          <a:xfrm>
            <a:off x="777240" y="2052002"/>
            <a:ext cx="2042160" cy="651510"/>
          </a:xfrm>
          <a:prstGeom prst="rect">
            <a:avLst/>
          </a:prstGeom>
          <a:solidFill>
            <a:srgbClr val="0721A8"/>
          </a:solidFill>
          <a:ln>
            <a:noFill/>
          </a:ln>
        </p:spPr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A4DA6553-F262-D13C-592F-C5420911491A}"/>
              </a:ext>
            </a:extLst>
          </p:cNvPr>
          <p:cNvSpPr/>
          <p:nvPr/>
        </p:nvSpPr>
        <p:spPr>
          <a:xfrm>
            <a:off x="2918460" y="2044382"/>
            <a:ext cx="2057400" cy="3418046"/>
          </a:xfrm>
          <a:prstGeom prst="roundRect">
            <a:avLst>
              <a:gd name="adj" fmla="val 5926"/>
            </a:avLst>
          </a:prstGeom>
          <a:solidFill>
            <a:srgbClr val="F8FC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69FF09CA-CBA3-92B1-060F-007134DF4236}"/>
              </a:ext>
            </a:extLst>
          </p:cNvPr>
          <p:cNvSpPr/>
          <p:nvPr/>
        </p:nvSpPr>
        <p:spPr>
          <a:xfrm>
            <a:off x="2926080" y="2052002"/>
            <a:ext cx="2042160" cy="651510"/>
          </a:xfrm>
          <a:prstGeom prst="rect">
            <a:avLst/>
          </a:prstGeom>
          <a:solidFill>
            <a:srgbClr val="0565FF"/>
          </a:solidFill>
          <a:ln>
            <a:noFill/>
          </a:ln>
        </p:spPr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D74A6D83-9191-DD99-FB95-A81AB00444BB}"/>
              </a:ext>
            </a:extLst>
          </p:cNvPr>
          <p:cNvSpPr/>
          <p:nvPr/>
        </p:nvSpPr>
        <p:spPr>
          <a:xfrm>
            <a:off x="5067300" y="2044382"/>
            <a:ext cx="2057400" cy="3418046"/>
          </a:xfrm>
          <a:prstGeom prst="roundRect">
            <a:avLst>
              <a:gd name="adj" fmla="val 5926"/>
            </a:avLst>
          </a:prstGeom>
          <a:solidFill>
            <a:srgbClr val="F8FC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CC038D40-F8F2-4F6F-E043-2F5DBB5303AC}"/>
              </a:ext>
            </a:extLst>
          </p:cNvPr>
          <p:cNvSpPr/>
          <p:nvPr/>
        </p:nvSpPr>
        <p:spPr>
          <a:xfrm>
            <a:off x="5074920" y="2052002"/>
            <a:ext cx="2042160" cy="651510"/>
          </a:xfrm>
          <a:prstGeom prst="rect">
            <a:avLst/>
          </a:prstGeom>
          <a:solidFill>
            <a:srgbClr val="008DE0"/>
          </a:solidFill>
          <a:ln>
            <a:noFill/>
          </a:ln>
        </p:spPr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244B1FFA-8052-8787-26E0-C6D668EF5D7C}"/>
              </a:ext>
            </a:extLst>
          </p:cNvPr>
          <p:cNvSpPr/>
          <p:nvPr/>
        </p:nvSpPr>
        <p:spPr>
          <a:xfrm>
            <a:off x="7216140" y="2044382"/>
            <a:ext cx="2057400" cy="3418046"/>
          </a:xfrm>
          <a:prstGeom prst="roundRect">
            <a:avLst>
              <a:gd name="adj" fmla="val 5926"/>
            </a:avLst>
          </a:prstGeom>
          <a:solidFill>
            <a:srgbClr val="F8FC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CC3F3C3B-6612-9183-4E28-AF2D9DA5CB76}"/>
              </a:ext>
            </a:extLst>
          </p:cNvPr>
          <p:cNvSpPr/>
          <p:nvPr/>
        </p:nvSpPr>
        <p:spPr>
          <a:xfrm>
            <a:off x="7223760" y="2052002"/>
            <a:ext cx="2042160" cy="651510"/>
          </a:xfrm>
          <a:prstGeom prst="rect">
            <a:avLst/>
          </a:prstGeom>
          <a:solidFill>
            <a:srgbClr val="00A7FF"/>
          </a:solidFill>
          <a:ln>
            <a:noFill/>
          </a:ln>
        </p:spPr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461550BE-0F68-8B95-84AC-87C729797373}"/>
              </a:ext>
            </a:extLst>
          </p:cNvPr>
          <p:cNvSpPr/>
          <p:nvPr/>
        </p:nvSpPr>
        <p:spPr>
          <a:xfrm>
            <a:off x="9364980" y="2044382"/>
            <a:ext cx="2057400" cy="3418046"/>
          </a:xfrm>
          <a:prstGeom prst="roundRect">
            <a:avLst>
              <a:gd name="adj" fmla="val 5926"/>
            </a:avLst>
          </a:prstGeom>
          <a:solidFill>
            <a:srgbClr val="F1FBF7"/>
          </a:solidFill>
          <a:ln w="9525">
            <a:solidFill>
              <a:srgbClr val="BDE8DA"/>
            </a:solidFill>
            <a:prstDash val="solid"/>
          </a:ln>
        </p:spPr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DB0A0C6A-8BAA-596D-8508-E73609B481FB}"/>
              </a:ext>
            </a:extLst>
          </p:cNvPr>
          <p:cNvSpPr/>
          <p:nvPr/>
        </p:nvSpPr>
        <p:spPr>
          <a:xfrm>
            <a:off x="9372600" y="2052002"/>
            <a:ext cx="2042160" cy="651510"/>
          </a:xfrm>
          <a:prstGeom prst="rect">
            <a:avLst/>
          </a:prstGeom>
          <a:solidFill>
            <a:srgbClr val="00AB7A"/>
          </a:solidFill>
          <a:ln>
            <a:noFill/>
          </a:ln>
        </p:spPr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1A9D2240-EADE-9DAF-9491-8E2BCA19B714}"/>
              </a:ext>
            </a:extLst>
          </p:cNvPr>
          <p:cNvSpPr/>
          <p:nvPr/>
        </p:nvSpPr>
        <p:spPr>
          <a:xfrm>
            <a:off x="769620" y="5584348"/>
            <a:ext cx="10652760" cy="670560"/>
          </a:xfrm>
          <a:prstGeom prst="roundRect">
            <a:avLst>
              <a:gd name="adj" fmla="val 18182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8DFA95E7-1E3C-F67D-8839-F4C37632A781}"/>
              </a:ext>
            </a:extLst>
          </p:cNvPr>
          <p:cNvSpPr/>
          <p:nvPr/>
        </p:nvSpPr>
        <p:spPr>
          <a:xfrm>
            <a:off x="922020" y="5744368"/>
            <a:ext cx="853440" cy="350520"/>
          </a:xfrm>
          <a:prstGeom prst="roundRect">
            <a:avLst>
              <a:gd name="adj" fmla="val 26087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C82FCD8C-DCBB-0ACF-E382-26A0ABADDDAC}"/>
              </a:ext>
            </a:extLst>
          </p:cNvPr>
          <p:cNvSpPr txBox="1"/>
          <p:nvPr/>
        </p:nvSpPr>
        <p:spPr>
          <a:xfrm>
            <a:off x="1744980" y="1305242"/>
            <a:ext cx="881786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00"/>
              </a:lnSpc>
            </a:pPr>
            <a:r>
              <a:rPr lang="zh-CN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每次培养同步沉淀人才、项目、资产和机制；业务问题持续牵引人才成长，学习成果最终回到真实工作。</a:t>
            </a:r>
          </a:p>
        </p:txBody>
      </p:sp>
      <p:sp>
        <p:nvSpPr>
          <p:cNvPr id="47" name="TextBox 6">
            <a:extLst>
              <a:ext uri="{FF2B5EF4-FFF2-40B4-BE49-F238E27FC236}">
                <a16:creationId xmlns:a16="http://schemas.microsoft.com/office/drawing/2014/main" id="{303AB549-F3A5-DEA9-B91A-023CF5BF8493}"/>
              </a:ext>
            </a:extLst>
          </p:cNvPr>
          <p:cNvSpPr txBox="1"/>
          <p:nvPr/>
        </p:nvSpPr>
        <p:spPr>
          <a:xfrm>
            <a:off x="1295400" y="2410142"/>
            <a:ext cx="12893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建立知识与方法基础</a:t>
            </a:r>
          </a:p>
        </p:txBody>
      </p:sp>
      <p:sp>
        <p:nvSpPr>
          <p:cNvPr id="49" name="TextBox 7">
            <a:extLst>
              <a:ext uri="{FF2B5EF4-FFF2-40B4-BE49-F238E27FC236}">
                <a16:creationId xmlns:a16="http://schemas.microsoft.com/office/drawing/2014/main" id="{AE33D138-25A3-FA46-AE54-7C66C4F4052C}"/>
              </a:ext>
            </a:extLst>
          </p:cNvPr>
          <p:cNvSpPr txBox="1"/>
          <p:nvPr/>
        </p:nvSpPr>
        <p:spPr>
          <a:xfrm>
            <a:off x="3444240" y="2410142"/>
            <a:ext cx="12893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把知识转为项目能力</a:t>
            </a:r>
          </a:p>
        </p:txBody>
      </p:sp>
      <p:sp>
        <p:nvSpPr>
          <p:cNvPr id="51" name="TextBox 8">
            <a:extLst>
              <a:ext uri="{FF2B5EF4-FFF2-40B4-BE49-F238E27FC236}">
                <a16:creationId xmlns:a16="http://schemas.microsoft.com/office/drawing/2014/main" id="{D5F52F79-E65F-BCD8-0983-786261822868}"/>
              </a:ext>
            </a:extLst>
          </p:cNvPr>
          <p:cNvSpPr txBox="1"/>
          <p:nvPr/>
        </p:nvSpPr>
        <p:spPr>
          <a:xfrm>
            <a:off x="5593080" y="2410142"/>
            <a:ext cx="12893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用事实判断真实能力</a:t>
            </a:r>
          </a:p>
        </p:txBody>
      </p:sp>
      <p:sp>
        <p:nvSpPr>
          <p:cNvPr id="53" name="TextBox 9">
            <a:extLst>
              <a:ext uri="{FF2B5EF4-FFF2-40B4-BE49-F238E27FC236}">
                <a16:creationId xmlns:a16="http://schemas.microsoft.com/office/drawing/2014/main" id="{6B3B2F9B-0855-BE1B-573D-54A9CED35D0F}"/>
              </a:ext>
            </a:extLst>
          </p:cNvPr>
          <p:cNvSpPr txBox="1"/>
          <p:nvPr/>
        </p:nvSpPr>
        <p:spPr>
          <a:xfrm>
            <a:off x="7741920" y="2410142"/>
            <a:ext cx="12893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连接人才识别与成长</a:t>
            </a:r>
          </a:p>
        </p:txBody>
      </p:sp>
      <p:sp>
        <p:nvSpPr>
          <p:cNvPr id="55" name="TextBox 10">
            <a:extLst>
              <a:ext uri="{FF2B5EF4-FFF2-40B4-BE49-F238E27FC236}">
                <a16:creationId xmlns:a16="http://schemas.microsoft.com/office/drawing/2014/main" id="{2505B1A3-0741-2A00-ABA6-FD8B58532B24}"/>
              </a:ext>
            </a:extLst>
          </p:cNvPr>
          <p:cNvSpPr txBox="1"/>
          <p:nvPr/>
        </p:nvSpPr>
        <p:spPr>
          <a:xfrm>
            <a:off x="9890760" y="2410142"/>
            <a:ext cx="12893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让成果回到业务现场</a:t>
            </a:r>
          </a:p>
        </p:txBody>
      </p:sp>
      <p:sp>
        <p:nvSpPr>
          <p:cNvPr id="57" name="TextBox 11">
            <a:extLst>
              <a:ext uri="{FF2B5EF4-FFF2-40B4-BE49-F238E27FC236}">
                <a16:creationId xmlns:a16="http://schemas.microsoft.com/office/drawing/2014/main" id="{DB5623EC-0EC8-FE28-8C31-64718E99273C}"/>
              </a:ext>
            </a:extLst>
          </p:cNvPr>
          <p:cNvSpPr txBox="1"/>
          <p:nvPr/>
        </p:nvSpPr>
        <p:spPr>
          <a:xfrm>
            <a:off x="1897380" y="5709602"/>
            <a:ext cx="6196584" cy="4541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优秀案例、问题记录和技术变化持续更新课程、项目、测试集与能力标准，形成下一轮学习入口。</a:t>
            </a:r>
          </a:p>
        </p:txBody>
      </p:sp>
      <p:sp>
        <p:nvSpPr>
          <p:cNvPr id="59" name="TextBox 12">
            <a:extLst>
              <a:ext uri="{FF2B5EF4-FFF2-40B4-BE49-F238E27FC236}">
                <a16:creationId xmlns:a16="http://schemas.microsoft.com/office/drawing/2014/main" id="{2DAEB825-ABF3-1205-B53A-E4245BACD2B2}"/>
              </a:ext>
            </a:extLst>
          </p:cNvPr>
          <p:cNvSpPr txBox="1"/>
          <p:nvPr/>
        </p:nvSpPr>
        <p:spPr>
          <a:xfrm>
            <a:off x="922020" y="1335722"/>
            <a:ext cx="6035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闭环价值</a:t>
            </a:r>
          </a:p>
        </p:txBody>
      </p:sp>
      <p:sp>
        <p:nvSpPr>
          <p:cNvPr id="61" name="TextBox 13">
            <a:extLst>
              <a:ext uri="{FF2B5EF4-FFF2-40B4-BE49-F238E27FC236}">
                <a16:creationId xmlns:a16="http://schemas.microsoft.com/office/drawing/2014/main" id="{513D7E18-93A3-8DE6-0A4D-65B7BC31F339}"/>
              </a:ext>
            </a:extLst>
          </p:cNvPr>
          <p:cNvSpPr txBox="1"/>
          <p:nvPr/>
        </p:nvSpPr>
        <p:spPr>
          <a:xfrm>
            <a:off x="943451" y="2261552"/>
            <a:ext cx="271081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070"/>
              </a:lnSpc>
            </a:pPr>
            <a:r>
              <a:rPr lang="en-US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63" name="TextBox 14">
            <a:extLst>
              <a:ext uri="{FF2B5EF4-FFF2-40B4-BE49-F238E27FC236}">
                <a16:creationId xmlns:a16="http://schemas.microsoft.com/office/drawing/2014/main" id="{DBA84382-972A-B16D-01CD-49C230DA1BF2}"/>
              </a:ext>
            </a:extLst>
          </p:cNvPr>
          <p:cNvSpPr txBox="1"/>
          <p:nvPr/>
        </p:nvSpPr>
        <p:spPr>
          <a:xfrm>
            <a:off x="1295400" y="2143442"/>
            <a:ext cx="128930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zh-CN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分层学习</a:t>
            </a:r>
          </a:p>
        </p:txBody>
      </p:sp>
      <p:sp>
        <p:nvSpPr>
          <p:cNvPr id="65" name="TextBox 15">
            <a:extLst>
              <a:ext uri="{FF2B5EF4-FFF2-40B4-BE49-F238E27FC236}">
                <a16:creationId xmlns:a16="http://schemas.microsoft.com/office/drawing/2014/main" id="{2A94B9E8-7A2D-27B2-6D66-B8F2BD8CEEB1}"/>
              </a:ext>
            </a:extLst>
          </p:cNvPr>
          <p:cNvSpPr txBox="1"/>
          <p:nvPr/>
        </p:nvSpPr>
        <p:spPr>
          <a:xfrm>
            <a:off x="899160" y="2829242"/>
            <a:ext cx="1853184" cy="2343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关键动作：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课程、示范、练习、实验，按人才层级配置内容深度。</a:t>
            </a:r>
          </a:p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责任主体</a:t>
            </a:r>
          </a:p>
          <a:p>
            <a:pPr>
              <a:lnSpc>
                <a:spcPct val="150000"/>
              </a:lnSpc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培训管理者组织进度；讲师传递知识与方法。</a:t>
            </a:r>
          </a:p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关键证据：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学习记录、练习结果、实验过程、问题清单。</a:t>
            </a:r>
          </a:p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阶段输出：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知识基础、方法模板、个人补强计划。</a:t>
            </a:r>
          </a:p>
        </p:txBody>
      </p:sp>
      <p:sp>
        <p:nvSpPr>
          <p:cNvPr id="67" name="TextBox 16">
            <a:extLst>
              <a:ext uri="{FF2B5EF4-FFF2-40B4-BE49-F238E27FC236}">
                <a16:creationId xmlns:a16="http://schemas.microsoft.com/office/drawing/2014/main" id="{E28B4855-07F8-9A63-AAB1-2940FDCDEE42}"/>
              </a:ext>
            </a:extLst>
          </p:cNvPr>
          <p:cNvSpPr txBox="1"/>
          <p:nvPr/>
        </p:nvSpPr>
        <p:spPr>
          <a:xfrm>
            <a:off x="3092291" y="2261552"/>
            <a:ext cx="271081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070"/>
              </a:lnSpc>
            </a:pPr>
            <a:r>
              <a:rPr lang="en-US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69" name="TextBox 17">
            <a:extLst>
              <a:ext uri="{FF2B5EF4-FFF2-40B4-BE49-F238E27FC236}">
                <a16:creationId xmlns:a16="http://schemas.microsoft.com/office/drawing/2014/main" id="{7370F6D3-2DD1-243E-C24E-99BC06D28DB3}"/>
              </a:ext>
            </a:extLst>
          </p:cNvPr>
          <p:cNvSpPr txBox="1"/>
          <p:nvPr/>
        </p:nvSpPr>
        <p:spPr>
          <a:xfrm>
            <a:off x="3444240" y="2143442"/>
            <a:ext cx="128930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zh-CN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场景实践</a:t>
            </a:r>
          </a:p>
        </p:txBody>
      </p:sp>
      <p:sp>
        <p:nvSpPr>
          <p:cNvPr id="71" name="TextBox 18">
            <a:extLst>
              <a:ext uri="{FF2B5EF4-FFF2-40B4-BE49-F238E27FC236}">
                <a16:creationId xmlns:a16="http://schemas.microsoft.com/office/drawing/2014/main" id="{3B0F66D8-F848-30BE-7DBC-19B2F5F0812B}"/>
              </a:ext>
            </a:extLst>
          </p:cNvPr>
          <p:cNvSpPr txBox="1"/>
          <p:nvPr/>
        </p:nvSpPr>
        <p:spPr>
          <a:xfrm>
            <a:off x="3048000" y="2829242"/>
            <a:ext cx="1853184" cy="25344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关键动作：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围绕真实或高仿真任务完成需求、设计、构建、调试与提交。</a:t>
            </a:r>
          </a:p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责任主体</a:t>
            </a:r>
          </a:p>
          <a:p>
            <a:pPr>
              <a:lnSpc>
                <a:spcPct val="150000"/>
              </a:lnSpc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业务导师判断真实性与价值；技术导师指导工程方法。</a:t>
            </a:r>
          </a:p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关键证据：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需求说明、过程日志、版本记录、可运行作品。</a:t>
            </a:r>
          </a:p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阶段输出：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助手、复杂应用或总体方案。</a:t>
            </a:r>
          </a:p>
        </p:txBody>
      </p:sp>
      <p:sp>
        <p:nvSpPr>
          <p:cNvPr id="73" name="TextBox 19">
            <a:extLst>
              <a:ext uri="{FF2B5EF4-FFF2-40B4-BE49-F238E27FC236}">
                <a16:creationId xmlns:a16="http://schemas.microsoft.com/office/drawing/2014/main" id="{8418F766-2EFF-BC14-C839-C5ACB13A82A7}"/>
              </a:ext>
            </a:extLst>
          </p:cNvPr>
          <p:cNvSpPr txBox="1"/>
          <p:nvPr/>
        </p:nvSpPr>
        <p:spPr>
          <a:xfrm>
            <a:off x="5241131" y="2261552"/>
            <a:ext cx="271081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070"/>
              </a:lnSpc>
            </a:pPr>
            <a:r>
              <a:rPr lang="en-US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75" name="TextBox 20">
            <a:extLst>
              <a:ext uri="{FF2B5EF4-FFF2-40B4-BE49-F238E27FC236}">
                <a16:creationId xmlns:a16="http://schemas.microsoft.com/office/drawing/2014/main" id="{A8A87D56-B564-8044-ED08-49B1EA21CE2A}"/>
              </a:ext>
            </a:extLst>
          </p:cNvPr>
          <p:cNvSpPr txBox="1"/>
          <p:nvPr/>
        </p:nvSpPr>
        <p:spPr>
          <a:xfrm>
            <a:off x="5593080" y="2143442"/>
            <a:ext cx="128930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zh-CN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测试评价</a:t>
            </a:r>
          </a:p>
        </p:txBody>
      </p:sp>
      <p:sp>
        <p:nvSpPr>
          <p:cNvPr id="77" name="TextBox 21">
            <a:extLst>
              <a:ext uri="{FF2B5EF4-FFF2-40B4-BE49-F238E27FC236}">
                <a16:creationId xmlns:a16="http://schemas.microsoft.com/office/drawing/2014/main" id="{16712215-2B59-F8DA-06B8-3CD2B26430EA}"/>
              </a:ext>
            </a:extLst>
          </p:cNvPr>
          <p:cNvSpPr txBox="1"/>
          <p:nvPr/>
        </p:nvSpPr>
        <p:spPr>
          <a:xfrm>
            <a:off x="5196840" y="2829242"/>
            <a:ext cx="1853184" cy="25344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关键动作：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考试、实操、项目测试、作品检查与答辩综合评价。</a:t>
            </a:r>
          </a:p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责任主体</a:t>
            </a:r>
          </a:p>
          <a:p>
            <a:pPr>
              <a:lnSpc>
                <a:spcPct val="150000"/>
              </a:lnSpc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评审人依据量规评分；业务与技术导师提供事实意见。</a:t>
            </a:r>
          </a:p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关键证据：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测试集、评测报告、答辩记录、评分明细。</a:t>
            </a:r>
          </a:p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阶段输出：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能力结论、差距项与补训建议。</a:t>
            </a:r>
          </a:p>
        </p:txBody>
      </p:sp>
      <p:sp>
        <p:nvSpPr>
          <p:cNvPr id="79" name="TextBox 22">
            <a:extLst>
              <a:ext uri="{FF2B5EF4-FFF2-40B4-BE49-F238E27FC236}">
                <a16:creationId xmlns:a16="http://schemas.microsoft.com/office/drawing/2014/main" id="{849355C3-AAD9-D354-28A3-4AE044CDECF5}"/>
              </a:ext>
            </a:extLst>
          </p:cNvPr>
          <p:cNvSpPr txBox="1"/>
          <p:nvPr/>
        </p:nvSpPr>
        <p:spPr>
          <a:xfrm>
            <a:off x="7389971" y="2261552"/>
            <a:ext cx="271081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070"/>
              </a:lnSpc>
            </a:pPr>
            <a:r>
              <a:rPr lang="en-US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81" name="TextBox 23">
            <a:extLst>
              <a:ext uri="{FF2B5EF4-FFF2-40B4-BE49-F238E27FC236}">
                <a16:creationId xmlns:a16="http://schemas.microsoft.com/office/drawing/2014/main" id="{79762FB5-D0FE-8092-6AFD-F31BB28D7E63}"/>
              </a:ext>
            </a:extLst>
          </p:cNvPr>
          <p:cNvSpPr txBox="1"/>
          <p:nvPr/>
        </p:nvSpPr>
        <p:spPr>
          <a:xfrm>
            <a:off x="7741920" y="2143442"/>
            <a:ext cx="128930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zh-CN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认证发展</a:t>
            </a:r>
          </a:p>
        </p:txBody>
      </p:sp>
      <p:sp>
        <p:nvSpPr>
          <p:cNvPr id="83" name="TextBox 24">
            <a:extLst>
              <a:ext uri="{FF2B5EF4-FFF2-40B4-BE49-F238E27FC236}">
                <a16:creationId xmlns:a16="http://schemas.microsoft.com/office/drawing/2014/main" id="{5C025F86-A2B5-6FAC-AFBD-B5C23D8CB7D9}"/>
              </a:ext>
            </a:extLst>
          </p:cNvPr>
          <p:cNvSpPr txBox="1"/>
          <p:nvPr/>
        </p:nvSpPr>
        <p:spPr>
          <a:xfrm>
            <a:off x="7345680" y="2829242"/>
            <a:ext cx="1853184" cy="25344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关键动作：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归集评价、项目经历和认证结果，支持选人、发展与进阶培养。</a:t>
            </a:r>
          </a:p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责任主体</a:t>
            </a:r>
          </a:p>
          <a:p>
            <a:pPr>
              <a:lnSpc>
                <a:spcPct val="150000"/>
              </a:lnSpc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培训管理者维护规则；平台主管记录资源与人才数据。</a:t>
            </a:r>
          </a:p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关键证据：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能力档案、项目履历、评审意见、认证结果。</a:t>
            </a:r>
          </a:p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阶段输出：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人才画像、项目角色与进阶路径。</a:t>
            </a:r>
          </a:p>
        </p:txBody>
      </p:sp>
      <p:sp>
        <p:nvSpPr>
          <p:cNvPr id="85" name="TextBox 25">
            <a:extLst>
              <a:ext uri="{FF2B5EF4-FFF2-40B4-BE49-F238E27FC236}">
                <a16:creationId xmlns:a16="http://schemas.microsoft.com/office/drawing/2014/main" id="{78A895CD-88E5-CDFE-D0FB-93681AF5C3A9}"/>
              </a:ext>
            </a:extLst>
          </p:cNvPr>
          <p:cNvSpPr txBox="1"/>
          <p:nvPr/>
        </p:nvSpPr>
        <p:spPr>
          <a:xfrm>
            <a:off x="9538811" y="2261552"/>
            <a:ext cx="271081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070"/>
              </a:lnSpc>
            </a:pPr>
            <a:r>
              <a:rPr lang="en-US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</a:p>
        </p:txBody>
      </p:sp>
      <p:sp>
        <p:nvSpPr>
          <p:cNvPr id="87" name="TextBox 26">
            <a:extLst>
              <a:ext uri="{FF2B5EF4-FFF2-40B4-BE49-F238E27FC236}">
                <a16:creationId xmlns:a16="http://schemas.microsoft.com/office/drawing/2014/main" id="{3FE8DE82-38A2-5132-75EC-DA8555EA0CDB}"/>
              </a:ext>
            </a:extLst>
          </p:cNvPr>
          <p:cNvSpPr txBox="1"/>
          <p:nvPr/>
        </p:nvSpPr>
        <p:spPr>
          <a:xfrm>
            <a:off x="9890760" y="2143442"/>
            <a:ext cx="128930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zh-CN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应用复盘</a:t>
            </a:r>
          </a:p>
        </p:txBody>
      </p:sp>
      <p:sp>
        <p:nvSpPr>
          <p:cNvPr id="89" name="TextBox 27">
            <a:extLst>
              <a:ext uri="{FF2B5EF4-FFF2-40B4-BE49-F238E27FC236}">
                <a16:creationId xmlns:a16="http://schemas.microsoft.com/office/drawing/2014/main" id="{09D2F5C7-6999-4693-0A72-E9EB78A8F0E3}"/>
              </a:ext>
            </a:extLst>
          </p:cNvPr>
          <p:cNvSpPr txBox="1"/>
          <p:nvPr/>
        </p:nvSpPr>
        <p:spPr>
          <a:xfrm>
            <a:off x="9494520" y="2829242"/>
            <a:ext cx="1853184" cy="2343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08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关键动作：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投入真实工作、观察业务反馈，复盘问题并持续迭代。</a:t>
            </a:r>
          </a:p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07A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责任主体</a:t>
            </a:r>
          </a:p>
          <a:p>
            <a:pPr>
              <a:lnSpc>
                <a:spcPct val="150000"/>
              </a:lnSpc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业务负责人验收价值；平台主管记录使用与反馈。</a:t>
            </a:r>
          </a:p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08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关键证据：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使用数据、用户反馈、问题记录、价值对比。</a:t>
            </a:r>
          </a:p>
          <a:p>
            <a:pPr>
              <a:lnSpc>
                <a:spcPct val="150000"/>
              </a:lnSpc>
            </a:pPr>
            <a:r>
              <a:rPr lang="zh-CN" sz="1100" b="1" dirty="0">
                <a:solidFill>
                  <a:srgbClr val="008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阶段输出：</a:t>
            </a: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优秀案例、治理经验与新一轮需求。</a:t>
            </a:r>
          </a:p>
        </p:txBody>
      </p:sp>
      <p:sp>
        <p:nvSpPr>
          <p:cNvPr id="91" name="TextBox 28">
            <a:extLst>
              <a:ext uri="{FF2B5EF4-FFF2-40B4-BE49-F238E27FC236}">
                <a16:creationId xmlns:a16="http://schemas.microsoft.com/office/drawing/2014/main" id="{924E2C0D-7233-9D24-9FB0-750C1A11EB4B}"/>
              </a:ext>
            </a:extLst>
          </p:cNvPr>
          <p:cNvSpPr txBox="1"/>
          <p:nvPr/>
        </p:nvSpPr>
        <p:spPr>
          <a:xfrm>
            <a:off x="1043940" y="5808662"/>
            <a:ext cx="664464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00"/>
              </a:lnSpc>
            </a:pPr>
            <a:r>
              <a: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反馈回流</a:t>
            </a:r>
          </a:p>
        </p:txBody>
      </p:sp>
      <p:sp>
        <p:nvSpPr>
          <p:cNvPr id="93" name="TextBox 29">
            <a:extLst>
              <a:ext uri="{FF2B5EF4-FFF2-40B4-BE49-F238E27FC236}">
                <a16:creationId xmlns:a16="http://schemas.microsoft.com/office/drawing/2014/main" id="{18B78F98-67E4-BF9F-A5FB-16888C30855C}"/>
              </a:ext>
            </a:extLst>
          </p:cNvPr>
          <p:cNvSpPr txBox="1"/>
          <p:nvPr/>
        </p:nvSpPr>
        <p:spPr>
          <a:xfrm>
            <a:off x="8252460" y="5816282"/>
            <a:ext cx="6035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更新课程</a:t>
            </a:r>
          </a:p>
        </p:txBody>
      </p:sp>
      <p:sp>
        <p:nvSpPr>
          <p:cNvPr id="95" name="TextBox 30">
            <a:extLst>
              <a:ext uri="{FF2B5EF4-FFF2-40B4-BE49-F238E27FC236}">
                <a16:creationId xmlns:a16="http://schemas.microsoft.com/office/drawing/2014/main" id="{EAD1EF68-2A0A-B0F9-4022-FC42A42B0182}"/>
              </a:ext>
            </a:extLst>
          </p:cNvPr>
          <p:cNvSpPr txBox="1"/>
          <p:nvPr/>
        </p:nvSpPr>
        <p:spPr>
          <a:xfrm>
            <a:off x="9044940" y="5816282"/>
            <a:ext cx="6035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升级项目</a:t>
            </a:r>
          </a:p>
        </p:txBody>
      </p:sp>
      <p:sp>
        <p:nvSpPr>
          <p:cNvPr id="97" name="TextBox 31">
            <a:extLst>
              <a:ext uri="{FF2B5EF4-FFF2-40B4-BE49-F238E27FC236}">
                <a16:creationId xmlns:a16="http://schemas.microsoft.com/office/drawing/2014/main" id="{DA31CDA5-6A19-C168-0551-8FA53ACEC21F}"/>
              </a:ext>
            </a:extLst>
          </p:cNvPr>
          <p:cNvSpPr txBox="1"/>
          <p:nvPr/>
        </p:nvSpPr>
        <p:spPr>
          <a:xfrm>
            <a:off x="9837420" y="5816282"/>
            <a:ext cx="6035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校准标准</a:t>
            </a:r>
          </a:p>
        </p:txBody>
      </p:sp>
      <p:sp>
        <p:nvSpPr>
          <p:cNvPr id="99" name="TextBox 32">
            <a:extLst>
              <a:ext uri="{FF2B5EF4-FFF2-40B4-BE49-F238E27FC236}">
                <a16:creationId xmlns:a16="http://schemas.microsoft.com/office/drawing/2014/main" id="{AAEDD9AC-9CDE-F0AB-9F9B-F440909E0501}"/>
              </a:ext>
            </a:extLst>
          </p:cNvPr>
          <p:cNvSpPr txBox="1"/>
          <p:nvPr/>
        </p:nvSpPr>
        <p:spPr>
          <a:xfrm>
            <a:off x="10629900" y="5816282"/>
            <a:ext cx="6035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沉淀治理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7926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173F4-C4C2-C1C0-C418-C26E947B7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E0EA1-B284-A7F0-E1E1-9D482D22B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zh-CN" altLang="en-US" dirty="0"/>
              <a:t>全员应用层</a:t>
            </a:r>
            <a:r>
              <a:rPr lang="en-US" altLang="zh-CN" dirty="0"/>
              <a:t>:AI</a:t>
            </a:r>
            <a:r>
              <a:rPr lang="zh-CN" altLang="en-US" dirty="0"/>
              <a:t>素养与岗位提效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BCD93F6-29F2-BB81-BD6A-2F7DB635071D}"/>
              </a:ext>
            </a:extLst>
          </p:cNvPr>
          <p:cNvSpPr/>
          <p:nvPr/>
        </p:nvSpPr>
        <p:spPr>
          <a:xfrm>
            <a:off x="609600" y="990600"/>
            <a:ext cx="10972800" cy="746760"/>
          </a:xfrm>
          <a:prstGeom prst="roundRect">
            <a:avLst>
              <a:gd name="adj" fmla="val 16327"/>
            </a:avLst>
          </a:prstGeom>
          <a:solidFill>
            <a:srgbClr val="ECF7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B1E146E-E309-B1DB-1917-5FF043002E32}"/>
              </a:ext>
            </a:extLst>
          </p:cNvPr>
          <p:cNvSpPr/>
          <p:nvPr/>
        </p:nvSpPr>
        <p:spPr>
          <a:xfrm>
            <a:off x="609600" y="1859280"/>
            <a:ext cx="6067901" cy="4762500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9DA7A5A-4F31-C173-AAC9-E2CCC91E9027}"/>
              </a:ext>
            </a:extLst>
          </p:cNvPr>
          <p:cNvSpPr/>
          <p:nvPr/>
        </p:nvSpPr>
        <p:spPr>
          <a:xfrm>
            <a:off x="4947761" y="2007870"/>
            <a:ext cx="1554480" cy="289560"/>
          </a:xfrm>
          <a:prstGeom prst="roundRect">
            <a:avLst>
              <a:gd name="adj" fmla="val 50000"/>
            </a:avLst>
          </a:prstGeom>
          <a:solidFill>
            <a:srgbClr val="E1E8FF"/>
          </a:solidFill>
          <a:ln>
            <a:noFill/>
          </a:ln>
        </p:spPr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DD6E2B12-4A9D-AAD8-D720-ACACFA30F58F}"/>
              </a:ext>
            </a:extLst>
          </p:cNvPr>
          <p:cNvSpPr/>
          <p:nvPr/>
        </p:nvSpPr>
        <p:spPr>
          <a:xfrm>
            <a:off x="784860" y="2407920"/>
            <a:ext cx="2816781" cy="967740"/>
          </a:xfrm>
          <a:prstGeom prst="roundRect">
            <a:avLst>
              <a:gd name="adj" fmla="val 11811"/>
            </a:avLst>
          </a:prstGeom>
          <a:solidFill>
            <a:srgbClr val="F7FB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1EF7852C-016F-8C65-B0C3-BB65A422B2B6}"/>
              </a:ext>
            </a:extLst>
          </p:cNvPr>
          <p:cNvSpPr/>
          <p:nvPr/>
        </p:nvSpPr>
        <p:spPr>
          <a:xfrm>
            <a:off x="899160" y="2522220"/>
            <a:ext cx="259080" cy="259080"/>
          </a:xfrm>
          <a:prstGeom prst="roundRect">
            <a:avLst>
              <a:gd name="adj" fmla="val 29412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09086E68-38B1-102F-AB8A-888C8236F854}"/>
              </a:ext>
            </a:extLst>
          </p:cNvPr>
          <p:cNvSpPr/>
          <p:nvPr/>
        </p:nvSpPr>
        <p:spPr>
          <a:xfrm>
            <a:off x="3685461" y="2407920"/>
            <a:ext cx="2816781" cy="967740"/>
          </a:xfrm>
          <a:prstGeom prst="roundRect">
            <a:avLst>
              <a:gd name="adj" fmla="val 11811"/>
            </a:avLst>
          </a:prstGeom>
          <a:solidFill>
            <a:srgbClr val="F7FB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0B329BB5-43BC-8E3C-614B-471C4922EF80}"/>
              </a:ext>
            </a:extLst>
          </p:cNvPr>
          <p:cNvSpPr/>
          <p:nvPr/>
        </p:nvSpPr>
        <p:spPr>
          <a:xfrm>
            <a:off x="3799761" y="2522220"/>
            <a:ext cx="259080" cy="259080"/>
          </a:xfrm>
          <a:prstGeom prst="roundRect">
            <a:avLst>
              <a:gd name="adj" fmla="val 29412"/>
            </a:avLst>
          </a:prstGeom>
          <a:solidFill>
            <a:srgbClr val="0565FF"/>
          </a:solidFill>
          <a:ln>
            <a:noFill/>
          </a:ln>
        </p:spPr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B00D87DE-E48F-AF5B-7757-2468024B5D1B}"/>
              </a:ext>
            </a:extLst>
          </p:cNvPr>
          <p:cNvSpPr/>
          <p:nvPr/>
        </p:nvSpPr>
        <p:spPr>
          <a:xfrm>
            <a:off x="784860" y="3459480"/>
            <a:ext cx="2816781" cy="967740"/>
          </a:xfrm>
          <a:prstGeom prst="roundRect">
            <a:avLst>
              <a:gd name="adj" fmla="val 11811"/>
            </a:avLst>
          </a:prstGeom>
          <a:solidFill>
            <a:srgbClr val="F2FCFF"/>
          </a:solidFill>
          <a:ln w="9525">
            <a:solidFill>
              <a:srgbClr val="BFE6FA"/>
            </a:solidFill>
            <a:prstDash val="solid"/>
          </a:ln>
        </p:spPr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4A8B2817-A687-98E7-D0FB-91366F6928DC}"/>
              </a:ext>
            </a:extLst>
          </p:cNvPr>
          <p:cNvSpPr/>
          <p:nvPr/>
        </p:nvSpPr>
        <p:spPr>
          <a:xfrm>
            <a:off x="899160" y="3573780"/>
            <a:ext cx="259080" cy="259080"/>
          </a:xfrm>
          <a:prstGeom prst="roundRect">
            <a:avLst>
              <a:gd name="adj" fmla="val 29412"/>
            </a:avLst>
          </a:prstGeom>
          <a:solidFill>
            <a:srgbClr val="00A7FF"/>
          </a:solidFill>
          <a:ln>
            <a:noFill/>
          </a:ln>
        </p:spPr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016D33A2-1E59-2433-06A3-E2D356F2DFD8}"/>
              </a:ext>
            </a:extLst>
          </p:cNvPr>
          <p:cNvSpPr/>
          <p:nvPr/>
        </p:nvSpPr>
        <p:spPr>
          <a:xfrm>
            <a:off x="3685461" y="3459480"/>
            <a:ext cx="2816781" cy="967740"/>
          </a:xfrm>
          <a:prstGeom prst="roundRect">
            <a:avLst>
              <a:gd name="adj" fmla="val 11811"/>
            </a:avLst>
          </a:prstGeom>
          <a:solidFill>
            <a:srgbClr val="F2FFFC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8784B95C-A3C3-8E4F-40CF-E9DF1431A041}"/>
              </a:ext>
            </a:extLst>
          </p:cNvPr>
          <p:cNvSpPr/>
          <p:nvPr/>
        </p:nvSpPr>
        <p:spPr>
          <a:xfrm>
            <a:off x="3799761" y="3573780"/>
            <a:ext cx="259080" cy="259080"/>
          </a:xfrm>
          <a:prstGeom prst="roundRect">
            <a:avLst>
              <a:gd name="adj" fmla="val 29412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F92E2C66-5612-7B34-D54B-7AA687662AE3}"/>
              </a:ext>
            </a:extLst>
          </p:cNvPr>
          <p:cNvSpPr/>
          <p:nvPr/>
        </p:nvSpPr>
        <p:spPr>
          <a:xfrm>
            <a:off x="784860" y="4533900"/>
            <a:ext cx="5717381" cy="1177290"/>
          </a:xfrm>
          <a:prstGeom prst="roundRect">
            <a:avLst>
              <a:gd name="adj" fmla="val 9709"/>
            </a:avLst>
          </a:prstGeom>
          <a:solidFill>
            <a:srgbClr val="FAFCFE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375C6CE9-E5C2-0C42-9B1A-CDB955421C4A}"/>
              </a:ext>
            </a:extLst>
          </p:cNvPr>
          <p:cNvSpPr/>
          <p:nvPr/>
        </p:nvSpPr>
        <p:spPr>
          <a:xfrm>
            <a:off x="914400" y="4926330"/>
            <a:ext cx="746760" cy="31242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</p:spPr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2BC77DBC-0161-8B8E-0BF4-E10210D6452E}"/>
              </a:ext>
            </a:extLst>
          </p:cNvPr>
          <p:cNvSpPr/>
          <p:nvPr/>
        </p:nvSpPr>
        <p:spPr>
          <a:xfrm>
            <a:off x="1722120" y="4926330"/>
            <a:ext cx="746760" cy="312420"/>
          </a:xfrm>
          <a:prstGeom prst="roundRect">
            <a:avLst>
              <a:gd name="adj" fmla="val 50000"/>
            </a:avLst>
          </a:prstGeom>
          <a:solidFill>
            <a:srgbClr val="E1E8FF"/>
          </a:solidFill>
          <a:ln>
            <a:noFill/>
          </a:ln>
        </p:spPr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84046849-0136-EDAC-3152-20238E2660D2}"/>
              </a:ext>
            </a:extLst>
          </p:cNvPr>
          <p:cNvSpPr/>
          <p:nvPr/>
        </p:nvSpPr>
        <p:spPr>
          <a:xfrm>
            <a:off x="2529840" y="4926330"/>
            <a:ext cx="746760" cy="312420"/>
          </a:xfrm>
          <a:prstGeom prst="roundRect">
            <a:avLst>
              <a:gd name="adj" fmla="val 50000"/>
            </a:avLst>
          </a:prstGeom>
          <a:solidFill>
            <a:srgbClr val="DDF3FF"/>
          </a:solidFill>
          <a:ln>
            <a:noFill/>
          </a:ln>
        </p:spPr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E86D142B-E4C1-D429-E641-8BC6250754F3}"/>
              </a:ext>
            </a:extLst>
          </p:cNvPr>
          <p:cNvSpPr/>
          <p:nvPr/>
        </p:nvSpPr>
        <p:spPr>
          <a:xfrm>
            <a:off x="3337560" y="4926330"/>
            <a:ext cx="746760" cy="312420"/>
          </a:xfrm>
          <a:prstGeom prst="roundRect">
            <a:avLst>
              <a:gd name="adj" fmla="val 50000"/>
            </a:avLst>
          </a:prstGeom>
          <a:solidFill>
            <a:srgbClr val="EBFAFF"/>
          </a:solidFill>
          <a:ln>
            <a:noFill/>
          </a:ln>
        </p:spPr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B1FCE655-7AFC-D5DB-DD51-5D5ECEB5E773}"/>
              </a:ext>
            </a:extLst>
          </p:cNvPr>
          <p:cNvSpPr/>
          <p:nvPr/>
        </p:nvSpPr>
        <p:spPr>
          <a:xfrm>
            <a:off x="4145280" y="4926330"/>
            <a:ext cx="746760" cy="312420"/>
          </a:xfrm>
          <a:prstGeom prst="roundRect">
            <a:avLst>
              <a:gd name="adj" fmla="val 50000"/>
            </a:avLst>
          </a:prstGeom>
          <a:solidFill>
            <a:srgbClr val="EFFFFA"/>
          </a:solidFill>
          <a:ln>
            <a:noFill/>
          </a:ln>
        </p:spPr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820534D0-8CA9-F5D8-1A82-7AE2B2A17C86}"/>
              </a:ext>
            </a:extLst>
          </p:cNvPr>
          <p:cNvSpPr/>
          <p:nvPr/>
        </p:nvSpPr>
        <p:spPr>
          <a:xfrm>
            <a:off x="4953000" y="4926330"/>
            <a:ext cx="738545" cy="312420"/>
          </a:xfrm>
          <a:prstGeom prst="roundRect">
            <a:avLst>
              <a:gd name="adj" fmla="val 50000"/>
            </a:avLst>
          </a:prstGeom>
          <a:solidFill>
            <a:srgbClr val="DDF3FF"/>
          </a:solidFill>
          <a:ln>
            <a:noFill/>
          </a:ln>
        </p:spPr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7E5C5E1B-856C-D1B1-BB11-2FD37F6465B2}"/>
              </a:ext>
            </a:extLst>
          </p:cNvPr>
          <p:cNvSpPr/>
          <p:nvPr/>
        </p:nvSpPr>
        <p:spPr>
          <a:xfrm>
            <a:off x="914400" y="5299710"/>
            <a:ext cx="746760" cy="312420"/>
          </a:xfrm>
          <a:prstGeom prst="roundRect">
            <a:avLst>
              <a:gd name="adj" fmla="val 50000"/>
            </a:avLst>
          </a:prstGeom>
          <a:solidFill>
            <a:srgbClr val="EFFFFA"/>
          </a:solidFill>
          <a:ln>
            <a:noFill/>
          </a:ln>
        </p:spPr>
      </p:sp>
      <p:sp>
        <p:nvSpPr>
          <p:cNvPr id="45" name="Shape 24">
            <a:extLst>
              <a:ext uri="{FF2B5EF4-FFF2-40B4-BE49-F238E27FC236}">
                <a16:creationId xmlns:a16="http://schemas.microsoft.com/office/drawing/2014/main" id="{9C908D85-B08A-4E8B-C844-23A146EFE5A9}"/>
              </a:ext>
            </a:extLst>
          </p:cNvPr>
          <p:cNvSpPr/>
          <p:nvPr/>
        </p:nvSpPr>
        <p:spPr>
          <a:xfrm>
            <a:off x="784860" y="6134100"/>
            <a:ext cx="908447" cy="342900"/>
          </a:xfrm>
          <a:prstGeom prst="roundRect">
            <a:avLst>
              <a:gd name="adj" fmla="val 24444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47" name="Shape 25">
            <a:extLst>
              <a:ext uri="{FF2B5EF4-FFF2-40B4-BE49-F238E27FC236}">
                <a16:creationId xmlns:a16="http://schemas.microsoft.com/office/drawing/2014/main" id="{886B34CF-E97A-082C-63C7-F363E8CDC47F}"/>
              </a:ext>
            </a:extLst>
          </p:cNvPr>
          <p:cNvSpPr/>
          <p:nvPr/>
        </p:nvSpPr>
        <p:spPr>
          <a:xfrm>
            <a:off x="1746647" y="6134100"/>
            <a:ext cx="908447" cy="342900"/>
          </a:xfrm>
          <a:prstGeom prst="roundRect">
            <a:avLst>
              <a:gd name="adj" fmla="val 24444"/>
            </a:avLst>
          </a:prstGeom>
          <a:solidFill>
            <a:srgbClr val="0565FF"/>
          </a:solidFill>
          <a:ln>
            <a:noFill/>
          </a:ln>
        </p:spPr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0CAB3D74-058B-BD68-7632-75DB2F1C6658}"/>
              </a:ext>
            </a:extLst>
          </p:cNvPr>
          <p:cNvSpPr/>
          <p:nvPr/>
        </p:nvSpPr>
        <p:spPr>
          <a:xfrm>
            <a:off x="2708434" y="6134100"/>
            <a:ext cx="908447" cy="342900"/>
          </a:xfrm>
          <a:prstGeom prst="roundRect">
            <a:avLst>
              <a:gd name="adj" fmla="val 24444"/>
            </a:avLst>
          </a:prstGeom>
          <a:solidFill>
            <a:srgbClr val="1787F5"/>
          </a:solidFill>
          <a:ln>
            <a:noFill/>
          </a:ln>
        </p:spPr>
      </p:sp>
      <p:sp>
        <p:nvSpPr>
          <p:cNvPr id="51" name="Shape 27">
            <a:extLst>
              <a:ext uri="{FF2B5EF4-FFF2-40B4-BE49-F238E27FC236}">
                <a16:creationId xmlns:a16="http://schemas.microsoft.com/office/drawing/2014/main" id="{93847180-6EC9-98B9-4A19-5840E4ACD0FC}"/>
              </a:ext>
            </a:extLst>
          </p:cNvPr>
          <p:cNvSpPr/>
          <p:nvPr/>
        </p:nvSpPr>
        <p:spPr>
          <a:xfrm>
            <a:off x="3670221" y="6134100"/>
            <a:ext cx="908447" cy="342900"/>
          </a:xfrm>
          <a:prstGeom prst="roundRect">
            <a:avLst>
              <a:gd name="adj" fmla="val 24444"/>
            </a:avLst>
          </a:prstGeom>
          <a:solidFill>
            <a:srgbClr val="00A7FF"/>
          </a:solidFill>
          <a:ln>
            <a:noFill/>
          </a:ln>
        </p:spPr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6A1046A0-4A0C-9AEF-494D-7548DF7404C5}"/>
              </a:ext>
            </a:extLst>
          </p:cNvPr>
          <p:cNvSpPr/>
          <p:nvPr/>
        </p:nvSpPr>
        <p:spPr>
          <a:xfrm>
            <a:off x="4632007" y="6134100"/>
            <a:ext cx="908447" cy="342900"/>
          </a:xfrm>
          <a:prstGeom prst="roundRect">
            <a:avLst>
              <a:gd name="adj" fmla="val 24444"/>
            </a:avLst>
          </a:prstGeom>
          <a:solidFill>
            <a:srgbClr val="21B6B2"/>
          </a:solidFill>
          <a:ln>
            <a:noFill/>
          </a:ln>
        </p:spPr>
      </p:sp>
      <p:sp>
        <p:nvSpPr>
          <p:cNvPr id="55" name="Shape 29">
            <a:extLst>
              <a:ext uri="{FF2B5EF4-FFF2-40B4-BE49-F238E27FC236}">
                <a16:creationId xmlns:a16="http://schemas.microsoft.com/office/drawing/2014/main" id="{EE66563C-4EA0-3E61-8BC4-730213AAB866}"/>
              </a:ext>
            </a:extLst>
          </p:cNvPr>
          <p:cNvSpPr/>
          <p:nvPr/>
        </p:nvSpPr>
        <p:spPr>
          <a:xfrm>
            <a:off x="5593794" y="6134100"/>
            <a:ext cx="908447" cy="342900"/>
          </a:xfrm>
          <a:prstGeom prst="roundRect">
            <a:avLst>
              <a:gd name="adj" fmla="val 24444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57" name="Shape 30">
            <a:extLst>
              <a:ext uri="{FF2B5EF4-FFF2-40B4-BE49-F238E27FC236}">
                <a16:creationId xmlns:a16="http://schemas.microsoft.com/office/drawing/2014/main" id="{10EC0873-4036-2254-4A2A-6D56E31CE57B}"/>
              </a:ext>
            </a:extLst>
          </p:cNvPr>
          <p:cNvSpPr/>
          <p:nvPr/>
        </p:nvSpPr>
        <p:spPr>
          <a:xfrm>
            <a:off x="6952583" y="2518156"/>
            <a:ext cx="1083350" cy="495300"/>
          </a:xfrm>
          <a:prstGeom prst="roundRect">
            <a:avLst>
              <a:gd name="adj" fmla="val 16923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59" name="Shape 31">
            <a:extLst>
              <a:ext uri="{FF2B5EF4-FFF2-40B4-BE49-F238E27FC236}">
                <a16:creationId xmlns:a16="http://schemas.microsoft.com/office/drawing/2014/main" id="{41C2BCDD-465F-E8F4-DB7A-D41F7732AD71}"/>
              </a:ext>
            </a:extLst>
          </p:cNvPr>
          <p:cNvSpPr/>
          <p:nvPr/>
        </p:nvSpPr>
        <p:spPr>
          <a:xfrm>
            <a:off x="8089273" y="2518156"/>
            <a:ext cx="1083350" cy="495300"/>
          </a:xfrm>
          <a:prstGeom prst="roundRect">
            <a:avLst>
              <a:gd name="adj" fmla="val 16923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61" name="Shape 32">
            <a:extLst>
              <a:ext uri="{FF2B5EF4-FFF2-40B4-BE49-F238E27FC236}">
                <a16:creationId xmlns:a16="http://schemas.microsoft.com/office/drawing/2014/main" id="{B0AD824B-5B75-4531-07AD-65B100B4B8DC}"/>
              </a:ext>
            </a:extLst>
          </p:cNvPr>
          <p:cNvSpPr/>
          <p:nvPr/>
        </p:nvSpPr>
        <p:spPr>
          <a:xfrm>
            <a:off x="9225963" y="2518156"/>
            <a:ext cx="1083350" cy="495300"/>
          </a:xfrm>
          <a:prstGeom prst="roundRect">
            <a:avLst>
              <a:gd name="adj" fmla="val 16923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63" name="Shape 33">
            <a:extLst>
              <a:ext uri="{FF2B5EF4-FFF2-40B4-BE49-F238E27FC236}">
                <a16:creationId xmlns:a16="http://schemas.microsoft.com/office/drawing/2014/main" id="{E32E9EA9-74D0-2F3B-8461-9EC33C66B58A}"/>
              </a:ext>
            </a:extLst>
          </p:cNvPr>
          <p:cNvSpPr/>
          <p:nvPr/>
        </p:nvSpPr>
        <p:spPr>
          <a:xfrm>
            <a:off x="10362652" y="2518156"/>
            <a:ext cx="1083350" cy="495300"/>
          </a:xfrm>
          <a:prstGeom prst="roundRect">
            <a:avLst>
              <a:gd name="adj" fmla="val 16923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65" name="Shape 34">
            <a:extLst>
              <a:ext uri="{FF2B5EF4-FFF2-40B4-BE49-F238E27FC236}">
                <a16:creationId xmlns:a16="http://schemas.microsoft.com/office/drawing/2014/main" id="{E045D585-E870-7CEF-AFC9-D526A5CB20C7}"/>
              </a:ext>
            </a:extLst>
          </p:cNvPr>
          <p:cNvSpPr/>
          <p:nvPr/>
        </p:nvSpPr>
        <p:spPr>
          <a:xfrm>
            <a:off x="6814661" y="3154680"/>
            <a:ext cx="4767739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67" name="Shape 35">
            <a:extLst>
              <a:ext uri="{FF2B5EF4-FFF2-40B4-BE49-F238E27FC236}">
                <a16:creationId xmlns:a16="http://schemas.microsoft.com/office/drawing/2014/main" id="{FA48C0CA-21CB-ED22-7BC1-A867D3D8A13B}"/>
              </a:ext>
            </a:extLst>
          </p:cNvPr>
          <p:cNvSpPr/>
          <p:nvPr/>
        </p:nvSpPr>
        <p:spPr>
          <a:xfrm>
            <a:off x="10389394" y="3253740"/>
            <a:ext cx="1055846" cy="274320"/>
          </a:xfrm>
          <a:prstGeom prst="roundRect">
            <a:avLst>
              <a:gd name="adj" fmla="val 50000"/>
            </a:avLst>
          </a:prstGeom>
          <a:solidFill>
            <a:srgbClr val="EFFFFA"/>
          </a:solidFill>
          <a:ln>
            <a:noFill/>
          </a:ln>
        </p:spPr>
      </p:sp>
      <p:sp>
        <p:nvSpPr>
          <p:cNvPr id="69" name="Shape 36">
            <a:extLst>
              <a:ext uri="{FF2B5EF4-FFF2-40B4-BE49-F238E27FC236}">
                <a16:creationId xmlns:a16="http://schemas.microsoft.com/office/drawing/2014/main" id="{BB2D8AE6-D7BA-6D21-39CF-9CA3356681EF}"/>
              </a:ext>
            </a:extLst>
          </p:cNvPr>
          <p:cNvSpPr/>
          <p:nvPr/>
        </p:nvSpPr>
        <p:spPr>
          <a:xfrm>
            <a:off x="6951821" y="3589020"/>
            <a:ext cx="1457087" cy="729853"/>
          </a:xfrm>
          <a:prstGeom prst="roundRect">
            <a:avLst>
              <a:gd name="adj" fmla="val 13573"/>
            </a:avLst>
          </a:prstGeom>
          <a:solidFill>
            <a:srgbClr val="F7FB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71" name="Shape 37">
            <a:extLst>
              <a:ext uri="{FF2B5EF4-FFF2-40B4-BE49-F238E27FC236}">
                <a16:creationId xmlns:a16="http://schemas.microsoft.com/office/drawing/2014/main" id="{347FB42D-1D14-D763-04BC-F769C6DC6CF0}"/>
              </a:ext>
            </a:extLst>
          </p:cNvPr>
          <p:cNvSpPr/>
          <p:nvPr/>
        </p:nvSpPr>
        <p:spPr>
          <a:xfrm>
            <a:off x="8469868" y="3589020"/>
            <a:ext cx="1457206" cy="729853"/>
          </a:xfrm>
          <a:prstGeom prst="roundRect">
            <a:avLst>
              <a:gd name="adj" fmla="val 13573"/>
            </a:avLst>
          </a:prstGeom>
          <a:solidFill>
            <a:srgbClr val="F7FB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73" name="Shape 38">
            <a:extLst>
              <a:ext uri="{FF2B5EF4-FFF2-40B4-BE49-F238E27FC236}">
                <a16:creationId xmlns:a16="http://schemas.microsoft.com/office/drawing/2014/main" id="{EFC4B70E-AACF-1666-E5CE-38C67BD75EA9}"/>
              </a:ext>
            </a:extLst>
          </p:cNvPr>
          <p:cNvSpPr/>
          <p:nvPr/>
        </p:nvSpPr>
        <p:spPr>
          <a:xfrm>
            <a:off x="9988034" y="3589020"/>
            <a:ext cx="1457206" cy="729853"/>
          </a:xfrm>
          <a:prstGeom prst="roundRect">
            <a:avLst>
              <a:gd name="adj" fmla="val 13573"/>
            </a:avLst>
          </a:prstGeom>
          <a:solidFill>
            <a:srgbClr val="F2FFFC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75" name="Shape 39">
            <a:extLst>
              <a:ext uri="{FF2B5EF4-FFF2-40B4-BE49-F238E27FC236}">
                <a16:creationId xmlns:a16="http://schemas.microsoft.com/office/drawing/2014/main" id="{8E5485FF-A82D-971E-4791-7B32B6DB73ED}"/>
              </a:ext>
            </a:extLst>
          </p:cNvPr>
          <p:cNvSpPr/>
          <p:nvPr/>
        </p:nvSpPr>
        <p:spPr>
          <a:xfrm>
            <a:off x="6814661" y="4373880"/>
            <a:ext cx="4767739" cy="22479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77" name="Shape 40">
            <a:extLst>
              <a:ext uri="{FF2B5EF4-FFF2-40B4-BE49-F238E27FC236}">
                <a16:creationId xmlns:a16="http://schemas.microsoft.com/office/drawing/2014/main" id="{A34EAFFF-C545-FB48-A700-09776BD2F2F6}"/>
              </a:ext>
            </a:extLst>
          </p:cNvPr>
          <p:cNvSpPr/>
          <p:nvPr/>
        </p:nvSpPr>
        <p:spPr>
          <a:xfrm>
            <a:off x="6951821" y="4823460"/>
            <a:ext cx="2220039" cy="519112"/>
          </a:xfrm>
          <a:prstGeom prst="roundRect">
            <a:avLst>
              <a:gd name="adj" fmla="val 17615"/>
            </a:avLst>
          </a:prstGeom>
          <a:solidFill>
            <a:srgbClr val="F7FBFF"/>
          </a:solidFill>
          <a:ln>
            <a:noFill/>
          </a:ln>
        </p:spPr>
      </p:sp>
      <p:sp>
        <p:nvSpPr>
          <p:cNvPr id="79" name="Shape 41">
            <a:extLst>
              <a:ext uri="{FF2B5EF4-FFF2-40B4-BE49-F238E27FC236}">
                <a16:creationId xmlns:a16="http://schemas.microsoft.com/office/drawing/2014/main" id="{3638F396-EE3D-DA46-84A5-3BAC5B79DA3C}"/>
              </a:ext>
            </a:extLst>
          </p:cNvPr>
          <p:cNvSpPr/>
          <p:nvPr/>
        </p:nvSpPr>
        <p:spPr>
          <a:xfrm>
            <a:off x="9225201" y="4823460"/>
            <a:ext cx="2220039" cy="519112"/>
          </a:xfrm>
          <a:prstGeom prst="roundRect">
            <a:avLst>
              <a:gd name="adj" fmla="val 17615"/>
            </a:avLst>
          </a:prstGeom>
          <a:solidFill>
            <a:srgbClr val="F7FBFF"/>
          </a:solidFill>
          <a:ln>
            <a:noFill/>
          </a:ln>
        </p:spPr>
      </p:sp>
      <p:sp>
        <p:nvSpPr>
          <p:cNvPr id="81" name="Shape 42">
            <a:extLst>
              <a:ext uri="{FF2B5EF4-FFF2-40B4-BE49-F238E27FC236}">
                <a16:creationId xmlns:a16="http://schemas.microsoft.com/office/drawing/2014/main" id="{0B5C6C47-156F-256B-0D6C-98840068B3D6}"/>
              </a:ext>
            </a:extLst>
          </p:cNvPr>
          <p:cNvSpPr/>
          <p:nvPr/>
        </p:nvSpPr>
        <p:spPr>
          <a:xfrm>
            <a:off x="6951821" y="5395912"/>
            <a:ext cx="2220039" cy="519112"/>
          </a:xfrm>
          <a:prstGeom prst="roundRect">
            <a:avLst>
              <a:gd name="adj" fmla="val 17615"/>
            </a:avLst>
          </a:prstGeom>
          <a:solidFill>
            <a:srgbClr val="F7FBFF"/>
          </a:solidFill>
          <a:ln>
            <a:noFill/>
          </a:ln>
        </p:spPr>
      </p:sp>
      <p:sp>
        <p:nvSpPr>
          <p:cNvPr id="83" name="Shape 43">
            <a:extLst>
              <a:ext uri="{FF2B5EF4-FFF2-40B4-BE49-F238E27FC236}">
                <a16:creationId xmlns:a16="http://schemas.microsoft.com/office/drawing/2014/main" id="{9A32248B-55B6-FF94-C557-364EC11BC3CC}"/>
              </a:ext>
            </a:extLst>
          </p:cNvPr>
          <p:cNvSpPr/>
          <p:nvPr/>
        </p:nvSpPr>
        <p:spPr>
          <a:xfrm>
            <a:off x="9225201" y="5395912"/>
            <a:ext cx="2220039" cy="519112"/>
          </a:xfrm>
          <a:prstGeom prst="roundRect">
            <a:avLst>
              <a:gd name="adj" fmla="val 17615"/>
            </a:avLst>
          </a:prstGeom>
          <a:solidFill>
            <a:srgbClr val="F2FFFC"/>
          </a:solidFill>
          <a:ln>
            <a:noFill/>
          </a:ln>
        </p:spPr>
      </p:sp>
      <p:sp>
        <p:nvSpPr>
          <p:cNvPr id="85" name="Shape 44">
            <a:extLst>
              <a:ext uri="{FF2B5EF4-FFF2-40B4-BE49-F238E27FC236}">
                <a16:creationId xmlns:a16="http://schemas.microsoft.com/office/drawing/2014/main" id="{AD3DA1AD-56A0-E67B-AAA7-A1B841B6C04B}"/>
              </a:ext>
            </a:extLst>
          </p:cNvPr>
          <p:cNvSpPr/>
          <p:nvPr/>
        </p:nvSpPr>
        <p:spPr>
          <a:xfrm>
            <a:off x="6951821" y="5968365"/>
            <a:ext cx="4493419" cy="546735"/>
          </a:xfrm>
          <a:prstGeom prst="roundRect">
            <a:avLst>
              <a:gd name="adj" fmla="val 16725"/>
            </a:avLst>
          </a:prstGeom>
          <a:solidFill>
            <a:srgbClr val="EFFFFA"/>
          </a:solidFill>
          <a:ln>
            <a:noFill/>
          </a:ln>
        </p:spPr>
      </p:sp>
      <p:sp>
        <p:nvSpPr>
          <p:cNvPr id="87" name="Shape 45">
            <a:extLst>
              <a:ext uri="{FF2B5EF4-FFF2-40B4-BE49-F238E27FC236}">
                <a16:creationId xmlns:a16="http://schemas.microsoft.com/office/drawing/2014/main" id="{6EBD4F36-7EB0-C34F-895B-6207ECF2D366}"/>
              </a:ext>
            </a:extLst>
          </p:cNvPr>
          <p:cNvSpPr/>
          <p:nvPr/>
        </p:nvSpPr>
        <p:spPr>
          <a:xfrm>
            <a:off x="6982301" y="5968365"/>
            <a:ext cx="914" cy="546735"/>
          </a:xfrm>
          <a:prstGeom prst="line">
            <a:avLst/>
          </a:prstGeom>
          <a:noFill/>
          <a:ln w="76200">
            <a:solidFill>
              <a:srgbClr val="00AB7A"/>
            </a:solidFill>
            <a:prstDash val="solid"/>
          </a:ln>
        </p:spPr>
      </p:sp>
      <p:sp>
        <p:nvSpPr>
          <p:cNvPr id="89" name="TextBox 5">
            <a:extLst>
              <a:ext uri="{FF2B5EF4-FFF2-40B4-BE49-F238E27FC236}">
                <a16:creationId xmlns:a16="http://schemas.microsoft.com/office/drawing/2014/main" id="{8DC380D3-E03F-6675-2311-8BEAACD746E7}"/>
              </a:ext>
            </a:extLst>
          </p:cNvPr>
          <p:cNvSpPr txBox="1"/>
          <p:nvPr/>
        </p:nvSpPr>
        <p:spPr>
          <a:xfrm>
            <a:off x="982980" y="1234440"/>
            <a:ext cx="8246364" cy="2865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25"/>
              </a:lnSpc>
            </a:pPr>
            <a:r>
              <a:rPr lang="zh-CN" sz="1500" b="1" dirty="0">
                <a:solidFill>
                  <a:srgbClr val="0F2A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培养不止于“听懂”：每名员工至少完成一个真实岗位任务，并留下可复用、可核验的工作成果。</a:t>
            </a:r>
          </a:p>
        </p:txBody>
      </p:sp>
      <p:sp>
        <p:nvSpPr>
          <p:cNvPr id="95" name="TextBox 8">
            <a:extLst>
              <a:ext uri="{FF2B5EF4-FFF2-40B4-BE49-F238E27FC236}">
                <a16:creationId xmlns:a16="http://schemas.microsoft.com/office/drawing/2014/main" id="{AC194B19-E0D2-AC74-A14E-350E720A2F18}"/>
              </a:ext>
            </a:extLst>
          </p:cNvPr>
          <p:cNvSpPr txBox="1"/>
          <p:nvPr/>
        </p:nvSpPr>
        <p:spPr>
          <a:xfrm>
            <a:off x="784860" y="2004060"/>
            <a:ext cx="3299460" cy="3246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2340"/>
              </a:lnSpc>
            </a:pPr>
            <a:r>
              <a:rPr lang="zh-CN" sz="16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培养内容：会用、会判断、守边界</a:t>
            </a:r>
          </a:p>
        </p:txBody>
      </p:sp>
      <p:sp>
        <p:nvSpPr>
          <p:cNvPr id="97" name="TextBox 9">
            <a:extLst>
              <a:ext uri="{FF2B5EF4-FFF2-40B4-BE49-F238E27FC236}">
                <a16:creationId xmlns:a16="http://schemas.microsoft.com/office/drawing/2014/main" id="{BAD16126-2CF2-D922-825A-7D2824FAEB47}"/>
              </a:ext>
            </a:extLst>
          </p:cNvPr>
          <p:cNvSpPr txBox="1"/>
          <p:nvPr/>
        </p:nvSpPr>
        <p:spPr>
          <a:xfrm>
            <a:off x="1234440" y="2529840"/>
            <a:ext cx="149221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890"/>
              </a:lnSpc>
            </a:pPr>
            <a:r>
              <a:rPr lang="zh-CN" sz="14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基础认知与风险</a:t>
            </a:r>
          </a:p>
        </p:txBody>
      </p:sp>
      <p:sp>
        <p:nvSpPr>
          <p:cNvPr id="99" name="TextBox 10">
            <a:extLst>
              <a:ext uri="{FF2B5EF4-FFF2-40B4-BE49-F238E27FC236}">
                <a16:creationId xmlns:a16="http://schemas.microsoft.com/office/drawing/2014/main" id="{E4EA16C5-6DBB-6902-82D3-18361D476742}"/>
              </a:ext>
            </a:extLst>
          </p:cNvPr>
          <p:cNvSpPr txBox="1"/>
          <p:nvPr/>
        </p:nvSpPr>
        <p:spPr>
          <a:xfrm>
            <a:off x="899160" y="2849880"/>
            <a:ext cx="264566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54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理解AI与智能体的能力边界、常见错误、数据安全和使用责任。</a:t>
            </a:r>
          </a:p>
        </p:txBody>
      </p:sp>
      <p:sp>
        <p:nvSpPr>
          <p:cNvPr id="101" name="TextBox 11">
            <a:extLst>
              <a:ext uri="{FF2B5EF4-FFF2-40B4-BE49-F238E27FC236}">
                <a16:creationId xmlns:a16="http://schemas.microsoft.com/office/drawing/2014/main" id="{FBC7D477-60C4-AB6D-12FE-46F7A4C8933B}"/>
              </a:ext>
            </a:extLst>
          </p:cNvPr>
          <p:cNvSpPr txBox="1"/>
          <p:nvPr/>
        </p:nvSpPr>
        <p:spPr>
          <a:xfrm>
            <a:off x="4137659" y="2529840"/>
            <a:ext cx="1553885" cy="240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890"/>
              </a:lnSpc>
            </a:pPr>
            <a:r>
              <a:rPr lang="zh-CN" sz="14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提示词与人机协作</a:t>
            </a:r>
          </a:p>
        </p:txBody>
      </p:sp>
      <p:sp>
        <p:nvSpPr>
          <p:cNvPr id="103" name="TextBox 12">
            <a:extLst>
              <a:ext uri="{FF2B5EF4-FFF2-40B4-BE49-F238E27FC236}">
                <a16:creationId xmlns:a16="http://schemas.microsoft.com/office/drawing/2014/main" id="{599A8A5B-08D9-069B-BC25-FBA074211946}"/>
              </a:ext>
            </a:extLst>
          </p:cNvPr>
          <p:cNvSpPr txBox="1"/>
          <p:nvPr/>
        </p:nvSpPr>
        <p:spPr>
          <a:xfrm>
            <a:off x="3802380" y="2849880"/>
            <a:ext cx="264566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54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明确任务、角色、步骤、格式和验收条件，通过反馈迭代输出。</a:t>
            </a:r>
          </a:p>
        </p:txBody>
      </p:sp>
      <p:sp>
        <p:nvSpPr>
          <p:cNvPr id="105" name="TextBox 13">
            <a:extLst>
              <a:ext uri="{FF2B5EF4-FFF2-40B4-BE49-F238E27FC236}">
                <a16:creationId xmlns:a16="http://schemas.microsoft.com/office/drawing/2014/main" id="{8950E6A2-6846-D742-26DC-4D18E36DEEB2}"/>
              </a:ext>
            </a:extLst>
          </p:cNvPr>
          <p:cNvSpPr txBox="1"/>
          <p:nvPr/>
        </p:nvSpPr>
        <p:spPr>
          <a:xfrm>
            <a:off x="1234440" y="3581400"/>
            <a:ext cx="1473994" cy="2788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890"/>
              </a:lnSpc>
            </a:pPr>
            <a:r>
              <a:rPr lang="zh-CN" sz="14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资料与上下文组织</a:t>
            </a:r>
          </a:p>
        </p:txBody>
      </p:sp>
      <p:sp>
        <p:nvSpPr>
          <p:cNvPr id="107" name="TextBox 14">
            <a:extLst>
              <a:ext uri="{FF2B5EF4-FFF2-40B4-BE49-F238E27FC236}">
                <a16:creationId xmlns:a16="http://schemas.microsoft.com/office/drawing/2014/main" id="{9BEA3543-ABF2-5F45-50D7-498A2796DCF2}"/>
              </a:ext>
            </a:extLst>
          </p:cNvPr>
          <p:cNvSpPr txBox="1"/>
          <p:nvPr/>
        </p:nvSpPr>
        <p:spPr>
          <a:xfrm>
            <a:off x="899160" y="3901440"/>
            <a:ext cx="264566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54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整理背景、知识和样例，让AI基于足够信息完成岗位任务。</a:t>
            </a:r>
          </a:p>
        </p:txBody>
      </p:sp>
      <p:sp>
        <p:nvSpPr>
          <p:cNvPr id="109" name="TextBox 15">
            <a:extLst>
              <a:ext uri="{FF2B5EF4-FFF2-40B4-BE49-F238E27FC236}">
                <a16:creationId xmlns:a16="http://schemas.microsoft.com/office/drawing/2014/main" id="{1D0F5BC7-37ED-4CF9-7523-9E263B37262C}"/>
              </a:ext>
            </a:extLst>
          </p:cNvPr>
          <p:cNvSpPr txBox="1"/>
          <p:nvPr/>
        </p:nvSpPr>
        <p:spPr>
          <a:xfrm>
            <a:off x="4137659" y="3581400"/>
            <a:ext cx="2076709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890"/>
              </a:lnSpc>
            </a:pPr>
            <a:r>
              <a:rPr lang="zh-CN" sz="140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结果核验与纳米Work</a:t>
            </a:r>
          </a:p>
        </p:txBody>
      </p:sp>
      <p:sp>
        <p:nvSpPr>
          <p:cNvPr id="111" name="TextBox 16">
            <a:extLst>
              <a:ext uri="{FF2B5EF4-FFF2-40B4-BE49-F238E27FC236}">
                <a16:creationId xmlns:a16="http://schemas.microsoft.com/office/drawing/2014/main" id="{436FD2E5-BC60-6FC7-10B2-61E2DA378786}"/>
              </a:ext>
            </a:extLst>
          </p:cNvPr>
          <p:cNvSpPr txBox="1"/>
          <p:nvPr/>
        </p:nvSpPr>
        <p:spPr>
          <a:xfrm>
            <a:off x="3802380" y="3901440"/>
            <a:ext cx="264566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54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检查事实、逻辑、格式与合规，使用平台完成应用和成果沉淀。</a:t>
            </a:r>
          </a:p>
        </p:txBody>
      </p:sp>
      <p:sp>
        <p:nvSpPr>
          <p:cNvPr id="113" name="TextBox 17">
            <a:extLst>
              <a:ext uri="{FF2B5EF4-FFF2-40B4-BE49-F238E27FC236}">
                <a16:creationId xmlns:a16="http://schemas.microsoft.com/office/drawing/2014/main" id="{A0787015-07B0-DA34-CAF6-88FB36080153}"/>
              </a:ext>
            </a:extLst>
          </p:cNvPr>
          <p:cNvSpPr txBox="1"/>
          <p:nvPr/>
        </p:nvSpPr>
        <p:spPr>
          <a:xfrm>
            <a:off x="914400" y="4632960"/>
            <a:ext cx="92354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2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高频岗位场景</a:t>
            </a:r>
          </a:p>
        </p:txBody>
      </p:sp>
      <p:sp>
        <p:nvSpPr>
          <p:cNvPr id="115" name="TextBox 18">
            <a:extLst>
              <a:ext uri="{FF2B5EF4-FFF2-40B4-BE49-F238E27FC236}">
                <a16:creationId xmlns:a16="http://schemas.microsoft.com/office/drawing/2014/main" id="{56F9A3D8-40A5-CE62-4B86-F2C81AF75815}"/>
              </a:ext>
            </a:extLst>
          </p:cNvPr>
          <p:cNvSpPr txBox="1"/>
          <p:nvPr/>
        </p:nvSpPr>
        <p:spPr>
          <a:xfrm>
            <a:off x="784860" y="5821680"/>
            <a:ext cx="3201214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890"/>
              </a:lnSpc>
            </a:pPr>
            <a:r>
              <a:rPr lang="zh-CN" sz="14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实施方式：以练促用、部门共创</a:t>
            </a:r>
          </a:p>
        </p:txBody>
      </p:sp>
      <p:sp>
        <p:nvSpPr>
          <p:cNvPr id="117" name="TextBox 19">
            <a:extLst>
              <a:ext uri="{FF2B5EF4-FFF2-40B4-BE49-F238E27FC236}">
                <a16:creationId xmlns:a16="http://schemas.microsoft.com/office/drawing/2014/main" id="{D0EE0EA5-8213-5B6C-E522-D47E219C6202}"/>
              </a:ext>
            </a:extLst>
          </p:cNvPr>
          <p:cNvSpPr txBox="1"/>
          <p:nvPr/>
        </p:nvSpPr>
        <p:spPr>
          <a:xfrm>
            <a:off x="4829452" y="5844540"/>
            <a:ext cx="1725272" cy="144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440"/>
              </a:lnSpc>
            </a:pPr>
            <a:r>
              <a:rPr lang="zh-CN" sz="100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部门负责人参与选题与验收</a:t>
            </a:r>
          </a:p>
        </p:txBody>
      </p:sp>
      <p:sp>
        <p:nvSpPr>
          <p:cNvPr id="121" name="TextBox 21">
            <a:extLst>
              <a:ext uri="{FF2B5EF4-FFF2-40B4-BE49-F238E27FC236}">
                <a16:creationId xmlns:a16="http://schemas.microsoft.com/office/drawing/2014/main" id="{50FCE5B9-EED4-DF45-352E-832A2007904E}"/>
              </a:ext>
            </a:extLst>
          </p:cNvPr>
          <p:cNvSpPr txBox="1"/>
          <p:nvPr/>
        </p:nvSpPr>
        <p:spPr>
          <a:xfrm>
            <a:off x="7003542" y="2019808"/>
            <a:ext cx="2384203" cy="3398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2430"/>
              </a:lnSpc>
              <a:spcBef>
                <a:spcPts val="180"/>
              </a:spcBef>
            </a:pP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完成一个真实岗位任务</a:t>
            </a:r>
          </a:p>
        </p:txBody>
      </p:sp>
      <p:sp>
        <p:nvSpPr>
          <p:cNvPr id="123" name="TextBox 22">
            <a:extLst>
              <a:ext uri="{FF2B5EF4-FFF2-40B4-BE49-F238E27FC236}">
                <a16:creationId xmlns:a16="http://schemas.microsoft.com/office/drawing/2014/main" id="{7DFC3853-9199-EE94-57D6-FEB6592E8F78}"/>
              </a:ext>
            </a:extLst>
          </p:cNvPr>
          <p:cNvSpPr txBox="1"/>
          <p:nvPr/>
        </p:nvSpPr>
        <p:spPr>
          <a:xfrm>
            <a:off x="7003542" y="2563876"/>
            <a:ext cx="10302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选择任务</a:t>
            </a:r>
          </a:p>
        </p:txBody>
      </p:sp>
      <p:sp>
        <p:nvSpPr>
          <p:cNvPr id="125" name="TextBox 23">
            <a:extLst>
              <a:ext uri="{FF2B5EF4-FFF2-40B4-BE49-F238E27FC236}">
                <a16:creationId xmlns:a16="http://schemas.microsoft.com/office/drawing/2014/main" id="{F0DD2538-8E36-9097-431B-B4EB78C374FC}"/>
              </a:ext>
            </a:extLst>
          </p:cNvPr>
          <p:cNvSpPr txBox="1"/>
          <p:nvPr/>
        </p:nvSpPr>
        <p:spPr>
          <a:xfrm>
            <a:off x="7003542" y="2784856"/>
            <a:ext cx="103022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40"/>
              </a:lnSpc>
              <a:spcBef>
                <a:spcPts val="120"/>
              </a:spcBef>
            </a:pPr>
            <a:r>
              <a:rPr 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真实、有边界</a:t>
            </a:r>
          </a:p>
        </p:txBody>
      </p:sp>
      <p:sp>
        <p:nvSpPr>
          <p:cNvPr id="127" name="TextBox 24">
            <a:extLst>
              <a:ext uri="{FF2B5EF4-FFF2-40B4-BE49-F238E27FC236}">
                <a16:creationId xmlns:a16="http://schemas.microsoft.com/office/drawing/2014/main" id="{E10B6E0C-93EE-58DD-AF1B-442EC6E89B04}"/>
              </a:ext>
            </a:extLst>
          </p:cNvPr>
          <p:cNvSpPr txBox="1"/>
          <p:nvPr/>
        </p:nvSpPr>
        <p:spPr>
          <a:xfrm>
            <a:off x="8138922" y="2563876"/>
            <a:ext cx="10302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组织输入</a:t>
            </a:r>
          </a:p>
        </p:txBody>
      </p:sp>
      <p:sp>
        <p:nvSpPr>
          <p:cNvPr id="129" name="TextBox 25">
            <a:extLst>
              <a:ext uri="{FF2B5EF4-FFF2-40B4-BE49-F238E27FC236}">
                <a16:creationId xmlns:a16="http://schemas.microsoft.com/office/drawing/2014/main" id="{36E603B7-76B9-95B1-1564-23C74E5F9DE1}"/>
              </a:ext>
            </a:extLst>
          </p:cNvPr>
          <p:cNvSpPr txBox="1"/>
          <p:nvPr/>
        </p:nvSpPr>
        <p:spPr>
          <a:xfrm>
            <a:off x="8138922" y="2784856"/>
            <a:ext cx="103022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40"/>
              </a:lnSpc>
              <a:spcBef>
                <a:spcPts val="120"/>
              </a:spcBef>
            </a:pPr>
            <a:r>
              <a:rPr 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资料、要求</a:t>
            </a:r>
          </a:p>
        </p:txBody>
      </p:sp>
      <p:sp>
        <p:nvSpPr>
          <p:cNvPr id="131" name="TextBox 26">
            <a:extLst>
              <a:ext uri="{FF2B5EF4-FFF2-40B4-BE49-F238E27FC236}">
                <a16:creationId xmlns:a16="http://schemas.microsoft.com/office/drawing/2014/main" id="{CD554B00-1113-AB6C-7F67-DA4B1692FEF7}"/>
              </a:ext>
            </a:extLst>
          </p:cNvPr>
          <p:cNvSpPr txBox="1"/>
          <p:nvPr/>
        </p:nvSpPr>
        <p:spPr>
          <a:xfrm>
            <a:off x="9281922" y="2563876"/>
            <a:ext cx="10302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协同完成</a:t>
            </a:r>
          </a:p>
        </p:txBody>
      </p:sp>
      <p:sp>
        <p:nvSpPr>
          <p:cNvPr id="133" name="TextBox 27">
            <a:extLst>
              <a:ext uri="{FF2B5EF4-FFF2-40B4-BE49-F238E27FC236}">
                <a16:creationId xmlns:a16="http://schemas.microsoft.com/office/drawing/2014/main" id="{BD352B8A-0D21-58D5-1431-43A42DCC72AB}"/>
              </a:ext>
            </a:extLst>
          </p:cNvPr>
          <p:cNvSpPr txBox="1"/>
          <p:nvPr/>
        </p:nvSpPr>
        <p:spPr>
          <a:xfrm>
            <a:off x="9281922" y="2784856"/>
            <a:ext cx="103022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40"/>
              </a:lnSpc>
              <a:spcBef>
                <a:spcPts val="120"/>
              </a:spcBef>
            </a:pPr>
            <a:r>
              <a:rPr 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生成、调整</a:t>
            </a:r>
          </a:p>
        </p:txBody>
      </p:sp>
      <p:sp>
        <p:nvSpPr>
          <p:cNvPr id="135" name="TextBox 28">
            <a:extLst>
              <a:ext uri="{FF2B5EF4-FFF2-40B4-BE49-F238E27FC236}">
                <a16:creationId xmlns:a16="http://schemas.microsoft.com/office/drawing/2014/main" id="{E461DBE0-336F-3D60-9EA0-BF2176840DCD}"/>
              </a:ext>
            </a:extLst>
          </p:cNvPr>
          <p:cNvSpPr txBox="1"/>
          <p:nvPr/>
        </p:nvSpPr>
        <p:spPr>
          <a:xfrm>
            <a:off x="10417302" y="2563876"/>
            <a:ext cx="10302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核验交付</a:t>
            </a:r>
          </a:p>
        </p:txBody>
      </p:sp>
      <p:sp>
        <p:nvSpPr>
          <p:cNvPr id="137" name="TextBox 29">
            <a:extLst>
              <a:ext uri="{FF2B5EF4-FFF2-40B4-BE49-F238E27FC236}">
                <a16:creationId xmlns:a16="http://schemas.microsoft.com/office/drawing/2014/main" id="{A8DCB9EB-E3CC-334F-51DF-8238F2E08D29}"/>
              </a:ext>
            </a:extLst>
          </p:cNvPr>
          <p:cNvSpPr txBox="1"/>
          <p:nvPr/>
        </p:nvSpPr>
        <p:spPr>
          <a:xfrm>
            <a:off x="10417302" y="2784856"/>
            <a:ext cx="103022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40"/>
              </a:lnSpc>
              <a:spcBef>
                <a:spcPts val="120"/>
              </a:spcBef>
            </a:pPr>
            <a:r>
              <a:rPr 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检查、复盘</a:t>
            </a:r>
          </a:p>
        </p:txBody>
      </p:sp>
      <p:sp>
        <p:nvSpPr>
          <p:cNvPr id="139" name="TextBox 30">
            <a:extLst>
              <a:ext uri="{FF2B5EF4-FFF2-40B4-BE49-F238E27FC236}">
                <a16:creationId xmlns:a16="http://schemas.microsoft.com/office/drawing/2014/main" id="{9317E0B4-D94F-ABB3-1512-A29AC55CF118}"/>
              </a:ext>
            </a:extLst>
          </p:cNvPr>
          <p:cNvSpPr txBox="1"/>
          <p:nvPr/>
        </p:nvSpPr>
        <p:spPr>
          <a:xfrm>
            <a:off x="6949440" y="3253740"/>
            <a:ext cx="201041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2160"/>
              </a:lnSpc>
            </a:pPr>
            <a:r>
              <a:rPr lang="zh-CN" sz="16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三类可沉淀成果</a:t>
            </a:r>
          </a:p>
        </p:txBody>
      </p:sp>
      <p:sp>
        <p:nvSpPr>
          <p:cNvPr id="141" name="TextBox 31">
            <a:extLst>
              <a:ext uri="{FF2B5EF4-FFF2-40B4-BE49-F238E27FC236}">
                <a16:creationId xmlns:a16="http://schemas.microsoft.com/office/drawing/2014/main" id="{2B7C2D7C-E0F2-7F56-D225-31FC6FC56D0E}"/>
              </a:ext>
            </a:extLst>
          </p:cNvPr>
          <p:cNvSpPr txBox="1"/>
          <p:nvPr/>
        </p:nvSpPr>
        <p:spPr>
          <a:xfrm>
            <a:off x="7025640" y="3649980"/>
            <a:ext cx="1357884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00"/>
              </a:lnSpc>
            </a:pPr>
            <a:r>
              <a:rPr lang="zh-CN" sz="14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提效案例</a:t>
            </a:r>
          </a:p>
        </p:txBody>
      </p:sp>
      <p:sp>
        <p:nvSpPr>
          <p:cNvPr id="143" name="TextBox 32">
            <a:extLst>
              <a:ext uri="{FF2B5EF4-FFF2-40B4-BE49-F238E27FC236}">
                <a16:creationId xmlns:a16="http://schemas.microsoft.com/office/drawing/2014/main" id="{EF73D8E3-6E55-9619-BD75-6680092DBC22}"/>
              </a:ext>
            </a:extLst>
          </p:cNvPr>
          <p:cNvSpPr txBox="1"/>
          <p:nvPr/>
        </p:nvSpPr>
        <p:spPr>
          <a:xfrm>
            <a:off x="7025640" y="3901440"/>
            <a:ext cx="135788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05"/>
              </a:lnSpc>
              <a:spcBef>
                <a:spcPts val="1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记录任务、方法及前后变化</a:t>
            </a:r>
          </a:p>
        </p:txBody>
      </p:sp>
      <p:sp>
        <p:nvSpPr>
          <p:cNvPr id="145" name="TextBox 33">
            <a:extLst>
              <a:ext uri="{FF2B5EF4-FFF2-40B4-BE49-F238E27FC236}">
                <a16:creationId xmlns:a16="http://schemas.microsoft.com/office/drawing/2014/main" id="{2AA7717E-EF4D-1A99-4C73-1D47BADC33CD}"/>
              </a:ext>
            </a:extLst>
          </p:cNvPr>
          <p:cNvSpPr txBox="1"/>
          <p:nvPr/>
        </p:nvSpPr>
        <p:spPr>
          <a:xfrm>
            <a:off x="8549640" y="3649980"/>
            <a:ext cx="1357884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00"/>
              </a:lnSpc>
            </a:pPr>
            <a:r>
              <a:rPr lang="zh-CN" sz="14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提示模板</a:t>
            </a:r>
          </a:p>
        </p:txBody>
      </p:sp>
      <p:sp>
        <p:nvSpPr>
          <p:cNvPr id="147" name="TextBox 34">
            <a:extLst>
              <a:ext uri="{FF2B5EF4-FFF2-40B4-BE49-F238E27FC236}">
                <a16:creationId xmlns:a16="http://schemas.microsoft.com/office/drawing/2014/main" id="{A36A09BC-E1E1-847C-F7B3-22B1F4806D5C}"/>
              </a:ext>
            </a:extLst>
          </p:cNvPr>
          <p:cNvSpPr txBox="1"/>
          <p:nvPr/>
        </p:nvSpPr>
        <p:spPr>
          <a:xfrm>
            <a:off x="8549640" y="3901440"/>
            <a:ext cx="135788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05"/>
              </a:lnSpc>
              <a:spcBef>
                <a:spcPts val="1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固化可重复使用的输入框架</a:t>
            </a:r>
          </a:p>
        </p:txBody>
      </p:sp>
      <p:sp>
        <p:nvSpPr>
          <p:cNvPr id="149" name="TextBox 35">
            <a:extLst>
              <a:ext uri="{FF2B5EF4-FFF2-40B4-BE49-F238E27FC236}">
                <a16:creationId xmlns:a16="http://schemas.microsoft.com/office/drawing/2014/main" id="{5A1815E8-0559-61D1-AD56-E5A42BBCF3E0}"/>
              </a:ext>
            </a:extLst>
          </p:cNvPr>
          <p:cNvSpPr txBox="1"/>
          <p:nvPr/>
        </p:nvSpPr>
        <p:spPr>
          <a:xfrm>
            <a:off x="10066020" y="3649980"/>
            <a:ext cx="1357884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00"/>
              </a:lnSpc>
            </a:pPr>
            <a:r>
              <a:rPr lang="zh-CN" sz="140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工作方法</a:t>
            </a:r>
          </a:p>
        </p:txBody>
      </p:sp>
      <p:sp>
        <p:nvSpPr>
          <p:cNvPr id="151" name="TextBox 36">
            <a:extLst>
              <a:ext uri="{FF2B5EF4-FFF2-40B4-BE49-F238E27FC236}">
                <a16:creationId xmlns:a16="http://schemas.microsoft.com/office/drawing/2014/main" id="{A2A8D5BF-4465-C096-1F0D-25E9136A51E1}"/>
              </a:ext>
            </a:extLst>
          </p:cNvPr>
          <p:cNvSpPr txBox="1"/>
          <p:nvPr/>
        </p:nvSpPr>
        <p:spPr>
          <a:xfrm>
            <a:off x="10066020" y="3901440"/>
            <a:ext cx="135788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05"/>
              </a:lnSpc>
              <a:spcBef>
                <a:spcPts val="1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形成标准步骤与核验清单</a:t>
            </a:r>
          </a:p>
        </p:txBody>
      </p:sp>
      <p:sp>
        <p:nvSpPr>
          <p:cNvPr id="153" name="TextBox 37">
            <a:extLst>
              <a:ext uri="{FF2B5EF4-FFF2-40B4-BE49-F238E27FC236}">
                <a16:creationId xmlns:a16="http://schemas.microsoft.com/office/drawing/2014/main" id="{6923ED03-271F-0241-FD3F-345FE8A8849E}"/>
              </a:ext>
            </a:extLst>
          </p:cNvPr>
          <p:cNvSpPr txBox="1"/>
          <p:nvPr/>
        </p:nvSpPr>
        <p:spPr>
          <a:xfrm>
            <a:off x="6949440" y="4480560"/>
            <a:ext cx="4550664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zh-CN" sz="16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评价指标：看真实改善，不只看学习数据</a:t>
            </a:r>
          </a:p>
        </p:txBody>
      </p:sp>
      <p:sp>
        <p:nvSpPr>
          <p:cNvPr id="155" name="TextBox 38">
            <a:extLst>
              <a:ext uri="{FF2B5EF4-FFF2-40B4-BE49-F238E27FC236}">
                <a16:creationId xmlns:a16="http://schemas.microsoft.com/office/drawing/2014/main" id="{FF5987BC-BA25-CA3F-CAAD-FFCE1706E156}"/>
              </a:ext>
            </a:extLst>
          </p:cNvPr>
          <p:cNvSpPr txBox="1"/>
          <p:nvPr/>
        </p:nvSpPr>
        <p:spPr>
          <a:xfrm>
            <a:off x="7033260" y="4876800"/>
            <a:ext cx="21046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任务真实性</a:t>
            </a:r>
          </a:p>
        </p:txBody>
      </p:sp>
      <p:sp>
        <p:nvSpPr>
          <p:cNvPr id="157" name="TextBox 39">
            <a:extLst>
              <a:ext uri="{FF2B5EF4-FFF2-40B4-BE49-F238E27FC236}">
                <a16:creationId xmlns:a16="http://schemas.microsoft.com/office/drawing/2014/main" id="{49B51842-0D5E-7800-CA9B-4CCDA20B0A12}"/>
              </a:ext>
            </a:extLst>
          </p:cNvPr>
          <p:cNvSpPr txBox="1"/>
          <p:nvPr/>
        </p:nvSpPr>
        <p:spPr>
          <a:xfrm>
            <a:off x="7033260" y="5097780"/>
            <a:ext cx="210464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12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是否来自实际岗位流程</a:t>
            </a:r>
          </a:p>
        </p:txBody>
      </p:sp>
      <p:sp>
        <p:nvSpPr>
          <p:cNvPr id="159" name="TextBox 40">
            <a:extLst>
              <a:ext uri="{FF2B5EF4-FFF2-40B4-BE49-F238E27FC236}">
                <a16:creationId xmlns:a16="http://schemas.microsoft.com/office/drawing/2014/main" id="{B321A3B0-6311-73BF-979A-0ED69F1011B6}"/>
              </a:ext>
            </a:extLst>
          </p:cNvPr>
          <p:cNvSpPr txBox="1"/>
          <p:nvPr/>
        </p:nvSpPr>
        <p:spPr>
          <a:xfrm>
            <a:off x="9311640" y="4876800"/>
            <a:ext cx="21046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提效与提质</a:t>
            </a:r>
          </a:p>
        </p:txBody>
      </p:sp>
      <p:sp>
        <p:nvSpPr>
          <p:cNvPr id="161" name="TextBox 41">
            <a:extLst>
              <a:ext uri="{FF2B5EF4-FFF2-40B4-BE49-F238E27FC236}">
                <a16:creationId xmlns:a16="http://schemas.microsoft.com/office/drawing/2014/main" id="{8577A5CB-B026-EAFC-0D6F-2EEB77E26F77}"/>
              </a:ext>
            </a:extLst>
          </p:cNvPr>
          <p:cNvSpPr txBox="1"/>
          <p:nvPr/>
        </p:nvSpPr>
        <p:spPr>
          <a:xfrm>
            <a:off x="9311640" y="5097780"/>
            <a:ext cx="210464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12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时间或结果质量是否改善</a:t>
            </a:r>
          </a:p>
        </p:txBody>
      </p:sp>
      <p:sp>
        <p:nvSpPr>
          <p:cNvPr id="163" name="TextBox 42">
            <a:extLst>
              <a:ext uri="{FF2B5EF4-FFF2-40B4-BE49-F238E27FC236}">
                <a16:creationId xmlns:a16="http://schemas.microsoft.com/office/drawing/2014/main" id="{BF44712C-CC21-A868-E230-DDD62193171E}"/>
              </a:ext>
            </a:extLst>
          </p:cNvPr>
          <p:cNvSpPr txBox="1"/>
          <p:nvPr/>
        </p:nvSpPr>
        <p:spPr>
          <a:xfrm>
            <a:off x="7033260" y="5448300"/>
            <a:ext cx="21046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结果核验</a:t>
            </a:r>
          </a:p>
        </p:txBody>
      </p:sp>
      <p:sp>
        <p:nvSpPr>
          <p:cNvPr id="165" name="TextBox 43">
            <a:extLst>
              <a:ext uri="{FF2B5EF4-FFF2-40B4-BE49-F238E27FC236}">
                <a16:creationId xmlns:a16="http://schemas.microsoft.com/office/drawing/2014/main" id="{EBE54489-E050-98C4-B645-3EC238B19E14}"/>
              </a:ext>
            </a:extLst>
          </p:cNvPr>
          <p:cNvSpPr txBox="1"/>
          <p:nvPr/>
        </p:nvSpPr>
        <p:spPr>
          <a:xfrm>
            <a:off x="7033260" y="5669280"/>
            <a:ext cx="210464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12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事实、逻辑与格式是否检查</a:t>
            </a:r>
          </a:p>
        </p:txBody>
      </p:sp>
      <p:sp>
        <p:nvSpPr>
          <p:cNvPr id="167" name="TextBox 44">
            <a:extLst>
              <a:ext uri="{FF2B5EF4-FFF2-40B4-BE49-F238E27FC236}">
                <a16:creationId xmlns:a16="http://schemas.microsoft.com/office/drawing/2014/main" id="{E26E3B3B-491F-21C5-BDC0-B3A57A52AD1F}"/>
              </a:ext>
            </a:extLst>
          </p:cNvPr>
          <p:cNvSpPr txBox="1"/>
          <p:nvPr/>
        </p:nvSpPr>
        <p:spPr>
          <a:xfrm>
            <a:off x="9311640" y="5448300"/>
            <a:ext cx="21046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10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复用价值</a:t>
            </a:r>
          </a:p>
        </p:txBody>
      </p:sp>
      <p:sp>
        <p:nvSpPr>
          <p:cNvPr id="169" name="TextBox 45">
            <a:extLst>
              <a:ext uri="{FF2B5EF4-FFF2-40B4-BE49-F238E27FC236}">
                <a16:creationId xmlns:a16="http://schemas.microsoft.com/office/drawing/2014/main" id="{6BB6D7C3-C576-3C3D-8EA3-4C8645D03055}"/>
              </a:ext>
            </a:extLst>
          </p:cNvPr>
          <p:cNvSpPr txBox="1"/>
          <p:nvPr/>
        </p:nvSpPr>
        <p:spPr>
          <a:xfrm>
            <a:off x="9311640" y="5669280"/>
            <a:ext cx="210464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12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方法能否被本人或团队复用</a:t>
            </a:r>
          </a:p>
        </p:txBody>
      </p:sp>
      <p:sp>
        <p:nvSpPr>
          <p:cNvPr id="171" name="TextBox 46">
            <a:extLst>
              <a:ext uri="{FF2B5EF4-FFF2-40B4-BE49-F238E27FC236}">
                <a16:creationId xmlns:a16="http://schemas.microsoft.com/office/drawing/2014/main" id="{1CE13A3B-5A2F-0CAE-E8CD-898EFC731401}"/>
              </a:ext>
            </a:extLst>
          </p:cNvPr>
          <p:cNvSpPr txBox="1"/>
          <p:nvPr/>
        </p:nvSpPr>
        <p:spPr>
          <a:xfrm>
            <a:off x="7101840" y="6027420"/>
            <a:ext cx="22494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10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安全合规</a:t>
            </a:r>
          </a:p>
        </p:txBody>
      </p:sp>
      <p:sp>
        <p:nvSpPr>
          <p:cNvPr id="173" name="TextBox 47">
            <a:extLst>
              <a:ext uri="{FF2B5EF4-FFF2-40B4-BE49-F238E27FC236}">
                <a16:creationId xmlns:a16="http://schemas.microsoft.com/office/drawing/2014/main" id="{527DDE1C-9B70-5BA6-DCAF-7C407A229834}"/>
              </a:ext>
            </a:extLst>
          </p:cNvPr>
          <p:cNvSpPr txBox="1"/>
          <p:nvPr/>
        </p:nvSpPr>
        <p:spPr>
          <a:xfrm>
            <a:off x="7101840" y="6248400"/>
            <a:ext cx="22494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12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是否遵守数据、权限与使用责任要求</a:t>
            </a:r>
          </a:p>
        </p:txBody>
      </p:sp>
      <p:sp>
        <p:nvSpPr>
          <p:cNvPr id="175" name="TextBox 48">
            <a:extLst>
              <a:ext uri="{FF2B5EF4-FFF2-40B4-BE49-F238E27FC236}">
                <a16:creationId xmlns:a16="http://schemas.microsoft.com/office/drawing/2014/main" id="{28A78CF1-A208-95AF-38ED-B19AA4E4DE01}"/>
              </a:ext>
            </a:extLst>
          </p:cNvPr>
          <p:cNvSpPr txBox="1"/>
          <p:nvPr/>
        </p:nvSpPr>
        <p:spPr>
          <a:xfrm>
            <a:off x="9448800" y="6035040"/>
            <a:ext cx="195986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620"/>
              </a:lnSpc>
            </a:pPr>
            <a:r>
              <a:rPr lang="zh-CN" sz="1100" b="1" dirty="0">
                <a:solidFill>
                  <a:srgbClr val="0F2A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高价值需求 → 进入ADEA或专业项目候选库</a:t>
            </a:r>
          </a:p>
        </p:txBody>
      </p:sp>
      <p:sp>
        <p:nvSpPr>
          <p:cNvPr id="177" name="TextBox 49">
            <a:extLst>
              <a:ext uri="{FF2B5EF4-FFF2-40B4-BE49-F238E27FC236}">
                <a16:creationId xmlns:a16="http://schemas.microsoft.com/office/drawing/2014/main" id="{9293D1B7-C6A2-D5C2-9B85-F3E2D0BE2399}"/>
              </a:ext>
            </a:extLst>
          </p:cNvPr>
          <p:cNvSpPr txBox="1"/>
          <p:nvPr/>
        </p:nvSpPr>
        <p:spPr>
          <a:xfrm>
            <a:off x="5054441" y="2068830"/>
            <a:ext cx="1670304" cy="21854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40"/>
              </a:lnSpc>
            </a:pPr>
            <a:r>
              <a:rPr lang="zh-CN" sz="10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不要求掌握复杂模型原理</a:t>
            </a:r>
          </a:p>
        </p:txBody>
      </p:sp>
      <p:sp>
        <p:nvSpPr>
          <p:cNvPr id="179" name="TextBox 50">
            <a:extLst>
              <a:ext uri="{FF2B5EF4-FFF2-40B4-BE49-F238E27FC236}">
                <a16:creationId xmlns:a16="http://schemas.microsoft.com/office/drawing/2014/main" id="{E402FC86-B55D-5597-B32A-90E7D1684628}"/>
              </a:ext>
            </a:extLst>
          </p:cNvPr>
          <p:cNvSpPr txBox="1"/>
          <p:nvPr/>
        </p:nvSpPr>
        <p:spPr>
          <a:xfrm>
            <a:off x="944047" y="2556510"/>
            <a:ext cx="22405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81" name="TextBox 51">
            <a:extLst>
              <a:ext uri="{FF2B5EF4-FFF2-40B4-BE49-F238E27FC236}">
                <a16:creationId xmlns:a16="http://schemas.microsoft.com/office/drawing/2014/main" id="{1090DA99-4015-C7DE-6187-C4D15935C805}"/>
              </a:ext>
            </a:extLst>
          </p:cNvPr>
          <p:cNvSpPr txBox="1"/>
          <p:nvPr/>
        </p:nvSpPr>
        <p:spPr>
          <a:xfrm>
            <a:off x="3844647" y="2556510"/>
            <a:ext cx="22405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83" name="TextBox 52">
            <a:extLst>
              <a:ext uri="{FF2B5EF4-FFF2-40B4-BE49-F238E27FC236}">
                <a16:creationId xmlns:a16="http://schemas.microsoft.com/office/drawing/2014/main" id="{6273E5D2-B335-CD93-803F-4634B882BDDC}"/>
              </a:ext>
            </a:extLst>
          </p:cNvPr>
          <p:cNvSpPr txBox="1"/>
          <p:nvPr/>
        </p:nvSpPr>
        <p:spPr>
          <a:xfrm>
            <a:off x="944047" y="3608070"/>
            <a:ext cx="22405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85" name="TextBox 53">
            <a:extLst>
              <a:ext uri="{FF2B5EF4-FFF2-40B4-BE49-F238E27FC236}">
                <a16:creationId xmlns:a16="http://schemas.microsoft.com/office/drawing/2014/main" id="{E159CC40-04CF-62ED-9A35-0C44AAE41224}"/>
              </a:ext>
            </a:extLst>
          </p:cNvPr>
          <p:cNvSpPr txBox="1"/>
          <p:nvPr/>
        </p:nvSpPr>
        <p:spPr>
          <a:xfrm>
            <a:off x="3844647" y="3608070"/>
            <a:ext cx="22405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187" name="TextBox 54">
            <a:extLst>
              <a:ext uri="{FF2B5EF4-FFF2-40B4-BE49-F238E27FC236}">
                <a16:creationId xmlns:a16="http://schemas.microsoft.com/office/drawing/2014/main" id="{35D15EB2-69CB-B9ED-5A61-A496335699F3}"/>
              </a:ext>
            </a:extLst>
          </p:cNvPr>
          <p:cNvSpPr txBox="1"/>
          <p:nvPr/>
        </p:nvSpPr>
        <p:spPr>
          <a:xfrm>
            <a:off x="1013460" y="4987290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10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会议纪要</a:t>
            </a:r>
          </a:p>
        </p:txBody>
      </p:sp>
      <p:sp>
        <p:nvSpPr>
          <p:cNvPr id="189" name="TextBox 55">
            <a:extLst>
              <a:ext uri="{FF2B5EF4-FFF2-40B4-BE49-F238E27FC236}">
                <a16:creationId xmlns:a16="http://schemas.microsoft.com/office/drawing/2014/main" id="{AE6CFB87-AF78-44C0-88DF-D1B63B1E4C47}"/>
              </a:ext>
            </a:extLst>
          </p:cNvPr>
          <p:cNvSpPr txBox="1"/>
          <p:nvPr/>
        </p:nvSpPr>
        <p:spPr>
          <a:xfrm>
            <a:off x="1821180" y="4987290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10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汇报材料</a:t>
            </a:r>
          </a:p>
        </p:txBody>
      </p:sp>
      <p:sp>
        <p:nvSpPr>
          <p:cNvPr id="191" name="TextBox 56">
            <a:extLst>
              <a:ext uri="{FF2B5EF4-FFF2-40B4-BE49-F238E27FC236}">
                <a16:creationId xmlns:a16="http://schemas.microsoft.com/office/drawing/2014/main" id="{C2A1F2B4-7510-E1DC-58E2-66390AEF6215}"/>
              </a:ext>
            </a:extLst>
          </p:cNvPr>
          <p:cNvSpPr txBox="1"/>
          <p:nvPr/>
        </p:nvSpPr>
        <p:spPr>
          <a:xfrm>
            <a:off x="2628900" y="4987290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10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邮件撰写</a:t>
            </a:r>
          </a:p>
        </p:txBody>
      </p:sp>
      <p:sp>
        <p:nvSpPr>
          <p:cNvPr id="193" name="TextBox 57">
            <a:extLst>
              <a:ext uri="{FF2B5EF4-FFF2-40B4-BE49-F238E27FC236}">
                <a16:creationId xmlns:a16="http://schemas.microsoft.com/office/drawing/2014/main" id="{AD029837-3BDB-F516-42AB-D69A6D1A94D2}"/>
              </a:ext>
            </a:extLst>
          </p:cNvPr>
          <p:cNvSpPr txBox="1"/>
          <p:nvPr/>
        </p:nvSpPr>
        <p:spPr>
          <a:xfrm>
            <a:off x="3436620" y="4987290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10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资料整理</a:t>
            </a:r>
          </a:p>
        </p:txBody>
      </p:sp>
      <p:sp>
        <p:nvSpPr>
          <p:cNvPr id="195" name="TextBox 58">
            <a:extLst>
              <a:ext uri="{FF2B5EF4-FFF2-40B4-BE49-F238E27FC236}">
                <a16:creationId xmlns:a16="http://schemas.microsoft.com/office/drawing/2014/main" id="{72E8EA26-5336-FECA-00A8-8A854F65A901}"/>
              </a:ext>
            </a:extLst>
          </p:cNvPr>
          <p:cNvSpPr txBox="1"/>
          <p:nvPr/>
        </p:nvSpPr>
        <p:spPr>
          <a:xfrm>
            <a:off x="4244340" y="4987290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10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信息分析</a:t>
            </a:r>
          </a:p>
        </p:txBody>
      </p:sp>
      <p:sp>
        <p:nvSpPr>
          <p:cNvPr id="197" name="TextBox 59">
            <a:extLst>
              <a:ext uri="{FF2B5EF4-FFF2-40B4-BE49-F238E27FC236}">
                <a16:creationId xmlns:a16="http://schemas.microsoft.com/office/drawing/2014/main" id="{DE6DB549-3E56-D89C-4038-17E7880A4215}"/>
              </a:ext>
            </a:extLst>
          </p:cNvPr>
          <p:cNvSpPr txBox="1"/>
          <p:nvPr/>
        </p:nvSpPr>
        <p:spPr>
          <a:xfrm>
            <a:off x="5052060" y="4987290"/>
            <a:ext cx="74950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10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PPT制作</a:t>
            </a:r>
          </a:p>
        </p:txBody>
      </p:sp>
      <p:sp>
        <p:nvSpPr>
          <p:cNvPr id="199" name="TextBox 60">
            <a:extLst>
              <a:ext uri="{FF2B5EF4-FFF2-40B4-BE49-F238E27FC236}">
                <a16:creationId xmlns:a16="http://schemas.microsoft.com/office/drawing/2014/main" id="{619A69E9-6A48-0A6B-3990-F643FA94AD0B}"/>
              </a:ext>
            </a:extLst>
          </p:cNvPr>
          <p:cNvSpPr txBox="1"/>
          <p:nvPr/>
        </p:nvSpPr>
        <p:spPr>
          <a:xfrm>
            <a:off x="969070" y="5360670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10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表格处理</a:t>
            </a:r>
          </a:p>
        </p:txBody>
      </p:sp>
      <p:sp>
        <p:nvSpPr>
          <p:cNvPr id="201" name="TextBox 61">
            <a:extLst>
              <a:ext uri="{FF2B5EF4-FFF2-40B4-BE49-F238E27FC236}">
                <a16:creationId xmlns:a16="http://schemas.microsoft.com/office/drawing/2014/main" id="{09EE030A-F248-FDB8-6F92-DEE39B07037D}"/>
              </a:ext>
            </a:extLst>
          </p:cNvPr>
          <p:cNvSpPr txBox="1"/>
          <p:nvPr/>
        </p:nvSpPr>
        <p:spPr>
          <a:xfrm>
            <a:off x="845820" y="6202680"/>
            <a:ext cx="8397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短课</a:t>
            </a:r>
          </a:p>
        </p:txBody>
      </p:sp>
      <p:sp>
        <p:nvSpPr>
          <p:cNvPr id="203" name="TextBox 62">
            <a:extLst>
              <a:ext uri="{FF2B5EF4-FFF2-40B4-BE49-F238E27FC236}">
                <a16:creationId xmlns:a16="http://schemas.microsoft.com/office/drawing/2014/main" id="{F8E4B39E-FF80-E254-AD08-4C008D20CEB4}"/>
              </a:ext>
            </a:extLst>
          </p:cNvPr>
          <p:cNvSpPr txBox="1"/>
          <p:nvPr/>
        </p:nvSpPr>
        <p:spPr>
          <a:xfrm>
            <a:off x="1805940" y="6202680"/>
            <a:ext cx="8397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示范</a:t>
            </a:r>
          </a:p>
        </p:txBody>
      </p:sp>
      <p:sp>
        <p:nvSpPr>
          <p:cNvPr id="205" name="TextBox 63">
            <a:extLst>
              <a:ext uri="{FF2B5EF4-FFF2-40B4-BE49-F238E27FC236}">
                <a16:creationId xmlns:a16="http://schemas.microsoft.com/office/drawing/2014/main" id="{056BAC02-E511-0F1A-0097-6F7CFF79B940}"/>
              </a:ext>
            </a:extLst>
          </p:cNvPr>
          <p:cNvSpPr txBox="1"/>
          <p:nvPr/>
        </p:nvSpPr>
        <p:spPr>
          <a:xfrm>
            <a:off x="2766060" y="6202680"/>
            <a:ext cx="8397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上机实践</a:t>
            </a:r>
          </a:p>
        </p:txBody>
      </p:sp>
      <p:sp>
        <p:nvSpPr>
          <p:cNvPr id="207" name="TextBox 64">
            <a:extLst>
              <a:ext uri="{FF2B5EF4-FFF2-40B4-BE49-F238E27FC236}">
                <a16:creationId xmlns:a16="http://schemas.microsoft.com/office/drawing/2014/main" id="{A35D3F4E-6B22-DB03-DF0D-333422672954}"/>
              </a:ext>
            </a:extLst>
          </p:cNvPr>
          <p:cNvSpPr txBox="1"/>
          <p:nvPr/>
        </p:nvSpPr>
        <p:spPr>
          <a:xfrm>
            <a:off x="3733800" y="6202680"/>
            <a:ext cx="8397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岗位作业</a:t>
            </a:r>
          </a:p>
        </p:txBody>
      </p:sp>
      <p:sp>
        <p:nvSpPr>
          <p:cNvPr id="209" name="TextBox 65">
            <a:extLst>
              <a:ext uri="{FF2B5EF4-FFF2-40B4-BE49-F238E27FC236}">
                <a16:creationId xmlns:a16="http://schemas.microsoft.com/office/drawing/2014/main" id="{46695820-7306-51DB-BA85-FDD02E2A1685}"/>
              </a:ext>
            </a:extLst>
          </p:cNvPr>
          <p:cNvSpPr txBox="1"/>
          <p:nvPr/>
        </p:nvSpPr>
        <p:spPr>
          <a:xfrm>
            <a:off x="4693920" y="6202680"/>
            <a:ext cx="8397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集中答疑</a:t>
            </a:r>
          </a:p>
        </p:txBody>
      </p:sp>
      <p:sp>
        <p:nvSpPr>
          <p:cNvPr id="211" name="TextBox 66">
            <a:extLst>
              <a:ext uri="{FF2B5EF4-FFF2-40B4-BE49-F238E27FC236}">
                <a16:creationId xmlns:a16="http://schemas.microsoft.com/office/drawing/2014/main" id="{9E4CC1F4-63F1-54F6-9674-2B7A0A14EB1F}"/>
              </a:ext>
            </a:extLst>
          </p:cNvPr>
          <p:cNvSpPr txBox="1"/>
          <p:nvPr/>
        </p:nvSpPr>
        <p:spPr>
          <a:xfrm>
            <a:off x="5654040" y="6202680"/>
            <a:ext cx="8397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部门分享</a:t>
            </a:r>
          </a:p>
        </p:txBody>
      </p:sp>
      <p:sp>
        <p:nvSpPr>
          <p:cNvPr id="215" name="TextBox 68">
            <a:extLst>
              <a:ext uri="{FF2B5EF4-FFF2-40B4-BE49-F238E27FC236}">
                <a16:creationId xmlns:a16="http://schemas.microsoft.com/office/drawing/2014/main" id="{92E13CD4-8F63-C343-C1CE-EA333F22F353}"/>
              </a:ext>
            </a:extLst>
          </p:cNvPr>
          <p:cNvSpPr txBox="1"/>
          <p:nvPr/>
        </p:nvSpPr>
        <p:spPr>
          <a:xfrm>
            <a:off x="10488454" y="3307080"/>
            <a:ext cx="1114401" cy="21854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40"/>
              </a:lnSpc>
            </a:pPr>
            <a:r>
              <a:rPr lang="zh-CN" sz="100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可复用 · 可分享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3783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74741-99D7-EB52-4E13-AF4EB53A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BAEB59-1F16-8C7A-DE3D-064B7DCB4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en-US" altLang="zh-CN" dirty="0"/>
              <a:t>ADEA:</a:t>
            </a:r>
            <a:r>
              <a:rPr lang="zh-CN" altLang="en-US" dirty="0"/>
              <a:t>搭建单场景企业</a:t>
            </a:r>
            <a:r>
              <a:rPr lang="en-US" altLang="zh-CN" dirty="0"/>
              <a:t>AI</a:t>
            </a:r>
            <a:r>
              <a:rPr lang="zh-CN" altLang="en-US" dirty="0"/>
              <a:t>助手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A5B63EFD-AA62-F2AE-30E0-EC943F02CC33}"/>
              </a:ext>
            </a:extLst>
          </p:cNvPr>
          <p:cNvSpPr/>
          <p:nvPr/>
        </p:nvSpPr>
        <p:spPr>
          <a:xfrm>
            <a:off x="609600" y="990600"/>
            <a:ext cx="10972800" cy="441960"/>
          </a:xfrm>
          <a:prstGeom prst="roundRect">
            <a:avLst>
              <a:gd name="adj" fmla="val 27586"/>
            </a:avLst>
          </a:prstGeom>
          <a:solidFill>
            <a:srgbClr val="ECF7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9FCBD90-89D3-20BD-A3E2-7F28DA72021F}"/>
              </a:ext>
            </a:extLst>
          </p:cNvPr>
          <p:cNvSpPr/>
          <p:nvPr/>
        </p:nvSpPr>
        <p:spPr>
          <a:xfrm>
            <a:off x="609600" y="1554479"/>
            <a:ext cx="4343400" cy="2303669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814C174-7043-CB36-DCF4-8817F6F7B73A}"/>
              </a:ext>
            </a:extLst>
          </p:cNvPr>
          <p:cNvSpPr/>
          <p:nvPr/>
        </p:nvSpPr>
        <p:spPr>
          <a:xfrm>
            <a:off x="617220" y="1562100"/>
            <a:ext cx="4328160" cy="441960"/>
          </a:xfrm>
          <a:prstGeom prst="rect">
            <a:avLst/>
          </a:prstGeom>
          <a:solidFill>
            <a:srgbClr val="0565FF"/>
          </a:solidFill>
          <a:ln>
            <a:noFill/>
          </a:ln>
        </p:spPr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2562701F-37BF-784B-4327-A158281EFE53}"/>
              </a:ext>
            </a:extLst>
          </p:cNvPr>
          <p:cNvSpPr/>
          <p:nvPr/>
        </p:nvSpPr>
        <p:spPr>
          <a:xfrm>
            <a:off x="754380" y="2160270"/>
            <a:ext cx="1300401" cy="426720"/>
          </a:xfrm>
          <a:prstGeom prst="roundRect">
            <a:avLst>
              <a:gd name="adj" fmla="val 21429"/>
            </a:avLst>
          </a:prstGeom>
          <a:solidFill>
            <a:srgbClr val="F1F6FF"/>
          </a:solidFill>
          <a:ln w="9525">
            <a:solidFill>
              <a:srgbClr val="D7E4F7"/>
            </a:solidFill>
            <a:prstDash val="solid"/>
          </a:ln>
        </p:spPr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FC464491-EB55-B4A3-6C24-8FEB46F91366}"/>
              </a:ext>
            </a:extLst>
          </p:cNvPr>
          <p:cNvSpPr/>
          <p:nvPr/>
        </p:nvSpPr>
        <p:spPr>
          <a:xfrm>
            <a:off x="861060" y="2222500"/>
            <a:ext cx="213360" cy="213360"/>
          </a:xfrm>
          <a:prstGeom prst="ellipse">
            <a:avLst/>
          </a:prstGeom>
          <a:solidFill>
            <a:srgbClr val="0721A8"/>
          </a:solidFill>
          <a:ln>
            <a:noFill/>
          </a:ln>
        </p:spPr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655AE4EF-C817-FE4D-E591-F999AEC04ABD}"/>
              </a:ext>
            </a:extLst>
          </p:cNvPr>
          <p:cNvSpPr/>
          <p:nvPr/>
        </p:nvSpPr>
        <p:spPr>
          <a:xfrm>
            <a:off x="2130981" y="2160270"/>
            <a:ext cx="1300520" cy="426720"/>
          </a:xfrm>
          <a:prstGeom prst="roundRect">
            <a:avLst>
              <a:gd name="adj" fmla="val 21429"/>
            </a:avLst>
          </a:prstGeom>
          <a:solidFill>
            <a:srgbClr val="F1F6FF"/>
          </a:solidFill>
          <a:ln w="9525">
            <a:solidFill>
              <a:srgbClr val="D7E4F7"/>
            </a:solidFill>
            <a:prstDash val="solid"/>
          </a:ln>
        </p:spPr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C80654D1-71C4-CD79-0724-B840A0258BB0}"/>
              </a:ext>
            </a:extLst>
          </p:cNvPr>
          <p:cNvSpPr/>
          <p:nvPr/>
        </p:nvSpPr>
        <p:spPr>
          <a:xfrm>
            <a:off x="2237661" y="2222500"/>
            <a:ext cx="213360" cy="213360"/>
          </a:xfrm>
          <a:prstGeom prst="ellipse">
            <a:avLst/>
          </a:prstGeom>
          <a:solidFill>
            <a:srgbClr val="0721A8"/>
          </a:solidFill>
          <a:ln>
            <a:noFill/>
          </a:ln>
        </p:spPr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86E5573C-771C-4FAD-EB7E-3C99FE5C6214}"/>
              </a:ext>
            </a:extLst>
          </p:cNvPr>
          <p:cNvSpPr/>
          <p:nvPr/>
        </p:nvSpPr>
        <p:spPr>
          <a:xfrm>
            <a:off x="3507700" y="2160270"/>
            <a:ext cx="1300520" cy="426720"/>
          </a:xfrm>
          <a:prstGeom prst="roundRect">
            <a:avLst>
              <a:gd name="adj" fmla="val 21429"/>
            </a:avLst>
          </a:prstGeom>
          <a:solidFill>
            <a:srgbClr val="EDF9FF"/>
          </a:solidFill>
          <a:ln w="9525">
            <a:solidFill>
              <a:srgbClr val="CFEAF8"/>
            </a:solidFill>
            <a:prstDash val="solid"/>
          </a:ln>
        </p:spPr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EAA299F7-A3BE-98A4-B688-C76D8F9DDE07}"/>
              </a:ext>
            </a:extLst>
          </p:cNvPr>
          <p:cNvSpPr/>
          <p:nvPr/>
        </p:nvSpPr>
        <p:spPr>
          <a:xfrm>
            <a:off x="3614380" y="2222500"/>
            <a:ext cx="213360" cy="213360"/>
          </a:xfrm>
          <a:prstGeom prst="ellipse">
            <a:avLst/>
          </a:prstGeom>
          <a:solidFill>
            <a:srgbClr val="0565FF"/>
          </a:solidFill>
          <a:ln>
            <a:noFill/>
          </a:ln>
        </p:spPr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8B28EF41-3BA5-30F4-68F0-7F9564024446}"/>
              </a:ext>
            </a:extLst>
          </p:cNvPr>
          <p:cNvSpPr/>
          <p:nvPr/>
        </p:nvSpPr>
        <p:spPr>
          <a:xfrm>
            <a:off x="754380" y="2707640"/>
            <a:ext cx="1300401" cy="426720"/>
          </a:xfrm>
          <a:prstGeom prst="roundRect">
            <a:avLst>
              <a:gd name="adj" fmla="val 21429"/>
            </a:avLst>
          </a:prstGeom>
          <a:solidFill>
            <a:srgbClr val="EDF9FF"/>
          </a:solidFill>
          <a:ln w="9525">
            <a:solidFill>
              <a:srgbClr val="CFEAF8"/>
            </a:solidFill>
            <a:prstDash val="solid"/>
          </a:ln>
        </p:spPr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3ED30B4D-6C82-F05A-19EA-90A19D70C10D}"/>
              </a:ext>
            </a:extLst>
          </p:cNvPr>
          <p:cNvSpPr/>
          <p:nvPr/>
        </p:nvSpPr>
        <p:spPr>
          <a:xfrm>
            <a:off x="861060" y="2814320"/>
            <a:ext cx="213360" cy="213360"/>
          </a:xfrm>
          <a:prstGeom prst="ellipse">
            <a:avLst/>
          </a:prstGeom>
          <a:solidFill>
            <a:srgbClr val="0565FF"/>
          </a:solidFill>
          <a:ln>
            <a:noFill/>
          </a:ln>
        </p:spPr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C5C686AD-CEA7-8061-89D7-AA2A81ABEEB6}"/>
              </a:ext>
            </a:extLst>
          </p:cNvPr>
          <p:cNvSpPr/>
          <p:nvPr/>
        </p:nvSpPr>
        <p:spPr>
          <a:xfrm>
            <a:off x="2130981" y="2707640"/>
            <a:ext cx="1300520" cy="426720"/>
          </a:xfrm>
          <a:prstGeom prst="roundRect">
            <a:avLst>
              <a:gd name="adj" fmla="val 21429"/>
            </a:avLst>
          </a:prstGeom>
          <a:solidFill>
            <a:srgbClr val="EDF9FF"/>
          </a:solidFill>
          <a:ln w="9525">
            <a:solidFill>
              <a:srgbClr val="CFEAF8"/>
            </a:solidFill>
            <a:prstDash val="solid"/>
          </a:ln>
        </p:spPr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DF734A24-B79D-B92B-26BE-BA20D2A12EE8}"/>
              </a:ext>
            </a:extLst>
          </p:cNvPr>
          <p:cNvSpPr/>
          <p:nvPr/>
        </p:nvSpPr>
        <p:spPr>
          <a:xfrm>
            <a:off x="2237661" y="2814320"/>
            <a:ext cx="213360" cy="213360"/>
          </a:xfrm>
          <a:prstGeom prst="ellipse">
            <a:avLst/>
          </a:prstGeom>
          <a:solidFill>
            <a:srgbClr val="00A7FF"/>
          </a:solidFill>
          <a:ln>
            <a:noFill/>
          </a:ln>
        </p:spPr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097E7F17-88D4-A313-15AE-E1A654940CD5}"/>
              </a:ext>
            </a:extLst>
          </p:cNvPr>
          <p:cNvSpPr/>
          <p:nvPr/>
        </p:nvSpPr>
        <p:spPr>
          <a:xfrm>
            <a:off x="3507700" y="2707640"/>
            <a:ext cx="1300520" cy="426720"/>
          </a:xfrm>
          <a:prstGeom prst="roundRect">
            <a:avLst>
              <a:gd name="adj" fmla="val 21429"/>
            </a:avLst>
          </a:prstGeom>
          <a:solidFill>
            <a:srgbClr val="EDF9FF"/>
          </a:solidFill>
          <a:ln w="9525">
            <a:solidFill>
              <a:srgbClr val="CFEAF8"/>
            </a:solidFill>
            <a:prstDash val="solid"/>
          </a:ln>
        </p:spPr>
      </p:sp>
      <p:sp>
        <p:nvSpPr>
          <p:cNvPr id="34" name="Shape 18">
            <a:extLst>
              <a:ext uri="{FF2B5EF4-FFF2-40B4-BE49-F238E27FC236}">
                <a16:creationId xmlns:a16="http://schemas.microsoft.com/office/drawing/2014/main" id="{07580B46-19EF-3BCC-BD0D-A5F1F844436C}"/>
              </a:ext>
            </a:extLst>
          </p:cNvPr>
          <p:cNvSpPr/>
          <p:nvPr/>
        </p:nvSpPr>
        <p:spPr>
          <a:xfrm>
            <a:off x="3614380" y="2814320"/>
            <a:ext cx="213360" cy="213360"/>
          </a:xfrm>
          <a:prstGeom prst="ellipse">
            <a:avLst/>
          </a:prstGeom>
          <a:solidFill>
            <a:srgbClr val="00A7FF"/>
          </a:solidFill>
          <a:ln>
            <a:noFill/>
          </a:ln>
        </p:spPr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FC226286-A558-5607-FC36-BE30C9C1C2A0}"/>
              </a:ext>
            </a:extLst>
          </p:cNvPr>
          <p:cNvSpPr/>
          <p:nvPr/>
        </p:nvSpPr>
        <p:spPr>
          <a:xfrm>
            <a:off x="754380" y="3274060"/>
            <a:ext cx="1300401" cy="426720"/>
          </a:xfrm>
          <a:prstGeom prst="roundRect">
            <a:avLst>
              <a:gd name="adj" fmla="val 21429"/>
            </a:avLst>
          </a:prstGeom>
          <a:solidFill>
            <a:srgbClr val="EFFBF7"/>
          </a:solidFill>
          <a:ln w="9525">
            <a:solidFill>
              <a:srgbClr val="CBE9DD"/>
            </a:solidFill>
            <a:prstDash val="solid"/>
          </a:ln>
        </p:spPr>
      </p:sp>
      <p:sp>
        <p:nvSpPr>
          <p:cNvPr id="38" name="Shape 20">
            <a:extLst>
              <a:ext uri="{FF2B5EF4-FFF2-40B4-BE49-F238E27FC236}">
                <a16:creationId xmlns:a16="http://schemas.microsoft.com/office/drawing/2014/main" id="{272B2BBD-4E33-80E8-E534-6625964342EB}"/>
              </a:ext>
            </a:extLst>
          </p:cNvPr>
          <p:cNvSpPr/>
          <p:nvPr/>
        </p:nvSpPr>
        <p:spPr>
          <a:xfrm>
            <a:off x="861060" y="3380740"/>
            <a:ext cx="213360" cy="213360"/>
          </a:xfrm>
          <a:prstGeom prst="ellipse">
            <a:avLst/>
          </a:prstGeom>
          <a:solidFill>
            <a:srgbClr val="00AB7A"/>
          </a:solidFill>
          <a:ln>
            <a:noFill/>
          </a:ln>
        </p:spPr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B5F03F8D-75FE-1147-6AE2-2B1A1A0DA4AC}"/>
              </a:ext>
            </a:extLst>
          </p:cNvPr>
          <p:cNvSpPr/>
          <p:nvPr/>
        </p:nvSpPr>
        <p:spPr>
          <a:xfrm>
            <a:off x="2130981" y="3274060"/>
            <a:ext cx="1300520" cy="426720"/>
          </a:xfrm>
          <a:prstGeom prst="roundRect">
            <a:avLst>
              <a:gd name="adj" fmla="val 21429"/>
            </a:avLst>
          </a:prstGeom>
          <a:solidFill>
            <a:srgbClr val="EFFBF7"/>
          </a:solidFill>
          <a:ln w="9525">
            <a:solidFill>
              <a:srgbClr val="CBE9DD"/>
            </a:solidFill>
            <a:prstDash val="solid"/>
          </a:ln>
        </p:spPr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9D984D2A-F6A3-63CD-8B5F-A7FB393C8E1E}"/>
              </a:ext>
            </a:extLst>
          </p:cNvPr>
          <p:cNvSpPr/>
          <p:nvPr/>
        </p:nvSpPr>
        <p:spPr>
          <a:xfrm>
            <a:off x="2237661" y="3380740"/>
            <a:ext cx="213360" cy="213360"/>
          </a:xfrm>
          <a:prstGeom prst="ellipse">
            <a:avLst/>
          </a:prstGeom>
          <a:solidFill>
            <a:srgbClr val="00AB7A"/>
          </a:solidFill>
          <a:ln>
            <a:noFill/>
          </a:ln>
        </p:spPr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E4AE9EF5-0F0C-F5A6-55C6-599994D779E9}"/>
              </a:ext>
            </a:extLst>
          </p:cNvPr>
          <p:cNvSpPr/>
          <p:nvPr/>
        </p:nvSpPr>
        <p:spPr>
          <a:xfrm>
            <a:off x="3507700" y="3274060"/>
            <a:ext cx="1300520" cy="426720"/>
          </a:xfrm>
          <a:prstGeom prst="roundRect">
            <a:avLst>
              <a:gd name="adj" fmla="val 21429"/>
            </a:avLst>
          </a:prstGeom>
          <a:solidFill>
            <a:srgbClr val="EFFBF7"/>
          </a:solidFill>
          <a:ln w="9525">
            <a:solidFill>
              <a:srgbClr val="CBE9DD"/>
            </a:solidFill>
            <a:prstDash val="solid"/>
          </a:ln>
        </p:spPr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B3E5DD5C-60F9-3FC0-EAE9-342F4105D88A}"/>
              </a:ext>
            </a:extLst>
          </p:cNvPr>
          <p:cNvSpPr/>
          <p:nvPr/>
        </p:nvSpPr>
        <p:spPr>
          <a:xfrm>
            <a:off x="3614380" y="3380740"/>
            <a:ext cx="213360" cy="213360"/>
          </a:xfrm>
          <a:prstGeom prst="ellipse">
            <a:avLst/>
          </a:prstGeom>
          <a:solidFill>
            <a:srgbClr val="00AB7A"/>
          </a:solidFill>
          <a:ln>
            <a:noFill/>
          </a:ln>
        </p:spPr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3FFAD3F8-BFEE-FDF8-EEB2-E7A277F4A9DC}"/>
              </a:ext>
            </a:extLst>
          </p:cNvPr>
          <p:cNvSpPr/>
          <p:nvPr/>
        </p:nvSpPr>
        <p:spPr>
          <a:xfrm>
            <a:off x="609600" y="3958590"/>
            <a:ext cx="4343400" cy="2556510"/>
          </a:xfrm>
          <a:prstGeom prst="roundRect">
            <a:avLst>
              <a:gd name="adj" fmla="val 5731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50" name="Shape 26">
            <a:extLst>
              <a:ext uri="{FF2B5EF4-FFF2-40B4-BE49-F238E27FC236}">
                <a16:creationId xmlns:a16="http://schemas.microsoft.com/office/drawing/2014/main" id="{CB1C904C-B3A7-04A9-E946-8B0A49AD62AC}"/>
              </a:ext>
            </a:extLst>
          </p:cNvPr>
          <p:cNvSpPr/>
          <p:nvPr/>
        </p:nvSpPr>
        <p:spPr>
          <a:xfrm>
            <a:off x="617220" y="3958590"/>
            <a:ext cx="4328160" cy="407670"/>
          </a:xfrm>
          <a:prstGeom prst="rect">
            <a:avLst/>
          </a:prstGeom>
          <a:solidFill>
            <a:srgbClr val="0721A8"/>
          </a:solidFill>
          <a:ln>
            <a:noFill/>
          </a:ln>
        </p:spPr>
      </p:sp>
      <p:sp>
        <p:nvSpPr>
          <p:cNvPr id="52" name="Shape 27">
            <a:extLst>
              <a:ext uri="{FF2B5EF4-FFF2-40B4-BE49-F238E27FC236}">
                <a16:creationId xmlns:a16="http://schemas.microsoft.com/office/drawing/2014/main" id="{CC66C933-B170-429C-B7E8-AD7B7612E07F}"/>
              </a:ext>
            </a:extLst>
          </p:cNvPr>
          <p:cNvSpPr/>
          <p:nvPr/>
        </p:nvSpPr>
        <p:spPr>
          <a:xfrm>
            <a:off x="617220" y="4373880"/>
            <a:ext cx="2164080" cy="2133600"/>
          </a:xfrm>
          <a:prstGeom prst="rect">
            <a:avLst/>
          </a:prstGeom>
          <a:solidFill>
            <a:srgbClr val="F6FCF9"/>
          </a:solidFill>
          <a:ln>
            <a:noFill/>
          </a:ln>
        </p:spPr>
      </p:sp>
      <p:sp>
        <p:nvSpPr>
          <p:cNvPr id="54" name="Shape 28">
            <a:extLst>
              <a:ext uri="{FF2B5EF4-FFF2-40B4-BE49-F238E27FC236}">
                <a16:creationId xmlns:a16="http://schemas.microsoft.com/office/drawing/2014/main" id="{BD8AEA91-5B94-E333-5079-BA844968F445}"/>
              </a:ext>
            </a:extLst>
          </p:cNvPr>
          <p:cNvSpPr/>
          <p:nvPr/>
        </p:nvSpPr>
        <p:spPr>
          <a:xfrm>
            <a:off x="2777490" y="4366260"/>
            <a:ext cx="11430" cy="2133600"/>
          </a:xfrm>
          <a:prstGeom prst="line">
            <a:avLst/>
          </a:prstGeom>
          <a:noFill/>
          <a:ln w="9525">
            <a:solidFill>
              <a:srgbClr val="DCEAF6"/>
            </a:solidFill>
            <a:prstDash val="solid"/>
          </a:ln>
        </p:spPr>
      </p:sp>
      <p:sp>
        <p:nvSpPr>
          <p:cNvPr id="56" name="Shape 29">
            <a:extLst>
              <a:ext uri="{FF2B5EF4-FFF2-40B4-BE49-F238E27FC236}">
                <a16:creationId xmlns:a16="http://schemas.microsoft.com/office/drawing/2014/main" id="{B11F4EBC-12E4-E9DB-9A2D-4454B9AD1909}"/>
              </a:ext>
            </a:extLst>
          </p:cNvPr>
          <p:cNvSpPr/>
          <p:nvPr/>
        </p:nvSpPr>
        <p:spPr>
          <a:xfrm>
            <a:off x="754380" y="4541520"/>
            <a:ext cx="259080" cy="259080"/>
          </a:xfrm>
          <a:prstGeom prst="ellipse">
            <a:avLst/>
          </a:prstGeom>
          <a:solidFill>
            <a:srgbClr val="00AB7A"/>
          </a:solidFill>
          <a:ln>
            <a:noFill/>
          </a:ln>
        </p:spPr>
      </p:sp>
      <p:sp>
        <p:nvSpPr>
          <p:cNvPr id="58" name="Shape 30">
            <a:extLst>
              <a:ext uri="{FF2B5EF4-FFF2-40B4-BE49-F238E27FC236}">
                <a16:creationId xmlns:a16="http://schemas.microsoft.com/office/drawing/2014/main" id="{4D8A6194-F16B-32A8-49CF-37EC2F9A5CDC}"/>
              </a:ext>
            </a:extLst>
          </p:cNvPr>
          <p:cNvSpPr/>
          <p:nvPr/>
        </p:nvSpPr>
        <p:spPr>
          <a:xfrm>
            <a:off x="754380" y="5573633"/>
            <a:ext cx="1882140" cy="565309"/>
          </a:xfrm>
          <a:prstGeom prst="roundRect">
            <a:avLst>
              <a:gd name="adj" fmla="val 16175"/>
            </a:avLst>
          </a:prstGeom>
          <a:solidFill>
            <a:srgbClr val="FFFFFF"/>
          </a:solidFill>
          <a:ln w="9525">
            <a:solidFill>
              <a:srgbClr val="BFE9DA"/>
            </a:solidFill>
            <a:prstDash val="solid"/>
          </a:ln>
        </p:spPr>
      </p:sp>
      <p:sp>
        <p:nvSpPr>
          <p:cNvPr id="60" name="Shape 31">
            <a:extLst>
              <a:ext uri="{FF2B5EF4-FFF2-40B4-BE49-F238E27FC236}">
                <a16:creationId xmlns:a16="http://schemas.microsoft.com/office/drawing/2014/main" id="{04C8A243-4687-E377-9E3A-B82D038891C8}"/>
              </a:ext>
            </a:extLst>
          </p:cNvPr>
          <p:cNvSpPr/>
          <p:nvPr/>
        </p:nvSpPr>
        <p:spPr>
          <a:xfrm>
            <a:off x="2781300" y="4411980"/>
            <a:ext cx="2164080" cy="2095500"/>
          </a:xfrm>
          <a:prstGeom prst="rect">
            <a:avLst/>
          </a:prstGeom>
          <a:solidFill>
            <a:srgbClr val="FFF9F9"/>
          </a:solidFill>
          <a:ln>
            <a:noFill/>
          </a:ln>
        </p:spPr>
      </p:sp>
      <p:sp>
        <p:nvSpPr>
          <p:cNvPr id="62" name="Shape 32">
            <a:extLst>
              <a:ext uri="{FF2B5EF4-FFF2-40B4-BE49-F238E27FC236}">
                <a16:creationId xmlns:a16="http://schemas.microsoft.com/office/drawing/2014/main" id="{7AE98E25-3C04-6C81-9684-47AA3E04F4EE}"/>
              </a:ext>
            </a:extLst>
          </p:cNvPr>
          <p:cNvSpPr/>
          <p:nvPr/>
        </p:nvSpPr>
        <p:spPr>
          <a:xfrm>
            <a:off x="2918460" y="4541520"/>
            <a:ext cx="259080" cy="2590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4" name="Shape 33">
            <a:extLst>
              <a:ext uri="{FF2B5EF4-FFF2-40B4-BE49-F238E27FC236}">
                <a16:creationId xmlns:a16="http://schemas.microsoft.com/office/drawing/2014/main" id="{E30425A5-3357-175C-2FF1-D225312F109D}"/>
              </a:ext>
            </a:extLst>
          </p:cNvPr>
          <p:cNvSpPr/>
          <p:nvPr/>
        </p:nvSpPr>
        <p:spPr>
          <a:xfrm>
            <a:off x="2918460" y="5573633"/>
            <a:ext cx="1889760" cy="565309"/>
          </a:xfrm>
          <a:prstGeom prst="roundRect">
            <a:avLst>
              <a:gd name="adj" fmla="val 16175"/>
            </a:avLst>
          </a:prstGeom>
          <a:solidFill>
            <a:srgbClr val="FFFFFF"/>
          </a:solidFill>
          <a:ln w="9525">
            <a:solidFill>
              <a:srgbClr val="F0CCCC"/>
            </a:solidFill>
            <a:prstDash val="solid"/>
          </a:ln>
        </p:spPr>
      </p:sp>
      <p:sp>
        <p:nvSpPr>
          <p:cNvPr id="66" name="Shape 34">
            <a:extLst>
              <a:ext uri="{FF2B5EF4-FFF2-40B4-BE49-F238E27FC236}">
                <a16:creationId xmlns:a16="http://schemas.microsoft.com/office/drawing/2014/main" id="{AC569A63-434F-54A1-E223-67A109429583}"/>
              </a:ext>
            </a:extLst>
          </p:cNvPr>
          <p:cNvSpPr/>
          <p:nvPr/>
        </p:nvSpPr>
        <p:spPr>
          <a:xfrm>
            <a:off x="5090160" y="1554480"/>
            <a:ext cx="6492240" cy="2697480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19050">
            <a:solidFill>
              <a:srgbClr val="B8DDF8"/>
            </a:solidFill>
            <a:prstDash val="solid"/>
          </a:ln>
        </p:spPr>
      </p:sp>
      <p:sp>
        <p:nvSpPr>
          <p:cNvPr id="68" name="Shape 35">
            <a:extLst>
              <a:ext uri="{FF2B5EF4-FFF2-40B4-BE49-F238E27FC236}">
                <a16:creationId xmlns:a16="http://schemas.microsoft.com/office/drawing/2014/main" id="{2F2B7F0C-5339-7D4D-2095-9A6266066016}"/>
              </a:ext>
            </a:extLst>
          </p:cNvPr>
          <p:cNvSpPr/>
          <p:nvPr/>
        </p:nvSpPr>
        <p:spPr>
          <a:xfrm>
            <a:off x="10347960" y="1642110"/>
            <a:ext cx="1051560" cy="32766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70" name="Shape 36">
            <a:extLst>
              <a:ext uri="{FF2B5EF4-FFF2-40B4-BE49-F238E27FC236}">
                <a16:creationId xmlns:a16="http://schemas.microsoft.com/office/drawing/2014/main" id="{AA44FE4E-A010-34EF-314B-14F5F971BCEE}"/>
              </a:ext>
            </a:extLst>
          </p:cNvPr>
          <p:cNvSpPr/>
          <p:nvPr/>
        </p:nvSpPr>
        <p:spPr>
          <a:xfrm>
            <a:off x="5242560" y="2179320"/>
            <a:ext cx="1489710" cy="670560"/>
          </a:xfrm>
          <a:prstGeom prst="roundRect">
            <a:avLst>
              <a:gd name="adj" fmla="val 14773"/>
            </a:avLst>
          </a:prstGeom>
          <a:solidFill>
            <a:srgbClr val="F1F6FF"/>
          </a:solidFill>
          <a:ln w="9525">
            <a:solidFill>
              <a:srgbClr val="D7E4F7"/>
            </a:solidFill>
            <a:prstDash val="solid"/>
          </a:ln>
        </p:spPr>
      </p:sp>
      <p:sp>
        <p:nvSpPr>
          <p:cNvPr id="72" name="Shape 37">
            <a:extLst>
              <a:ext uri="{FF2B5EF4-FFF2-40B4-BE49-F238E27FC236}">
                <a16:creationId xmlns:a16="http://schemas.microsoft.com/office/drawing/2014/main" id="{CD099468-8577-1A13-DC00-7A1BD8FF6E47}"/>
              </a:ext>
            </a:extLst>
          </p:cNvPr>
          <p:cNvSpPr/>
          <p:nvPr/>
        </p:nvSpPr>
        <p:spPr>
          <a:xfrm>
            <a:off x="6808470" y="2179320"/>
            <a:ext cx="1489710" cy="670560"/>
          </a:xfrm>
          <a:prstGeom prst="roundRect">
            <a:avLst>
              <a:gd name="adj" fmla="val 14773"/>
            </a:avLst>
          </a:prstGeom>
          <a:solidFill>
            <a:srgbClr val="F1F6FF"/>
          </a:solidFill>
          <a:ln w="9525">
            <a:solidFill>
              <a:srgbClr val="D7E4F7"/>
            </a:solidFill>
            <a:prstDash val="solid"/>
          </a:ln>
        </p:spPr>
      </p:sp>
      <p:sp>
        <p:nvSpPr>
          <p:cNvPr id="74" name="Shape 38">
            <a:extLst>
              <a:ext uri="{FF2B5EF4-FFF2-40B4-BE49-F238E27FC236}">
                <a16:creationId xmlns:a16="http://schemas.microsoft.com/office/drawing/2014/main" id="{41D820EE-783E-987D-1683-1A7C150DF33C}"/>
              </a:ext>
            </a:extLst>
          </p:cNvPr>
          <p:cNvSpPr/>
          <p:nvPr/>
        </p:nvSpPr>
        <p:spPr>
          <a:xfrm>
            <a:off x="8374380" y="2179320"/>
            <a:ext cx="1489710" cy="670560"/>
          </a:xfrm>
          <a:prstGeom prst="roundRect">
            <a:avLst>
              <a:gd name="adj" fmla="val 14773"/>
            </a:avLst>
          </a:prstGeom>
          <a:solidFill>
            <a:srgbClr val="EDF9FF"/>
          </a:solidFill>
          <a:ln w="9525">
            <a:solidFill>
              <a:srgbClr val="CFEAF8"/>
            </a:solidFill>
            <a:prstDash val="solid"/>
          </a:ln>
        </p:spPr>
      </p:sp>
      <p:sp>
        <p:nvSpPr>
          <p:cNvPr id="76" name="Shape 39">
            <a:extLst>
              <a:ext uri="{FF2B5EF4-FFF2-40B4-BE49-F238E27FC236}">
                <a16:creationId xmlns:a16="http://schemas.microsoft.com/office/drawing/2014/main" id="{8D8B28F8-BB18-E65E-6334-CDE56AD6AB4C}"/>
              </a:ext>
            </a:extLst>
          </p:cNvPr>
          <p:cNvSpPr/>
          <p:nvPr/>
        </p:nvSpPr>
        <p:spPr>
          <a:xfrm>
            <a:off x="9940290" y="2179320"/>
            <a:ext cx="1489710" cy="670560"/>
          </a:xfrm>
          <a:prstGeom prst="roundRect">
            <a:avLst>
              <a:gd name="adj" fmla="val 14773"/>
            </a:avLst>
          </a:prstGeom>
          <a:solidFill>
            <a:srgbClr val="EDF9FF"/>
          </a:solidFill>
          <a:ln w="9525">
            <a:solidFill>
              <a:srgbClr val="CFEAF8"/>
            </a:solidFill>
            <a:prstDash val="solid"/>
          </a:ln>
        </p:spPr>
      </p:sp>
      <p:sp>
        <p:nvSpPr>
          <p:cNvPr id="78" name="Shape 40">
            <a:extLst>
              <a:ext uri="{FF2B5EF4-FFF2-40B4-BE49-F238E27FC236}">
                <a16:creationId xmlns:a16="http://schemas.microsoft.com/office/drawing/2014/main" id="{AEAA2ED2-688B-0AA2-AFD5-C4E6883F9A5E}"/>
              </a:ext>
            </a:extLst>
          </p:cNvPr>
          <p:cNvSpPr/>
          <p:nvPr/>
        </p:nvSpPr>
        <p:spPr>
          <a:xfrm>
            <a:off x="5242560" y="2926080"/>
            <a:ext cx="1489710" cy="670560"/>
          </a:xfrm>
          <a:prstGeom prst="roundRect">
            <a:avLst>
              <a:gd name="adj" fmla="val 14773"/>
            </a:avLst>
          </a:prstGeom>
          <a:solidFill>
            <a:srgbClr val="EEFBFF"/>
          </a:solidFill>
          <a:ln w="9525">
            <a:solidFill>
              <a:srgbClr val="BDEBFA"/>
            </a:solidFill>
            <a:prstDash val="solid"/>
          </a:ln>
        </p:spPr>
      </p:sp>
      <p:sp>
        <p:nvSpPr>
          <p:cNvPr id="80" name="Shape 41">
            <a:extLst>
              <a:ext uri="{FF2B5EF4-FFF2-40B4-BE49-F238E27FC236}">
                <a16:creationId xmlns:a16="http://schemas.microsoft.com/office/drawing/2014/main" id="{2D17F4BD-D966-7414-9171-72A73D87C46C}"/>
              </a:ext>
            </a:extLst>
          </p:cNvPr>
          <p:cNvSpPr/>
          <p:nvPr/>
        </p:nvSpPr>
        <p:spPr>
          <a:xfrm>
            <a:off x="6808470" y="2926080"/>
            <a:ext cx="1489710" cy="670560"/>
          </a:xfrm>
          <a:prstGeom prst="roundRect">
            <a:avLst>
              <a:gd name="adj" fmla="val 14773"/>
            </a:avLst>
          </a:prstGeom>
          <a:solidFill>
            <a:srgbClr val="EEFBFF"/>
          </a:solidFill>
          <a:ln w="9525">
            <a:solidFill>
              <a:srgbClr val="BDEBFA"/>
            </a:solidFill>
            <a:prstDash val="solid"/>
          </a:ln>
        </p:spPr>
      </p:sp>
      <p:sp>
        <p:nvSpPr>
          <p:cNvPr id="82" name="Shape 42">
            <a:extLst>
              <a:ext uri="{FF2B5EF4-FFF2-40B4-BE49-F238E27FC236}">
                <a16:creationId xmlns:a16="http://schemas.microsoft.com/office/drawing/2014/main" id="{BF07254B-D8E4-8B28-6E4D-580889A67220}"/>
              </a:ext>
            </a:extLst>
          </p:cNvPr>
          <p:cNvSpPr/>
          <p:nvPr/>
        </p:nvSpPr>
        <p:spPr>
          <a:xfrm>
            <a:off x="8374380" y="2926080"/>
            <a:ext cx="1489710" cy="670560"/>
          </a:xfrm>
          <a:prstGeom prst="roundRect">
            <a:avLst>
              <a:gd name="adj" fmla="val 14773"/>
            </a:avLst>
          </a:prstGeom>
          <a:solidFill>
            <a:srgbClr val="EFFBF7"/>
          </a:solidFill>
          <a:ln w="9525">
            <a:solidFill>
              <a:srgbClr val="CBE9DD"/>
            </a:solidFill>
            <a:prstDash val="solid"/>
          </a:ln>
        </p:spPr>
      </p:sp>
      <p:sp>
        <p:nvSpPr>
          <p:cNvPr id="84" name="Shape 43">
            <a:extLst>
              <a:ext uri="{FF2B5EF4-FFF2-40B4-BE49-F238E27FC236}">
                <a16:creationId xmlns:a16="http://schemas.microsoft.com/office/drawing/2014/main" id="{4C573C22-27C2-A6E0-F78C-A7F4C9840478}"/>
              </a:ext>
            </a:extLst>
          </p:cNvPr>
          <p:cNvSpPr/>
          <p:nvPr/>
        </p:nvSpPr>
        <p:spPr>
          <a:xfrm>
            <a:off x="9940290" y="2926080"/>
            <a:ext cx="1489710" cy="670560"/>
          </a:xfrm>
          <a:prstGeom prst="roundRect">
            <a:avLst>
              <a:gd name="adj" fmla="val 14773"/>
            </a:avLst>
          </a:prstGeom>
          <a:solidFill>
            <a:srgbClr val="EFFBF7"/>
          </a:solidFill>
          <a:ln w="9525">
            <a:solidFill>
              <a:srgbClr val="CBE9DD"/>
            </a:solidFill>
            <a:prstDash val="solid"/>
          </a:ln>
        </p:spPr>
      </p:sp>
      <p:sp>
        <p:nvSpPr>
          <p:cNvPr id="86" name="Shape 44">
            <a:extLst>
              <a:ext uri="{FF2B5EF4-FFF2-40B4-BE49-F238E27FC236}">
                <a16:creationId xmlns:a16="http://schemas.microsoft.com/office/drawing/2014/main" id="{958554BB-49BA-F20D-C0CA-F0008DB00829}"/>
              </a:ext>
            </a:extLst>
          </p:cNvPr>
          <p:cNvSpPr/>
          <p:nvPr/>
        </p:nvSpPr>
        <p:spPr>
          <a:xfrm>
            <a:off x="5242560" y="3688080"/>
            <a:ext cx="6187440" cy="400812"/>
          </a:xfrm>
          <a:prstGeom prst="roundRect">
            <a:avLst>
              <a:gd name="adj" fmla="val 25000"/>
            </a:avLst>
          </a:prstGeom>
          <a:solidFill>
            <a:srgbClr val="EBFAFF"/>
          </a:solidFill>
          <a:ln w="9525">
            <a:solidFill>
              <a:srgbClr val="B8DDF8"/>
            </a:solidFill>
            <a:prstDash val="solid"/>
          </a:ln>
        </p:spPr>
      </p:sp>
      <p:sp>
        <p:nvSpPr>
          <p:cNvPr id="88" name="Shape 45">
            <a:extLst>
              <a:ext uri="{FF2B5EF4-FFF2-40B4-BE49-F238E27FC236}">
                <a16:creationId xmlns:a16="http://schemas.microsoft.com/office/drawing/2014/main" id="{A1F39F06-2147-4495-E9EC-B9CC8482BA23}"/>
              </a:ext>
            </a:extLst>
          </p:cNvPr>
          <p:cNvSpPr/>
          <p:nvPr/>
        </p:nvSpPr>
        <p:spPr>
          <a:xfrm>
            <a:off x="5090160" y="4373880"/>
            <a:ext cx="6492240" cy="2141220"/>
          </a:xfrm>
          <a:prstGeom prst="roundRect">
            <a:avLst>
              <a:gd name="adj" fmla="val 7117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90" name="Shape 46">
            <a:extLst>
              <a:ext uri="{FF2B5EF4-FFF2-40B4-BE49-F238E27FC236}">
                <a16:creationId xmlns:a16="http://schemas.microsoft.com/office/drawing/2014/main" id="{CCCB6598-9E59-37ED-A4DF-AD29DFFC08E3}"/>
              </a:ext>
            </a:extLst>
          </p:cNvPr>
          <p:cNvSpPr/>
          <p:nvPr/>
        </p:nvSpPr>
        <p:spPr>
          <a:xfrm>
            <a:off x="5097780" y="4381500"/>
            <a:ext cx="6477000" cy="426720"/>
          </a:xfrm>
          <a:prstGeom prst="rect">
            <a:avLst/>
          </a:prstGeom>
          <a:solidFill>
            <a:srgbClr val="00A7FF"/>
          </a:solidFill>
          <a:ln>
            <a:noFill/>
          </a:ln>
        </p:spPr>
      </p:sp>
      <p:sp>
        <p:nvSpPr>
          <p:cNvPr id="92" name="Shape 47">
            <a:extLst>
              <a:ext uri="{FF2B5EF4-FFF2-40B4-BE49-F238E27FC236}">
                <a16:creationId xmlns:a16="http://schemas.microsoft.com/office/drawing/2014/main" id="{BC311C3E-683E-76EB-8D7A-F6E406433D16}"/>
              </a:ext>
            </a:extLst>
          </p:cNvPr>
          <p:cNvSpPr/>
          <p:nvPr/>
        </p:nvSpPr>
        <p:spPr>
          <a:xfrm>
            <a:off x="5234940" y="4945380"/>
            <a:ext cx="2016681" cy="785574"/>
          </a:xfrm>
          <a:prstGeom prst="roundRect">
            <a:avLst>
              <a:gd name="adj" fmla="val 10670"/>
            </a:avLst>
          </a:prstGeom>
          <a:solidFill>
            <a:srgbClr val="F8FCFF"/>
          </a:solidFill>
          <a:ln w="9525">
            <a:solidFill>
              <a:srgbClr val="DCEAF6"/>
            </a:solidFill>
            <a:prstDash val="solid"/>
          </a:ln>
        </p:spPr>
      </p:sp>
      <p:sp>
        <p:nvSpPr>
          <p:cNvPr id="94" name="Shape 48">
            <a:extLst>
              <a:ext uri="{FF2B5EF4-FFF2-40B4-BE49-F238E27FC236}">
                <a16:creationId xmlns:a16="http://schemas.microsoft.com/office/drawing/2014/main" id="{D95195D3-9C8B-353B-41D6-32B9F18508CE}"/>
              </a:ext>
            </a:extLst>
          </p:cNvPr>
          <p:cNvSpPr/>
          <p:nvPr/>
        </p:nvSpPr>
        <p:spPr>
          <a:xfrm>
            <a:off x="7327821" y="4945380"/>
            <a:ext cx="2016800" cy="785574"/>
          </a:xfrm>
          <a:prstGeom prst="roundRect">
            <a:avLst>
              <a:gd name="adj" fmla="val 10670"/>
            </a:avLst>
          </a:prstGeom>
          <a:solidFill>
            <a:srgbClr val="FFFFFF"/>
          </a:solidFill>
          <a:ln w="9525">
            <a:solidFill>
              <a:srgbClr val="DCEAF6"/>
            </a:solidFill>
            <a:prstDash val="solid"/>
          </a:ln>
        </p:spPr>
      </p:sp>
      <p:sp>
        <p:nvSpPr>
          <p:cNvPr id="96" name="Shape 49">
            <a:extLst>
              <a:ext uri="{FF2B5EF4-FFF2-40B4-BE49-F238E27FC236}">
                <a16:creationId xmlns:a16="http://schemas.microsoft.com/office/drawing/2014/main" id="{8A679E8A-A835-E2A8-42DE-C362FBAF0760}"/>
              </a:ext>
            </a:extLst>
          </p:cNvPr>
          <p:cNvSpPr/>
          <p:nvPr/>
        </p:nvSpPr>
        <p:spPr>
          <a:xfrm>
            <a:off x="9420820" y="4945380"/>
            <a:ext cx="2016800" cy="785574"/>
          </a:xfrm>
          <a:prstGeom prst="roundRect">
            <a:avLst>
              <a:gd name="adj" fmla="val 10670"/>
            </a:avLst>
          </a:prstGeom>
          <a:solidFill>
            <a:srgbClr val="F8FCFF"/>
          </a:solidFill>
          <a:ln w="9525">
            <a:solidFill>
              <a:srgbClr val="DCEAF6"/>
            </a:solidFill>
            <a:prstDash val="solid"/>
          </a:ln>
        </p:spPr>
      </p:sp>
      <p:sp>
        <p:nvSpPr>
          <p:cNvPr id="98" name="Shape 50">
            <a:extLst>
              <a:ext uri="{FF2B5EF4-FFF2-40B4-BE49-F238E27FC236}">
                <a16:creationId xmlns:a16="http://schemas.microsoft.com/office/drawing/2014/main" id="{DE1A2DC0-8E0F-6F4A-EB77-A325AE6336D5}"/>
              </a:ext>
            </a:extLst>
          </p:cNvPr>
          <p:cNvSpPr/>
          <p:nvPr/>
        </p:nvSpPr>
        <p:spPr>
          <a:xfrm>
            <a:off x="5234940" y="5807154"/>
            <a:ext cx="3063240" cy="624840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9525">
            <a:solidFill>
              <a:srgbClr val="DCEAF6"/>
            </a:solidFill>
            <a:prstDash val="solid"/>
          </a:ln>
        </p:spPr>
      </p:sp>
      <p:sp>
        <p:nvSpPr>
          <p:cNvPr id="100" name="Shape 51">
            <a:extLst>
              <a:ext uri="{FF2B5EF4-FFF2-40B4-BE49-F238E27FC236}">
                <a16:creationId xmlns:a16="http://schemas.microsoft.com/office/drawing/2014/main" id="{035981B8-E06C-D430-5C4E-43FDFABA29F1}"/>
              </a:ext>
            </a:extLst>
          </p:cNvPr>
          <p:cNvSpPr/>
          <p:nvPr/>
        </p:nvSpPr>
        <p:spPr>
          <a:xfrm>
            <a:off x="8374380" y="5807154"/>
            <a:ext cx="3063240" cy="624840"/>
          </a:xfrm>
          <a:prstGeom prst="roundRect">
            <a:avLst>
              <a:gd name="adj" fmla="val 13415"/>
            </a:avLst>
          </a:prstGeom>
          <a:solidFill>
            <a:srgbClr val="EFFBF7"/>
          </a:solidFill>
          <a:ln w="9525">
            <a:solidFill>
              <a:srgbClr val="BFE9DA"/>
            </a:solidFill>
            <a:prstDash val="solid"/>
          </a:ln>
        </p:spPr>
      </p:sp>
      <p:sp>
        <p:nvSpPr>
          <p:cNvPr id="102" name="TextBox 4">
            <a:extLst>
              <a:ext uri="{FF2B5EF4-FFF2-40B4-BE49-F238E27FC236}">
                <a16:creationId xmlns:a16="http://schemas.microsoft.com/office/drawing/2014/main" id="{DC65C288-1B10-560B-ADB4-966DB610D2FB}"/>
              </a:ext>
            </a:extLst>
          </p:cNvPr>
          <p:cNvSpPr txBox="1"/>
          <p:nvPr/>
        </p:nvSpPr>
        <p:spPr>
          <a:xfrm>
            <a:off x="982980" y="1074420"/>
            <a:ext cx="679094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05"/>
              </a:lnSpc>
            </a:pPr>
            <a:r>
              <a:rPr lang="zh-CN" sz="1560" b="1" dirty="0">
                <a:solidFill>
                  <a:srgbClr val="0F2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从一个清晰、可控、可验证的任务出发，交付可运行、可测试、可说明的助手</a:t>
            </a:r>
          </a:p>
        </p:txBody>
      </p:sp>
      <p:sp>
        <p:nvSpPr>
          <p:cNvPr id="106" name="TextBox 6">
            <a:extLst>
              <a:ext uri="{FF2B5EF4-FFF2-40B4-BE49-F238E27FC236}">
                <a16:creationId xmlns:a16="http://schemas.microsoft.com/office/drawing/2014/main" id="{E0A134B1-AA30-4EDD-19EB-98494F1C4A1B}"/>
              </a:ext>
            </a:extLst>
          </p:cNvPr>
          <p:cNvSpPr txBox="1"/>
          <p:nvPr/>
        </p:nvSpPr>
        <p:spPr>
          <a:xfrm>
            <a:off x="784860" y="1676400"/>
            <a:ext cx="261518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30"/>
              </a:lnSpc>
            </a:pPr>
            <a:r>
              <a:rPr lang="zh-CN" sz="14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能力栈｜从理解机制到基础发布</a:t>
            </a:r>
          </a:p>
        </p:txBody>
      </p:sp>
      <p:sp>
        <p:nvSpPr>
          <p:cNvPr id="108" name="TextBox 7">
            <a:extLst>
              <a:ext uri="{FF2B5EF4-FFF2-40B4-BE49-F238E27FC236}">
                <a16:creationId xmlns:a16="http://schemas.microsoft.com/office/drawing/2014/main" id="{684F887C-D6D0-A5BA-9629-9D5CB460961E}"/>
              </a:ext>
            </a:extLst>
          </p:cNvPr>
          <p:cNvSpPr txBox="1"/>
          <p:nvPr/>
        </p:nvSpPr>
        <p:spPr>
          <a:xfrm>
            <a:off x="784860" y="4065270"/>
            <a:ext cx="334670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30"/>
              </a:lnSpc>
            </a:pPr>
            <a:r>
              <a:rPr lang="zh-CN" sz="14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项目边界｜先选对任务，再训练完整交付</a:t>
            </a:r>
          </a:p>
        </p:txBody>
      </p:sp>
      <p:sp>
        <p:nvSpPr>
          <p:cNvPr id="110" name="TextBox 8">
            <a:extLst>
              <a:ext uri="{FF2B5EF4-FFF2-40B4-BE49-F238E27FC236}">
                <a16:creationId xmlns:a16="http://schemas.microsoft.com/office/drawing/2014/main" id="{8B3E7610-3A75-069D-7C6B-84E7CDDDF1A9}"/>
              </a:ext>
            </a:extLst>
          </p:cNvPr>
          <p:cNvSpPr txBox="1"/>
          <p:nvPr/>
        </p:nvSpPr>
        <p:spPr>
          <a:xfrm>
            <a:off x="1089660" y="4549140"/>
            <a:ext cx="72542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980"/>
              </a:lnSpc>
            </a:pPr>
            <a:r>
              <a:rPr lang="zh-CN" sz="132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优先选择</a:t>
            </a:r>
          </a:p>
        </p:txBody>
      </p:sp>
      <p:sp>
        <p:nvSpPr>
          <p:cNvPr id="112" name="TextBox 9">
            <a:extLst>
              <a:ext uri="{FF2B5EF4-FFF2-40B4-BE49-F238E27FC236}">
                <a16:creationId xmlns:a16="http://schemas.microsoft.com/office/drawing/2014/main" id="{3EE59B36-0B6B-41F4-DB0E-E77381C33D0B}"/>
              </a:ext>
            </a:extLst>
          </p:cNvPr>
          <p:cNvSpPr txBox="1"/>
          <p:nvPr/>
        </p:nvSpPr>
        <p:spPr>
          <a:xfrm>
            <a:off x="754380" y="5019040"/>
            <a:ext cx="1937004" cy="4541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75"/>
              </a:lnSpc>
              <a:spcBef>
                <a:spcPts val="7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高频任务 · 流程稳定 · 信息来源清楚 · 风险可控 · 结果可验证</a:t>
            </a:r>
          </a:p>
        </p:txBody>
      </p:sp>
      <p:sp>
        <p:nvSpPr>
          <p:cNvPr id="114" name="TextBox 10">
            <a:extLst>
              <a:ext uri="{FF2B5EF4-FFF2-40B4-BE49-F238E27FC236}">
                <a16:creationId xmlns:a16="http://schemas.microsoft.com/office/drawing/2014/main" id="{D95EB86D-61BC-5D1D-3D77-0398AD69384A}"/>
              </a:ext>
            </a:extLst>
          </p:cNvPr>
          <p:cNvSpPr txBox="1"/>
          <p:nvPr/>
        </p:nvSpPr>
        <p:spPr>
          <a:xfrm>
            <a:off x="868680" y="5659120"/>
            <a:ext cx="170840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b="1" dirty="0">
                <a:solidFill>
                  <a:srgbClr val="075A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制度问答 / 资料整理 / 内容初稿 / 标准化信息处理</a:t>
            </a:r>
          </a:p>
        </p:txBody>
      </p:sp>
      <p:sp>
        <p:nvSpPr>
          <p:cNvPr id="116" name="TextBox 11">
            <a:extLst>
              <a:ext uri="{FF2B5EF4-FFF2-40B4-BE49-F238E27FC236}">
                <a16:creationId xmlns:a16="http://schemas.microsoft.com/office/drawing/2014/main" id="{98546979-CA79-F4F7-DC13-A89BBC081094}"/>
              </a:ext>
            </a:extLst>
          </p:cNvPr>
          <p:cNvSpPr txBox="1"/>
          <p:nvPr/>
        </p:nvSpPr>
        <p:spPr>
          <a:xfrm>
            <a:off x="3253740" y="4549140"/>
            <a:ext cx="72542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980"/>
              </a:lnSpc>
            </a:pPr>
            <a:r>
              <a:rPr lang="zh-CN" sz="1320" b="1" dirty="0">
                <a:solidFill>
                  <a:srgbClr val="8F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暂不适合</a:t>
            </a:r>
          </a:p>
        </p:txBody>
      </p:sp>
      <p:sp>
        <p:nvSpPr>
          <p:cNvPr id="118" name="TextBox 12">
            <a:extLst>
              <a:ext uri="{FF2B5EF4-FFF2-40B4-BE49-F238E27FC236}">
                <a16:creationId xmlns:a16="http://schemas.microsoft.com/office/drawing/2014/main" id="{B84A2D57-4441-CABA-9297-D55810663CDA}"/>
              </a:ext>
            </a:extLst>
          </p:cNvPr>
          <p:cNvSpPr txBox="1"/>
          <p:nvPr/>
        </p:nvSpPr>
        <p:spPr>
          <a:xfrm>
            <a:off x="2918460" y="5019040"/>
            <a:ext cx="1944624" cy="45415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000"/>
          </a:bodyPr>
          <a:lstStyle/>
          <a:p>
            <a:pPr>
              <a:lnSpc>
                <a:spcPts val="1675"/>
              </a:lnSpc>
              <a:spcBef>
                <a:spcPts val="7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跨多个核心系统 · 高权限操作 · 重大决策自动化 · 结果难核验</a:t>
            </a:r>
          </a:p>
        </p:txBody>
      </p:sp>
      <p:sp>
        <p:nvSpPr>
          <p:cNvPr id="120" name="TextBox 13">
            <a:extLst>
              <a:ext uri="{FF2B5EF4-FFF2-40B4-BE49-F238E27FC236}">
                <a16:creationId xmlns:a16="http://schemas.microsoft.com/office/drawing/2014/main" id="{EEB0F674-EE85-D168-BBA3-2E723B10527F}"/>
              </a:ext>
            </a:extLst>
          </p:cNvPr>
          <p:cNvSpPr txBox="1"/>
          <p:nvPr/>
        </p:nvSpPr>
        <p:spPr>
          <a:xfrm>
            <a:off x="3032760" y="5659120"/>
            <a:ext cx="171602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b="1" dirty="0">
                <a:solidFill>
                  <a:srgbClr val="7A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复杂集成与生产级稳定性交由 ADEP 项目承接</a:t>
            </a:r>
          </a:p>
        </p:txBody>
      </p:sp>
      <p:sp>
        <p:nvSpPr>
          <p:cNvPr id="122" name="TextBox 14">
            <a:extLst>
              <a:ext uri="{FF2B5EF4-FFF2-40B4-BE49-F238E27FC236}">
                <a16:creationId xmlns:a16="http://schemas.microsoft.com/office/drawing/2014/main" id="{EF2C9240-1A83-B16E-F559-0F14207D468A}"/>
              </a:ext>
            </a:extLst>
          </p:cNvPr>
          <p:cNvSpPr txBox="1"/>
          <p:nvPr/>
        </p:nvSpPr>
        <p:spPr>
          <a:xfrm>
            <a:off x="5273040" y="1607820"/>
            <a:ext cx="2470404" cy="1798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190"/>
              </a:lnSpc>
            </a:pPr>
            <a:r>
              <a:rPr lang="zh-CN" sz="10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核心项目成果</a:t>
            </a:r>
          </a:p>
        </p:txBody>
      </p:sp>
      <p:sp>
        <p:nvSpPr>
          <p:cNvPr id="124" name="TextBox 15">
            <a:extLst>
              <a:ext uri="{FF2B5EF4-FFF2-40B4-BE49-F238E27FC236}">
                <a16:creationId xmlns:a16="http://schemas.microsoft.com/office/drawing/2014/main" id="{449D5F6E-0D14-63BF-B6C7-75853268F97C}"/>
              </a:ext>
            </a:extLst>
          </p:cNvPr>
          <p:cNvSpPr txBox="1"/>
          <p:nvPr/>
        </p:nvSpPr>
        <p:spPr>
          <a:xfrm>
            <a:off x="5273040" y="1775460"/>
            <a:ext cx="2470404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00"/>
              </a:lnSpc>
              <a:spcBef>
                <a:spcPts val="180"/>
              </a:spcBef>
            </a:pPr>
            <a:r>
              <a:rPr lang="zh-C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可运行的单场景企业 AI 助手</a:t>
            </a:r>
          </a:p>
        </p:txBody>
      </p:sp>
      <p:sp>
        <p:nvSpPr>
          <p:cNvPr id="126" name="TextBox 16">
            <a:extLst>
              <a:ext uri="{FF2B5EF4-FFF2-40B4-BE49-F238E27FC236}">
                <a16:creationId xmlns:a16="http://schemas.microsoft.com/office/drawing/2014/main" id="{F66D720C-9378-7A0B-E538-14C0A0609F53}"/>
              </a:ext>
            </a:extLst>
          </p:cNvPr>
          <p:cNvSpPr txBox="1"/>
          <p:nvPr/>
        </p:nvSpPr>
        <p:spPr>
          <a:xfrm>
            <a:off x="5349240" y="2270760"/>
            <a:ext cx="133502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场景说明</a:t>
            </a:r>
          </a:p>
        </p:txBody>
      </p:sp>
      <p:sp>
        <p:nvSpPr>
          <p:cNvPr id="128" name="TextBox 17">
            <a:extLst>
              <a:ext uri="{FF2B5EF4-FFF2-40B4-BE49-F238E27FC236}">
                <a16:creationId xmlns:a16="http://schemas.microsoft.com/office/drawing/2014/main" id="{504D8941-1A3C-91E4-384F-1F0B59B87EAD}"/>
              </a:ext>
            </a:extLst>
          </p:cNvPr>
          <p:cNvSpPr txBox="1"/>
          <p:nvPr/>
        </p:nvSpPr>
        <p:spPr>
          <a:xfrm>
            <a:off x="5349240" y="2552700"/>
            <a:ext cx="133502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300"/>
              </a:spcBef>
            </a:pPr>
            <a:r>
              <a:rPr lang="zh-CN" sz="105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目标、对象、业务边界</a:t>
            </a:r>
          </a:p>
        </p:txBody>
      </p:sp>
      <p:sp>
        <p:nvSpPr>
          <p:cNvPr id="130" name="TextBox 18">
            <a:extLst>
              <a:ext uri="{FF2B5EF4-FFF2-40B4-BE49-F238E27FC236}">
                <a16:creationId xmlns:a16="http://schemas.microsoft.com/office/drawing/2014/main" id="{E14102C3-02C5-6D72-5E14-E81CAA59BA3F}"/>
              </a:ext>
            </a:extLst>
          </p:cNvPr>
          <p:cNvSpPr txBox="1"/>
          <p:nvPr/>
        </p:nvSpPr>
        <p:spPr>
          <a:xfrm>
            <a:off x="6918960" y="2270760"/>
            <a:ext cx="133502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输入输出</a:t>
            </a:r>
          </a:p>
        </p:txBody>
      </p:sp>
      <p:sp>
        <p:nvSpPr>
          <p:cNvPr id="132" name="TextBox 19">
            <a:extLst>
              <a:ext uri="{FF2B5EF4-FFF2-40B4-BE49-F238E27FC236}">
                <a16:creationId xmlns:a16="http://schemas.microsoft.com/office/drawing/2014/main" id="{62952D8A-D08E-4722-AB47-76A3A0000731}"/>
              </a:ext>
            </a:extLst>
          </p:cNvPr>
          <p:cNvSpPr txBox="1"/>
          <p:nvPr/>
        </p:nvSpPr>
        <p:spPr>
          <a:xfrm>
            <a:off x="6918960" y="2552700"/>
            <a:ext cx="133502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300"/>
              </a:spcBef>
            </a:pPr>
            <a:r>
              <a:rPr lang="zh-CN" sz="105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资料、格式、成功标准</a:t>
            </a:r>
          </a:p>
        </p:txBody>
      </p:sp>
      <p:sp>
        <p:nvSpPr>
          <p:cNvPr id="134" name="TextBox 20">
            <a:extLst>
              <a:ext uri="{FF2B5EF4-FFF2-40B4-BE49-F238E27FC236}">
                <a16:creationId xmlns:a16="http://schemas.microsoft.com/office/drawing/2014/main" id="{FAAA7B0D-6040-5690-62D5-5742662622F8}"/>
              </a:ext>
            </a:extLst>
          </p:cNvPr>
          <p:cNvSpPr txBox="1"/>
          <p:nvPr/>
        </p:nvSpPr>
        <p:spPr>
          <a:xfrm>
            <a:off x="8481060" y="2270760"/>
            <a:ext cx="133502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知识来源</a:t>
            </a:r>
          </a:p>
        </p:txBody>
      </p:sp>
      <p:sp>
        <p:nvSpPr>
          <p:cNvPr id="136" name="TextBox 21">
            <a:extLst>
              <a:ext uri="{FF2B5EF4-FFF2-40B4-BE49-F238E27FC236}">
                <a16:creationId xmlns:a16="http://schemas.microsoft.com/office/drawing/2014/main" id="{54F3B8EB-06B6-2D70-0E24-1F8387D26AD5}"/>
              </a:ext>
            </a:extLst>
          </p:cNvPr>
          <p:cNvSpPr txBox="1"/>
          <p:nvPr/>
        </p:nvSpPr>
        <p:spPr>
          <a:xfrm>
            <a:off x="8481060" y="2552700"/>
            <a:ext cx="133502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300"/>
              </a:spcBef>
            </a:pPr>
            <a:r>
              <a:rPr lang="zh-CN" sz="105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授权范围、更新方式</a:t>
            </a:r>
          </a:p>
        </p:txBody>
      </p:sp>
      <p:sp>
        <p:nvSpPr>
          <p:cNvPr id="138" name="TextBox 22">
            <a:extLst>
              <a:ext uri="{FF2B5EF4-FFF2-40B4-BE49-F238E27FC236}">
                <a16:creationId xmlns:a16="http://schemas.microsoft.com/office/drawing/2014/main" id="{F3CE6D01-1EFB-95F9-FEC2-29408604765D}"/>
              </a:ext>
            </a:extLst>
          </p:cNvPr>
          <p:cNvSpPr txBox="1"/>
          <p:nvPr/>
        </p:nvSpPr>
        <p:spPr>
          <a:xfrm>
            <a:off x="10050780" y="2270760"/>
            <a:ext cx="133502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测试记录</a:t>
            </a:r>
          </a:p>
        </p:txBody>
      </p:sp>
      <p:sp>
        <p:nvSpPr>
          <p:cNvPr id="140" name="TextBox 23">
            <a:extLst>
              <a:ext uri="{FF2B5EF4-FFF2-40B4-BE49-F238E27FC236}">
                <a16:creationId xmlns:a16="http://schemas.microsoft.com/office/drawing/2014/main" id="{FC5B6F61-42E8-AFF6-E2FE-9DA53E1BC8DC}"/>
              </a:ext>
            </a:extLst>
          </p:cNvPr>
          <p:cNvSpPr txBox="1"/>
          <p:nvPr/>
        </p:nvSpPr>
        <p:spPr>
          <a:xfrm>
            <a:off x="10050780" y="2552700"/>
            <a:ext cx="133502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300"/>
              </a:spcBef>
            </a:pPr>
            <a:r>
              <a:rPr lang="zh-CN" sz="105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正常、边界与异常用例</a:t>
            </a:r>
          </a:p>
        </p:txBody>
      </p:sp>
      <p:sp>
        <p:nvSpPr>
          <p:cNvPr id="142" name="TextBox 24">
            <a:extLst>
              <a:ext uri="{FF2B5EF4-FFF2-40B4-BE49-F238E27FC236}">
                <a16:creationId xmlns:a16="http://schemas.microsoft.com/office/drawing/2014/main" id="{2B6886C1-2590-0535-77B6-5B329C656725}"/>
              </a:ext>
            </a:extLst>
          </p:cNvPr>
          <p:cNvSpPr txBox="1"/>
          <p:nvPr/>
        </p:nvSpPr>
        <p:spPr>
          <a:xfrm>
            <a:off x="5349240" y="3017520"/>
            <a:ext cx="133502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安全边界</a:t>
            </a:r>
          </a:p>
        </p:txBody>
      </p:sp>
      <p:sp>
        <p:nvSpPr>
          <p:cNvPr id="144" name="TextBox 25">
            <a:extLst>
              <a:ext uri="{FF2B5EF4-FFF2-40B4-BE49-F238E27FC236}">
                <a16:creationId xmlns:a16="http://schemas.microsoft.com/office/drawing/2014/main" id="{2BE7E29D-8FFB-19EC-8921-9E318DB8D1D8}"/>
              </a:ext>
            </a:extLst>
          </p:cNvPr>
          <p:cNvSpPr txBox="1"/>
          <p:nvPr/>
        </p:nvSpPr>
        <p:spPr>
          <a:xfrm>
            <a:off x="5349240" y="3299460"/>
            <a:ext cx="133502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300"/>
              </a:spcBef>
            </a:pPr>
            <a:r>
              <a:rPr lang="zh-CN" sz="105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权限、敏感信息与禁区</a:t>
            </a:r>
          </a:p>
        </p:txBody>
      </p:sp>
      <p:sp>
        <p:nvSpPr>
          <p:cNvPr id="146" name="TextBox 26">
            <a:extLst>
              <a:ext uri="{FF2B5EF4-FFF2-40B4-BE49-F238E27FC236}">
                <a16:creationId xmlns:a16="http://schemas.microsoft.com/office/drawing/2014/main" id="{C12BD554-B894-0458-93EC-26DE79769B0E}"/>
              </a:ext>
            </a:extLst>
          </p:cNvPr>
          <p:cNvSpPr txBox="1"/>
          <p:nvPr/>
        </p:nvSpPr>
        <p:spPr>
          <a:xfrm>
            <a:off x="6918960" y="3017520"/>
            <a:ext cx="133502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使用说明</a:t>
            </a:r>
          </a:p>
        </p:txBody>
      </p:sp>
      <p:sp>
        <p:nvSpPr>
          <p:cNvPr id="148" name="TextBox 27">
            <a:extLst>
              <a:ext uri="{FF2B5EF4-FFF2-40B4-BE49-F238E27FC236}">
                <a16:creationId xmlns:a16="http://schemas.microsoft.com/office/drawing/2014/main" id="{82491B75-40C8-8BB0-78BC-40364644CEAE}"/>
              </a:ext>
            </a:extLst>
          </p:cNvPr>
          <p:cNvSpPr txBox="1"/>
          <p:nvPr/>
        </p:nvSpPr>
        <p:spPr>
          <a:xfrm>
            <a:off x="6918960" y="3299460"/>
            <a:ext cx="133502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300"/>
              </a:spcBef>
            </a:pPr>
            <a:r>
              <a:rPr lang="zh-CN" sz="105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适用范围、操作与核验</a:t>
            </a:r>
          </a:p>
        </p:txBody>
      </p:sp>
      <p:sp>
        <p:nvSpPr>
          <p:cNvPr id="150" name="TextBox 28">
            <a:extLst>
              <a:ext uri="{FF2B5EF4-FFF2-40B4-BE49-F238E27FC236}">
                <a16:creationId xmlns:a16="http://schemas.microsoft.com/office/drawing/2014/main" id="{22B08344-0B45-A736-40D3-38F7248E7C94}"/>
              </a:ext>
            </a:extLst>
          </p:cNvPr>
          <p:cNvSpPr txBox="1"/>
          <p:nvPr/>
        </p:nvSpPr>
        <p:spPr>
          <a:xfrm>
            <a:off x="8481060" y="3017520"/>
            <a:ext cx="133502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维护建议</a:t>
            </a:r>
          </a:p>
        </p:txBody>
      </p:sp>
      <p:sp>
        <p:nvSpPr>
          <p:cNvPr id="152" name="TextBox 29">
            <a:extLst>
              <a:ext uri="{FF2B5EF4-FFF2-40B4-BE49-F238E27FC236}">
                <a16:creationId xmlns:a16="http://schemas.microsoft.com/office/drawing/2014/main" id="{F0F2DCA5-DFF0-80BA-F723-DE4BA9BF39F3}"/>
              </a:ext>
            </a:extLst>
          </p:cNvPr>
          <p:cNvSpPr txBox="1"/>
          <p:nvPr/>
        </p:nvSpPr>
        <p:spPr>
          <a:xfrm>
            <a:off x="8481060" y="3299460"/>
            <a:ext cx="133502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300"/>
              </a:spcBef>
            </a:pPr>
            <a:r>
              <a:rPr lang="zh-CN" sz="105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责任人、反馈与迭代</a:t>
            </a:r>
          </a:p>
        </p:txBody>
      </p:sp>
      <p:sp>
        <p:nvSpPr>
          <p:cNvPr id="154" name="TextBox 30">
            <a:extLst>
              <a:ext uri="{FF2B5EF4-FFF2-40B4-BE49-F238E27FC236}">
                <a16:creationId xmlns:a16="http://schemas.microsoft.com/office/drawing/2014/main" id="{0A73348E-8723-EA51-4448-A757ED378331}"/>
              </a:ext>
            </a:extLst>
          </p:cNvPr>
          <p:cNvSpPr txBox="1"/>
          <p:nvPr/>
        </p:nvSpPr>
        <p:spPr>
          <a:xfrm>
            <a:off x="10050780" y="3017520"/>
            <a:ext cx="133502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运行助手</a:t>
            </a:r>
          </a:p>
        </p:txBody>
      </p:sp>
      <p:sp>
        <p:nvSpPr>
          <p:cNvPr id="156" name="TextBox 31">
            <a:extLst>
              <a:ext uri="{FF2B5EF4-FFF2-40B4-BE49-F238E27FC236}">
                <a16:creationId xmlns:a16="http://schemas.microsoft.com/office/drawing/2014/main" id="{C3BEA2B7-F61E-A78F-655E-7CCCC7B7A4B2}"/>
              </a:ext>
            </a:extLst>
          </p:cNvPr>
          <p:cNvSpPr txBox="1"/>
          <p:nvPr/>
        </p:nvSpPr>
        <p:spPr>
          <a:xfrm>
            <a:off x="10019030" y="3299460"/>
            <a:ext cx="1524000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300"/>
              </a:spcBef>
            </a:pPr>
            <a:r>
              <a:rPr lang="zh-CN" sz="105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可调试、可复现、可展示</a:t>
            </a:r>
          </a:p>
        </p:txBody>
      </p:sp>
      <p:sp>
        <p:nvSpPr>
          <p:cNvPr id="158" name="TextBox 32">
            <a:extLst>
              <a:ext uri="{FF2B5EF4-FFF2-40B4-BE49-F238E27FC236}">
                <a16:creationId xmlns:a16="http://schemas.microsoft.com/office/drawing/2014/main" id="{02A7EBA7-A2B5-24E5-0E59-7293E486459E}"/>
              </a:ext>
            </a:extLst>
          </p:cNvPr>
          <p:cNvSpPr txBox="1"/>
          <p:nvPr/>
        </p:nvSpPr>
        <p:spPr>
          <a:xfrm>
            <a:off x="5372100" y="3776980"/>
            <a:ext cx="471830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080" b="1" dirty="0">
                <a:solidFill>
                  <a:srgbClr val="0F2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交付判断：助手能理解企业资料、调用必要工具，并按明确流程稳定完成任务</a:t>
            </a:r>
          </a:p>
        </p:txBody>
      </p:sp>
      <p:sp>
        <p:nvSpPr>
          <p:cNvPr id="160" name="TextBox 33">
            <a:extLst>
              <a:ext uri="{FF2B5EF4-FFF2-40B4-BE49-F238E27FC236}">
                <a16:creationId xmlns:a16="http://schemas.microsoft.com/office/drawing/2014/main" id="{F6A449DB-70C6-F2D9-4467-28C114FDA4DA}"/>
              </a:ext>
            </a:extLst>
          </p:cNvPr>
          <p:cNvSpPr txBox="1"/>
          <p:nvPr/>
        </p:nvSpPr>
        <p:spPr>
          <a:xfrm>
            <a:off x="5265420" y="4488180"/>
            <a:ext cx="279806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30"/>
              </a:lnSpc>
            </a:pPr>
            <a:r>
              <a:rPr lang="zh-CN" sz="14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评价维度｜以作品和证据判断能力</a:t>
            </a:r>
          </a:p>
        </p:txBody>
      </p:sp>
      <p:sp>
        <p:nvSpPr>
          <p:cNvPr id="162" name="TextBox 34">
            <a:extLst>
              <a:ext uri="{FF2B5EF4-FFF2-40B4-BE49-F238E27FC236}">
                <a16:creationId xmlns:a16="http://schemas.microsoft.com/office/drawing/2014/main" id="{26F68D7F-96FA-4BCC-178C-3C68E9EA4609}"/>
              </a:ext>
            </a:extLst>
          </p:cNvPr>
          <p:cNvSpPr txBox="1"/>
          <p:nvPr/>
        </p:nvSpPr>
        <p:spPr>
          <a:xfrm>
            <a:off x="5349240" y="5029200"/>
            <a:ext cx="63398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场景清楚</a:t>
            </a:r>
          </a:p>
        </p:txBody>
      </p:sp>
      <p:sp>
        <p:nvSpPr>
          <p:cNvPr id="164" name="TextBox 35">
            <a:extLst>
              <a:ext uri="{FF2B5EF4-FFF2-40B4-BE49-F238E27FC236}">
                <a16:creationId xmlns:a16="http://schemas.microsoft.com/office/drawing/2014/main" id="{42BC4C5A-DFEC-A9CC-74ED-60D278328964}"/>
              </a:ext>
            </a:extLst>
          </p:cNvPr>
          <p:cNvSpPr txBox="1"/>
          <p:nvPr/>
        </p:nvSpPr>
        <p:spPr>
          <a:xfrm>
            <a:off x="6728460" y="5036820"/>
            <a:ext cx="4663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可立项</a:t>
            </a:r>
          </a:p>
        </p:txBody>
      </p:sp>
      <p:sp>
        <p:nvSpPr>
          <p:cNvPr id="166" name="TextBox 36">
            <a:extLst>
              <a:ext uri="{FF2B5EF4-FFF2-40B4-BE49-F238E27FC236}">
                <a16:creationId xmlns:a16="http://schemas.microsoft.com/office/drawing/2014/main" id="{94C3489D-890A-6D07-FB11-59D9A0214BF3}"/>
              </a:ext>
            </a:extLst>
          </p:cNvPr>
          <p:cNvSpPr txBox="1"/>
          <p:nvPr/>
        </p:nvSpPr>
        <p:spPr>
          <a:xfrm>
            <a:off x="5349240" y="5280660"/>
            <a:ext cx="184556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目标、边界、输入输出和验收口径明确</a:t>
            </a:r>
          </a:p>
        </p:txBody>
      </p:sp>
      <p:sp>
        <p:nvSpPr>
          <p:cNvPr id="168" name="TextBox 37">
            <a:extLst>
              <a:ext uri="{FF2B5EF4-FFF2-40B4-BE49-F238E27FC236}">
                <a16:creationId xmlns:a16="http://schemas.microsoft.com/office/drawing/2014/main" id="{F145CE93-983F-D74E-1865-AAB57EC43F5D}"/>
              </a:ext>
            </a:extLst>
          </p:cNvPr>
          <p:cNvSpPr txBox="1"/>
          <p:nvPr/>
        </p:nvSpPr>
        <p:spPr>
          <a:xfrm>
            <a:off x="7444740" y="5029200"/>
            <a:ext cx="63398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构建有效</a:t>
            </a:r>
          </a:p>
        </p:txBody>
      </p:sp>
      <p:sp>
        <p:nvSpPr>
          <p:cNvPr id="170" name="TextBox 38">
            <a:extLst>
              <a:ext uri="{FF2B5EF4-FFF2-40B4-BE49-F238E27FC236}">
                <a16:creationId xmlns:a16="http://schemas.microsoft.com/office/drawing/2014/main" id="{47D87A0B-AB9E-F58E-C738-4F08FF4FAFE6}"/>
              </a:ext>
            </a:extLst>
          </p:cNvPr>
          <p:cNvSpPr txBox="1"/>
          <p:nvPr/>
        </p:nvSpPr>
        <p:spPr>
          <a:xfrm>
            <a:off x="8816340" y="5036820"/>
            <a:ext cx="4663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能运行</a:t>
            </a:r>
          </a:p>
        </p:txBody>
      </p:sp>
      <p:sp>
        <p:nvSpPr>
          <p:cNvPr id="172" name="TextBox 39">
            <a:extLst>
              <a:ext uri="{FF2B5EF4-FFF2-40B4-BE49-F238E27FC236}">
                <a16:creationId xmlns:a16="http://schemas.microsoft.com/office/drawing/2014/main" id="{973F081B-8749-E336-92BE-2332E564E483}"/>
              </a:ext>
            </a:extLst>
          </p:cNvPr>
          <p:cNvSpPr txBox="1"/>
          <p:nvPr/>
        </p:nvSpPr>
        <p:spPr>
          <a:xfrm>
            <a:off x="7444740" y="5280660"/>
            <a:ext cx="184556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知识、提示、工具和流程组合能够工作</a:t>
            </a:r>
          </a:p>
        </p:txBody>
      </p:sp>
      <p:sp>
        <p:nvSpPr>
          <p:cNvPr id="174" name="TextBox 40">
            <a:extLst>
              <a:ext uri="{FF2B5EF4-FFF2-40B4-BE49-F238E27FC236}">
                <a16:creationId xmlns:a16="http://schemas.microsoft.com/office/drawing/2014/main" id="{9A425037-F2A7-1EEE-DF63-89D2BC7DD02D}"/>
              </a:ext>
            </a:extLst>
          </p:cNvPr>
          <p:cNvSpPr txBox="1"/>
          <p:nvPr/>
        </p:nvSpPr>
        <p:spPr>
          <a:xfrm>
            <a:off x="9532620" y="5029200"/>
            <a:ext cx="77876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结果可核验</a:t>
            </a:r>
          </a:p>
        </p:txBody>
      </p:sp>
      <p:sp>
        <p:nvSpPr>
          <p:cNvPr id="176" name="TextBox 41">
            <a:extLst>
              <a:ext uri="{FF2B5EF4-FFF2-40B4-BE49-F238E27FC236}">
                <a16:creationId xmlns:a16="http://schemas.microsoft.com/office/drawing/2014/main" id="{8A035AEA-3F0F-EA5A-B027-A4FB8C5FAF7F}"/>
              </a:ext>
            </a:extLst>
          </p:cNvPr>
          <p:cNvSpPr txBox="1"/>
          <p:nvPr/>
        </p:nvSpPr>
        <p:spPr>
          <a:xfrm>
            <a:off x="10911840" y="5036820"/>
            <a:ext cx="4663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可测试</a:t>
            </a:r>
          </a:p>
        </p:txBody>
      </p:sp>
      <p:sp>
        <p:nvSpPr>
          <p:cNvPr id="178" name="TextBox 42">
            <a:extLst>
              <a:ext uri="{FF2B5EF4-FFF2-40B4-BE49-F238E27FC236}">
                <a16:creationId xmlns:a16="http://schemas.microsoft.com/office/drawing/2014/main" id="{15707968-463C-C0F3-061F-E11354A8980E}"/>
              </a:ext>
            </a:extLst>
          </p:cNvPr>
          <p:cNvSpPr txBox="1"/>
          <p:nvPr/>
        </p:nvSpPr>
        <p:spPr>
          <a:xfrm>
            <a:off x="9532620" y="5280660"/>
            <a:ext cx="184556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典型任务有测试，输出可追溯、可复现</a:t>
            </a:r>
          </a:p>
        </p:txBody>
      </p:sp>
      <p:sp>
        <p:nvSpPr>
          <p:cNvPr id="180" name="TextBox 43">
            <a:extLst>
              <a:ext uri="{FF2B5EF4-FFF2-40B4-BE49-F238E27FC236}">
                <a16:creationId xmlns:a16="http://schemas.microsoft.com/office/drawing/2014/main" id="{CDC31589-563E-7039-8866-5B70B1EA5E78}"/>
              </a:ext>
            </a:extLst>
          </p:cNvPr>
          <p:cNvSpPr txBox="1"/>
          <p:nvPr/>
        </p:nvSpPr>
        <p:spPr>
          <a:xfrm>
            <a:off x="5349240" y="5890260"/>
            <a:ext cx="77876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异常有处理</a:t>
            </a:r>
          </a:p>
        </p:txBody>
      </p:sp>
      <p:sp>
        <p:nvSpPr>
          <p:cNvPr id="182" name="TextBox 44">
            <a:extLst>
              <a:ext uri="{FF2B5EF4-FFF2-40B4-BE49-F238E27FC236}">
                <a16:creationId xmlns:a16="http://schemas.microsoft.com/office/drawing/2014/main" id="{17AB83A0-C6A1-FCCE-F44C-6D974A218F9F}"/>
              </a:ext>
            </a:extLst>
          </p:cNvPr>
          <p:cNvSpPr txBox="1"/>
          <p:nvPr/>
        </p:nvSpPr>
        <p:spPr>
          <a:xfrm>
            <a:off x="7772400" y="5897880"/>
            <a:ext cx="4663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可控制</a:t>
            </a:r>
          </a:p>
        </p:txBody>
      </p:sp>
      <p:sp>
        <p:nvSpPr>
          <p:cNvPr id="184" name="TextBox 45">
            <a:extLst>
              <a:ext uri="{FF2B5EF4-FFF2-40B4-BE49-F238E27FC236}">
                <a16:creationId xmlns:a16="http://schemas.microsoft.com/office/drawing/2014/main" id="{3C705B0D-AC7A-89E3-6E77-6C928E7B7185}"/>
              </a:ext>
            </a:extLst>
          </p:cNvPr>
          <p:cNvSpPr txBox="1"/>
          <p:nvPr/>
        </p:nvSpPr>
        <p:spPr>
          <a:xfrm>
            <a:off x="5349240" y="6141720"/>
            <a:ext cx="288950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识别失败情形，设置提醒、降级或人工确认</a:t>
            </a:r>
          </a:p>
        </p:txBody>
      </p:sp>
      <p:sp>
        <p:nvSpPr>
          <p:cNvPr id="186" name="TextBox 46">
            <a:extLst>
              <a:ext uri="{FF2B5EF4-FFF2-40B4-BE49-F238E27FC236}">
                <a16:creationId xmlns:a16="http://schemas.microsoft.com/office/drawing/2014/main" id="{D3B69C79-B567-5975-0F74-A7EB8AA13C25}"/>
              </a:ext>
            </a:extLst>
          </p:cNvPr>
          <p:cNvSpPr txBox="1"/>
          <p:nvPr/>
        </p:nvSpPr>
        <p:spPr>
          <a:xfrm>
            <a:off x="8488680" y="5890260"/>
            <a:ext cx="92354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基础运营就绪</a:t>
            </a:r>
          </a:p>
        </p:txBody>
      </p:sp>
      <p:sp>
        <p:nvSpPr>
          <p:cNvPr id="188" name="TextBox 47">
            <a:extLst>
              <a:ext uri="{FF2B5EF4-FFF2-40B4-BE49-F238E27FC236}">
                <a16:creationId xmlns:a16="http://schemas.microsoft.com/office/drawing/2014/main" id="{C3004290-7C71-1046-0E7F-1D0A3AF0311B}"/>
              </a:ext>
            </a:extLst>
          </p:cNvPr>
          <p:cNvSpPr txBox="1"/>
          <p:nvPr/>
        </p:nvSpPr>
        <p:spPr>
          <a:xfrm>
            <a:off x="10911840" y="5897880"/>
            <a:ext cx="4663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可说明</a:t>
            </a:r>
          </a:p>
        </p:txBody>
      </p:sp>
      <p:sp>
        <p:nvSpPr>
          <p:cNvPr id="190" name="TextBox 48">
            <a:extLst>
              <a:ext uri="{FF2B5EF4-FFF2-40B4-BE49-F238E27FC236}">
                <a16:creationId xmlns:a16="http://schemas.microsoft.com/office/drawing/2014/main" id="{2C3E469E-FA3D-7E84-92B4-B598CA24BBA8}"/>
              </a:ext>
            </a:extLst>
          </p:cNvPr>
          <p:cNvSpPr txBox="1"/>
          <p:nvPr/>
        </p:nvSpPr>
        <p:spPr>
          <a:xfrm>
            <a:off x="8488680" y="6141720"/>
            <a:ext cx="288950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具备发布、维护、使用支持和反馈迭代意识</a:t>
            </a:r>
          </a:p>
        </p:txBody>
      </p:sp>
      <p:sp>
        <p:nvSpPr>
          <p:cNvPr id="192" name="TextBox 49">
            <a:extLst>
              <a:ext uri="{FF2B5EF4-FFF2-40B4-BE49-F238E27FC236}">
                <a16:creationId xmlns:a16="http://schemas.microsoft.com/office/drawing/2014/main" id="{EF305081-142A-36B0-2885-D004958959A7}"/>
              </a:ext>
            </a:extLst>
          </p:cNvPr>
          <p:cNvSpPr txBox="1"/>
          <p:nvPr/>
        </p:nvSpPr>
        <p:spPr>
          <a:xfrm>
            <a:off x="4007287" y="1687830"/>
            <a:ext cx="1014037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endParaRPr lang="zh-CN" sz="1080" b="1" dirty="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4" name="TextBox 50">
            <a:extLst>
              <a:ext uri="{FF2B5EF4-FFF2-40B4-BE49-F238E27FC236}">
                <a16:creationId xmlns:a16="http://schemas.microsoft.com/office/drawing/2014/main" id="{9D44374C-3F01-1CE3-ADDC-84712A1D4C96}"/>
              </a:ext>
            </a:extLst>
          </p:cNvPr>
          <p:cNvSpPr txBox="1"/>
          <p:nvPr/>
        </p:nvSpPr>
        <p:spPr>
          <a:xfrm>
            <a:off x="899954" y="2227580"/>
            <a:ext cx="16459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196" name="TextBox 51">
            <a:extLst>
              <a:ext uri="{FF2B5EF4-FFF2-40B4-BE49-F238E27FC236}">
                <a16:creationId xmlns:a16="http://schemas.microsoft.com/office/drawing/2014/main" id="{91595B84-95E0-E05C-82E2-3FCBF08124CE}"/>
              </a:ext>
            </a:extLst>
          </p:cNvPr>
          <p:cNvSpPr txBox="1"/>
          <p:nvPr/>
        </p:nvSpPr>
        <p:spPr>
          <a:xfrm>
            <a:off x="1143000" y="2175510"/>
            <a:ext cx="916686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大模型与智</a:t>
            </a:r>
          </a:p>
        </p:txBody>
      </p:sp>
      <p:sp>
        <p:nvSpPr>
          <p:cNvPr id="198" name="TextBox 52">
            <a:extLst>
              <a:ext uri="{FF2B5EF4-FFF2-40B4-BE49-F238E27FC236}">
                <a16:creationId xmlns:a16="http://schemas.microsoft.com/office/drawing/2014/main" id="{9C2EB8C3-0AFB-70BD-3B1A-0FA0B93FC071}"/>
              </a:ext>
            </a:extLst>
          </p:cNvPr>
          <p:cNvSpPr txBox="1"/>
          <p:nvPr/>
        </p:nvSpPr>
        <p:spPr>
          <a:xfrm>
            <a:off x="1143000" y="2336800"/>
            <a:ext cx="44348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能体</a:t>
            </a:r>
          </a:p>
        </p:txBody>
      </p:sp>
      <p:sp>
        <p:nvSpPr>
          <p:cNvPr id="200" name="TextBox 53">
            <a:extLst>
              <a:ext uri="{FF2B5EF4-FFF2-40B4-BE49-F238E27FC236}">
                <a16:creationId xmlns:a16="http://schemas.microsoft.com/office/drawing/2014/main" id="{B40D8F85-99EA-D64A-A89F-7C616CA23A8D}"/>
              </a:ext>
            </a:extLst>
          </p:cNvPr>
          <p:cNvSpPr txBox="1"/>
          <p:nvPr/>
        </p:nvSpPr>
        <p:spPr>
          <a:xfrm>
            <a:off x="2268334" y="2213758"/>
            <a:ext cx="16459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202" name="TextBox 54">
            <a:extLst>
              <a:ext uri="{FF2B5EF4-FFF2-40B4-BE49-F238E27FC236}">
                <a16:creationId xmlns:a16="http://schemas.microsoft.com/office/drawing/2014/main" id="{DF2E4D5A-6327-2D0C-69CB-A131A90E4647}"/>
              </a:ext>
            </a:extLst>
          </p:cNvPr>
          <p:cNvSpPr txBox="1"/>
          <p:nvPr/>
        </p:nvSpPr>
        <p:spPr>
          <a:xfrm>
            <a:off x="2519601" y="2233930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提示工程</a:t>
            </a:r>
          </a:p>
        </p:txBody>
      </p:sp>
      <p:sp>
        <p:nvSpPr>
          <p:cNvPr id="204" name="TextBox 55">
            <a:extLst>
              <a:ext uri="{FF2B5EF4-FFF2-40B4-BE49-F238E27FC236}">
                <a16:creationId xmlns:a16="http://schemas.microsoft.com/office/drawing/2014/main" id="{54FC8955-B824-A2EA-B1C7-5B02734F5C26}"/>
              </a:ext>
            </a:extLst>
          </p:cNvPr>
          <p:cNvSpPr txBox="1"/>
          <p:nvPr/>
        </p:nvSpPr>
        <p:spPr>
          <a:xfrm>
            <a:off x="3651778" y="2213758"/>
            <a:ext cx="16459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206" name="TextBox 56">
            <a:extLst>
              <a:ext uri="{FF2B5EF4-FFF2-40B4-BE49-F238E27FC236}">
                <a16:creationId xmlns:a16="http://schemas.microsoft.com/office/drawing/2014/main" id="{5BCC9075-C861-08EF-1CD8-F44E07D070CF}"/>
              </a:ext>
            </a:extLst>
          </p:cNvPr>
          <p:cNvSpPr txBox="1"/>
          <p:nvPr/>
        </p:nvSpPr>
        <p:spPr>
          <a:xfrm>
            <a:off x="3896320" y="2175510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知识库与</a:t>
            </a:r>
          </a:p>
        </p:txBody>
      </p:sp>
      <p:sp>
        <p:nvSpPr>
          <p:cNvPr id="208" name="TextBox 57">
            <a:extLst>
              <a:ext uri="{FF2B5EF4-FFF2-40B4-BE49-F238E27FC236}">
                <a16:creationId xmlns:a16="http://schemas.microsoft.com/office/drawing/2014/main" id="{E4DDFDB6-B82B-342D-150C-DD4F349598F1}"/>
              </a:ext>
            </a:extLst>
          </p:cNvPr>
          <p:cNvSpPr txBox="1"/>
          <p:nvPr/>
        </p:nvSpPr>
        <p:spPr>
          <a:xfrm>
            <a:off x="3896320" y="2336800"/>
            <a:ext cx="454500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en-US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</a:t>
            </a:r>
          </a:p>
        </p:txBody>
      </p:sp>
      <p:sp>
        <p:nvSpPr>
          <p:cNvPr id="210" name="TextBox 58">
            <a:extLst>
              <a:ext uri="{FF2B5EF4-FFF2-40B4-BE49-F238E27FC236}">
                <a16:creationId xmlns:a16="http://schemas.microsoft.com/office/drawing/2014/main" id="{C0851436-FDF5-ABE1-7EFF-B4C768EA6A60}"/>
              </a:ext>
            </a:extLst>
          </p:cNvPr>
          <p:cNvSpPr txBox="1"/>
          <p:nvPr/>
        </p:nvSpPr>
        <p:spPr>
          <a:xfrm>
            <a:off x="891734" y="2798854"/>
            <a:ext cx="16459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212" name="TextBox 59">
            <a:extLst>
              <a:ext uri="{FF2B5EF4-FFF2-40B4-BE49-F238E27FC236}">
                <a16:creationId xmlns:a16="http://schemas.microsoft.com/office/drawing/2014/main" id="{0C7A4972-77E2-995C-3F40-3AA78F9A6A6C}"/>
              </a:ext>
            </a:extLst>
          </p:cNvPr>
          <p:cNvSpPr txBox="1"/>
          <p:nvPr/>
        </p:nvSpPr>
        <p:spPr>
          <a:xfrm>
            <a:off x="1143000" y="2722880"/>
            <a:ext cx="916686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工具调用与</a:t>
            </a:r>
          </a:p>
        </p:txBody>
      </p:sp>
      <p:sp>
        <p:nvSpPr>
          <p:cNvPr id="214" name="TextBox 60">
            <a:extLst>
              <a:ext uri="{FF2B5EF4-FFF2-40B4-BE49-F238E27FC236}">
                <a16:creationId xmlns:a16="http://schemas.microsoft.com/office/drawing/2014/main" id="{E22FA21A-1A35-BDBF-AF07-69A829AB5F6F}"/>
              </a:ext>
            </a:extLst>
          </p:cNvPr>
          <p:cNvSpPr txBox="1"/>
          <p:nvPr/>
        </p:nvSpPr>
        <p:spPr>
          <a:xfrm>
            <a:off x="1143000" y="2928620"/>
            <a:ext cx="477517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en-US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</a:t>
            </a:r>
          </a:p>
        </p:txBody>
      </p:sp>
      <p:sp>
        <p:nvSpPr>
          <p:cNvPr id="216" name="TextBox 61">
            <a:extLst>
              <a:ext uri="{FF2B5EF4-FFF2-40B4-BE49-F238E27FC236}">
                <a16:creationId xmlns:a16="http://schemas.microsoft.com/office/drawing/2014/main" id="{84E5A552-B497-6D77-4FA5-854D12EC9FA8}"/>
              </a:ext>
            </a:extLst>
          </p:cNvPr>
          <p:cNvSpPr txBox="1"/>
          <p:nvPr/>
        </p:nvSpPr>
        <p:spPr>
          <a:xfrm>
            <a:off x="2275058" y="2805578"/>
            <a:ext cx="16459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</a:p>
        </p:txBody>
      </p:sp>
      <p:sp>
        <p:nvSpPr>
          <p:cNvPr id="218" name="TextBox 62">
            <a:extLst>
              <a:ext uri="{FF2B5EF4-FFF2-40B4-BE49-F238E27FC236}">
                <a16:creationId xmlns:a16="http://schemas.microsoft.com/office/drawing/2014/main" id="{4EAEB46A-BD3A-FF24-5FEA-D6FB98BFD8AC}"/>
              </a:ext>
            </a:extLst>
          </p:cNvPr>
          <p:cNvSpPr txBox="1"/>
          <p:nvPr/>
        </p:nvSpPr>
        <p:spPr>
          <a:xfrm>
            <a:off x="2519601" y="2825750"/>
            <a:ext cx="916686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基础工作流</a:t>
            </a:r>
          </a:p>
        </p:txBody>
      </p:sp>
      <p:sp>
        <p:nvSpPr>
          <p:cNvPr id="220" name="TextBox 63">
            <a:extLst>
              <a:ext uri="{FF2B5EF4-FFF2-40B4-BE49-F238E27FC236}">
                <a16:creationId xmlns:a16="http://schemas.microsoft.com/office/drawing/2014/main" id="{213A9F1A-21C7-4DE2-51A0-42910B9319B0}"/>
              </a:ext>
            </a:extLst>
          </p:cNvPr>
          <p:cNvSpPr txBox="1"/>
          <p:nvPr/>
        </p:nvSpPr>
        <p:spPr>
          <a:xfrm>
            <a:off x="3651778" y="2805578"/>
            <a:ext cx="16459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</a:p>
        </p:txBody>
      </p:sp>
      <p:sp>
        <p:nvSpPr>
          <p:cNvPr id="222" name="TextBox 64">
            <a:extLst>
              <a:ext uri="{FF2B5EF4-FFF2-40B4-BE49-F238E27FC236}">
                <a16:creationId xmlns:a16="http://schemas.microsoft.com/office/drawing/2014/main" id="{0D991028-E638-74CE-62E1-C3F94E3CDC6B}"/>
              </a:ext>
            </a:extLst>
          </p:cNvPr>
          <p:cNvSpPr txBox="1"/>
          <p:nvPr/>
        </p:nvSpPr>
        <p:spPr>
          <a:xfrm>
            <a:off x="3896320" y="2722880"/>
            <a:ext cx="916686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智能体构建</a:t>
            </a:r>
          </a:p>
        </p:txBody>
      </p:sp>
      <p:sp>
        <p:nvSpPr>
          <p:cNvPr id="224" name="TextBox 65">
            <a:extLst>
              <a:ext uri="{FF2B5EF4-FFF2-40B4-BE49-F238E27FC236}">
                <a16:creationId xmlns:a16="http://schemas.microsoft.com/office/drawing/2014/main" id="{20FCB452-2B81-926F-5563-54DB0D54F323}"/>
              </a:ext>
            </a:extLst>
          </p:cNvPr>
          <p:cNvSpPr txBox="1"/>
          <p:nvPr/>
        </p:nvSpPr>
        <p:spPr>
          <a:xfrm>
            <a:off x="3896320" y="2928620"/>
            <a:ext cx="44348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调试</a:t>
            </a:r>
          </a:p>
        </p:txBody>
      </p:sp>
      <p:sp>
        <p:nvSpPr>
          <p:cNvPr id="226" name="TextBox 66">
            <a:extLst>
              <a:ext uri="{FF2B5EF4-FFF2-40B4-BE49-F238E27FC236}">
                <a16:creationId xmlns:a16="http://schemas.microsoft.com/office/drawing/2014/main" id="{E05387C9-1CD4-12C4-70A0-6BCA1A7B60FB}"/>
              </a:ext>
            </a:extLst>
          </p:cNvPr>
          <p:cNvSpPr txBox="1"/>
          <p:nvPr/>
        </p:nvSpPr>
        <p:spPr>
          <a:xfrm>
            <a:off x="898458" y="3385446"/>
            <a:ext cx="16459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</a:p>
        </p:txBody>
      </p:sp>
      <p:sp>
        <p:nvSpPr>
          <p:cNvPr id="228" name="TextBox 67">
            <a:extLst>
              <a:ext uri="{FF2B5EF4-FFF2-40B4-BE49-F238E27FC236}">
                <a16:creationId xmlns:a16="http://schemas.microsoft.com/office/drawing/2014/main" id="{DC483327-9506-428E-CC99-88931988209A}"/>
              </a:ext>
            </a:extLst>
          </p:cNvPr>
          <p:cNvSpPr txBox="1"/>
          <p:nvPr/>
        </p:nvSpPr>
        <p:spPr>
          <a:xfrm>
            <a:off x="1143000" y="3392170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功能测试</a:t>
            </a:r>
          </a:p>
        </p:txBody>
      </p:sp>
      <p:sp>
        <p:nvSpPr>
          <p:cNvPr id="230" name="TextBox 68">
            <a:extLst>
              <a:ext uri="{FF2B5EF4-FFF2-40B4-BE49-F238E27FC236}">
                <a16:creationId xmlns:a16="http://schemas.microsoft.com/office/drawing/2014/main" id="{478F8AB4-3099-FAE2-DC34-0BB26D770ED8}"/>
              </a:ext>
            </a:extLst>
          </p:cNvPr>
          <p:cNvSpPr txBox="1"/>
          <p:nvPr/>
        </p:nvSpPr>
        <p:spPr>
          <a:xfrm>
            <a:off x="2281782" y="3371998"/>
            <a:ext cx="16459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</a:p>
        </p:txBody>
      </p:sp>
      <p:sp>
        <p:nvSpPr>
          <p:cNvPr id="232" name="TextBox 69">
            <a:extLst>
              <a:ext uri="{FF2B5EF4-FFF2-40B4-BE49-F238E27FC236}">
                <a16:creationId xmlns:a16="http://schemas.microsoft.com/office/drawing/2014/main" id="{D0592E2D-7F90-8E4E-5F17-E0D5D55B7C87}"/>
              </a:ext>
            </a:extLst>
          </p:cNvPr>
          <p:cNvSpPr txBox="1"/>
          <p:nvPr/>
        </p:nvSpPr>
        <p:spPr>
          <a:xfrm>
            <a:off x="2519601" y="3392170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安全检查</a:t>
            </a:r>
          </a:p>
        </p:txBody>
      </p:sp>
      <p:sp>
        <p:nvSpPr>
          <p:cNvPr id="234" name="TextBox 70">
            <a:extLst>
              <a:ext uri="{FF2B5EF4-FFF2-40B4-BE49-F238E27FC236}">
                <a16:creationId xmlns:a16="http://schemas.microsoft.com/office/drawing/2014/main" id="{B6F7F170-A211-A481-FED3-7645DAD69027}"/>
              </a:ext>
            </a:extLst>
          </p:cNvPr>
          <p:cNvSpPr txBox="1"/>
          <p:nvPr/>
        </p:nvSpPr>
        <p:spPr>
          <a:xfrm>
            <a:off x="3651778" y="3371998"/>
            <a:ext cx="16459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</a:p>
        </p:txBody>
      </p:sp>
      <p:sp>
        <p:nvSpPr>
          <p:cNvPr id="236" name="TextBox 71">
            <a:extLst>
              <a:ext uri="{FF2B5EF4-FFF2-40B4-BE49-F238E27FC236}">
                <a16:creationId xmlns:a16="http://schemas.microsoft.com/office/drawing/2014/main" id="{FE625233-7C98-3BD3-CF0F-B29ED83C9588}"/>
              </a:ext>
            </a:extLst>
          </p:cNvPr>
          <p:cNvSpPr txBox="1"/>
          <p:nvPr/>
        </p:nvSpPr>
        <p:spPr>
          <a:xfrm>
            <a:off x="3896320" y="3289300"/>
            <a:ext cx="916686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基础发布支</a:t>
            </a:r>
          </a:p>
        </p:txBody>
      </p:sp>
      <p:sp>
        <p:nvSpPr>
          <p:cNvPr id="238" name="TextBox 72">
            <a:extLst>
              <a:ext uri="{FF2B5EF4-FFF2-40B4-BE49-F238E27FC236}">
                <a16:creationId xmlns:a16="http://schemas.microsoft.com/office/drawing/2014/main" id="{DAD2B7A8-E035-7506-324D-8AD59438A534}"/>
              </a:ext>
            </a:extLst>
          </p:cNvPr>
          <p:cNvSpPr txBox="1"/>
          <p:nvPr/>
        </p:nvSpPr>
        <p:spPr>
          <a:xfrm>
            <a:off x="3896320" y="3495040"/>
            <a:ext cx="285750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</a:t>
            </a:r>
          </a:p>
        </p:txBody>
      </p:sp>
      <p:sp>
        <p:nvSpPr>
          <p:cNvPr id="240" name="TextBox 73">
            <a:extLst>
              <a:ext uri="{FF2B5EF4-FFF2-40B4-BE49-F238E27FC236}">
                <a16:creationId xmlns:a16="http://schemas.microsoft.com/office/drawing/2014/main" id="{634ECB3A-3DCF-1C76-8D95-6A67355518D0}"/>
              </a:ext>
            </a:extLst>
          </p:cNvPr>
          <p:cNvSpPr txBox="1"/>
          <p:nvPr/>
        </p:nvSpPr>
        <p:spPr>
          <a:xfrm>
            <a:off x="796421" y="4547122"/>
            <a:ext cx="176070" cy="2484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980"/>
              </a:lnSpc>
            </a:pPr>
            <a:r>
              <a:rPr lang="en-US" sz="13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</a:p>
        </p:txBody>
      </p:sp>
      <p:sp>
        <p:nvSpPr>
          <p:cNvPr id="242" name="TextBox 74">
            <a:extLst>
              <a:ext uri="{FF2B5EF4-FFF2-40B4-BE49-F238E27FC236}">
                <a16:creationId xmlns:a16="http://schemas.microsoft.com/office/drawing/2014/main" id="{31071BFF-61A2-99E6-BD6D-290DDF44A489}"/>
              </a:ext>
            </a:extLst>
          </p:cNvPr>
          <p:cNvSpPr txBox="1"/>
          <p:nvPr/>
        </p:nvSpPr>
        <p:spPr>
          <a:xfrm>
            <a:off x="2960144" y="4546113"/>
            <a:ext cx="176784" cy="2331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lang="en-US" sz="12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2130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46297-272F-BAC8-F54D-A4F36E3E5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A2780B-AD00-E5C9-CB67-84CCC906D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en-US" altLang="zh-CN" dirty="0"/>
              <a:t>ADEP:</a:t>
            </a:r>
            <a:r>
              <a:rPr lang="zh-CN" altLang="en-US" dirty="0"/>
              <a:t>交付复杂</a:t>
            </a:r>
            <a:r>
              <a:rPr lang="en-US" altLang="zh-CN" dirty="0"/>
              <a:t>AI</a:t>
            </a:r>
            <a:r>
              <a:rPr lang="zh-CN" altLang="en-US" dirty="0"/>
              <a:t>应用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960675C-55CA-2B30-714D-12BD8007E8A9}"/>
              </a:ext>
            </a:extLst>
          </p:cNvPr>
          <p:cNvSpPr/>
          <p:nvPr/>
        </p:nvSpPr>
        <p:spPr>
          <a:xfrm>
            <a:off x="609600" y="914400"/>
            <a:ext cx="10972800" cy="586740"/>
          </a:xfrm>
          <a:prstGeom prst="roundRect">
            <a:avLst>
              <a:gd name="adj" fmla="val 23377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86DF008C-D68F-9925-AB6A-F8E24A0B8AF5}"/>
              </a:ext>
            </a:extLst>
          </p:cNvPr>
          <p:cNvSpPr/>
          <p:nvPr/>
        </p:nvSpPr>
        <p:spPr>
          <a:xfrm>
            <a:off x="800100" y="1043940"/>
            <a:ext cx="792480" cy="327660"/>
          </a:xfrm>
          <a:prstGeom prst="roundRect">
            <a:avLst>
              <a:gd name="adj" fmla="val 18605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E12B2D3-0682-CC87-21D5-CB791035DF95}"/>
              </a:ext>
            </a:extLst>
          </p:cNvPr>
          <p:cNvSpPr/>
          <p:nvPr/>
        </p:nvSpPr>
        <p:spPr>
          <a:xfrm>
            <a:off x="609600" y="1653540"/>
            <a:ext cx="10972800" cy="3142298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8BEA8D9-6553-E05A-B9A6-81B7D7A85F06}"/>
              </a:ext>
            </a:extLst>
          </p:cNvPr>
          <p:cNvSpPr/>
          <p:nvPr/>
        </p:nvSpPr>
        <p:spPr>
          <a:xfrm>
            <a:off x="8775144" y="1916430"/>
            <a:ext cx="731520" cy="327660"/>
          </a:xfrm>
          <a:prstGeom prst="roundRect">
            <a:avLst>
              <a:gd name="adj" fmla="val 18605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9E1AA5B4-4C56-356C-F667-2514D1B253ED}"/>
              </a:ext>
            </a:extLst>
          </p:cNvPr>
          <p:cNvSpPr/>
          <p:nvPr/>
        </p:nvSpPr>
        <p:spPr>
          <a:xfrm>
            <a:off x="9733002" y="1916430"/>
            <a:ext cx="731520" cy="327660"/>
          </a:xfrm>
          <a:prstGeom prst="roundRect">
            <a:avLst>
              <a:gd name="adj" fmla="val 18605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8167AF00-6609-C2F4-849C-E33BA0EDE116}"/>
              </a:ext>
            </a:extLst>
          </p:cNvPr>
          <p:cNvSpPr/>
          <p:nvPr/>
        </p:nvSpPr>
        <p:spPr>
          <a:xfrm>
            <a:off x="10690860" y="1916430"/>
            <a:ext cx="731520" cy="327660"/>
          </a:xfrm>
          <a:prstGeom prst="roundRect">
            <a:avLst>
              <a:gd name="adj" fmla="val 18605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FC6EEB94-026A-E81F-3359-CB648822A94D}"/>
              </a:ext>
            </a:extLst>
          </p:cNvPr>
          <p:cNvSpPr/>
          <p:nvPr/>
        </p:nvSpPr>
        <p:spPr>
          <a:xfrm>
            <a:off x="769620" y="2468880"/>
            <a:ext cx="1699260" cy="1534478"/>
          </a:xfrm>
          <a:prstGeom prst="roundRect">
            <a:avLst>
              <a:gd name="adj" fmla="val 7449"/>
            </a:avLst>
          </a:prstGeom>
          <a:solidFill>
            <a:srgbClr val="F8FC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C580D999-E2BA-9576-EDAF-AA2CC7EFA699}"/>
              </a:ext>
            </a:extLst>
          </p:cNvPr>
          <p:cNvSpPr/>
          <p:nvPr/>
        </p:nvSpPr>
        <p:spPr>
          <a:xfrm>
            <a:off x="777240" y="2476500"/>
            <a:ext cx="1684020" cy="480060"/>
          </a:xfrm>
          <a:prstGeom prst="rect">
            <a:avLst/>
          </a:prstGeom>
          <a:solidFill>
            <a:srgbClr val="0721A8"/>
          </a:solidFill>
          <a:ln>
            <a:noFill/>
          </a:ln>
        </p:spPr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62FA1FF8-7237-14F2-A0C3-6220940DEFD0}"/>
              </a:ext>
            </a:extLst>
          </p:cNvPr>
          <p:cNvSpPr/>
          <p:nvPr/>
        </p:nvSpPr>
        <p:spPr>
          <a:xfrm>
            <a:off x="2560320" y="2468880"/>
            <a:ext cx="1699260" cy="1534478"/>
          </a:xfrm>
          <a:prstGeom prst="roundRect">
            <a:avLst>
              <a:gd name="adj" fmla="val 7449"/>
            </a:avLst>
          </a:prstGeom>
          <a:solidFill>
            <a:srgbClr val="F8FC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C4A902F5-40C6-8369-3CD2-A8007424D743}"/>
              </a:ext>
            </a:extLst>
          </p:cNvPr>
          <p:cNvSpPr/>
          <p:nvPr/>
        </p:nvSpPr>
        <p:spPr>
          <a:xfrm>
            <a:off x="2567940" y="2476500"/>
            <a:ext cx="1684020" cy="480060"/>
          </a:xfrm>
          <a:prstGeom prst="rect">
            <a:avLst/>
          </a:prstGeom>
          <a:solidFill>
            <a:srgbClr val="0565FF"/>
          </a:solidFill>
          <a:ln>
            <a:noFill/>
          </a:ln>
        </p:spPr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7B0A595F-B0C6-4D27-9DBF-639DE4C84383}"/>
              </a:ext>
            </a:extLst>
          </p:cNvPr>
          <p:cNvSpPr/>
          <p:nvPr/>
        </p:nvSpPr>
        <p:spPr>
          <a:xfrm>
            <a:off x="4351020" y="2468880"/>
            <a:ext cx="1699260" cy="1534478"/>
          </a:xfrm>
          <a:prstGeom prst="roundRect">
            <a:avLst>
              <a:gd name="adj" fmla="val 7449"/>
            </a:avLst>
          </a:prstGeom>
          <a:solidFill>
            <a:srgbClr val="F8FC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FF4BA1FB-A027-3A6C-9FE0-00D2A86A00DB}"/>
              </a:ext>
            </a:extLst>
          </p:cNvPr>
          <p:cNvSpPr/>
          <p:nvPr/>
        </p:nvSpPr>
        <p:spPr>
          <a:xfrm>
            <a:off x="4358640" y="2476500"/>
            <a:ext cx="1684020" cy="480060"/>
          </a:xfrm>
          <a:prstGeom prst="rect">
            <a:avLst/>
          </a:prstGeom>
          <a:solidFill>
            <a:srgbClr val="007FD1"/>
          </a:solidFill>
          <a:ln>
            <a:noFill/>
          </a:ln>
        </p:spPr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8661F3E6-ED03-6A5E-67BB-B71E94F49CFC}"/>
              </a:ext>
            </a:extLst>
          </p:cNvPr>
          <p:cNvSpPr/>
          <p:nvPr/>
        </p:nvSpPr>
        <p:spPr>
          <a:xfrm>
            <a:off x="6141720" y="2468880"/>
            <a:ext cx="1699260" cy="1534478"/>
          </a:xfrm>
          <a:prstGeom prst="roundRect">
            <a:avLst>
              <a:gd name="adj" fmla="val 7449"/>
            </a:avLst>
          </a:prstGeom>
          <a:solidFill>
            <a:srgbClr val="F8FC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BD8E2F8F-95BB-0513-1667-11A9FCDF8FA4}"/>
              </a:ext>
            </a:extLst>
          </p:cNvPr>
          <p:cNvSpPr/>
          <p:nvPr/>
        </p:nvSpPr>
        <p:spPr>
          <a:xfrm>
            <a:off x="6149340" y="2476500"/>
            <a:ext cx="1684020" cy="480060"/>
          </a:xfrm>
          <a:prstGeom prst="rect">
            <a:avLst/>
          </a:prstGeom>
          <a:solidFill>
            <a:srgbClr val="00A7FF"/>
          </a:solidFill>
          <a:ln>
            <a:noFill/>
          </a:ln>
        </p:spPr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13ACAE2E-2255-C20D-FD3E-FEDC9E3EC858}"/>
              </a:ext>
            </a:extLst>
          </p:cNvPr>
          <p:cNvSpPr/>
          <p:nvPr/>
        </p:nvSpPr>
        <p:spPr>
          <a:xfrm>
            <a:off x="7932420" y="2468880"/>
            <a:ext cx="1699260" cy="1534478"/>
          </a:xfrm>
          <a:prstGeom prst="roundRect">
            <a:avLst>
              <a:gd name="adj" fmla="val 7449"/>
            </a:avLst>
          </a:prstGeom>
          <a:solidFill>
            <a:srgbClr val="F8FC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716F6006-DA6C-619E-372A-5850B77B46FD}"/>
              </a:ext>
            </a:extLst>
          </p:cNvPr>
          <p:cNvSpPr/>
          <p:nvPr/>
        </p:nvSpPr>
        <p:spPr>
          <a:xfrm>
            <a:off x="7940040" y="2476500"/>
            <a:ext cx="1684020" cy="480060"/>
          </a:xfrm>
          <a:prstGeom prst="rect">
            <a:avLst/>
          </a:prstGeom>
          <a:solidFill>
            <a:srgbClr val="009BAE"/>
          </a:solidFill>
          <a:ln>
            <a:noFill/>
          </a:ln>
        </p:spPr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1DE142EE-9DCE-5115-B054-2A35C2586C16}"/>
              </a:ext>
            </a:extLst>
          </p:cNvPr>
          <p:cNvSpPr/>
          <p:nvPr/>
        </p:nvSpPr>
        <p:spPr>
          <a:xfrm>
            <a:off x="9723120" y="2468880"/>
            <a:ext cx="1699260" cy="1534478"/>
          </a:xfrm>
          <a:prstGeom prst="roundRect">
            <a:avLst>
              <a:gd name="adj" fmla="val 7449"/>
            </a:avLst>
          </a:prstGeom>
          <a:solidFill>
            <a:srgbClr val="F1FBF7"/>
          </a:solidFill>
          <a:ln w="9525">
            <a:solidFill>
              <a:srgbClr val="BDE8DA"/>
            </a:solidFill>
            <a:prstDash val="solid"/>
          </a:ln>
        </p:spPr>
      </p:sp>
      <p:sp>
        <p:nvSpPr>
          <p:cNvPr id="38" name="Shape 21">
            <a:extLst>
              <a:ext uri="{FF2B5EF4-FFF2-40B4-BE49-F238E27FC236}">
                <a16:creationId xmlns:a16="http://schemas.microsoft.com/office/drawing/2014/main" id="{9D4BB709-5299-0254-8160-460EBDD57FA3}"/>
              </a:ext>
            </a:extLst>
          </p:cNvPr>
          <p:cNvSpPr/>
          <p:nvPr/>
        </p:nvSpPr>
        <p:spPr>
          <a:xfrm>
            <a:off x="9730740" y="2476500"/>
            <a:ext cx="1684020" cy="480060"/>
          </a:xfrm>
          <a:prstGeom prst="rect">
            <a:avLst/>
          </a:prstGeom>
          <a:solidFill>
            <a:srgbClr val="00AB7A"/>
          </a:solidFill>
          <a:ln>
            <a:noFill/>
          </a:ln>
        </p:spPr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79DF3903-64CC-CAC1-E57F-8ECDBF76E25A}"/>
              </a:ext>
            </a:extLst>
          </p:cNvPr>
          <p:cNvSpPr/>
          <p:nvPr/>
        </p:nvSpPr>
        <p:spPr>
          <a:xfrm>
            <a:off x="769620" y="4125278"/>
            <a:ext cx="10652760" cy="510540"/>
          </a:xfrm>
          <a:prstGeom prst="roundRect">
            <a:avLst>
              <a:gd name="adj" fmla="val 20896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42" name="Shape 23">
            <a:extLst>
              <a:ext uri="{FF2B5EF4-FFF2-40B4-BE49-F238E27FC236}">
                <a16:creationId xmlns:a16="http://schemas.microsoft.com/office/drawing/2014/main" id="{8F0F6A86-CFCD-3432-B4C7-BD5F45F181F3}"/>
              </a:ext>
            </a:extLst>
          </p:cNvPr>
          <p:cNvSpPr/>
          <p:nvPr/>
        </p:nvSpPr>
        <p:spPr>
          <a:xfrm>
            <a:off x="2415540" y="4216718"/>
            <a:ext cx="1697712" cy="327660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DD833E00-FB45-D574-B6DB-3FB32E0DFDDC}"/>
              </a:ext>
            </a:extLst>
          </p:cNvPr>
          <p:cNvSpPr/>
          <p:nvPr/>
        </p:nvSpPr>
        <p:spPr>
          <a:xfrm>
            <a:off x="4204692" y="4216718"/>
            <a:ext cx="1697712" cy="327660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6" name="Shape 25">
            <a:extLst>
              <a:ext uri="{FF2B5EF4-FFF2-40B4-BE49-F238E27FC236}">
                <a16:creationId xmlns:a16="http://schemas.microsoft.com/office/drawing/2014/main" id="{3A13AB81-DF1E-504F-D210-0CCEED1A1E82}"/>
              </a:ext>
            </a:extLst>
          </p:cNvPr>
          <p:cNvSpPr/>
          <p:nvPr/>
        </p:nvSpPr>
        <p:spPr>
          <a:xfrm>
            <a:off x="5993844" y="4216718"/>
            <a:ext cx="1697712" cy="327660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8" name="Shape 26">
            <a:extLst>
              <a:ext uri="{FF2B5EF4-FFF2-40B4-BE49-F238E27FC236}">
                <a16:creationId xmlns:a16="http://schemas.microsoft.com/office/drawing/2014/main" id="{DC26B356-9D7B-DD54-F8A6-CB584DF4F934}"/>
              </a:ext>
            </a:extLst>
          </p:cNvPr>
          <p:cNvSpPr/>
          <p:nvPr/>
        </p:nvSpPr>
        <p:spPr>
          <a:xfrm>
            <a:off x="7782997" y="4216718"/>
            <a:ext cx="1697712" cy="327660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0" name="Shape 27">
            <a:extLst>
              <a:ext uri="{FF2B5EF4-FFF2-40B4-BE49-F238E27FC236}">
                <a16:creationId xmlns:a16="http://schemas.microsoft.com/office/drawing/2014/main" id="{F66393F5-D6FB-6BC5-2D5C-6CCC677AE8A7}"/>
              </a:ext>
            </a:extLst>
          </p:cNvPr>
          <p:cNvSpPr/>
          <p:nvPr/>
        </p:nvSpPr>
        <p:spPr>
          <a:xfrm>
            <a:off x="9572149" y="4216718"/>
            <a:ext cx="1697831" cy="327660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2" name="Shape 28">
            <a:extLst>
              <a:ext uri="{FF2B5EF4-FFF2-40B4-BE49-F238E27FC236}">
                <a16:creationId xmlns:a16="http://schemas.microsoft.com/office/drawing/2014/main" id="{FE1C7305-B0DA-D23F-26DD-10397A9536E8}"/>
              </a:ext>
            </a:extLst>
          </p:cNvPr>
          <p:cNvSpPr/>
          <p:nvPr/>
        </p:nvSpPr>
        <p:spPr>
          <a:xfrm>
            <a:off x="609600" y="4948238"/>
            <a:ext cx="5680591" cy="1782247"/>
          </a:xfrm>
          <a:prstGeom prst="roundRect">
            <a:avLst>
              <a:gd name="adj" fmla="val 8551"/>
            </a:avLst>
          </a:prstGeom>
          <a:solidFill>
            <a:srgbClr val="F8FC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56" name="Shape 30">
            <a:extLst>
              <a:ext uri="{FF2B5EF4-FFF2-40B4-BE49-F238E27FC236}">
                <a16:creationId xmlns:a16="http://schemas.microsoft.com/office/drawing/2014/main" id="{4CA3E84C-E4D7-8C3D-C6B6-E5455035A390}"/>
              </a:ext>
            </a:extLst>
          </p:cNvPr>
          <p:cNvSpPr/>
          <p:nvPr/>
        </p:nvSpPr>
        <p:spPr>
          <a:xfrm>
            <a:off x="769620" y="5557838"/>
            <a:ext cx="1271468" cy="553164"/>
          </a:xfrm>
          <a:prstGeom prst="roundRect">
            <a:avLst>
              <a:gd name="adj" fmla="val 1102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8" name="Shape 31">
            <a:extLst>
              <a:ext uri="{FF2B5EF4-FFF2-40B4-BE49-F238E27FC236}">
                <a16:creationId xmlns:a16="http://schemas.microsoft.com/office/drawing/2014/main" id="{8D30FFE9-AC33-AF8C-8157-864CDDC111CE}"/>
              </a:ext>
            </a:extLst>
          </p:cNvPr>
          <p:cNvSpPr/>
          <p:nvPr/>
        </p:nvSpPr>
        <p:spPr>
          <a:xfrm>
            <a:off x="2132528" y="5557838"/>
            <a:ext cx="1271587" cy="553164"/>
          </a:xfrm>
          <a:prstGeom prst="roundRect">
            <a:avLst>
              <a:gd name="adj" fmla="val 1102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0" name="Shape 32">
            <a:extLst>
              <a:ext uri="{FF2B5EF4-FFF2-40B4-BE49-F238E27FC236}">
                <a16:creationId xmlns:a16="http://schemas.microsoft.com/office/drawing/2014/main" id="{111B1BF8-4A49-8A69-BF01-62EBFC19046B}"/>
              </a:ext>
            </a:extLst>
          </p:cNvPr>
          <p:cNvSpPr/>
          <p:nvPr/>
        </p:nvSpPr>
        <p:spPr>
          <a:xfrm>
            <a:off x="3495556" y="5557838"/>
            <a:ext cx="1271587" cy="553164"/>
          </a:xfrm>
          <a:prstGeom prst="roundRect">
            <a:avLst>
              <a:gd name="adj" fmla="val 1102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2" name="Shape 33">
            <a:extLst>
              <a:ext uri="{FF2B5EF4-FFF2-40B4-BE49-F238E27FC236}">
                <a16:creationId xmlns:a16="http://schemas.microsoft.com/office/drawing/2014/main" id="{BD54BB52-873D-6A48-46C6-D716B3FA52A9}"/>
              </a:ext>
            </a:extLst>
          </p:cNvPr>
          <p:cNvSpPr/>
          <p:nvPr/>
        </p:nvSpPr>
        <p:spPr>
          <a:xfrm>
            <a:off x="4858583" y="5557838"/>
            <a:ext cx="1271587" cy="553164"/>
          </a:xfrm>
          <a:prstGeom prst="roundRect">
            <a:avLst>
              <a:gd name="adj" fmla="val 1102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4" name="Shape 34">
            <a:extLst>
              <a:ext uri="{FF2B5EF4-FFF2-40B4-BE49-F238E27FC236}">
                <a16:creationId xmlns:a16="http://schemas.microsoft.com/office/drawing/2014/main" id="{97E0D817-A039-7658-F678-BFEFB011BEB0}"/>
              </a:ext>
            </a:extLst>
          </p:cNvPr>
          <p:cNvSpPr/>
          <p:nvPr/>
        </p:nvSpPr>
        <p:spPr>
          <a:xfrm>
            <a:off x="769620" y="6202442"/>
            <a:ext cx="1271468" cy="368022"/>
          </a:xfrm>
          <a:prstGeom prst="roundRect">
            <a:avLst>
              <a:gd name="adj" fmla="val 1656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6" name="Shape 35">
            <a:extLst>
              <a:ext uri="{FF2B5EF4-FFF2-40B4-BE49-F238E27FC236}">
                <a16:creationId xmlns:a16="http://schemas.microsoft.com/office/drawing/2014/main" id="{86A189C2-28D6-4238-435F-AC36EB1B7D98}"/>
              </a:ext>
            </a:extLst>
          </p:cNvPr>
          <p:cNvSpPr/>
          <p:nvPr/>
        </p:nvSpPr>
        <p:spPr>
          <a:xfrm>
            <a:off x="2132528" y="6202442"/>
            <a:ext cx="1271587" cy="368022"/>
          </a:xfrm>
          <a:prstGeom prst="roundRect">
            <a:avLst>
              <a:gd name="adj" fmla="val 1656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8" name="Shape 36">
            <a:extLst>
              <a:ext uri="{FF2B5EF4-FFF2-40B4-BE49-F238E27FC236}">
                <a16:creationId xmlns:a16="http://schemas.microsoft.com/office/drawing/2014/main" id="{B2643A82-2F63-2D1B-18F2-8686ECCD311E}"/>
              </a:ext>
            </a:extLst>
          </p:cNvPr>
          <p:cNvSpPr/>
          <p:nvPr/>
        </p:nvSpPr>
        <p:spPr>
          <a:xfrm>
            <a:off x="3495556" y="6202442"/>
            <a:ext cx="1271587" cy="368022"/>
          </a:xfrm>
          <a:prstGeom prst="roundRect">
            <a:avLst>
              <a:gd name="adj" fmla="val 1656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0" name="Shape 37">
            <a:extLst>
              <a:ext uri="{FF2B5EF4-FFF2-40B4-BE49-F238E27FC236}">
                <a16:creationId xmlns:a16="http://schemas.microsoft.com/office/drawing/2014/main" id="{553B7828-9EDD-B4CC-D5F1-CDE2B961D14E}"/>
              </a:ext>
            </a:extLst>
          </p:cNvPr>
          <p:cNvSpPr/>
          <p:nvPr/>
        </p:nvSpPr>
        <p:spPr>
          <a:xfrm>
            <a:off x="4858583" y="6202442"/>
            <a:ext cx="1271587" cy="368022"/>
          </a:xfrm>
          <a:prstGeom prst="roundRect">
            <a:avLst>
              <a:gd name="adj" fmla="val 1656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2" name="Shape 38">
            <a:extLst>
              <a:ext uri="{FF2B5EF4-FFF2-40B4-BE49-F238E27FC236}">
                <a16:creationId xmlns:a16="http://schemas.microsoft.com/office/drawing/2014/main" id="{22F69CE3-C4FB-A21B-EA8B-11B4BB09CCFA}"/>
              </a:ext>
            </a:extLst>
          </p:cNvPr>
          <p:cNvSpPr/>
          <p:nvPr/>
        </p:nvSpPr>
        <p:spPr>
          <a:xfrm>
            <a:off x="6442591" y="4948238"/>
            <a:ext cx="5139690" cy="1782247"/>
          </a:xfrm>
          <a:prstGeom prst="roundRect">
            <a:avLst>
              <a:gd name="adj" fmla="val 8551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74" name="Shape 39">
            <a:extLst>
              <a:ext uri="{FF2B5EF4-FFF2-40B4-BE49-F238E27FC236}">
                <a16:creationId xmlns:a16="http://schemas.microsoft.com/office/drawing/2014/main" id="{3B5CA435-3DBA-3912-4C57-3833054E6C6B}"/>
              </a:ext>
            </a:extLst>
          </p:cNvPr>
          <p:cNvSpPr/>
          <p:nvPr/>
        </p:nvSpPr>
        <p:spPr>
          <a:xfrm>
            <a:off x="6594991" y="5496877"/>
            <a:ext cx="1550670" cy="1013103"/>
          </a:xfrm>
          <a:prstGeom prst="roundRect">
            <a:avLst>
              <a:gd name="adj" fmla="val 902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76" name="Shape 40">
            <a:extLst>
              <a:ext uri="{FF2B5EF4-FFF2-40B4-BE49-F238E27FC236}">
                <a16:creationId xmlns:a16="http://schemas.microsoft.com/office/drawing/2014/main" id="{C5FD4E37-4F70-3A87-0257-E7D1217CDE41}"/>
              </a:ext>
            </a:extLst>
          </p:cNvPr>
          <p:cNvSpPr/>
          <p:nvPr/>
        </p:nvSpPr>
        <p:spPr>
          <a:xfrm>
            <a:off x="8237101" y="5496877"/>
            <a:ext cx="1550670" cy="1013103"/>
          </a:xfrm>
          <a:prstGeom prst="roundRect">
            <a:avLst>
              <a:gd name="adj" fmla="val 902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78" name="Shape 41">
            <a:extLst>
              <a:ext uri="{FF2B5EF4-FFF2-40B4-BE49-F238E27FC236}">
                <a16:creationId xmlns:a16="http://schemas.microsoft.com/office/drawing/2014/main" id="{55CC4791-FF9B-3B6E-47E3-D1F111059C98}"/>
              </a:ext>
            </a:extLst>
          </p:cNvPr>
          <p:cNvSpPr/>
          <p:nvPr/>
        </p:nvSpPr>
        <p:spPr>
          <a:xfrm>
            <a:off x="9879211" y="5496877"/>
            <a:ext cx="1550670" cy="1013103"/>
          </a:xfrm>
          <a:prstGeom prst="roundRect">
            <a:avLst>
              <a:gd name="adj" fmla="val 9026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80" name="TextBox 5">
            <a:extLst>
              <a:ext uri="{FF2B5EF4-FFF2-40B4-BE49-F238E27FC236}">
                <a16:creationId xmlns:a16="http://schemas.microsoft.com/office/drawing/2014/main" id="{38A9D961-68D5-BD36-C6F0-6DC74600075E}"/>
              </a:ext>
            </a:extLst>
          </p:cNvPr>
          <p:cNvSpPr txBox="1"/>
          <p:nvPr/>
        </p:nvSpPr>
        <p:spPr>
          <a:xfrm>
            <a:off x="1744980" y="1074420"/>
            <a:ext cx="758342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05"/>
              </a:lnSpc>
            </a:pPr>
            <a:r>
              <a:rPr lang="zh-CN" sz="156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从“原型能跑”进阶为在复杂流程、多人使用和真实环境中</a:t>
            </a:r>
            <a:r>
              <a:rPr lang="zh-CN" sz="156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可交付、可维护、可回归</a:t>
            </a:r>
            <a:r>
              <a:rPr lang="en-US" sz="156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82" name="TextBox 6">
            <a:extLst>
              <a:ext uri="{FF2B5EF4-FFF2-40B4-BE49-F238E27FC236}">
                <a16:creationId xmlns:a16="http://schemas.microsoft.com/office/drawing/2014/main" id="{2A35DBF7-C3A6-0225-32AA-D6F5F84E5DC8}"/>
              </a:ext>
            </a:extLst>
          </p:cNvPr>
          <p:cNvSpPr txBox="1"/>
          <p:nvPr/>
        </p:nvSpPr>
        <p:spPr>
          <a:xfrm>
            <a:off x="769620" y="1813560"/>
            <a:ext cx="25008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en-US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ENGINEERING CAPABILITY CHAIN</a:t>
            </a:r>
          </a:p>
        </p:txBody>
      </p:sp>
      <p:sp>
        <p:nvSpPr>
          <p:cNvPr id="84" name="TextBox 7">
            <a:extLst>
              <a:ext uri="{FF2B5EF4-FFF2-40B4-BE49-F238E27FC236}">
                <a16:creationId xmlns:a16="http://schemas.microsoft.com/office/drawing/2014/main" id="{3F0F851F-D084-D864-7667-E30BCEB1904F}"/>
              </a:ext>
            </a:extLst>
          </p:cNvPr>
          <p:cNvSpPr txBox="1"/>
          <p:nvPr/>
        </p:nvSpPr>
        <p:spPr>
          <a:xfrm>
            <a:off x="769620" y="2049780"/>
            <a:ext cx="2500884" cy="3246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340"/>
              </a:lnSpc>
              <a:spcBef>
                <a:spcPts val="240"/>
              </a:spcBef>
            </a:pPr>
            <a:r>
              <a:rPr lang="zh-CN" sz="156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复杂AI应用工程能力链</a:t>
            </a:r>
          </a:p>
        </p:txBody>
      </p:sp>
      <p:sp>
        <p:nvSpPr>
          <p:cNvPr id="86" name="TextBox 8">
            <a:extLst>
              <a:ext uri="{FF2B5EF4-FFF2-40B4-BE49-F238E27FC236}">
                <a16:creationId xmlns:a16="http://schemas.microsoft.com/office/drawing/2014/main" id="{FD63F827-23A6-8A48-31A0-9656706F7FA9}"/>
              </a:ext>
            </a:extLst>
          </p:cNvPr>
          <p:cNvSpPr txBox="1"/>
          <p:nvPr/>
        </p:nvSpPr>
        <p:spPr>
          <a:xfrm>
            <a:off x="868680" y="3048000"/>
            <a:ext cx="1556004" cy="2255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需求与边界</a:t>
            </a:r>
          </a:p>
        </p:txBody>
      </p:sp>
      <p:sp>
        <p:nvSpPr>
          <p:cNvPr id="88" name="TextBox 9">
            <a:extLst>
              <a:ext uri="{FF2B5EF4-FFF2-40B4-BE49-F238E27FC236}">
                <a16:creationId xmlns:a16="http://schemas.microsoft.com/office/drawing/2014/main" id="{682F16B6-F722-94B6-D87F-E6E3103B59D6}"/>
              </a:ext>
            </a:extLst>
          </p:cNvPr>
          <p:cNvSpPr txBox="1"/>
          <p:nvPr/>
        </p:nvSpPr>
        <p:spPr>
          <a:xfrm>
            <a:off x="868680" y="3307080"/>
            <a:ext cx="1556004" cy="621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  <a:spcBef>
                <a:spcPts val="4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拆解角色、任务、分支、输入输出、异常与业务指标。</a:t>
            </a:r>
          </a:p>
        </p:txBody>
      </p:sp>
      <p:sp>
        <p:nvSpPr>
          <p:cNvPr id="90" name="TextBox 10">
            <a:extLst>
              <a:ext uri="{FF2B5EF4-FFF2-40B4-BE49-F238E27FC236}">
                <a16:creationId xmlns:a16="http://schemas.microsoft.com/office/drawing/2014/main" id="{2CFDC378-EBA8-6BA1-3D14-820AECF49941}"/>
              </a:ext>
            </a:extLst>
          </p:cNvPr>
          <p:cNvSpPr txBox="1"/>
          <p:nvPr/>
        </p:nvSpPr>
        <p:spPr>
          <a:xfrm>
            <a:off x="2659380" y="3048000"/>
            <a:ext cx="1556004" cy="2255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流程与上下文</a:t>
            </a:r>
          </a:p>
        </p:txBody>
      </p:sp>
      <p:sp>
        <p:nvSpPr>
          <p:cNvPr id="92" name="TextBox 11">
            <a:extLst>
              <a:ext uri="{FF2B5EF4-FFF2-40B4-BE49-F238E27FC236}">
                <a16:creationId xmlns:a16="http://schemas.microsoft.com/office/drawing/2014/main" id="{6310D977-E3AD-FCDE-37E1-A3B3F37D0D81}"/>
              </a:ext>
            </a:extLst>
          </p:cNvPr>
          <p:cNvSpPr txBox="1"/>
          <p:nvPr/>
        </p:nvSpPr>
        <p:spPr>
          <a:xfrm>
            <a:off x="2659380" y="3307080"/>
            <a:ext cx="1556004" cy="621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  <a:spcBef>
                <a:spcPts val="4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设计工作流、多智能体协作、上下文管理及人工确认点。</a:t>
            </a:r>
          </a:p>
        </p:txBody>
      </p:sp>
      <p:sp>
        <p:nvSpPr>
          <p:cNvPr id="94" name="TextBox 12">
            <a:extLst>
              <a:ext uri="{FF2B5EF4-FFF2-40B4-BE49-F238E27FC236}">
                <a16:creationId xmlns:a16="http://schemas.microsoft.com/office/drawing/2014/main" id="{35C09F6C-930B-7DA8-1D42-5C588D80D9B0}"/>
              </a:ext>
            </a:extLst>
          </p:cNvPr>
          <p:cNvSpPr txBox="1"/>
          <p:nvPr/>
        </p:nvSpPr>
        <p:spPr>
          <a:xfrm>
            <a:off x="4450080" y="3048000"/>
            <a:ext cx="1556004" cy="2255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en-US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/ MCP / API</a:t>
            </a:r>
          </a:p>
        </p:txBody>
      </p:sp>
      <p:sp>
        <p:nvSpPr>
          <p:cNvPr id="96" name="TextBox 13">
            <a:extLst>
              <a:ext uri="{FF2B5EF4-FFF2-40B4-BE49-F238E27FC236}">
                <a16:creationId xmlns:a16="http://schemas.microsoft.com/office/drawing/2014/main" id="{2B38A8A9-4149-9979-7623-99215F842014}"/>
              </a:ext>
            </a:extLst>
          </p:cNvPr>
          <p:cNvSpPr txBox="1"/>
          <p:nvPr/>
        </p:nvSpPr>
        <p:spPr>
          <a:xfrm>
            <a:off x="4450080" y="3307080"/>
            <a:ext cx="1556004" cy="621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  <a:spcBef>
                <a:spcPts val="4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接入企业知识检索、Agentic RAG、MCP服务和系统接口。</a:t>
            </a:r>
          </a:p>
        </p:txBody>
      </p:sp>
      <p:sp>
        <p:nvSpPr>
          <p:cNvPr id="98" name="TextBox 14">
            <a:extLst>
              <a:ext uri="{FF2B5EF4-FFF2-40B4-BE49-F238E27FC236}">
                <a16:creationId xmlns:a16="http://schemas.microsoft.com/office/drawing/2014/main" id="{2BB53A80-FAA5-2399-5365-998BEBB3382C}"/>
              </a:ext>
            </a:extLst>
          </p:cNvPr>
          <p:cNvSpPr txBox="1"/>
          <p:nvPr/>
        </p:nvSpPr>
        <p:spPr>
          <a:xfrm>
            <a:off x="6240780" y="3048000"/>
            <a:ext cx="1556004" cy="2255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测试与版本</a:t>
            </a:r>
          </a:p>
        </p:txBody>
      </p:sp>
      <p:sp>
        <p:nvSpPr>
          <p:cNvPr id="100" name="TextBox 15">
            <a:extLst>
              <a:ext uri="{FF2B5EF4-FFF2-40B4-BE49-F238E27FC236}">
                <a16:creationId xmlns:a16="http://schemas.microsoft.com/office/drawing/2014/main" id="{72FC13B6-DF10-859E-9D38-70EAD95F2215}"/>
              </a:ext>
            </a:extLst>
          </p:cNvPr>
          <p:cNvSpPr txBox="1"/>
          <p:nvPr/>
        </p:nvSpPr>
        <p:spPr>
          <a:xfrm>
            <a:off x="6240780" y="3307080"/>
            <a:ext cx="1556004" cy="621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  <a:spcBef>
                <a:spcPts val="4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建设测试集，开展智能体评估、版本对比与效果优化。</a:t>
            </a:r>
          </a:p>
        </p:txBody>
      </p:sp>
      <p:sp>
        <p:nvSpPr>
          <p:cNvPr id="102" name="TextBox 16">
            <a:extLst>
              <a:ext uri="{FF2B5EF4-FFF2-40B4-BE49-F238E27FC236}">
                <a16:creationId xmlns:a16="http://schemas.microsoft.com/office/drawing/2014/main" id="{43F6A0C0-E435-934B-5A33-F6875A64FBC2}"/>
              </a:ext>
            </a:extLst>
          </p:cNvPr>
          <p:cNvSpPr txBox="1"/>
          <p:nvPr/>
        </p:nvSpPr>
        <p:spPr>
          <a:xfrm>
            <a:off x="8031480" y="3048000"/>
            <a:ext cx="1556004" cy="2255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100" b="1" dirty="0">
                <a:solidFill>
                  <a:srgbClr val="008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 / 日志 / 异常</a:t>
            </a:r>
          </a:p>
        </p:txBody>
      </p:sp>
      <p:sp>
        <p:nvSpPr>
          <p:cNvPr id="104" name="TextBox 17">
            <a:extLst>
              <a:ext uri="{FF2B5EF4-FFF2-40B4-BE49-F238E27FC236}">
                <a16:creationId xmlns:a16="http://schemas.microsoft.com/office/drawing/2014/main" id="{6B895578-9F6B-CD02-93F5-2251ACA045AD}"/>
              </a:ext>
            </a:extLst>
          </p:cNvPr>
          <p:cNvSpPr txBox="1"/>
          <p:nvPr/>
        </p:nvSpPr>
        <p:spPr>
          <a:xfrm>
            <a:off x="8031480" y="3307080"/>
            <a:ext cx="1556004" cy="621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  <a:spcBef>
                <a:spcPts val="4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落实权限边界、运行日志、失败处理和责任追溯。</a:t>
            </a:r>
          </a:p>
        </p:txBody>
      </p:sp>
      <p:sp>
        <p:nvSpPr>
          <p:cNvPr id="106" name="TextBox 18">
            <a:extLst>
              <a:ext uri="{FF2B5EF4-FFF2-40B4-BE49-F238E27FC236}">
                <a16:creationId xmlns:a16="http://schemas.microsoft.com/office/drawing/2014/main" id="{381FA15E-AFA1-DA96-4B2F-7FFB1FCAADE0}"/>
              </a:ext>
            </a:extLst>
          </p:cNvPr>
          <p:cNvSpPr txBox="1"/>
          <p:nvPr/>
        </p:nvSpPr>
        <p:spPr>
          <a:xfrm>
            <a:off x="9822180" y="3048000"/>
            <a:ext cx="1556004" cy="2255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100" b="1" dirty="0">
                <a:solidFill>
                  <a:srgbClr val="008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上线与持续运营</a:t>
            </a:r>
          </a:p>
        </p:txBody>
      </p:sp>
      <p:sp>
        <p:nvSpPr>
          <p:cNvPr id="108" name="TextBox 19">
            <a:extLst>
              <a:ext uri="{FF2B5EF4-FFF2-40B4-BE49-F238E27FC236}">
                <a16:creationId xmlns:a16="http://schemas.microsoft.com/office/drawing/2014/main" id="{6B9C2276-B9FC-8D36-6918-D9BBE3BE11C9}"/>
              </a:ext>
            </a:extLst>
          </p:cNvPr>
          <p:cNvSpPr txBox="1"/>
          <p:nvPr/>
        </p:nvSpPr>
        <p:spPr>
          <a:xfrm>
            <a:off x="9822180" y="3307080"/>
            <a:ext cx="1556004" cy="621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  <a:spcBef>
                <a:spcPts val="48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完成部署、监控、回退、培训、交接与迭代运营。</a:t>
            </a:r>
          </a:p>
        </p:txBody>
      </p:sp>
      <p:sp>
        <p:nvSpPr>
          <p:cNvPr id="110" name="TextBox 20">
            <a:extLst>
              <a:ext uri="{FF2B5EF4-FFF2-40B4-BE49-F238E27FC236}">
                <a16:creationId xmlns:a16="http://schemas.microsoft.com/office/drawing/2014/main" id="{A1923BB6-EDF7-4B94-F517-1ED360A6BD4D}"/>
              </a:ext>
            </a:extLst>
          </p:cNvPr>
          <p:cNvSpPr txBox="1"/>
          <p:nvPr/>
        </p:nvSpPr>
        <p:spPr>
          <a:xfrm>
            <a:off x="922020" y="4267200"/>
            <a:ext cx="142646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800"/>
              </a:lnSpc>
            </a:pPr>
            <a:r>
              <a:rPr lang="zh-CN" sz="14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平衡</a:t>
            </a:r>
            <a:r>
              <a:rPr lang="zh-CN" altLang="en-US" sz="14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sz="14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企业约束</a:t>
            </a:r>
          </a:p>
        </p:txBody>
      </p:sp>
      <p:sp>
        <p:nvSpPr>
          <p:cNvPr id="112" name="TextBox 21">
            <a:extLst>
              <a:ext uri="{FF2B5EF4-FFF2-40B4-BE49-F238E27FC236}">
                <a16:creationId xmlns:a16="http://schemas.microsoft.com/office/drawing/2014/main" id="{A94C0742-EE0E-F7B6-061B-78AA642A3FCC}"/>
              </a:ext>
            </a:extLst>
          </p:cNvPr>
          <p:cNvSpPr txBox="1"/>
          <p:nvPr/>
        </p:nvSpPr>
        <p:spPr>
          <a:xfrm>
            <a:off x="795020" y="5135879"/>
            <a:ext cx="3409672" cy="3609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zh-CN" sz="16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试运行应用必须携带完整交付证据</a:t>
            </a:r>
          </a:p>
        </p:txBody>
      </p:sp>
      <p:sp>
        <p:nvSpPr>
          <p:cNvPr id="116" name="TextBox 23">
            <a:extLst>
              <a:ext uri="{FF2B5EF4-FFF2-40B4-BE49-F238E27FC236}">
                <a16:creationId xmlns:a16="http://schemas.microsoft.com/office/drawing/2014/main" id="{A129FB59-6B94-9246-BAD3-92D451C1F033}"/>
              </a:ext>
            </a:extLst>
          </p:cNvPr>
          <p:cNvSpPr txBox="1"/>
          <p:nvPr/>
        </p:nvSpPr>
        <p:spPr>
          <a:xfrm>
            <a:off x="6591300" y="5097780"/>
            <a:ext cx="1517904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zh-CN" sz="14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项目评审三道门槛</a:t>
            </a:r>
          </a:p>
        </p:txBody>
      </p:sp>
      <p:sp>
        <p:nvSpPr>
          <p:cNvPr id="120" name="TextBox 25">
            <a:extLst>
              <a:ext uri="{FF2B5EF4-FFF2-40B4-BE49-F238E27FC236}">
                <a16:creationId xmlns:a16="http://schemas.microsoft.com/office/drawing/2014/main" id="{37CF4CEC-1F1D-5AF7-368D-8023C5A6D789}"/>
              </a:ext>
            </a:extLst>
          </p:cNvPr>
          <p:cNvSpPr txBox="1"/>
          <p:nvPr/>
        </p:nvSpPr>
        <p:spPr>
          <a:xfrm>
            <a:off x="922020" y="1104900"/>
            <a:ext cx="6035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能力跃迁</a:t>
            </a:r>
          </a:p>
        </p:txBody>
      </p:sp>
      <p:sp>
        <p:nvSpPr>
          <p:cNvPr id="122" name="TextBox 26">
            <a:extLst>
              <a:ext uri="{FF2B5EF4-FFF2-40B4-BE49-F238E27FC236}">
                <a16:creationId xmlns:a16="http://schemas.microsoft.com/office/drawing/2014/main" id="{F3C05162-05DD-DC1C-3661-DFA2B03BE181}"/>
              </a:ext>
            </a:extLst>
          </p:cNvPr>
          <p:cNvSpPr txBox="1"/>
          <p:nvPr/>
        </p:nvSpPr>
        <p:spPr>
          <a:xfrm>
            <a:off x="8866584" y="1985010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企业知识</a:t>
            </a:r>
          </a:p>
        </p:txBody>
      </p:sp>
      <p:sp>
        <p:nvSpPr>
          <p:cNvPr id="124" name="TextBox 27">
            <a:extLst>
              <a:ext uri="{FF2B5EF4-FFF2-40B4-BE49-F238E27FC236}">
                <a16:creationId xmlns:a16="http://schemas.microsoft.com/office/drawing/2014/main" id="{E3375B20-3E14-6081-104C-EA348B84D841}"/>
              </a:ext>
            </a:extLst>
          </p:cNvPr>
          <p:cNvSpPr txBox="1"/>
          <p:nvPr/>
        </p:nvSpPr>
        <p:spPr>
          <a:xfrm>
            <a:off x="9567624" y="1985010"/>
            <a:ext cx="240787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en-US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</a:p>
        </p:txBody>
      </p:sp>
      <p:sp>
        <p:nvSpPr>
          <p:cNvPr id="126" name="TextBox 28">
            <a:extLst>
              <a:ext uri="{FF2B5EF4-FFF2-40B4-BE49-F238E27FC236}">
                <a16:creationId xmlns:a16="http://schemas.microsoft.com/office/drawing/2014/main" id="{560C7DB4-C189-3DBF-11FF-F388855BF5DD}"/>
              </a:ext>
            </a:extLst>
          </p:cNvPr>
          <p:cNvSpPr txBox="1"/>
          <p:nvPr/>
        </p:nvSpPr>
        <p:spPr>
          <a:xfrm>
            <a:off x="9824442" y="1985010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工具系统</a:t>
            </a:r>
          </a:p>
        </p:txBody>
      </p:sp>
      <p:sp>
        <p:nvSpPr>
          <p:cNvPr id="128" name="TextBox 29">
            <a:extLst>
              <a:ext uri="{FF2B5EF4-FFF2-40B4-BE49-F238E27FC236}">
                <a16:creationId xmlns:a16="http://schemas.microsoft.com/office/drawing/2014/main" id="{583E8F40-A09A-E8EF-0FBD-F804F1A34A37}"/>
              </a:ext>
            </a:extLst>
          </p:cNvPr>
          <p:cNvSpPr txBox="1"/>
          <p:nvPr/>
        </p:nvSpPr>
        <p:spPr>
          <a:xfrm>
            <a:off x="10525482" y="1985010"/>
            <a:ext cx="240787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en-US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</a:p>
        </p:txBody>
      </p:sp>
      <p:sp>
        <p:nvSpPr>
          <p:cNvPr id="130" name="TextBox 30">
            <a:extLst>
              <a:ext uri="{FF2B5EF4-FFF2-40B4-BE49-F238E27FC236}">
                <a16:creationId xmlns:a16="http://schemas.microsoft.com/office/drawing/2014/main" id="{DDAA4B35-BD67-80C5-431F-EBEAAEB77A69}"/>
              </a:ext>
            </a:extLst>
          </p:cNvPr>
          <p:cNvSpPr txBox="1"/>
          <p:nvPr/>
        </p:nvSpPr>
        <p:spPr>
          <a:xfrm>
            <a:off x="10782300" y="1985010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业务流程</a:t>
            </a:r>
          </a:p>
        </p:txBody>
      </p:sp>
      <p:sp>
        <p:nvSpPr>
          <p:cNvPr id="132" name="TextBox 31">
            <a:extLst>
              <a:ext uri="{FF2B5EF4-FFF2-40B4-BE49-F238E27FC236}">
                <a16:creationId xmlns:a16="http://schemas.microsoft.com/office/drawing/2014/main" id="{9FCC7D50-6462-926D-CA84-0AC9DC2898FD}"/>
              </a:ext>
            </a:extLst>
          </p:cNvPr>
          <p:cNvSpPr txBox="1"/>
          <p:nvPr/>
        </p:nvSpPr>
        <p:spPr>
          <a:xfrm>
            <a:off x="868680" y="2567940"/>
            <a:ext cx="298704" cy="3246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34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34" name="TextBox 32">
            <a:extLst>
              <a:ext uri="{FF2B5EF4-FFF2-40B4-BE49-F238E27FC236}">
                <a16:creationId xmlns:a16="http://schemas.microsoft.com/office/drawing/2014/main" id="{B9D868C4-C2CB-763C-C358-C91E1046CA5E}"/>
              </a:ext>
            </a:extLst>
          </p:cNvPr>
          <p:cNvSpPr txBox="1"/>
          <p:nvPr/>
        </p:nvSpPr>
        <p:spPr>
          <a:xfrm>
            <a:off x="1203960" y="2598420"/>
            <a:ext cx="69494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>
              <a:lnSpc>
                <a:spcPts val="1890"/>
              </a:lnSpc>
            </a:pPr>
            <a:r>
              <a:rPr lang="zh-CN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流程拆解</a:t>
            </a:r>
          </a:p>
        </p:txBody>
      </p:sp>
      <p:sp>
        <p:nvSpPr>
          <p:cNvPr id="136" name="TextBox 33">
            <a:extLst>
              <a:ext uri="{FF2B5EF4-FFF2-40B4-BE49-F238E27FC236}">
                <a16:creationId xmlns:a16="http://schemas.microsoft.com/office/drawing/2014/main" id="{B7935EE4-762D-8E7E-6C02-870DB0B99B89}"/>
              </a:ext>
            </a:extLst>
          </p:cNvPr>
          <p:cNvSpPr txBox="1"/>
          <p:nvPr/>
        </p:nvSpPr>
        <p:spPr>
          <a:xfrm>
            <a:off x="2659380" y="2567940"/>
            <a:ext cx="298704" cy="3246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34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38" name="TextBox 34">
            <a:extLst>
              <a:ext uri="{FF2B5EF4-FFF2-40B4-BE49-F238E27FC236}">
                <a16:creationId xmlns:a16="http://schemas.microsoft.com/office/drawing/2014/main" id="{285C9559-86B0-1560-D34B-C510C4E616E5}"/>
              </a:ext>
            </a:extLst>
          </p:cNvPr>
          <p:cNvSpPr txBox="1"/>
          <p:nvPr/>
        </p:nvSpPr>
        <p:spPr>
          <a:xfrm>
            <a:off x="2994660" y="2598420"/>
            <a:ext cx="69494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>
              <a:lnSpc>
                <a:spcPts val="1890"/>
              </a:lnSpc>
            </a:pPr>
            <a:r>
              <a:rPr lang="zh-CN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智能编排</a:t>
            </a:r>
          </a:p>
        </p:txBody>
      </p:sp>
      <p:sp>
        <p:nvSpPr>
          <p:cNvPr id="140" name="TextBox 35">
            <a:extLst>
              <a:ext uri="{FF2B5EF4-FFF2-40B4-BE49-F238E27FC236}">
                <a16:creationId xmlns:a16="http://schemas.microsoft.com/office/drawing/2014/main" id="{E80C4621-D0C2-D0AD-4695-09418E8FB280}"/>
              </a:ext>
            </a:extLst>
          </p:cNvPr>
          <p:cNvSpPr txBox="1"/>
          <p:nvPr/>
        </p:nvSpPr>
        <p:spPr>
          <a:xfrm>
            <a:off x="4450080" y="2567940"/>
            <a:ext cx="298704" cy="3246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34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42" name="TextBox 36">
            <a:extLst>
              <a:ext uri="{FF2B5EF4-FFF2-40B4-BE49-F238E27FC236}">
                <a16:creationId xmlns:a16="http://schemas.microsoft.com/office/drawing/2014/main" id="{CCE12D8D-B9C9-0B28-FEB7-91DBF8871979}"/>
              </a:ext>
            </a:extLst>
          </p:cNvPr>
          <p:cNvSpPr txBox="1"/>
          <p:nvPr/>
        </p:nvSpPr>
        <p:spPr>
          <a:xfrm>
            <a:off x="4785360" y="2598420"/>
            <a:ext cx="69494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>
              <a:lnSpc>
                <a:spcPts val="1890"/>
              </a:lnSpc>
            </a:pPr>
            <a:r>
              <a:rPr lang="zh-CN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知识工具</a:t>
            </a:r>
          </a:p>
        </p:txBody>
      </p:sp>
      <p:sp>
        <p:nvSpPr>
          <p:cNvPr id="144" name="TextBox 37">
            <a:extLst>
              <a:ext uri="{FF2B5EF4-FFF2-40B4-BE49-F238E27FC236}">
                <a16:creationId xmlns:a16="http://schemas.microsoft.com/office/drawing/2014/main" id="{144FAE6B-7203-A249-A11D-4FE6D6DB12C5}"/>
              </a:ext>
            </a:extLst>
          </p:cNvPr>
          <p:cNvSpPr txBox="1"/>
          <p:nvPr/>
        </p:nvSpPr>
        <p:spPr>
          <a:xfrm>
            <a:off x="6240780" y="2567940"/>
            <a:ext cx="298704" cy="3246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34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146" name="TextBox 38">
            <a:extLst>
              <a:ext uri="{FF2B5EF4-FFF2-40B4-BE49-F238E27FC236}">
                <a16:creationId xmlns:a16="http://schemas.microsoft.com/office/drawing/2014/main" id="{F2282069-D165-DAA4-F846-0BA969E1DD7E}"/>
              </a:ext>
            </a:extLst>
          </p:cNvPr>
          <p:cNvSpPr txBox="1"/>
          <p:nvPr/>
        </p:nvSpPr>
        <p:spPr>
          <a:xfrm>
            <a:off x="6576060" y="2598420"/>
            <a:ext cx="69494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>
              <a:lnSpc>
                <a:spcPts val="1890"/>
              </a:lnSpc>
            </a:pPr>
            <a:r>
              <a:rPr lang="zh-CN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评测优化</a:t>
            </a:r>
          </a:p>
        </p:txBody>
      </p:sp>
      <p:sp>
        <p:nvSpPr>
          <p:cNvPr id="148" name="TextBox 39">
            <a:extLst>
              <a:ext uri="{FF2B5EF4-FFF2-40B4-BE49-F238E27FC236}">
                <a16:creationId xmlns:a16="http://schemas.microsoft.com/office/drawing/2014/main" id="{1AD26333-5963-D5F0-6842-DDC5248CD72B}"/>
              </a:ext>
            </a:extLst>
          </p:cNvPr>
          <p:cNvSpPr txBox="1"/>
          <p:nvPr/>
        </p:nvSpPr>
        <p:spPr>
          <a:xfrm>
            <a:off x="8031480" y="2567940"/>
            <a:ext cx="298704" cy="3246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34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</a:p>
        </p:txBody>
      </p:sp>
      <p:sp>
        <p:nvSpPr>
          <p:cNvPr id="150" name="TextBox 40">
            <a:extLst>
              <a:ext uri="{FF2B5EF4-FFF2-40B4-BE49-F238E27FC236}">
                <a16:creationId xmlns:a16="http://schemas.microsoft.com/office/drawing/2014/main" id="{4A0DD897-91D6-DBC1-8A37-90C3D02590FB}"/>
              </a:ext>
            </a:extLst>
          </p:cNvPr>
          <p:cNvSpPr txBox="1"/>
          <p:nvPr/>
        </p:nvSpPr>
        <p:spPr>
          <a:xfrm>
            <a:off x="8366760" y="2598420"/>
            <a:ext cx="69494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>
              <a:lnSpc>
                <a:spcPts val="1890"/>
              </a:lnSpc>
            </a:pPr>
            <a:r>
              <a:rPr lang="zh-CN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安全可靠</a:t>
            </a:r>
          </a:p>
        </p:txBody>
      </p:sp>
      <p:sp>
        <p:nvSpPr>
          <p:cNvPr id="152" name="TextBox 41">
            <a:extLst>
              <a:ext uri="{FF2B5EF4-FFF2-40B4-BE49-F238E27FC236}">
                <a16:creationId xmlns:a16="http://schemas.microsoft.com/office/drawing/2014/main" id="{F282CA46-B008-7FAB-B3F9-93D20BB49117}"/>
              </a:ext>
            </a:extLst>
          </p:cNvPr>
          <p:cNvSpPr txBox="1"/>
          <p:nvPr/>
        </p:nvSpPr>
        <p:spPr>
          <a:xfrm>
            <a:off x="9822180" y="2567940"/>
            <a:ext cx="298704" cy="3246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34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</a:p>
        </p:txBody>
      </p:sp>
      <p:sp>
        <p:nvSpPr>
          <p:cNvPr id="154" name="TextBox 42">
            <a:extLst>
              <a:ext uri="{FF2B5EF4-FFF2-40B4-BE49-F238E27FC236}">
                <a16:creationId xmlns:a16="http://schemas.microsoft.com/office/drawing/2014/main" id="{8F059AE7-F4C9-CDEC-1C46-F20691C536BD}"/>
              </a:ext>
            </a:extLst>
          </p:cNvPr>
          <p:cNvSpPr txBox="1"/>
          <p:nvPr/>
        </p:nvSpPr>
        <p:spPr>
          <a:xfrm>
            <a:off x="10157460" y="2598420"/>
            <a:ext cx="69494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>
              <a:lnSpc>
                <a:spcPts val="1890"/>
              </a:lnSpc>
            </a:pPr>
            <a:r>
              <a:rPr lang="zh-CN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部署运维</a:t>
            </a:r>
          </a:p>
        </p:txBody>
      </p:sp>
      <p:sp>
        <p:nvSpPr>
          <p:cNvPr id="156" name="TextBox 43">
            <a:extLst>
              <a:ext uri="{FF2B5EF4-FFF2-40B4-BE49-F238E27FC236}">
                <a16:creationId xmlns:a16="http://schemas.microsoft.com/office/drawing/2014/main" id="{4D4C04CD-E2C2-A51E-614F-24D51B68E7A7}"/>
              </a:ext>
            </a:extLst>
          </p:cNvPr>
          <p:cNvSpPr txBox="1"/>
          <p:nvPr/>
        </p:nvSpPr>
        <p:spPr>
          <a:xfrm>
            <a:off x="2506980" y="4274820"/>
            <a:ext cx="15712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准确性</a:t>
            </a:r>
          </a:p>
        </p:txBody>
      </p:sp>
      <p:sp>
        <p:nvSpPr>
          <p:cNvPr id="158" name="TextBox 44">
            <a:extLst>
              <a:ext uri="{FF2B5EF4-FFF2-40B4-BE49-F238E27FC236}">
                <a16:creationId xmlns:a16="http://schemas.microsoft.com/office/drawing/2014/main" id="{B9E3F555-22B9-56CD-8BA8-D0753C648CD0}"/>
              </a:ext>
            </a:extLst>
          </p:cNvPr>
          <p:cNvSpPr txBox="1"/>
          <p:nvPr/>
        </p:nvSpPr>
        <p:spPr>
          <a:xfrm>
            <a:off x="4297680" y="4274820"/>
            <a:ext cx="15712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</a:p>
        </p:txBody>
      </p:sp>
      <p:sp>
        <p:nvSpPr>
          <p:cNvPr id="160" name="TextBox 45">
            <a:extLst>
              <a:ext uri="{FF2B5EF4-FFF2-40B4-BE49-F238E27FC236}">
                <a16:creationId xmlns:a16="http://schemas.microsoft.com/office/drawing/2014/main" id="{45781856-D64C-BD54-5C10-FA2BF02F2A34}"/>
              </a:ext>
            </a:extLst>
          </p:cNvPr>
          <p:cNvSpPr txBox="1"/>
          <p:nvPr/>
        </p:nvSpPr>
        <p:spPr>
          <a:xfrm>
            <a:off x="6088380" y="4274820"/>
            <a:ext cx="15712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安全性</a:t>
            </a:r>
          </a:p>
        </p:txBody>
      </p:sp>
      <p:sp>
        <p:nvSpPr>
          <p:cNvPr id="162" name="TextBox 46">
            <a:extLst>
              <a:ext uri="{FF2B5EF4-FFF2-40B4-BE49-F238E27FC236}">
                <a16:creationId xmlns:a16="http://schemas.microsoft.com/office/drawing/2014/main" id="{6B9FED6F-0A32-FD02-F658-FC56D6624E4D}"/>
              </a:ext>
            </a:extLst>
          </p:cNvPr>
          <p:cNvSpPr txBox="1"/>
          <p:nvPr/>
        </p:nvSpPr>
        <p:spPr>
          <a:xfrm>
            <a:off x="7871460" y="4274820"/>
            <a:ext cx="15712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</a:t>
            </a:r>
          </a:p>
        </p:txBody>
      </p:sp>
      <p:sp>
        <p:nvSpPr>
          <p:cNvPr id="164" name="TextBox 47">
            <a:extLst>
              <a:ext uri="{FF2B5EF4-FFF2-40B4-BE49-F238E27FC236}">
                <a16:creationId xmlns:a16="http://schemas.microsoft.com/office/drawing/2014/main" id="{DA0EBFBF-2767-5055-2102-8D2DC8BD93ED}"/>
              </a:ext>
            </a:extLst>
          </p:cNvPr>
          <p:cNvSpPr txBox="1"/>
          <p:nvPr/>
        </p:nvSpPr>
        <p:spPr>
          <a:xfrm>
            <a:off x="9662160" y="4274820"/>
            <a:ext cx="15712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1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可维护性</a:t>
            </a:r>
          </a:p>
        </p:txBody>
      </p:sp>
      <p:sp>
        <p:nvSpPr>
          <p:cNvPr id="166" name="TextBox 48">
            <a:extLst>
              <a:ext uri="{FF2B5EF4-FFF2-40B4-BE49-F238E27FC236}">
                <a16:creationId xmlns:a16="http://schemas.microsoft.com/office/drawing/2014/main" id="{E7C7F971-4FE7-91BD-7705-FC566EAED76F}"/>
              </a:ext>
            </a:extLst>
          </p:cNvPr>
          <p:cNvSpPr txBox="1"/>
          <p:nvPr/>
        </p:nvSpPr>
        <p:spPr>
          <a:xfrm>
            <a:off x="861060" y="5646420"/>
            <a:ext cx="114452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en-US" sz="12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需求说明</a:t>
            </a:r>
          </a:p>
        </p:txBody>
      </p:sp>
      <p:sp>
        <p:nvSpPr>
          <p:cNvPr id="168" name="TextBox 49">
            <a:extLst>
              <a:ext uri="{FF2B5EF4-FFF2-40B4-BE49-F238E27FC236}">
                <a16:creationId xmlns:a16="http://schemas.microsoft.com/office/drawing/2014/main" id="{9B998F18-444D-6F40-A67F-15BBB245CE74}"/>
              </a:ext>
            </a:extLst>
          </p:cNvPr>
          <p:cNvSpPr txBox="1"/>
          <p:nvPr/>
        </p:nvSpPr>
        <p:spPr>
          <a:xfrm>
            <a:off x="2225040" y="5646420"/>
            <a:ext cx="114452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en-US" sz="12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总体与接口设计</a:t>
            </a:r>
          </a:p>
        </p:txBody>
      </p:sp>
      <p:sp>
        <p:nvSpPr>
          <p:cNvPr id="170" name="TextBox 50">
            <a:extLst>
              <a:ext uri="{FF2B5EF4-FFF2-40B4-BE49-F238E27FC236}">
                <a16:creationId xmlns:a16="http://schemas.microsoft.com/office/drawing/2014/main" id="{1941FB7C-08D8-7397-704D-CDA7A6EBC489}"/>
              </a:ext>
            </a:extLst>
          </p:cNvPr>
          <p:cNvSpPr txBox="1"/>
          <p:nvPr/>
        </p:nvSpPr>
        <p:spPr>
          <a:xfrm>
            <a:off x="3589020" y="5646420"/>
            <a:ext cx="114452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en-US" sz="12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测试集</a:t>
            </a:r>
          </a:p>
        </p:txBody>
      </p:sp>
      <p:sp>
        <p:nvSpPr>
          <p:cNvPr id="172" name="TextBox 51">
            <a:extLst>
              <a:ext uri="{FF2B5EF4-FFF2-40B4-BE49-F238E27FC236}">
                <a16:creationId xmlns:a16="http://schemas.microsoft.com/office/drawing/2014/main" id="{37AD684B-930D-9214-EF57-6D7F23B9E7A1}"/>
              </a:ext>
            </a:extLst>
          </p:cNvPr>
          <p:cNvSpPr txBox="1"/>
          <p:nvPr/>
        </p:nvSpPr>
        <p:spPr>
          <a:xfrm>
            <a:off x="4953000" y="5646420"/>
            <a:ext cx="114452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en-US" sz="12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评测报告</a:t>
            </a:r>
          </a:p>
        </p:txBody>
      </p:sp>
      <p:sp>
        <p:nvSpPr>
          <p:cNvPr id="174" name="TextBox 52">
            <a:extLst>
              <a:ext uri="{FF2B5EF4-FFF2-40B4-BE49-F238E27FC236}">
                <a16:creationId xmlns:a16="http://schemas.microsoft.com/office/drawing/2014/main" id="{D9A53622-4E81-0FF1-E13E-1AEEC32B08A0}"/>
              </a:ext>
            </a:extLst>
          </p:cNvPr>
          <p:cNvSpPr txBox="1"/>
          <p:nvPr/>
        </p:nvSpPr>
        <p:spPr>
          <a:xfrm>
            <a:off x="861060" y="6294120"/>
            <a:ext cx="114452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en-US" sz="12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安全说明</a:t>
            </a:r>
          </a:p>
        </p:txBody>
      </p:sp>
      <p:sp>
        <p:nvSpPr>
          <p:cNvPr id="176" name="TextBox 53">
            <a:extLst>
              <a:ext uri="{FF2B5EF4-FFF2-40B4-BE49-F238E27FC236}">
                <a16:creationId xmlns:a16="http://schemas.microsoft.com/office/drawing/2014/main" id="{BF4F9460-74DC-41BF-DAE6-8EF29475C72C}"/>
              </a:ext>
            </a:extLst>
          </p:cNvPr>
          <p:cNvSpPr txBox="1"/>
          <p:nvPr/>
        </p:nvSpPr>
        <p:spPr>
          <a:xfrm>
            <a:off x="2225040" y="6294120"/>
            <a:ext cx="114452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en-US" sz="12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部署方案</a:t>
            </a:r>
          </a:p>
        </p:txBody>
      </p:sp>
      <p:sp>
        <p:nvSpPr>
          <p:cNvPr id="178" name="TextBox 54">
            <a:extLst>
              <a:ext uri="{FF2B5EF4-FFF2-40B4-BE49-F238E27FC236}">
                <a16:creationId xmlns:a16="http://schemas.microsoft.com/office/drawing/2014/main" id="{6EB8EDFA-CFD4-CB52-5B95-2BB4DFD275A2}"/>
              </a:ext>
            </a:extLst>
          </p:cNvPr>
          <p:cNvSpPr txBox="1"/>
          <p:nvPr/>
        </p:nvSpPr>
        <p:spPr>
          <a:xfrm>
            <a:off x="3589020" y="6294120"/>
            <a:ext cx="114452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>
              <a:lnSpc>
                <a:spcPts val="1460"/>
              </a:lnSpc>
            </a:pPr>
            <a:r>
              <a:rPr lang="en-US" sz="12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使用培训材料</a:t>
            </a:r>
          </a:p>
        </p:txBody>
      </p:sp>
      <p:sp>
        <p:nvSpPr>
          <p:cNvPr id="180" name="TextBox 55">
            <a:extLst>
              <a:ext uri="{FF2B5EF4-FFF2-40B4-BE49-F238E27FC236}">
                <a16:creationId xmlns:a16="http://schemas.microsoft.com/office/drawing/2014/main" id="{1E5B5586-4A91-90A3-B2B7-2BD9DE134F1F}"/>
              </a:ext>
            </a:extLst>
          </p:cNvPr>
          <p:cNvSpPr txBox="1"/>
          <p:nvPr/>
        </p:nvSpPr>
        <p:spPr>
          <a:xfrm>
            <a:off x="4953000" y="6294120"/>
            <a:ext cx="114452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>
              <a:lnSpc>
                <a:spcPts val="1460"/>
              </a:lnSpc>
            </a:pPr>
            <a:r>
              <a:rPr lang="en-US" sz="12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r>
              <a:rPr lang="zh-CN" sz="12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运维交接材料</a:t>
            </a:r>
          </a:p>
        </p:txBody>
      </p:sp>
      <p:sp>
        <p:nvSpPr>
          <p:cNvPr id="182" name="TextBox 56">
            <a:extLst>
              <a:ext uri="{FF2B5EF4-FFF2-40B4-BE49-F238E27FC236}">
                <a16:creationId xmlns:a16="http://schemas.microsoft.com/office/drawing/2014/main" id="{33F3BFD8-5306-F64C-B8BD-DBEC18BE7877}"/>
              </a:ext>
            </a:extLst>
          </p:cNvPr>
          <p:cNvSpPr txBox="1"/>
          <p:nvPr/>
        </p:nvSpPr>
        <p:spPr>
          <a:xfrm>
            <a:off x="6713220" y="5585460"/>
            <a:ext cx="1365504" cy="8580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65"/>
              </a:lnSpc>
            </a:pPr>
            <a:r>
              <a:rPr lang="zh-CN" sz="12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可交付</a:t>
            </a:r>
            <a:r>
              <a:rPr lang="zh-CN" sz="126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接口清单、失败处理、权限控制、业务验收</a:t>
            </a:r>
          </a:p>
        </p:txBody>
      </p:sp>
      <p:sp>
        <p:nvSpPr>
          <p:cNvPr id="184" name="TextBox 57">
            <a:extLst>
              <a:ext uri="{FF2B5EF4-FFF2-40B4-BE49-F238E27FC236}">
                <a16:creationId xmlns:a16="http://schemas.microsoft.com/office/drawing/2014/main" id="{5E29EE03-4C1D-31E1-CE61-FCFA619CB6D9}"/>
              </a:ext>
            </a:extLst>
          </p:cNvPr>
          <p:cNvSpPr txBox="1"/>
          <p:nvPr/>
        </p:nvSpPr>
        <p:spPr>
          <a:xfrm>
            <a:off x="8359140" y="5585460"/>
            <a:ext cx="1365504" cy="8580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65"/>
              </a:lnSpc>
            </a:pPr>
            <a:r>
              <a:rPr lang="zh-CN" sz="12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可维护</a:t>
            </a:r>
            <a:r>
              <a:rPr lang="zh-CN" sz="126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日志监测、版本管理、回退机制、运维交接</a:t>
            </a:r>
          </a:p>
        </p:txBody>
      </p:sp>
      <p:sp>
        <p:nvSpPr>
          <p:cNvPr id="186" name="TextBox 58">
            <a:extLst>
              <a:ext uri="{FF2B5EF4-FFF2-40B4-BE49-F238E27FC236}">
                <a16:creationId xmlns:a16="http://schemas.microsoft.com/office/drawing/2014/main" id="{967C8181-CD4F-0706-22DB-2BC00EA6EE98}"/>
              </a:ext>
            </a:extLst>
          </p:cNvPr>
          <p:cNvSpPr txBox="1"/>
          <p:nvPr/>
        </p:nvSpPr>
        <p:spPr>
          <a:xfrm>
            <a:off x="9997440" y="5585460"/>
            <a:ext cx="1365504" cy="8580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65"/>
              </a:lnSpc>
            </a:pPr>
            <a:r>
              <a:rPr lang="zh-CN" sz="12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可回归</a:t>
            </a:r>
            <a:r>
              <a:rPr lang="zh-CN" sz="126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固定测试集、版本对比、结果复现、问题追踪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1885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050DE-6B8E-AEB0-B248-409B9979E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68DA8-ECB7-E032-D954-FC1E3B805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en-US" altLang="zh-CN" dirty="0"/>
              <a:t>ADEE:</a:t>
            </a:r>
            <a:r>
              <a:rPr lang="zh-CN" altLang="en-US" dirty="0"/>
              <a:t>推动企业</a:t>
            </a:r>
            <a:r>
              <a:rPr lang="en-US" altLang="zh-CN" dirty="0"/>
              <a:t>AI</a:t>
            </a:r>
            <a:r>
              <a:rPr lang="zh-CN" altLang="en-US" dirty="0"/>
              <a:t>规模化落地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1C803DC-12C9-08E4-6547-292A9613E7C9}"/>
              </a:ext>
            </a:extLst>
          </p:cNvPr>
          <p:cNvSpPr/>
          <p:nvPr/>
        </p:nvSpPr>
        <p:spPr>
          <a:xfrm>
            <a:off x="670560" y="1054100"/>
            <a:ext cx="10850880" cy="533400"/>
          </a:xfrm>
          <a:prstGeom prst="roundRect">
            <a:avLst>
              <a:gd name="adj" fmla="val 22857"/>
            </a:avLst>
          </a:prstGeom>
          <a:solidFill>
            <a:srgbClr val="ECF7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4491AFC4-7468-A571-7F4E-0655BFF92227}"/>
              </a:ext>
            </a:extLst>
          </p:cNvPr>
          <p:cNvSpPr/>
          <p:nvPr/>
        </p:nvSpPr>
        <p:spPr>
          <a:xfrm>
            <a:off x="670560" y="1724660"/>
            <a:ext cx="6205061" cy="4905494"/>
          </a:xfrm>
          <a:prstGeom prst="roundRect">
            <a:avLst>
              <a:gd name="adj" fmla="val 3417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36E32AE-FC2A-CBA5-3E90-2F4C4A510E7D}"/>
              </a:ext>
            </a:extLst>
          </p:cNvPr>
          <p:cNvSpPr/>
          <p:nvPr/>
        </p:nvSpPr>
        <p:spPr>
          <a:xfrm>
            <a:off x="4769406" y="1903730"/>
            <a:ext cx="1930956" cy="365760"/>
          </a:xfrm>
          <a:prstGeom prst="roundRect">
            <a:avLst>
              <a:gd name="adj" fmla="val 27083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FA21D30-C415-C899-FDA0-AB1AACD9F1B9}"/>
              </a:ext>
            </a:extLst>
          </p:cNvPr>
          <p:cNvSpPr/>
          <p:nvPr/>
        </p:nvSpPr>
        <p:spPr>
          <a:xfrm>
            <a:off x="845820" y="2410460"/>
            <a:ext cx="1417915" cy="544830"/>
          </a:xfrm>
          <a:prstGeom prst="roundRect">
            <a:avLst>
              <a:gd name="adj" fmla="val 18182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8BB10A9B-E51D-629E-F9FB-A7BBE79283FE}"/>
              </a:ext>
            </a:extLst>
          </p:cNvPr>
          <p:cNvSpPr/>
          <p:nvPr/>
        </p:nvSpPr>
        <p:spPr>
          <a:xfrm>
            <a:off x="2324695" y="2410460"/>
            <a:ext cx="1417915" cy="544830"/>
          </a:xfrm>
          <a:prstGeom prst="roundRect">
            <a:avLst>
              <a:gd name="adj" fmla="val 18182"/>
            </a:avLst>
          </a:prstGeom>
          <a:solidFill>
            <a:srgbClr val="0565FF"/>
          </a:solidFill>
          <a:ln>
            <a:noFill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4F2A7FF0-DA1A-2ED4-3110-C84A3E417737}"/>
              </a:ext>
            </a:extLst>
          </p:cNvPr>
          <p:cNvSpPr/>
          <p:nvPr/>
        </p:nvSpPr>
        <p:spPr>
          <a:xfrm>
            <a:off x="3803571" y="2410460"/>
            <a:ext cx="1417915" cy="544830"/>
          </a:xfrm>
          <a:prstGeom prst="roundRect">
            <a:avLst>
              <a:gd name="adj" fmla="val 18182"/>
            </a:avLst>
          </a:prstGeom>
          <a:solidFill>
            <a:srgbClr val="00A7FF"/>
          </a:solidFill>
          <a:ln>
            <a:noFill/>
          </a:ln>
        </p:spPr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F0CEDC64-40DA-0C1D-78DF-9340C5277F62}"/>
              </a:ext>
            </a:extLst>
          </p:cNvPr>
          <p:cNvSpPr/>
          <p:nvPr/>
        </p:nvSpPr>
        <p:spPr>
          <a:xfrm>
            <a:off x="5282446" y="2410460"/>
            <a:ext cx="1417915" cy="544830"/>
          </a:xfrm>
          <a:prstGeom prst="roundRect">
            <a:avLst>
              <a:gd name="adj" fmla="val 18182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16FC6CD1-D2BD-9E90-5A05-0EF91BDE0274}"/>
              </a:ext>
            </a:extLst>
          </p:cNvPr>
          <p:cNvSpPr/>
          <p:nvPr/>
        </p:nvSpPr>
        <p:spPr>
          <a:xfrm>
            <a:off x="845820" y="3031490"/>
            <a:ext cx="2896791" cy="1519238"/>
          </a:xfrm>
          <a:prstGeom prst="roundRect">
            <a:avLst>
              <a:gd name="adj" fmla="val 8025"/>
            </a:avLst>
          </a:prstGeom>
          <a:solidFill>
            <a:srgbClr val="F7FB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B87B6999-6958-19F3-0B44-2E35FF27795B}"/>
              </a:ext>
            </a:extLst>
          </p:cNvPr>
          <p:cNvSpPr/>
          <p:nvPr/>
        </p:nvSpPr>
        <p:spPr>
          <a:xfrm>
            <a:off x="937260" y="3122930"/>
            <a:ext cx="289560" cy="289560"/>
          </a:xfrm>
          <a:prstGeom prst="roundRect">
            <a:avLst>
              <a:gd name="adj" fmla="val 28947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E7DC1BCC-063F-CF2D-F72E-BF1EAE7FB0FB}"/>
              </a:ext>
            </a:extLst>
          </p:cNvPr>
          <p:cNvSpPr/>
          <p:nvPr/>
        </p:nvSpPr>
        <p:spPr>
          <a:xfrm>
            <a:off x="937260" y="4079716"/>
            <a:ext cx="701040" cy="266700"/>
          </a:xfrm>
          <a:prstGeom prst="roundRect">
            <a:avLst>
              <a:gd name="adj" fmla="val 50000"/>
            </a:avLst>
          </a:prstGeom>
          <a:solidFill>
            <a:srgbClr val="E1E8FF"/>
          </a:solidFill>
          <a:ln>
            <a:noFill/>
          </a:ln>
        </p:spPr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59B53925-49F4-45EC-A079-C89C4F28B7F4}"/>
              </a:ext>
            </a:extLst>
          </p:cNvPr>
          <p:cNvSpPr/>
          <p:nvPr/>
        </p:nvSpPr>
        <p:spPr>
          <a:xfrm>
            <a:off x="1684020" y="4079716"/>
            <a:ext cx="701040" cy="266700"/>
          </a:xfrm>
          <a:prstGeom prst="roundRect">
            <a:avLst>
              <a:gd name="adj" fmla="val 50000"/>
            </a:avLst>
          </a:prstGeom>
          <a:solidFill>
            <a:srgbClr val="E1E8FF"/>
          </a:solidFill>
          <a:ln>
            <a:noFill/>
          </a:ln>
        </p:spPr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A9DE8052-91B7-7DDD-B41D-E6C49CCBEE76}"/>
              </a:ext>
            </a:extLst>
          </p:cNvPr>
          <p:cNvSpPr/>
          <p:nvPr/>
        </p:nvSpPr>
        <p:spPr>
          <a:xfrm>
            <a:off x="2430780" y="4079716"/>
            <a:ext cx="701040" cy="266700"/>
          </a:xfrm>
          <a:prstGeom prst="roundRect">
            <a:avLst>
              <a:gd name="adj" fmla="val 50000"/>
            </a:avLst>
          </a:prstGeom>
          <a:solidFill>
            <a:srgbClr val="E1E8FF"/>
          </a:solidFill>
          <a:ln>
            <a:noFill/>
          </a:ln>
        </p:spPr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BB68E9FF-4180-03C8-E595-706DEAF50EE8}"/>
              </a:ext>
            </a:extLst>
          </p:cNvPr>
          <p:cNvSpPr/>
          <p:nvPr/>
        </p:nvSpPr>
        <p:spPr>
          <a:xfrm>
            <a:off x="3803571" y="3031490"/>
            <a:ext cx="2896791" cy="1519238"/>
          </a:xfrm>
          <a:prstGeom prst="roundRect">
            <a:avLst>
              <a:gd name="adj" fmla="val 8025"/>
            </a:avLst>
          </a:prstGeom>
          <a:solidFill>
            <a:srgbClr val="F2FCFF"/>
          </a:solidFill>
          <a:ln w="9525">
            <a:solidFill>
              <a:srgbClr val="BFE6FA"/>
            </a:solidFill>
            <a:prstDash val="solid"/>
          </a:ln>
        </p:spPr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05F8E00A-4BD6-8ED6-1A95-AD670EA4E505}"/>
              </a:ext>
            </a:extLst>
          </p:cNvPr>
          <p:cNvSpPr/>
          <p:nvPr/>
        </p:nvSpPr>
        <p:spPr>
          <a:xfrm>
            <a:off x="3895011" y="3122930"/>
            <a:ext cx="289560" cy="289560"/>
          </a:xfrm>
          <a:prstGeom prst="roundRect">
            <a:avLst>
              <a:gd name="adj" fmla="val 28947"/>
            </a:avLst>
          </a:prstGeom>
          <a:solidFill>
            <a:srgbClr val="00A7FF"/>
          </a:solidFill>
          <a:ln>
            <a:noFill/>
          </a:ln>
        </p:spPr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F9914A21-B960-E7C7-25D7-99408E9D91DC}"/>
              </a:ext>
            </a:extLst>
          </p:cNvPr>
          <p:cNvSpPr/>
          <p:nvPr/>
        </p:nvSpPr>
        <p:spPr>
          <a:xfrm>
            <a:off x="3895011" y="4079716"/>
            <a:ext cx="701040" cy="266700"/>
          </a:xfrm>
          <a:prstGeom prst="roundRect">
            <a:avLst>
              <a:gd name="adj" fmla="val 50000"/>
            </a:avLst>
          </a:prstGeom>
          <a:solidFill>
            <a:srgbClr val="DDF3FF"/>
          </a:solidFill>
          <a:ln>
            <a:noFill/>
          </a:ln>
        </p:spPr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751D5269-E936-4D97-DB2C-67C4C68D9597}"/>
              </a:ext>
            </a:extLst>
          </p:cNvPr>
          <p:cNvSpPr/>
          <p:nvPr/>
        </p:nvSpPr>
        <p:spPr>
          <a:xfrm>
            <a:off x="4641771" y="4079716"/>
            <a:ext cx="701040" cy="266700"/>
          </a:xfrm>
          <a:prstGeom prst="roundRect">
            <a:avLst>
              <a:gd name="adj" fmla="val 50000"/>
            </a:avLst>
          </a:prstGeom>
          <a:solidFill>
            <a:srgbClr val="DDF3FF"/>
          </a:solidFill>
          <a:ln>
            <a:noFill/>
          </a:ln>
        </p:spPr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F0ED5E68-28D7-50DD-AE10-9E931C24BCCE}"/>
              </a:ext>
            </a:extLst>
          </p:cNvPr>
          <p:cNvSpPr/>
          <p:nvPr/>
        </p:nvSpPr>
        <p:spPr>
          <a:xfrm>
            <a:off x="5388531" y="4079716"/>
            <a:ext cx="701040" cy="266700"/>
          </a:xfrm>
          <a:prstGeom prst="roundRect">
            <a:avLst>
              <a:gd name="adj" fmla="val 50000"/>
            </a:avLst>
          </a:prstGeom>
          <a:solidFill>
            <a:srgbClr val="DDF3FF"/>
          </a:solidFill>
          <a:ln>
            <a:noFill/>
          </a:ln>
        </p:spPr>
      </p:sp>
      <p:sp>
        <p:nvSpPr>
          <p:cNvPr id="38" name="Shape 21">
            <a:extLst>
              <a:ext uri="{FF2B5EF4-FFF2-40B4-BE49-F238E27FC236}">
                <a16:creationId xmlns:a16="http://schemas.microsoft.com/office/drawing/2014/main" id="{EA8182BE-F8C3-257E-284A-6703C029044E}"/>
              </a:ext>
            </a:extLst>
          </p:cNvPr>
          <p:cNvSpPr/>
          <p:nvPr/>
        </p:nvSpPr>
        <p:spPr>
          <a:xfrm>
            <a:off x="845820" y="4611688"/>
            <a:ext cx="2896791" cy="1519357"/>
          </a:xfrm>
          <a:prstGeom prst="roundRect">
            <a:avLst>
              <a:gd name="adj" fmla="val 8024"/>
            </a:avLst>
          </a:prstGeom>
          <a:solidFill>
            <a:srgbClr val="F7FB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9F564B5B-ECB5-524B-6CD3-ED58799A5D04}"/>
              </a:ext>
            </a:extLst>
          </p:cNvPr>
          <p:cNvSpPr/>
          <p:nvPr/>
        </p:nvSpPr>
        <p:spPr>
          <a:xfrm>
            <a:off x="937260" y="4703128"/>
            <a:ext cx="289560" cy="289560"/>
          </a:xfrm>
          <a:prstGeom prst="roundRect">
            <a:avLst>
              <a:gd name="adj" fmla="val 28947"/>
            </a:avLst>
          </a:prstGeom>
          <a:solidFill>
            <a:srgbClr val="0565FF"/>
          </a:solidFill>
          <a:ln>
            <a:noFill/>
          </a:ln>
        </p:spPr>
      </p:sp>
      <p:sp>
        <p:nvSpPr>
          <p:cNvPr id="42" name="Shape 23">
            <a:extLst>
              <a:ext uri="{FF2B5EF4-FFF2-40B4-BE49-F238E27FC236}">
                <a16:creationId xmlns:a16="http://schemas.microsoft.com/office/drawing/2014/main" id="{C2F80AE2-C41F-47A8-5ACB-6230A8ADD02E}"/>
              </a:ext>
            </a:extLst>
          </p:cNvPr>
          <p:cNvSpPr/>
          <p:nvPr/>
        </p:nvSpPr>
        <p:spPr>
          <a:xfrm>
            <a:off x="937260" y="5626735"/>
            <a:ext cx="701040" cy="266700"/>
          </a:xfrm>
          <a:prstGeom prst="roundRect">
            <a:avLst>
              <a:gd name="adj" fmla="val 50000"/>
            </a:avLst>
          </a:prstGeom>
          <a:solidFill>
            <a:srgbClr val="E1E8FF"/>
          </a:solidFill>
          <a:ln>
            <a:noFill/>
          </a:ln>
        </p:spPr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1374F010-8069-E481-9943-08146CA4D041}"/>
              </a:ext>
            </a:extLst>
          </p:cNvPr>
          <p:cNvSpPr/>
          <p:nvPr/>
        </p:nvSpPr>
        <p:spPr>
          <a:xfrm>
            <a:off x="1684020" y="5626735"/>
            <a:ext cx="701040" cy="266700"/>
          </a:xfrm>
          <a:prstGeom prst="roundRect">
            <a:avLst>
              <a:gd name="adj" fmla="val 50000"/>
            </a:avLst>
          </a:prstGeom>
          <a:solidFill>
            <a:srgbClr val="E1E8FF"/>
          </a:solidFill>
          <a:ln>
            <a:noFill/>
          </a:ln>
        </p:spPr>
      </p:sp>
      <p:sp>
        <p:nvSpPr>
          <p:cNvPr id="46" name="Shape 25">
            <a:extLst>
              <a:ext uri="{FF2B5EF4-FFF2-40B4-BE49-F238E27FC236}">
                <a16:creationId xmlns:a16="http://schemas.microsoft.com/office/drawing/2014/main" id="{EC5F930E-C5AA-5D37-120E-1CADEF75F430}"/>
              </a:ext>
            </a:extLst>
          </p:cNvPr>
          <p:cNvSpPr/>
          <p:nvPr/>
        </p:nvSpPr>
        <p:spPr>
          <a:xfrm>
            <a:off x="2430780" y="5626735"/>
            <a:ext cx="701040" cy="266700"/>
          </a:xfrm>
          <a:prstGeom prst="roundRect">
            <a:avLst>
              <a:gd name="adj" fmla="val 50000"/>
            </a:avLst>
          </a:prstGeom>
          <a:solidFill>
            <a:srgbClr val="E1E8FF"/>
          </a:solidFill>
          <a:ln>
            <a:noFill/>
          </a:ln>
        </p:spPr>
      </p:sp>
      <p:sp>
        <p:nvSpPr>
          <p:cNvPr id="48" name="Shape 26">
            <a:extLst>
              <a:ext uri="{FF2B5EF4-FFF2-40B4-BE49-F238E27FC236}">
                <a16:creationId xmlns:a16="http://schemas.microsoft.com/office/drawing/2014/main" id="{4A59B2C2-4F91-44BB-EE67-EB079562CE03}"/>
              </a:ext>
            </a:extLst>
          </p:cNvPr>
          <p:cNvSpPr/>
          <p:nvPr/>
        </p:nvSpPr>
        <p:spPr>
          <a:xfrm>
            <a:off x="3803571" y="4611688"/>
            <a:ext cx="2896791" cy="1519357"/>
          </a:xfrm>
          <a:prstGeom prst="roundRect">
            <a:avLst>
              <a:gd name="adj" fmla="val 8024"/>
            </a:avLst>
          </a:prstGeom>
          <a:solidFill>
            <a:srgbClr val="F2FFFC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50" name="Shape 27">
            <a:extLst>
              <a:ext uri="{FF2B5EF4-FFF2-40B4-BE49-F238E27FC236}">
                <a16:creationId xmlns:a16="http://schemas.microsoft.com/office/drawing/2014/main" id="{653EBFB4-39D6-AAA4-EDAB-C065088B8334}"/>
              </a:ext>
            </a:extLst>
          </p:cNvPr>
          <p:cNvSpPr/>
          <p:nvPr/>
        </p:nvSpPr>
        <p:spPr>
          <a:xfrm>
            <a:off x="3895011" y="4703128"/>
            <a:ext cx="289560" cy="289560"/>
          </a:xfrm>
          <a:prstGeom prst="roundRect">
            <a:avLst>
              <a:gd name="adj" fmla="val 28947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52" name="Shape 28">
            <a:extLst>
              <a:ext uri="{FF2B5EF4-FFF2-40B4-BE49-F238E27FC236}">
                <a16:creationId xmlns:a16="http://schemas.microsoft.com/office/drawing/2014/main" id="{D4DC4338-EAEA-FF82-E95B-0FA5436938F5}"/>
              </a:ext>
            </a:extLst>
          </p:cNvPr>
          <p:cNvSpPr/>
          <p:nvPr/>
        </p:nvSpPr>
        <p:spPr>
          <a:xfrm>
            <a:off x="3895011" y="5659914"/>
            <a:ext cx="701040" cy="266700"/>
          </a:xfrm>
          <a:prstGeom prst="roundRect">
            <a:avLst>
              <a:gd name="adj" fmla="val 50000"/>
            </a:avLst>
          </a:prstGeom>
          <a:solidFill>
            <a:srgbClr val="D9FFF5"/>
          </a:solidFill>
          <a:ln>
            <a:noFill/>
          </a:ln>
        </p:spPr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E938D48F-60C1-A98C-712E-C0A8D3F6ADAF}"/>
              </a:ext>
            </a:extLst>
          </p:cNvPr>
          <p:cNvSpPr/>
          <p:nvPr/>
        </p:nvSpPr>
        <p:spPr>
          <a:xfrm>
            <a:off x="4641771" y="5659914"/>
            <a:ext cx="701040" cy="266700"/>
          </a:xfrm>
          <a:prstGeom prst="roundRect">
            <a:avLst>
              <a:gd name="adj" fmla="val 50000"/>
            </a:avLst>
          </a:prstGeom>
          <a:solidFill>
            <a:srgbClr val="D9FFF5"/>
          </a:solidFill>
          <a:ln>
            <a:noFill/>
          </a:ln>
        </p:spPr>
      </p:sp>
      <p:sp>
        <p:nvSpPr>
          <p:cNvPr id="56" name="Shape 30">
            <a:extLst>
              <a:ext uri="{FF2B5EF4-FFF2-40B4-BE49-F238E27FC236}">
                <a16:creationId xmlns:a16="http://schemas.microsoft.com/office/drawing/2014/main" id="{0E250186-2D14-39F3-DF2D-314B4E001BA9}"/>
              </a:ext>
            </a:extLst>
          </p:cNvPr>
          <p:cNvSpPr/>
          <p:nvPr/>
        </p:nvSpPr>
        <p:spPr>
          <a:xfrm>
            <a:off x="5388531" y="5659914"/>
            <a:ext cx="701040" cy="266700"/>
          </a:xfrm>
          <a:prstGeom prst="roundRect">
            <a:avLst>
              <a:gd name="adj" fmla="val 50000"/>
            </a:avLst>
          </a:prstGeom>
          <a:solidFill>
            <a:srgbClr val="D9FFF5"/>
          </a:solidFill>
          <a:ln>
            <a:noFill/>
          </a:ln>
        </p:spPr>
      </p:sp>
      <p:sp>
        <p:nvSpPr>
          <p:cNvPr id="58" name="Shape 31">
            <a:extLst>
              <a:ext uri="{FF2B5EF4-FFF2-40B4-BE49-F238E27FC236}">
                <a16:creationId xmlns:a16="http://schemas.microsoft.com/office/drawing/2014/main" id="{08A238E2-CE17-E2A8-CB2D-079AEEC0E884}"/>
              </a:ext>
            </a:extLst>
          </p:cNvPr>
          <p:cNvSpPr/>
          <p:nvPr/>
        </p:nvSpPr>
        <p:spPr>
          <a:xfrm>
            <a:off x="845820" y="6192004"/>
            <a:ext cx="5854541" cy="323850"/>
          </a:xfrm>
          <a:prstGeom prst="roundRect">
            <a:avLst>
              <a:gd name="adj" fmla="val 32941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60" name="Shape 32">
            <a:extLst>
              <a:ext uri="{FF2B5EF4-FFF2-40B4-BE49-F238E27FC236}">
                <a16:creationId xmlns:a16="http://schemas.microsoft.com/office/drawing/2014/main" id="{DD8B76D6-5942-8B9B-F969-88F6B9A0C82D}"/>
              </a:ext>
            </a:extLst>
          </p:cNvPr>
          <p:cNvSpPr/>
          <p:nvPr/>
        </p:nvSpPr>
        <p:spPr>
          <a:xfrm>
            <a:off x="876300" y="6192004"/>
            <a:ext cx="914" cy="323850"/>
          </a:xfrm>
          <a:prstGeom prst="line">
            <a:avLst/>
          </a:prstGeom>
          <a:noFill/>
          <a:ln w="76200">
            <a:solidFill>
              <a:srgbClr val="0565FF"/>
            </a:solidFill>
            <a:prstDash val="solid"/>
          </a:ln>
        </p:spPr>
      </p:sp>
      <p:sp>
        <p:nvSpPr>
          <p:cNvPr id="62" name="Shape 33">
            <a:extLst>
              <a:ext uri="{FF2B5EF4-FFF2-40B4-BE49-F238E27FC236}">
                <a16:creationId xmlns:a16="http://schemas.microsoft.com/office/drawing/2014/main" id="{23C7AFA6-4FCB-743E-8382-E627D070B62D}"/>
              </a:ext>
            </a:extLst>
          </p:cNvPr>
          <p:cNvSpPr/>
          <p:nvPr/>
        </p:nvSpPr>
        <p:spPr>
          <a:xfrm>
            <a:off x="7028021" y="1724660"/>
            <a:ext cx="4493300" cy="2569964"/>
          </a:xfrm>
          <a:prstGeom prst="roundRect">
            <a:avLst>
              <a:gd name="adj" fmla="val 6523"/>
            </a:avLst>
          </a:prstGeom>
          <a:solidFill>
            <a:srgbClr val="FFFFFF"/>
          </a:solidFill>
          <a:ln w="19050">
            <a:solidFill>
              <a:srgbClr val="8CCBFF"/>
            </a:solidFill>
            <a:prstDash val="solid"/>
          </a:ln>
        </p:spPr>
      </p:sp>
      <p:sp>
        <p:nvSpPr>
          <p:cNvPr id="64" name="Shape 34">
            <a:extLst>
              <a:ext uri="{FF2B5EF4-FFF2-40B4-BE49-F238E27FC236}">
                <a16:creationId xmlns:a16="http://schemas.microsoft.com/office/drawing/2014/main" id="{3F6D0DC5-5E56-082D-F084-D9B12DB75DDB}"/>
              </a:ext>
            </a:extLst>
          </p:cNvPr>
          <p:cNvSpPr/>
          <p:nvPr/>
        </p:nvSpPr>
        <p:spPr>
          <a:xfrm>
            <a:off x="10347841" y="1917065"/>
            <a:ext cx="1021080" cy="327660"/>
          </a:xfrm>
          <a:prstGeom prst="roundRect">
            <a:avLst>
              <a:gd name="adj" fmla="val 27907"/>
            </a:avLst>
          </a:prstGeom>
          <a:solidFill>
            <a:srgbClr val="0565FF"/>
          </a:solidFill>
          <a:ln>
            <a:noFill/>
          </a:ln>
        </p:spPr>
      </p:sp>
      <p:sp>
        <p:nvSpPr>
          <p:cNvPr id="66" name="Shape 35">
            <a:extLst>
              <a:ext uri="{FF2B5EF4-FFF2-40B4-BE49-F238E27FC236}">
                <a16:creationId xmlns:a16="http://schemas.microsoft.com/office/drawing/2014/main" id="{2CDF2188-B18B-2B4F-C4F9-9DA6CE823513}"/>
              </a:ext>
            </a:extLst>
          </p:cNvPr>
          <p:cNvSpPr/>
          <p:nvPr/>
        </p:nvSpPr>
        <p:spPr>
          <a:xfrm>
            <a:off x="7180421" y="2399030"/>
            <a:ext cx="2067520" cy="684133"/>
          </a:xfrm>
          <a:prstGeom prst="roundRect">
            <a:avLst>
              <a:gd name="adj" fmla="val 13366"/>
            </a:avLst>
          </a:prstGeom>
          <a:solidFill>
            <a:srgbClr val="F7FBFF"/>
          </a:solidFill>
          <a:ln>
            <a:noFill/>
          </a:ln>
        </p:spPr>
      </p:sp>
      <p:sp>
        <p:nvSpPr>
          <p:cNvPr id="68" name="Shape 36">
            <a:extLst>
              <a:ext uri="{FF2B5EF4-FFF2-40B4-BE49-F238E27FC236}">
                <a16:creationId xmlns:a16="http://schemas.microsoft.com/office/drawing/2014/main" id="{A9260417-6FC4-84B8-C35C-F44E15C7E1D7}"/>
              </a:ext>
            </a:extLst>
          </p:cNvPr>
          <p:cNvSpPr/>
          <p:nvPr/>
        </p:nvSpPr>
        <p:spPr>
          <a:xfrm>
            <a:off x="9301282" y="2399030"/>
            <a:ext cx="2067639" cy="684133"/>
          </a:xfrm>
          <a:prstGeom prst="roundRect">
            <a:avLst>
              <a:gd name="adj" fmla="val 13366"/>
            </a:avLst>
          </a:prstGeom>
          <a:solidFill>
            <a:srgbClr val="F7FBFF"/>
          </a:solidFill>
          <a:ln>
            <a:noFill/>
          </a:ln>
        </p:spPr>
      </p:sp>
      <p:sp>
        <p:nvSpPr>
          <p:cNvPr id="70" name="Shape 37">
            <a:extLst>
              <a:ext uri="{FF2B5EF4-FFF2-40B4-BE49-F238E27FC236}">
                <a16:creationId xmlns:a16="http://schemas.microsoft.com/office/drawing/2014/main" id="{95C3CC32-FCF7-75E2-D26C-97D27FAFCEFF}"/>
              </a:ext>
            </a:extLst>
          </p:cNvPr>
          <p:cNvSpPr/>
          <p:nvPr/>
        </p:nvSpPr>
        <p:spPr>
          <a:xfrm>
            <a:off x="7180421" y="3136503"/>
            <a:ext cx="2067520" cy="505897"/>
          </a:xfrm>
          <a:prstGeom prst="roundRect">
            <a:avLst>
              <a:gd name="adj" fmla="val 18075"/>
            </a:avLst>
          </a:prstGeom>
          <a:solidFill>
            <a:srgbClr val="F7FBFF"/>
          </a:solidFill>
          <a:ln>
            <a:noFill/>
          </a:ln>
        </p:spPr>
      </p:sp>
      <p:sp>
        <p:nvSpPr>
          <p:cNvPr id="72" name="Shape 38">
            <a:extLst>
              <a:ext uri="{FF2B5EF4-FFF2-40B4-BE49-F238E27FC236}">
                <a16:creationId xmlns:a16="http://schemas.microsoft.com/office/drawing/2014/main" id="{5FDCCD68-2198-0D30-B9B3-E1AF493F1AFF}"/>
              </a:ext>
            </a:extLst>
          </p:cNvPr>
          <p:cNvSpPr/>
          <p:nvPr/>
        </p:nvSpPr>
        <p:spPr>
          <a:xfrm>
            <a:off x="9301282" y="3136503"/>
            <a:ext cx="2067639" cy="505897"/>
          </a:xfrm>
          <a:prstGeom prst="roundRect">
            <a:avLst>
              <a:gd name="adj" fmla="val 18075"/>
            </a:avLst>
          </a:prstGeom>
          <a:solidFill>
            <a:srgbClr val="F2FFFC"/>
          </a:solidFill>
          <a:ln>
            <a:noFill/>
          </a:ln>
        </p:spPr>
      </p:sp>
      <p:sp>
        <p:nvSpPr>
          <p:cNvPr id="74" name="Shape 39">
            <a:extLst>
              <a:ext uri="{FF2B5EF4-FFF2-40B4-BE49-F238E27FC236}">
                <a16:creationId xmlns:a16="http://schemas.microsoft.com/office/drawing/2014/main" id="{7723B06E-0C70-9DD0-B96F-16E8F3CC4827}"/>
              </a:ext>
            </a:extLst>
          </p:cNvPr>
          <p:cNvSpPr/>
          <p:nvPr/>
        </p:nvSpPr>
        <p:spPr>
          <a:xfrm>
            <a:off x="7180421" y="3703360"/>
            <a:ext cx="4188500" cy="476964"/>
          </a:xfrm>
          <a:prstGeom prst="roundRect">
            <a:avLst>
              <a:gd name="adj" fmla="val 19171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76" name="Shape 40">
            <a:extLst>
              <a:ext uri="{FF2B5EF4-FFF2-40B4-BE49-F238E27FC236}">
                <a16:creationId xmlns:a16="http://schemas.microsoft.com/office/drawing/2014/main" id="{E71670E8-3C5D-8C82-CD52-559DF3137819}"/>
              </a:ext>
            </a:extLst>
          </p:cNvPr>
          <p:cNvSpPr/>
          <p:nvPr/>
        </p:nvSpPr>
        <p:spPr>
          <a:xfrm>
            <a:off x="7028021" y="4370824"/>
            <a:ext cx="4493300" cy="2259330"/>
          </a:xfrm>
          <a:prstGeom prst="roundRect">
            <a:avLst>
              <a:gd name="adj" fmla="val 7420"/>
            </a:avLst>
          </a:prstGeom>
          <a:solidFill>
            <a:srgbClr val="F7FFFD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78" name="Shape 41">
            <a:extLst>
              <a:ext uri="{FF2B5EF4-FFF2-40B4-BE49-F238E27FC236}">
                <a16:creationId xmlns:a16="http://schemas.microsoft.com/office/drawing/2014/main" id="{32130F0A-B96A-17AD-B417-8BA9919815AF}"/>
              </a:ext>
            </a:extLst>
          </p:cNvPr>
          <p:cNvSpPr/>
          <p:nvPr/>
        </p:nvSpPr>
        <p:spPr>
          <a:xfrm>
            <a:off x="10065901" y="4469884"/>
            <a:ext cx="1310640" cy="289560"/>
          </a:xfrm>
          <a:prstGeom prst="roundRect">
            <a:avLst>
              <a:gd name="adj" fmla="val 50000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80" name="Shape 42">
            <a:extLst>
              <a:ext uri="{FF2B5EF4-FFF2-40B4-BE49-F238E27FC236}">
                <a16:creationId xmlns:a16="http://schemas.microsoft.com/office/drawing/2014/main" id="{44CC5183-F9CF-1E35-FF4E-18EF8DDEE8DE}"/>
              </a:ext>
            </a:extLst>
          </p:cNvPr>
          <p:cNvSpPr/>
          <p:nvPr/>
        </p:nvSpPr>
        <p:spPr>
          <a:xfrm>
            <a:off x="7172801" y="4828024"/>
            <a:ext cx="2078950" cy="537210"/>
          </a:xfrm>
          <a:prstGeom prst="roundRect">
            <a:avLst>
              <a:gd name="adj" fmla="val 18440"/>
            </a:avLst>
          </a:prstGeom>
          <a:solidFill>
            <a:srgbClr val="FFFFFF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82" name="Shape 43">
            <a:extLst>
              <a:ext uri="{FF2B5EF4-FFF2-40B4-BE49-F238E27FC236}">
                <a16:creationId xmlns:a16="http://schemas.microsoft.com/office/drawing/2014/main" id="{40BA1017-2216-705E-D674-1DABD4F51A2B}"/>
              </a:ext>
            </a:extLst>
          </p:cNvPr>
          <p:cNvSpPr/>
          <p:nvPr/>
        </p:nvSpPr>
        <p:spPr>
          <a:xfrm>
            <a:off x="9297472" y="4828024"/>
            <a:ext cx="2079069" cy="537210"/>
          </a:xfrm>
          <a:prstGeom prst="roundRect">
            <a:avLst>
              <a:gd name="adj" fmla="val 18440"/>
            </a:avLst>
          </a:prstGeom>
          <a:solidFill>
            <a:srgbClr val="FFFFFF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84" name="Shape 44">
            <a:extLst>
              <a:ext uri="{FF2B5EF4-FFF2-40B4-BE49-F238E27FC236}">
                <a16:creationId xmlns:a16="http://schemas.microsoft.com/office/drawing/2014/main" id="{F4F8801E-D3DC-4509-AAA0-D1482277F8E7}"/>
              </a:ext>
            </a:extLst>
          </p:cNvPr>
          <p:cNvSpPr/>
          <p:nvPr/>
        </p:nvSpPr>
        <p:spPr>
          <a:xfrm>
            <a:off x="7172801" y="5410954"/>
            <a:ext cx="2078950" cy="537210"/>
          </a:xfrm>
          <a:prstGeom prst="roundRect">
            <a:avLst>
              <a:gd name="adj" fmla="val 18440"/>
            </a:avLst>
          </a:prstGeom>
          <a:solidFill>
            <a:srgbClr val="FFFFFF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86" name="Shape 45">
            <a:extLst>
              <a:ext uri="{FF2B5EF4-FFF2-40B4-BE49-F238E27FC236}">
                <a16:creationId xmlns:a16="http://schemas.microsoft.com/office/drawing/2014/main" id="{1A8A9E12-0E6C-A941-0A30-95DE4E748BAB}"/>
              </a:ext>
            </a:extLst>
          </p:cNvPr>
          <p:cNvSpPr/>
          <p:nvPr/>
        </p:nvSpPr>
        <p:spPr>
          <a:xfrm>
            <a:off x="9297472" y="5410954"/>
            <a:ext cx="2079069" cy="537210"/>
          </a:xfrm>
          <a:prstGeom prst="roundRect">
            <a:avLst>
              <a:gd name="adj" fmla="val 18440"/>
            </a:avLst>
          </a:prstGeom>
          <a:solidFill>
            <a:srgbClr val="FFFFFF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88" name="Shape 46">
            <a:extLst>
              <a:ext uri="{FF2B5EF4-FFF2-40B4-BE49-F238E27FC236}">
                <a16:creationId xmlns:a16="http://schemas.microsoft.com/office/drawing/2014/main" id="{38317BA9-9D01-8F55-47BC-6019DFFBFD8E}"/>
              </a:ext>
            </a:extLst>
          </p:cNvPr>
          <p:cNvSpPr/>
          <p:nvPr/>
        </p:nvSpPr>
        <p:spPr>
          <a:xfrm>
            <a:off x="7172801" y="5993884"/>
            <a:ext cx="2078950" cy="537210"/>
          </a:xfrm>
          <a:prstGeom prst="roundRect">
            <a:avLst>
              <a:gd name="adj" fmla="val 18440"/>
            </a:avLst>
          </a:prstGeom>
          <a:solidFill>
            <a:srgbClr val="FFFFFF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90" name="Shape 47">
            <a:extLst>
              <a:ext uri="{FF2B5EF4-FFF2-40B4-BE49-F238E27FC236}">
                <a16:creationId xmlns:a16="http://schemas.microsoft.com/office/drawing/2014/main" id="{65067774-6BCC-0748-4A64-502463703136}"/>
              </a:ext>
            </a:extLst>
          </p:cNvPr>
          <p:cNvSpPr/>
          <p:nvPr/>
        </p:nvSpPr>
        <p:spPr>
          <a:xfrm>
            <a:off x="9297472" y="5993884"/>
            <a:ext cx="2079069" cy="537210"/>
          </a:xfrm>
          <a:prstGeom prst="roundRect">
            <a:avLst>
              <a:gd name="adj" fmla="val 18440"/>
            </a:avLst>
          </a:prstGeom>
          <a:solidFill>
            <a:srgbClr val="FFFFFF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92" name="TextBox 5">
            <a:extLst>
              <a:ext uri="{FF2B5EF4-FFF2-40B4-BE49-F238E27FC236}">
                <a16:creationId xmlns:a16="http://schemas.microsoft.com/office/drawing/2014/main" id="{6D457A9C-420D-FF5B-FB61-F34D39119A3A}"/>
              </a:ext>
            </a:extLst>
          </p:cNvPr>
          <p:cNvSpPr txBox="1"/>
          <p:nvPr/>
        </p:nvSpPr>
        <p:spPr>
          <a:xfrm>
            <a:off x="1059180" y="1191260"/>
            <a:ext cx="8055864" cy="2865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25"/>
              </a:lnSpc>
            </a:pPr>
            <a:r>
              <a:rPr lang="zh-CN" sz="1500" b="1" dirty="0">
                <a:solidFill>
                  <a:srgbClr val="0F2A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高级人才的核心不是掌握更多技术名词，而是在企业约束下平衡价值、风险、成本与建设节奏。</a:t>
            </a:r>
          </a:p>
        </p:txBody>
      </p:sp>
      <p:sp>
        <p:nvSpPr>
          <p:cNvPr id="94" name="TextBox 6">
            <a:extLst>
              <a:ext uri="{FF2B5EF4-FFF2-40B4-BE49-F238E27FC236}">
                <a16:creationId xmlns:a16="http://schemas.microsoft.com/office/drawing/2014/main" id="{842C0689-B7F1-466A-DD6A-892B1FFD97CF}"/>
              </a:ext>
            </a:extLst>
          </p:cNvPr>
          <p:cNvSpPr txBox="1"/>
          <p:nvPr/>
        </p:nvSpPr>
        <p:spPr>
          <a:xfrm>
            <a:off x="845820" y="1838960"/>
            <a:ext cx="362102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40"/>
              </a:lnSpc>
            </a:pPr>
            <a:r>
              <a:rPr lang="zh-CN" sz="96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ADEE综合判断框架</a:t>
            </a:r>
          </a:p>
        </p:txBody>
      </p:sp>
      <p:sp>
        <p:nvSpPr>
          <p:cNvPr id="96" name="TextBox 7">
            <a:extLst>
              <a:ext uri="{FF2B5EF4-FFF2-40B4-BE49-F238E27FC236}">
                <a16:creationId xmlns:a16="http://schemas.microsoft.com/office/drawing/2014/main" id="{9961717B-02A8-6484-551A-2FF90F0CCBC0}"/>
              </a:ext>
            </a:extLst>
          </p:cNvPr>
          <p:cNvSpPr txBox="1"/>
          <p:nvPr/>
        </p:nvSpPr>
        <p:spPr>
          <a:xfrm>
            <a:off x="845820" y="2037080"/>
            <a:ext cx="3621024" cy="3246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340"/>
              </a:lnSpc>
              <a:spcBef>
                <a:spcPts val="120"/>
              </a:spcBef>
            </a:pPr>
            <a:r>
              <a:rPr lang="zh-CN" sz="156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从单点项目设计，升级为企业级能力规划</a:t>
            </a:r>
          </a:p>
        </p:txBody>
      </p:sp>
      <p:sp>
        <p:nvSpPr>
          <p:cNvPr id="98" name="TextBox 8">
            <a:extLst>
              <a:ext uri="{FF2B5EF4-FFF2-40B4-BE49-F238E27FC236}">
                <a16:creationId xmlns:a16="http://schemas.microsoft.com/office/drawing/2014/main" id="{0D825C9D-358D-7F1F-B9E5-2EA51E1E1A9D}"/>
              </a:ext>
            </a:extLst>
          </p:cNvPr>
          <p:cNvSpPr txBox="1"/>
          <p:nvPr/>
        </p:nvSpPr>
        <p:spPr>
          <a:xfrm>
            <a:off x="4892040" y="1925320"/>
            <a:ext cx="1738884" cy="256032"/>
          </a:xfrm>
          <a:prstGeom prst="rect">
            <a:avLst/>
          </a:prstGeom>
          <a:noFill/>
        </p:spPr>
        <p:txBody>
          <a:bodyPr wrap="square" lIns="121920" tIns="68580" rIns="121920" bIns="68580" anchor="t">
            <a:noAutofit/>
          </a:bodyPr>
          <a:lstStyle/>
          <a:p>
            <a:pPr>
              <a:lnSpc>
                <a:spcPts val="1800"/>
              </a:lnSpc>
            </a:pPr>
            <a:r>
              <a:rPr lang="zh-CN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可实施 · 可扩展 · 可管控</a:t>
            </a:r>
          </a:p>
        </p:txBody>
      </p:sp>
      <p:sp>
        <p:nvSpPr>
          <p:cNvPr id="100" name="TextBox 9">
            <a:extLst>
              <a:ext uri="{FF2B5EF4-FFF2-40B4-BE49-F238E27FC236}">
                <a16:creationId xmlns:a16="http://schemas.microsoft.com/office/drawing/2014/main" id="{E063A312-0C1C-AEF6-BE25-D8BC6DEB549C}"/>
              </a:ext>
            </a:extLst>
          </p:cNvPr>
          <p:cNvSpPr txBox="1"/>
          <p:nvPr/>
        </p:nvSpPr>
        <p:spPr>
          <a:xfrm>
            <a:off x="922020" y="2463800"/>
            <a:ext cx="131978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lang="zh-CN" sz="12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业务价值</a:t>
            </a:r>
          </a:p>
        </p:txBody>
      </p:sp>
      <p:sp>
        <p:nvSpPr>
          <p:cNvPr id="102" name="TextBox 10">
            <a:extLst>
              <a:ext uri="{FF2B5EF4-FFF2-40B4-BE49-F238E27FC236}">
                <a16:creationId xmlns:a16="http://schemas.microsoft.com/office/drawing/2014/main" id="{2FFCB55E-BB55-7F7E-CD65-498C149042E8}"/>
              </a:ext>
            </a:extLst>
          </p:cNvPr>
          <p:cNvSpPr txBox="1"/>
          <p:nvPr/>
        </p:nvSpPr>
        <p:spPr>
          <a:xfrm>
            <a:off x="922020" y="2722880"/>
            <a:ext cx="131978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40"/>
              </a:lnSpc>
              <a:spcBef>
                <a:spcPts val="120"/>
              </a:spcBef>
            </a:pPr>
            <a:r>
              <a:rPr lang="zh-CN" sz="960" dirty="0">
                <a:solidFill>
                  <a:srgbClr val="DDF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为何建、先建什么</a:t>
            </a:r>
          </a:p>
        </p:txBody>
      </p:sp>
      <p:sp>
        <p:nvSpPr>
          <p:cNvPr id="104" name="TextBox 11">
            <a:extLst>
              <a:ext uri="{FF2B5EF4-FFF2-40B4-BE49-F238E27FC236}">
                <a16:creationId xmlns:a16="http://schemas.microsoft.com/office/drawing/2014/main" id="{78003DD6-CB24-8717-DACE-449BDAE72532}"/>
              </a:ext>
            </a:extLst>
          </p:cNvPr>
          <p:cNvSpPr txBox="1"/>
          <p:nvPr/>
        </p:nvSpPr>
        <p:spPr>
          <a:xfrm>
            <a:off x="2400300" y="2463800"/>
            <a:ext cx="131978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lang="zh-CN" sz="12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治理风险</a:t>
            </a:r>
          </a:p>
        </p:txBody>
      </p:sp>
      <p:sp>
        <p:nvSpPr>
          <p:cNvPr id="106" name="TextBox 12">
            <a:extLst>
              <a:ext uri="{FF2B5EF4-FFF2-40B4-BE49-F238E27FC236}">
                <a16:creationId xmlns:a16="http://schemas.microsoft.com/office/drawing/2014/main" id="{ECD2FC31-9ADA-48D5-5A67-B613E0538846}"/>
              </a:ext>
            </a:extLst>
          </p:cNvPr>
          <p:cNvSpPr txBox="1"/>
          <p:nvPr/>
        </p:nvSpPr>
        <p:spPr>
          <a:xfrm>
            <a:off x="2400300" y="2722880"/>
            <a:ext cx="131978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40"/>
              </a:lnSpc>
              <a:spcBef>
                <a:spcPts val="120"/>
              </a:spcBef>
            </a:pPr>
            <a:r>
              <a:rPr lang="zh-CN" sz="960" dirty="0">
                <a:solidFill>
                  <a:srgbClr val="DDF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边界、门槛与责任</a:t>
            </a:r>
          </a:p>
        </p:txBody>
      </p:sp>
      <p:sp>
        <p:nvSpPr>
          <p:cNvPr id="108" name="TextBox 13">
            <a:extLst>
              <a:ext uri="{FF2B5EF4-FFF2-40B4-BE49-F238E27FC236}">
                <a16:creationId xmlns:a16="http://schemas.microsoft.com/office/drawing/2014/main" id="{F63A09A4-735B-D998-F4D3-AE135ABE83DC}"/>
              </a:ext>
            </a:extLst>
          </p:cNvPr>
          <p:cNvSpPr txBox="1"/>
          <p:nvPr/>
        </p:nvSpPr>
        <p:spPr>
          <a:xfrm>
            <a:off x="3878580" y="2463800"/>
            <a:ext cx="131978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lang="zh-CN" sz="12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资源成本</a:t>
            </a:r>
          </a:p>
        </p:txBody>
      </p:sp>
      <p:sp>
        <p:nvSpPr>
          <p:cNvPr id="110" name="TextBox 14">
            <a:extLst>
              <a:ext uri="{FF2B5EF4-FFF2-40B4-BE49-F238E27FC236}">
                <a16:creationId xmlns:a16="http://schemas.microsoft.com/office/drawing/2014/main" id="{D166B8E5-5EA4-6BF8-A861-F1E1F9B701DA}"/>
              </a:ext>
            </a:extLst>
          </p:cNvPr>
          <p:cNvSpPr txBox="1"/>
          <p:nvPr/>
        </p:nvSpPr>
        <p:spPr>
          <a:xfrm>
            <a:off x="3878580" y="2722880"/>
            <a:ext cx="131978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40"/>
              </a:lnSpc>
              <a:spcBef>
                <a:spcPts val="120"/>
              </a:spcBef>
            </a:pPr>
            <a:r>
              <a:rPr lang="zh-CN" sz="960" dirty="0">
                <a:solidFill>
                  <a:srgbClr val="E9F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模型、算力与替换</a:t>
            </a:r>
          </a:p>
        </p:txBody>
      </p:sp>
      <p:sp>
        <p:nvSpPr>
          <p:cNvPr id="112" name="TextBox 15">
            <a:extLst>
              <a:ext uri="{FF2B5EF4-FFF2-40B4-BE49-F238E27FC236}">
                <a16:creationId xmlns:a16="http://schemas.microsoft.com/office/drawing/2014/main" id="{B579803E-FCF7-387E-9825-53182F0EF231}"/>
              </a:ext>
            </a:extLst>
          </p:cNvPr>
          <p:cNvSpPr txBox="1"/>
          <p:nvPr/>
        </p:nvSpPr>
        <p:spPr>
          <a:xfrm>
            <a:off x="5356860" y="2463800"/>
            <a:ext cx="131978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lang="zh-CN" sz="12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建设节奏</a:t>
            </a:r>
          </a:p>
        </p:txBody>
      </p:sp>
      <p:sp>
        <p:nvSpPr>
          <p:cNvPr id="114" name="TextBox 16">
            <a:extLst>
              <a:ext uri="{FF2B5EF4-FFF2-40B4-BE49-F238E27FC236}">
                <a16:creationId xmlns:a16="http://schemas.microsoft.com/office/drawing/2014/main" id="{0D5D631C-0B63-CE28-D1FA-2D9591E930C9}"/>
              </a:ext>
            </a:extLst>
          </p:cNvPr>
          <p:cNvSpPr txBox="1"/>
          <p:nvPr/>
        </p:nvSpPr>
        <p:spPr>
          <a:xfrm>
            <a:off x="5356860" y="2722880"/>
            <a:ext cx="131978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40"/>
              </a:lnSpc>
              <a:spcBef>
                <a:spcPts val="120"/>
              </a:spcBef>
            </a:pPr>
            <a:r>
              <a:rPr lang="zh-CN" sz="960" dirty="0">
                <a:solidFill>
                  <a:srgbClr val="EFFF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试点、扩围与运营</a:t>
            </a:r>
          </a:p>
        </p:txBody>
      </p:sp>
      <p:sp>
        <p:nvSpPr>
          <p:cNvPr id="116" name="TextBox 17">
            <a:extLst>
              <a:ext uri="{FF2B5EF4-FFF2-40B4-BE49-F238E27FC236}">
                <a16:creationId xmlns:a16="http://schemas.microsoft.com/office/drawing/2014/main" id="{75ED55E9-8C84-0522-5B94-F69803FAA45C}"/>
              </a:ext>
            </a:extLst>
          </p:cNvPr>
          <p:cNvSpPr txBox="1"/>
          <p:nvPr/>
        </p:nvSpPr>
        <p:spPr>
          <a:xfrm>
            <a:off x="1310640" y="3141980"/>
            <a:ext cx="156362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980"/>
              </a:lnSpc>
            </a:pPr>
            <a:r>
              <a:rPr lang="zh-CN" sz="132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总体架构与公共能力</a:t>
            </a:r>
          </a:p>
        </p:txBody>
      </p:sp>
      <p:sp>
        <p:nvSpPr>
          <p:cNvPr id="118" name="TextBox 18">
            <a:extLst>
              <a:ext uri="{FF2B5EF4-FFF2-40B4-BE49-F238E27FC236}">
                <a16:creationId xmlns:a16="http://schemas.microsoft.com/office/drawing/2014/main" id="{62A81BB9-ACE7-A1BB-FA3A-9AFF3C727D3F}"/>
              </a:ext>
            </a:extLst>
          </p:cNvPr>
          <p:cNvSpPr txBox="1"/>
          <p:nvPr/>
        </p:nvSpPr>
        <p:spPr>
          <a:xfrm>
            <a:off x="937260" y="3462020"/>
            <a:ext cx="2767584" cy="6065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统筹多智能体、知识、工具、流程和系统集成，规划跨场景复用的公共能力与演进架构。</a:t>
            </a:r>
          </a:p>
        </p:txBody>
      </p:sp>
      <p:sp>
        <p:nvSpPr>
          <p:cNvPr id="120" name="TextBox 19">
            <a:extLst>
              <a:ext uri="{FF2B5EF4-FFF2-40B4-BE49-F238E27FC236}">
                <a16:creationId xmlns:a16="http://schemas.microsoft.com/office/drawing/2014/main" id="{5346BEAE-3D3B-2494-8720-C25C49144A9D}"/>
              </a:ext>
            </a:extLst>
          </p:cNvPr>
          <p:cNvSpPr txBox="1"/>
          <p:nvPr/>
        </p:nvSpPr>
        <p:spPr>
          <a:xfrm>
            <a:off x="4267200" y="3141980"/>
            <a:ext cx="122834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980"/>
              </a:lnSpc>
            </a:pPr>
            <a:r>
              <a:rPr lang="zh-CN" sz="132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模型与资源策略</a:t>
            </a:r>
          </a:p>
        </p:txBody>
      </p:sp>
      <p:sp>
        <p:nvSpPr>
          <p:cNvPr id="122" name="TextBox 20">
            <a:extLst>
              <a:ext uri="{FF2B5EF4-FFF2-40B4-BE49-F238E27FC236}">
                <a16:creationId xmlns:a16="http://schemas.microsoft.com/office/drawing/2014/main" id="{8D96727D-3D91-1213-F8A9-A19BEF4E0F04}"/>
              </a:ext>
            </a:extLst>
          </p:cNvPr>
          <p:cNvSpPr txBox="1"/>
          <p:nvPr/>
        </p:nvSpPr>
        <p:spPr>
          <a:xfrm>
            <a:off x="3893820" y="3462020"/>
            <a:ext cx="2767584" cy="6065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确定模型选择、资源配置与成本优化策略，兼顾性能、预算、供应商依赖和技术替换弹性。</a:t>
            </a:r>
          </a:p>
        </p:txBody>
      </p:sp>
      <p:sp>
        <p:nvSpPr>
          <p:cNvPr id="124" name="TextBox 21">
            <a:extLst>
              <a:ext uri="{FF2B5EF4-FFF2-40B4-BE49-F238E27FC236}">
                <a16:creationId xmlns:a16="http://schemas.microsoft.com/office/drawing/2014/main" id="{D4828225-32B8-48F6-2FCF-1FF15C4743FF}"/>
              </a:ext>
            </a:extLst>
          </p:cNvPr>
          <p:cNvSpPr txBox="1"/>
          <p:nvPr/>
        </p:nvSpPr>
        <p:spPr>
          <a:xfrm>
            <a:off x="1310640" y="4719320"/>
            <a:ext cx="173126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980"/>
              </a:lnSpc>
            </a:pPr>
            <a:r>
              <a:rPr lang="zh-CN" sz="132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治理、测试与风险控制</a:t>
            </a:r>
          </a:p>
        </p:txBody>
      </p:sp>
      <p:sp>
        <p:nvSpPr>
          <p:cNvPr id="126" name="TextBox 22">
            <a:extLst>
              <a:ext uri="{FF2B5EF4-FFF2-40B4-BE49-F238E27FC236}">
                <a16:creationId xmlns:a16="http://schemas.microsoft.com/office/drawing/2014/main" id="{3B432E18-1509-1906-4FCA-A8F701ECD302}"/>
              </a:ext>
            </a:extLst>
          </p:cNvPr>
          <p:cNvSpPr txBox="1"/>
          <p:nvPr/>
        </p:nvSpPr>
        <p:spPr>
          <a:xfrm>
            <a:off x="937260" y="5039359"/>
            <a:ext cx="2782824" cy="5264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zh-CN" sz="110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建立数据与权限边界、风险分级、测试评估、人工确认、责任追溯和安全治理机制。</a:t>
            </a:r>
          </a:p>
        </p:txBody>
      </p:sp>
      <p:sp>
        <p:nvSpPr>
          <p:cNvPr id="128" name="TextBox 23">
            <a:extLst>
              <a:ext uri="{FF2B5EF4-FFF2-40B4-BE49-F238E27FC236}">
                <a16:creationId xmlns:a16="http://schemas.microsoft.com/office/drawing/2014/main" id="{C9D21685-598E-1B0E-1A19-103D6F3EC06F}"/>
              </a:ext>
            </a:extLst>
          </p:cNvPr>
          <p:cNvSpPr txBox="1"/>
          <p:nvPr/>
        </p:nvSpPr>
        <p:spPr>
          <a:xfrm>
            <a:off x="4267200" y="4719320"/>
            <a:ext cx="156362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980"/>
              </a:lnSpc>
            </a:pPr>
            <a:r>
              <a:rPr lang="zh-CN" sz="132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组织运营与推广节奏</a:t>
            </a:r>
          </a:p>
        </p:txBody>
      </p:sp>
      <p:sp>
        <p:nvSpPr>
          <p:cNvPr id="130" name="TextBox 24">
            <a:extLst>
              <a:ext uri="{FF2B5EF4-FFF2-40B4-BE49-F238E27FC236}">
                <a16:creationId xmlns:a16="http://schemas.microsoft.com/office/drawing/2014/main" id="{E23CFF6F-CFC6-7937-D4B1-56E02C430574}"/>
              </a:ext>
            </a:extLst>
          </p:cNvPr>
          <p:cNvSpPr txBox="1"/>
          <p:nvPr/>
        </p:nvSpPr>
        <p:spPr>
          <a:xfrm>
            <a:off x="3893820" y="5039360"/>
            <a:ext cx="2767584" cy="6065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明确业务、技术、安全和管理分工，设计供应商管理、跨部门协同、推广节奏与持续运营。</a:t>
            </a:r>
          </a:p>
        </p:txBody>
      </p:sp>
      <p:sp>
        <p:nvSpPr>
          <p:cNvPr id="132" name="TextBox 25">
            <a:extLst>
              <a:ext uri="{FF2B5EF4-FFF2-40B4-BE49-F238E27FC236}">
                <a16:creationId xmlns:a16="http://schemas.microsoft.com/office/drawing/2014/main" id="{1B6DD4B1-9CC7-C911-B817-16FFF2957D0F}"/>
              </a:ext>
            </a:extLst>
          </p:cNvPr>
          <p:cNvSpPr txBox="1"/>
          <p:nvPr/>
        </p:nvSpPr>
        <p:spPr>
          <a:xfrm>
            <a:off x="1028700" y="6243320"/>
            <a:ext cx="63398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F2A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评价口径</a:t>
            </a:r>
          </a:p>
        </p:txBody>
      </p:sp>
      <p:sp>
        <p:nvSpPr>
          <p:cNvPr id="134" name="TextBox 26">
            <a:extLst>
              <a:ext uri="{FF2B5EF4-FFF2-40B4-BE49-F238E27FC236}">
                <a16:creationId xmlns:a16="http://schemas.microsoft.com/office/drawing/2014/main" id="{E23C3BE1-8249-B1D1-13EC-6BF429882CEB}"/>
              </a:ext>
            </a:extLst>
          </p:cNvPr>
          <p:cNvSpPr txBox="1"/>
          <p:nvPr/>
        </p:nvSpPr>
        <p:spPr>
          <a:xfrm>
            <a:off x="3093720" y="6250940"/>
            <a:ext cx="35372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有业务价值 ｜ 可实施 ｜ 可扩展 ｜ 可管控 ｜ 可持续运行</a:t>
            </a:r>
          </a:p>
        </p:txBody>
      </p:sp>
      <p:sp>
        <p:nvSpPr>
          <p:cNvPr id="138" name="TextBox 28">
            <a:extLst>
              <a:ext uri="{FF2B5EF4-FFF2-40B4-BE49-F238E27FC236}">
                <a16:creationId xmlns:a16="http://schemas.microsoft.com/office/drawing/2014/main" id="{F0123E7F-0AA5-6233-E551-86B3C4E28927}"/>
              </a:ext>
            </a:extLst>
          </p:cNvPr>
          <p:cNvSpPr txBox="1"/>
          <p:nvPr/>
        </p:nvSpPr>
        <p:spPr>
          <a:xfrm>
            <a:off x="7222490" y="1948180"/>
            <a:ext cx="253136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250"/>
              </a:lnSpc>
              <a:spcBef>
                <a:spcPts val="120"/>
              </a:spcBef>
            </a:pPr>
            <a:r>
              <a:rPr lang="zh-CN" sz="15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用情境推演检验不确定性应对</a:t>
            </a:r>
          </a:p>
        </p:txBody>
      </p:sp>
      <p:sp>
        <p:nvSpPr>
          <p:cNvPr id="140" name="TextBox 29">
            <a:extLst>
              <a:ext uri="{FF2B5EF4-FFF2-40B4-BE49-F238E27FC236}">
                <a16:creationId xmlns:a16="http://schemas.microsoft.com/office/drawing/2014/main" id="{61A4C0E9-22B7-27EC-B3D9-F2ADB79A09B2}"/>
              </a:ext>
            </a:extLst>
          </p:cNvPr>
          <p:cNvSpPr txBox="1"/>
          <p:nvPr/>
        </p:nvSpPr>
        <p:spPr>
          <a:xfrm>
            <a:off x="7254240" y="2456180"/>
            <a:ext cx="19674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预算变化</a:t>
            </a:r>
          </a:p>
        </p:txBody>
      </p:sp>
      <p:sp>
        <p:nvSpPr>
          <p:cNvPr id="142" name="TextBox 30">
            <a:extLst>
              <a:ext uri="{FF2B5EF4-FFF2-40B4-BE49-F238E27FC236}">
                <a16:creationId xmlns:a16="http://schemas.microsoft.com/office/drawing/2014/main" id="{B04063FA-A125-75AD-43C1-72F4CFB48364}"/>
              </a:ext>
            </a:extLst>
          </p:cNvPr>
          <p:cNvSpPr txBox="1"/>
          <p:nvPr/>
        </p:nvSpPr>
        <p:spPr>
          <a:xfrm>
            <a:off x="7254240" y="2677160"/>
            <a:ext cx="196748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1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资源缩减时如何保留关键价值</a:t>
            </a:r>
          </a:p>
        </p:txBody>
      </p:sp>
      <p:sp>
        <p:nvSpPr>
          <p:cNvPr id="144" name="TextBox 31">
            <a:extLst>
              <a:ext uri="{FF2B5EF4-FFF2-40B4-BE49-F238E27FC236}">
                <a16:creationId xmlns:a16="http://schemas.microsoft.com/office/drawing/2014/main" id="{DDF76E99-374B-2DDE-AA3D-71E9FE2507B9}"/>
              </a:ext>
            </a:extLst>
          </p:cNvPr>
          <p:cNvSpPr txBox="1"/>
          <p:nvPr/>
        </p:nvSpPr>
        <p:spPr>
          <a:xfrm>
            <a:off x="9380220" y="2456180"/>
            <a:ext cx="19674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模型变化</a:t>
            </a:r>
          </a:p>
        </p:txBody>
      </p:sp>
      <p:sp>
        <p:nvSpPr>
          <p:cNvPr id="146" name="TextBox 32">
            <a:extLst>
              <a:ext uri="{FF2B5EF4-FFF2-40B4-BE49-F238E27FC236}">
                <a16:creationId xmlns:a16="http://schemas.microsoft.com/office/drawing/2014/main" id="{CF293B72-8E74-0D67-9287-F5D0C6B7A32E}"/>
              </a:ext>
            </a:extLst>
          </p:cNvPr>
          <p:cNvSpPr txBox="1"/>
          <p:nvPr/>
        </p:nvSpPr>
        <p:spPr>
          <a:xfrm>
            <a:off x="9380220" y="2677160"/>
            <a:ext cx="196748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1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能力升级或供应商切换如何适配</a:t>
            </a:r>
          </a:p>
        </p:txBody>
      </p:sp>
      <p:sp>
        <p:nvSpPr>
          <p:cNvPr id="148" name="TextBox 33">
            <a:extLst>
              <a:ext uri="{FF2B5EF4-FFF2-40B4-BE49-F238E27FC236}">
                <a16:creationId xmlns:a16="http://schemas.microsoft.com/office/drawing/2014/main" id="{2311D1A8-8542-2039-703C-8089BC38B559}"/>
              </a:ext>
            </a:extLst>
          </p:cNvPr>
          <p:cNvSpPr txBox="1"/>
          <p:nvPr/>
        </p:nvSpPr>
        <p:spPr>
          <a:xfrm>
            <a:off x="7254240" y="3187700"/>
            <a:ext cx="19674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敏感数据限制</a:t>
            </a:r>
          </a:p>
        </p:txBody>
      </p:sp>
      <p:sp>
        <p:nvSpPr>
          <p:cNvPr id="150" name="TextBox 34">
            <a:extLst>
              <a:ext uri="{FF2B5EF4-FFF2-40B4-BE49-F238E27FC236}">
                <a16:creationId xmlns:a16="http://schemas.microsoft.com/office/drawing/2014/main" id="{20322990-600E-210A-BB9C-4ABEAA4EA215}"/>
              </a:ext>
            </a:extLst>
          </p:cNvPr>
          <p:cNvSpPr txBox="1"/>
          <p:nvPr/>
        </p:nvSpPr>
        <p:spPr>
          <a:xfrm>
            <a:off x="7254240" y="3408680"/>
            <a:ext cx="196748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1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边界收紧时如何重构方案</a:t>
            </a:r>
          </a:p>
        </p:txBody>
      </p:sp>
      <p:sp>
        <p:nvSpPr>
          <p:cNvPr id="152" name="TextBox 35">
            <a:extLst>
              <a:ext uri="{FF2B5EF4-FFF2-40B4-BE49-F238E27FC236}">
                <a16:creationId xmlns:a16="http://schemas.microsoft.com/office/drawing/2014/main" id="{95DF36E8-4622-0CCC-ABAE-FF876CCE20E9}"/>
              </a:ext>
            </a:extLst>
          </p:cNvPr>
          <p:cNvSpPr txBox="1"/>
          <p:nvPr/>
        </p:nvSpPr>
        <p:spPr>
          <a:xfrm>
            <a:off x="9380220" y="3187700"/>
            <a:ext cx="19674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系统故障</a:t>
            </a:r>
          </a:p>
        </p:txBody>
      </p:sp>
      <p:sp>
        <p:nvSpPr>
          <p:cNvPr id="154" name="TextBox 36">
            <a:extLst>
              <a:ext uri="{FF2B5EF4-FFF2-40B4-BE49-F238E27FC236}">
                <a16:creationId xmlns:a16="http://schemas.microsoft.com/office/drawing/2014/main" id="{E464918A-8673-F9FF-ABD9-6EFDB9F17A0A}"/>
              </a:ext>
            </a:extLst>
          </p:cNvPr>
          <p:cNvSpPr txBox="1"/>
          <p:nvPr/>
        </p:nvSpPr>
        <p:spPr>
          <a:xfrm>
            <a:off x="9380220" y="3408680"/>
            <a:ext cx="196748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1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服务中断时如何降级和追责</a:t>
            </a:r>
          </a:p>
        </p:txBody>
      </p:sp>
      <p:sp>
        <p:nvSpPr>
          <p:cNvPr id="156" name="TextBox 37">
            <a:extLst>
              <a:ext uri="{FF2B5EF4-FFF2-40B4-BE49-F238E27FC236}">
                <a16:creationId xmlns:a16="http://schemas.microsoft.com/office/drawing/2014/main" id="{9DDF1FBB-6B67-CF53-FC70-F335B0393E58}"/>
              </a:ext>
            </a:extLst>
          </p:cNvPr>
          <p:cNvSpPr txBox="1"/>
          <p:nvPr/>
        </p:nvSpPr>
        <p:spPr>
          <a:xfrm>
            <a:off x="7269480" y="3759200"/>
            <a:ext cx="406298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080" b="1" dirty="0">
                <a:solidFill>
                  <a:srgbClr val="0F2A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回答三问：哪些目标不变？哪些路线调整？如何向业务、技术与安全团队形成共识？</a:t>
            </a:r>
          </a:p>
        </p:txBody>
      </p:sp>
      <p:sp>
        <p:nvSpPr>
          <p:cNvPr id="158" name="TextBox 38">
            <a:extLst>
              <a:ext uri="{FF2B5EF4-FFF2-40B4-BE49-F238E27FC236}">
                <a16:creationId xmlns:a16="http://schemas.microsoft.com/office/drawing/2014/main" id="{9EB4214A-427B-CA2A-1560-AB62DC6FB718}"/>
              </a:ext>
            </a:extLst>
          </p:cNvPr>
          <p:cNvSpPr txBox="1"/>
          <p:nvPr/>
        </p:nvSpPr>
        <p:spPr>
          <a:xfrm>
            <a:off x="7170420" y="4475480"/>
            <a:ext cx="119786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250"/>
              </a:lnSpc>
            </a:pPr>
            <a:r>
              <a:rPr lang="zh-CN" sz="150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代表性成果包</a:t>
            </a:r>
          </a:p>
        </p:txBody>
      </p:sp>
      <p:sp>
        <p:nvSpPr>
          <p:cNvPr id="160" name="TextBox 39">
            <a:extLst>
              <a:ext uri="{FF2B5EF4-FFF2-40B4-BE49-F238E27FC236}">
                <a16:creationId xmlns:a16="http://schemas.microsoft.com/office/drawing/2014/main" id="{BAC2F646-8475-4E8C-6AF2-D4FED15BFEF3}"/>
              </a:ext>
            </a:extLst>
          </p:cNvPr>
          <p:cNvSpPr txBox="1"/>
          <p:nvPr/>
        </p:nvSpPr>
        <p:spPr>
          <a:xfrm>
            <a:off x="7536180" y="4879340"/>
            <a:ext cx="128930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企业AI总体架构</a:t>
            </a:r>
          </a:p>
        </p:txBody>
      </p:sp>
      <p:sp>
        <p:nvSpPr>
          <p:cNvPr id="162" name="TextBox 40">
            <a:extLst>
              <a:ext uri="{FF2B5EF4-FFF2-40B4-BE49-F238E27FC236}">
                <a16:creationId xmlns:a16="http://schemas.microsoft.com/office/drawing/2014/main" id="{05CCE29E-4C16-6FAF-D4D7-357EE1D08E45}"/>
              </a:ext>
            </a:extLst>
          </p:cNvPr>
          <p:cNvSpPr txBox="1"/>
          <p:nvPr/>
        </p:nvSpPr>
        <p:spPr>
          <a:xfrm>
            <a:off x="7536180" y="5107940"/>
            <a:ext cx="12893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6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目标架构与演进关系</a:t>
            </a:r>
          </a:p>
        </p:txBody>
      </p:sp>
      <p:sp>
        <p:nvSpPr>
          <p:cNvPr id="164" name="TextBox 41">
            <a:extLst>
              <a:ext uri="{FF2B5EF4-FFF2-40B4-BE49-F238E27FC236}">
                <a16:creationId xmlns:a16="http://schemas.microsoft.com/office/drawing/2014/main" id="{76F2F85D-0661-B5A2-E5EE-6D703950B3B9}"/>
              </a:ext>
            </a:extLst>
          </p:cNvPr>
          <p:cNvSpPr txBox="1"/>
          <p:nvPr/>
        </p:nvSpPr>
        <p:spPr>
          <a:xfrm>
            <a:off x="9662160" y="4879340"/>
            <a:ext cx="128930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重点场景组合</a:t>
            </a:r>
          </a:p>
        </p:txBody>
      </p:sp>
      <p:sp>
        <p:nvSpPr>
          <p:cNvPr id="166" name="TextBox 42">
            <a:extLst>
              <a:ext uri="{FF2B5EF4-FFF2-40B4-BE49-F238E27FC236}">
                <a16:creationId xmlns:a16="http://schemas.microsoft.com/office/drawing/2014/main" id="{A7B4D3E4-12BE-EEC6-9DAF-72E783140F16}"/>
              </a:ext>
            </a:extLst>
          </p:cNvPr>
          <p:cNvSpPr txBox="1"/>
          <p:nvPr/>
        </p:nvSpPr>
        <p:spPr>
          <a:xfrm>
            <a:off x="9662160" y="5107940"/>
            <a:ext cx="12893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6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价值、风险与优先级</a:t>
            </a:r>
          </a:p>
        </p:txBody>
      </p:sp>
      <p:sp>
        <p:nvSpPr>
          <p:cNvPr id="168" name="TextBox 43">
            <a:extLst>
              <a:ext uri="{FF2B5EF4-FFF2-40B4-BE49-F238E27FC236}">
                <a16:creationId xmlns:a16="http://schemas.microsoft.com/office/drawing/2014/main" id="{21ECF07B-1D0C-BBA1-20E5-0D00EC62DA50}"/>
              </a:ext>
            </a:extLst>
          </p:cNvPr>
          <p:cNvSpPr txBox="1"/>
          <p:nvPr/>
        </p:nvSpPr>
        <p:spPr>
          <a:xfrm>
            <a:off x="7536180" y="5466080"/>
            <a:ext cx="142646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资源与模型策略</a:t>
            </a:r>
          </a:p>
        </p:txBody>
      </p:sp>
      <p:sp>
        <p:nvSpPr>
          <p:cNvPr id="170" name="TextBox 44">
            <a:extLst>
              <a:ext uri="{FF2B5EF4-FFF2-40B4-BE49-F238E27FC236}">
                <a16:creationId xmlns:a16="http://schemas.microsoft.com/office/drawing/2014/main" id="{B902DC85-442F-B9BD-EFD6-ECC35CBEBCFF}"/>
              </a:ext>
            </a:extLst>
          </p:cNvPr>
          <p:cNvSpPr txBox="1"/>
          <p:nvPr/>
        </p:nvSpPr>
        <p:spPr>
          <a:xfrm>
            <a:off x="7536180" y="5687060"/>
            <a:ext cx="142646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6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选择、配置及成本方案</a:t>
            </a:r>
          </a:p>
        </p:txBody>
      </p:sp>
      <p:sp>
        <p:nvSpPr>
          <p:cNvPr id="172" name="TextBox 45">
            <a:extLst>
              <a:ext uri="{FF2B5EF4-FFF2-40B4-BE49-F238E27FC236}">
                <a16:creationId xmlns:a16="http://schemas.microsoft.com/office/drawing/2014/main" id="{33E84276-51C9-81F9-1130-413D6BFE7FA9}"/>
              </a:ext>
            </a:extLst>
          </p:cNvPr>
          <p:cNvSpPr txBox="1"/>
          <p:nvPr/>
        </p:nvSpPr>
        <p:spPr>
          <a:xfrm>
            <a:off x="9662160" y="5466080"/>
            <a:ext cx="142646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治理规范</a:t>
            </a:r>
          </a:p>
        </p:txBody>
      </p:sp>
      <p:sp>
        <p:nvSpPr>
          <p:cNvPr id="174" name="TextBox 46">
            <a:extLst>
              <a:ext uri="{FF2B5EF4-FFF2-40B4-BE49-F238E27FC236}">
                <a16:creationId xmlns:a16="http://schemas.microsoft.com/office/drawing/2014/main" id="{3600829D-6193-A45A-D443-10CAC36C2CC8}"/>
              </a:ext>
            </a:extLst>
          </p:cNvPr>
          <p:cNvSpPr txBox="1"/>
          <p:nvPr/>
        </p:nvSpPr>
        <p:spPr>
          <a:xfrm>
            <a:off x="9662160" y="5687060"/>
            <a:ext cx="142646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6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权限、测试与风险规则</a:t>
            </a:r>
          </a:p>
        </p:txBody>
      </p:sp>
      <p:sp>
        <p:nvSpPr>
          <p:cNvPr id="176" name="TextBox 47">
            <a:extLst>
              <a:ext uri="{FF2B5EF4-FFF2-40B4-BE49-F238E27FC236}">
                <a16:creationId xmlns:a16="http://schemas.microsoft.com/office/drawing/2014/main" id="{56BD36AD-D5AD-A8E5-5FC8-26CCB0BB0D47}"/>
              </a:ext>
            </a:extLst>
          </p:cNvPr>
          <p:cNvSpPr txBox="1"/>
          <p:nvPr/>
        </p:nvSpPr>
        <p:spPr>
          <a:xfrm>
            <a:off x="7536180" y="6045200"/>
            <a:ext cx="128930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组织运营机制</a:t>
            </a:r>
          </a:p>
        </p:txBody>
      </p:sp>
      <p:sp>
        <p:nvSpPr>
          <p:cNvPr id="178" name="TextBox 48">
            <a:extLst>
              <a:ext uri="{FF2B5EF4-FFF2-40B4-BE49-F238E27FC236}">
                <a16:creationId xmlns:a16="http://schemas.microsoft.com/office/drawing/2014/main" id="{DFCBB9A8-346B-A09E-BD92-DAA70C515994}"/>
              </a:ext>
            </a:extLst>
          </p:cNvPr>
          <p:cNvSpPr txBox="1"/>
          <p:nvPr/>
        </p:nvSpPr>
        <p:spPr>
          <a:xfrm>
            <a:off x="7536180" y="6273800"/>
            <a:ext cx="12893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6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角色分工与协同机制</a:t>
            </a:r>
          </a:p>
        </p:txBody>
      </p:sp>
      <p:sp>
        <p:nvSpPr>
          <p:cNvPr id="180" name="TextBox 49">
            <a:extLst>
              <a:ext uri="{FF2B5EF4-FFF2-40B4-BE49-F238E27FC236}">
                <a16:creationId xmlns:a16="http://schemas.microsoft.com/office/drawing/2014/main" id="{35ABCE19-9403-7AEE-086D-7BF2BF886C75}"/>
              </a:ext>
            </a:extLst>
          </p:cNvPr>
          <p:cNvSpPr txBox="1"/>
          <p:nvPr/>
        </p:nvSpPr>
        <p:spPr>
          <a:xfrm>
            <a:off x="9662160" y="6045200"/>
            <a:ext cx="156362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分阶段实施路线</a:t>
            </a:r>
          </a:p>
        </p:txBody>
      </p:sp>
      <p:sp>
        <p:nvSpPr>
          <p:cNvPr id="182" name="TextBox 50">
            <a:extLst>
              <a:ext uri="{FF2B5EF4-FFF2-40B4-BE49-F238E27FC236}">
                <a16:creationId xmlns:a16="http://schemas.microsoft.com/office/drawing/2014/main" id="{52004D10-1F54-5F97-7458-676E6F9B6316}"/>
              </a:ext>
            </a:extLst>
          </p:cNvPr>
          <p:cNvSpPr txBox="1"/>
          <p:nvPr/>
        </p:nvSpPr>
        <p:spPr>
          <a:xfrm>
            <a:off x="9662160" y="6273800"/>
            <a:ext cx="15636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6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里程碑、门槛与扩围节奏</a:t>
            </a:r>
          </a:p>
        </p:txBody>
      </p:sp>
      <p:sp>
        <p:nvSpPr>
          <p:cNvPr id="184" name="TextBox 51">
            <a:extLst>
              <a:ext uri="{FF2B5EF4-FFF2-40B4-BE49-F238E27FC236}">
                <a16:creationId xmlns:a16="http://schemas.microsoft.com/office/drawing/2014/main" id="{3C4EBBE9-6528-B430-E8EA-3B3E667364E5}"/>
              </a:ext>
            </a:extLst>
          </p:cNvPr>
          <p:cNvSpPr txBox="1"/>
          <p:nvPr/>
        </p:nvSpPr>
        <p:spPr>
          <a:xfrm>
            <a:off x="973693" y="3154045"/>
            <a:ext cx="233458" cy="2179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710"/>
              </a:lnSpc>
            </a:pPr>
            <a:r>
              <a:rPr lang="en-US" sz="11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86" name="TextBox 52">
            <a:extLst>
              <a:ext uri="{FF2B5EF4-FFF2-40B4-BE49-F238E27FC236}">
                <a16:creationId xmlns:a16="http://schemas.microsoft.com/office/drawing/2014/main" id="{D89B51E6-0FD6-7C76-1D37-3FC9987514F2}"/>
              </a:ext>
            </a:extLst>
          </p:cNvPr>
          <p:cNvSpPr txBox="1"/>
          <p:nvPr/>
        </p:nvSpPr>
        <p:spPr>
          <a:xfrm>
            <a:off x="1013460" y="4117816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场景组合</a:t>
            </a:r>
          </a:p>
        </p:txBody>
      </p:sp>
      <p:sp>
        <p:nvSpPr>
          <p:cNvPr id="188" name="TextBox 53">
            <a:extLst>
              <a:ext uri="{FF2B5EF4-FFF2-40B4-BE49-F238E27FC236}">
                <a16:creationId xmlns:a16="http://schemas.microsoft.com/office/drawing/2014/main" id="{B3B59284-566D-9E18-43B0-C16F10AB3D87}"/>
              </a:ext>
            </a:extLst>
          </p:cNvPr>
          <p:cNvSpPr txBox="1"/>
          <p:nvPr/>
        </p:nvSpPr>
        <p:spPr>
          <a:xfrm>
            <a:off x="1760220" y="4117816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能力复用</a:t>
            </a:r>
          </a:p>
        </p:txBody>
      </p:sp>
      <p:sp>
        <p:nvSpPr>
          <p:cNvPr id="190" name="TextBox 54">
            <a:extLst>
              <a:ext uri="{FF2B5EF4-FFF2-40B4-BE49-F238E27FC236}">
                <a16:creationId xmlns:a16="http://schemas.microsoft.com/office/drawing/2014/main" id="{3754EED3-8F57-8736-33E7-CFE15D9228B5}"/>
              </a:ext>
            </a:extLst>
          </p:cNvPr>
          <p:cNvSpPr txBox="1"/>
          <p:nvPr/>
        </p:nvSpPr>
        <p:spPr>
          <a:xfrm>
            <a:off x="2506980" y="4117816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环境隔离</a:t>
            </a:r>
          </a:p>
        </p:txBody>
      </p:sp>
      <p:sp>
        <p:nvSpPr>
          <p:cNvPr id="192" name="TextBox 55">
            <a:extLst>
              <a:ext uri="{FF2B5EF4-FFF2-40B4-BE49-F238E27FC236}">
                <a16:creationId xmlns:a16="http://schemas.microsoft.com/office/drawing/2014/main" id="{A30F5C99-EFDD-552A-093F-59222E8FD0EA}"/>
              </a:ext>
            </a:extLst>
          </p:cNvPr>
          <p:cNvSpPr txBox="1"/>
          <p:nvPr/>
        </p:nvSpPr>
        <p:spPr>
          <a:xfrm>
            <a:off x="3937794" y="3154045"/>
            <a:ext cx="233458" cy="2179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710"/>
              </a:lnSpc>
            </a:pPr>
            <a:r>
              <a:rPr lang="en-US" sz="11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94" name="TextBox 56">
            <a:extLst>
              <a:ext uri="{FF2B5EF4-FFF2-40B4-BE49-F238E27FC236}">
                <a16:creationId xmlns:a16="http://schemas.microsoft.com/office/drawing/2014/main" id="{B75D4DD5-FF24-3403-B3F3-B55F2EB41650}"/>
              </a:ext>
            </a:extLst>
          </p:cNvPr>
          <p:cNvSpPr txBox="1"/>
          <p:nvPr/>
        </p:nvSpPr>
        <p:spPr>
          <a:xfrm>
            <a:off x="3971211" y="4117816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模型路由</a:t>
            </a:r>
          </a:p>
        </p:txBody>
      </p:sp>
      <p:sp>
        <p:nvSpPr>
          <p:cNvPr id="196" name="TextBox 57">
            <a:extLst>
              <a:ext uri="{FF2B5EF4-FFF2-40B4-BE49-F238E27FC236}">
                <a16:creationId xmlns:a16="http://schemas.microsoft.com/office/drawing/2014/main" id="{5F7B9003-E9EA-CB97-A53D-793194D27A30}"/>
              </a:ext>
            </a:extLst>
          </p:cNvPr>
          <p:cNvSpPr txBox="1"/>
          <p:nvPr/>
        </p:nvSpPr>
        <p:spPr>
          <a:xfrm>
            <a:off x="4717971" y="4117816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成本测算</a:t>
            </a:r>
          </a:p>
        </p:txBody>
      </p:sp>
      <p:sp>
        <p:nvSpPr>
          <p:cNvPr id="198" name="TextBox 58">
            <a:extLst>
              <a:ext uri="{FF2B5EF4-FFF2-40B4-BE49-F238E27FC236}">
                <a16:creationId xmlns:a16="http://schemas.microsoft.com/office/drawing/2014/main" id="{278AD31C-3FF3-6462-3683-70738A0E3084}"/>
              </a:ext>
            </a:extLst>
          </p:cNvPr>
          <p:cNvSpPr txBox="1"/>
          <p:nvPr/>
        </p:nvSpPr>
        <p:spPr>
          <a:xfrm>
            <a:off x="5464731" y="4117816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替换预案</a:t>
            </a:r>
          </a:p>
        </p:txBody>
      </p:sp>
      <p:sp>
        <p:nvSpPr>
          <p:cNvPr id="200" name="TextBox 59">
            <a:extLst>
              <a:ext uri="{FF2B5EF4-FFF2-40B4-BE49-F238E27FC236}">
                <a16:creationId xmlns:a16="http://schemas.microsoft.com/office/drawing/2014/main" id="{03BFCC73-2E98-E7CF-0AFC-649E1A258193}"/>
              </a:ext>
            </a:extLst>
          </p:cNvPr>
          <p:cNvSpPr txBox="1"/>
          <p:nvPr/>
        </p:nvSpPr>
        <p:spPr>
          <a:xfrm>
            <a:off x="973693" y="4740593"/>
            <a:ext cx="233458" cy="2179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710"/>
              </a:lnSpc>
            </a:pPr>
            <a:r>
              <a:rPr lang="en-US" sz="11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202" name="TextBox 60">
            <a:extLst>
              <a:ext uri="{FF2B5EF4-FFF2-40B4-BE49-F238E27FC236}">
                <a16:creationId xmlns:a16="http://schemas.microsoft.com/office/drawing/2014/main" id="{F4419612-6BBA-DAA2-CE0E-7F94B17E3C84}"/>
              </a:ext>
            </a:extLst>
          </p:cNvPr>
          <p:cNvSpPr txBox="1"/>
          <p:nvPr/>
        </p:nvSpPr>
        <p:spPr>
          <a:xfrm>
            <a:off x="1013460" y="5664835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分级门槛</a:t>
            </a:r>
          </a:p>
        </p:txBody>
      </p:sp>
      <p:sp>
        <p:nvSpPr>
          <p:cNvPr id="204" name="TextBox 61">
            <a:extLst>
              <a:ext uri="{FF2B5EF4-FFF2-40B4-BE49-F238E27FC236}">
                <a16:creationId xmlns:a16="http://schemas.microsoft.com/office/drawing/2014/main" id="{F9549C43-C371-F315-26FF-EE8FF7CA6539}"/>
              </a:ext>
            </a:extLst>
          </p:cNvPr>
          <p:cNvSpPr txBox="1"/>
          <p:nvPr/>
        </p:nvSpPr>
        <p:spPr>
          <a:xfrm>
            <a:off x="1760220" y="5664835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人工确认</a:t>
            </a:r>
          </a:p>
        </p:txBody>
      </p:sp>
      <p:sp>
        <p:nvSpPr>
          <p:cNvPr id="206" name="TextBox 62">
            <a:extLst>
              <a:ext uri="{FF2B5EF4-FFF2-40B4-BE49-F238E27FC236}">
                <a16:creationId xmlns:a16="http://schemas.microsoft.com/office/drawing/2014/main" id="{8AAF79E0-3CD4-5D08-4E5C-E6B6F61FE5C9}"/>
              </a:ext>
            </a:extLst>
          </p:cNvPr>
          <p:cNvSpPr txBox="1"/>
          <p:nvPr/>
        </p:nvSpPr>
        <p:spPr>
          <a:xfrm>
            <a:off x="2506980" y="5664835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责任追溯</a:t>
            </a:r>
          </a:p>
        </p:txBody>
      </p:sp>
      <p:sp>
        <p:nvSpPr>
          <p:cNvPr id="208" name="TextBox 63">
            <a:extLst>
              <a:ext uri="{FF2B5EF4-FFF2-40B4-BE49-F238E27FC236}">
                <a16:creationId xmlns:a16="http://schemas.microsoft.com/office/drawing/2014/main" id="{F55A3C4C-DEB3-5C8E-B3A1-10756E8ED847}"/>
              </a:ext>
            </a:extLst>
          </p:cNvPr>
          <p:cNvSpPr txBox="1"/>
          <p:nvPr/>
        </p:nvSpPr>
        <p:spPr>
          <a:xfrm>
            <a:off x="3931444" y="4746943"/>
            <a:ext cx="233458" cy="2179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710"/>
              </a:lnSpc>
            </a:pPr>
            <a:r>
              <a:rPr lang="en-US" sz="11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210" name="TextBox 64">
            <a:extLst>
              <a:ext uri="{FF2B5EF4-FFF2-40B4-BE49-F238E27FC236}">
                <a16:creationId xmlns:a16="http://schemas.microsoft.com/office/drawing/2014/main" id="{462BC070-EF60-C9F0-00FE-7751C3693B25}"/>
              </a:ext>
            </a:extLst>
          </p:cNvPr>
          <p:cNvSpPr txBox="1"/>
          <p:nvPr/>
        </p:nvSpPr>
        <p:spPr>
          <a:xfrm>
            <a:off x="3971211" y="5698014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组织分工</a:t>
            </a:r>
          </a:p>
        </p:txBody>
      </p:sp>
      <p:sp>
        <p:nvSpPr>
          <p:cNvPr id="212" name="TextBox 65">
            <a:extLst>
              <a:ext uri="{FF2B5EF4-FFF2-40B4-BE49-F238E27FC236}">
                <a16:creationId xmlns:a16="http://schemas.microsoft.com/office/drawing/2014/main" id="{8FBF2FC8-2865-9AF4-5456-CF92FAFB687E}"/>
              </a:ext>
            </a:extLst>
          </p:cNvPr>
          <p:cNvSpPr txBox="1"/>
          <p:nvPr/>
        </p:nvSpPr>
        <p:spPr>
          <a:xfrm>
            <a:off x="4717971" y="5698014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多方共识</a:t>
            </a:r>
          </a:p>
        </p:txBody>
      </p:sp>
      <p:sp>
        <p:nvSpPr>
          <p:cNvPr id="214" name="TextBox 66">
            <a:extLst>
              <a:ext uri="{FF2B5EF4-FFF2-40B4-BE49-F238E27FC236}">
                <a16:creationId xmlns:a16="http://schemas.microsoft.com/office/drawing/2014/main" id="{ECBF8D80-8C1D-821D-3BCB-A2AAD8A9B502}"/>
              </a:ext>
            </a:extLst>
          </p:cNvPr>
          <p:cNvSpPr txBox="1"/>
          <p:nvPr/>
        </p:nvSpPr>
        <p:spPr>
          <a:xfrm>
            <a:off x="5464731" y="5698014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持续运营</a:t>
            </a:r>
          </a:p>
        </p:txBody>
      </p:sp>
      <p:sp>
        <p:nvSpPr>
          <p:cNvPr id="216" name="TextBox 67">
            <a:extLst>
              <a:ext uri="{FF2B5EF4-FFF2-40B4-BE49-F238E27FC236}">
                <a16:creationId xmlns:a16="http://schemas.microsoft.com/office/drawing/2014/main" id="{F2B24F33-3800-24F3-E34E-3156E438D33D}"/>
              </a:ext>
            </a:extLst>
          </p:cNvPr>
          <p:cNvSpPr txBox="1"/>
          <p:nvPr/>
        </p:nvSpPr>
        <p:spPr>
          <a:xfrm>
            <a:off x="10446901" y="1985645"/>
            <a:ext cx="1074420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现场调整策略</a:t>
            </a:r>
          </a:p>
        </p:txBody>
      </p:sp>
      <p:sp>
        <p:nvSpPr>
          <p:cNvPr id="218" name="TextBox 68">
            <a:extLst>
              <a:ext uri="{FF2B5EF4-FFF2-40B4-BE49-F238E27FC236}">
                <a16:creationId xmlns:a16="http://schemas.microsoft.com/office/drawing/2014/main" id="{72A1527E-FB4A-DD8D-8F54-7AC10D1024D7}"/>
              </a:ext>
            </a:extLst>
          </p:cNvPr>
          <p:cNvSpPr txBox="1"/>
          <p:nvPr/>
        </p:nvSpPr>
        <p:spPr>
          <a:xfrm>
            <a:off x="10172581" y="4530844"/>
            <a:ext cx="1389888" cy="21854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40"/>
              </a:lnSpc>
            </a:pPr>
            <a:r>
              <a:rPr lang="zh-CN" sz="9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用于评审与实施交接</a:t>
            </a:r>
          </a:p>
        </p:txBody>
      </p:sp>
      <p:sp>
        <p:nvSpPr>
          <p:cNvPr id="220" name="TextBox 69">
            <a:extLst>
              <a:ext uri="{FF2B5EF4-FFF2-40B4-BE49-F238E27FC236}">
                <a16:creationId xmlns:a16="http://schemas.microsoft.com/office/drawing/2014/main" id="{E4752584-3EE6-EFB0-21A8-CBF499849491}"/>
              </a:ext>
            </a:extLst>
          </p:cNvPr>
          <p:cNvSpPr txBox="1"/>
          <p:nvPr/>
        </p:nvSpPr>
        <p:spPr>
          <a:xfrm>
            <a:off x="7256621" y="4980424"/>
            <a:ext cx="361531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38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222" name="TextBox 70">
            <a:extLst>
              <a:ext uri="{FF2B5EF4-FFF2-40B4-BE49-F238E27FC236}">
                <a16:creationId xmlns:a16="http://schemas.microsoft.com/office/drawing/2014/main" id="{A0E026ED-9069-B6D6-0DEF-5D28AE181B5D}"/>
              </a:ext>
            </a:extLst>
          </p:cNvPr>
          <p:cNvSpPr txBox="1"/>
          <p:nvPr/>
        </p:nvSpPr>
        <p:spPr>
          <a:xfrm>
            <a:off x="9381292" y="4980424"/>
            <a:ext cx="361531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38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224" name="TextBox 71">
            <a:extLst>
              <a:ext uri="{FF2B5EF4-FFF2-40B4-BE49-F238E27FC236}">
                <a16:creationId xmlns:a16="http://schemas.microsoft.com/office/drawing/2014/main" id="{15A86502-B5A3-9B69-3261-5DEB5A76F995}"/>
              </a:ext>
            </a:extLst>
          </p:cNvPr>
          <p:cNvSpPr txBox="1"/>
          <p:nvPr/>
        </p:nvSpPr>
        <p:spPr>
          <a:xfrm>
            <a:off x="7256621" y="5563354"/>
            <a:ext cx="361531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38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226" name="TextBox 72">
            <a:extLst>
              <a:ext uri="{FF2B5EF4-FFF2-40B4-BE49-F238E27FC236}">
                <a16:creationId xmlns:a16="http://schemas.microsoft.com/office/drawing/2014/main" id="{13691EA7-1B9C-021D-5BAC-53AB7E31C6C5}"/>
              </a:ext>
            </a:extLst>
          </p:cNvPr>
          <p:cNvSpPr txBox="1"/>
          <p:nvPr/>
        </p:nvSpPr>
        <p:spPr>
          <a:xfrm>
            <a:off x="9381292" y="5563354"/>
            <a:ext cx="361531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38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228" name="TextBox 73">
            <a:extLst>
              <a:ext uri="{FF2B5EF4-FFF2-40B4-BE49-F238E27FC236}">
                <a16:creationId xmlns:a16="http://schemas.microsoft.com/office/drawing/2014/main" id="{CEA6125C-D11F-26B5-E626-C74B34F7C5D6}"/>
              </a:ext>
            </a:extLst>
          </p:cNvPr>
          <p:cNvSpPr txBox="1"/>
          <p:nvPr/>
        </p:nvSpPr>
        <p:spPr>
          <a:xfrm>
            <a:off x="7256621" y="6146284"/>
            <a:ext cx="361531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38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</a:p>
        </p:txBody>
      </p:sp>
      <p:sp>
        <p:nvSpPr>
          <p:cNvPr id="230" name="TextBox 74">
            <a:extLst>
              <a:ext uri="{FF2B5EF4-FFF2-40B4-BE49-F238E27FC236}">
                <a16:creationId xmlns:a16="http://schemas.microsoft.com/office/drawing/2014/main" id="{1F0DB47C-9C8D-ADC8-C69F-F2AB32DBD4F4}"/>
              </a:ext>
            </a:extLst>
          </p:cNvPr>
          <p:cNvSpPr txBox="1"/>
          <p:nvPr/>
        </p:nvSpPr>
        <p:spPr>
          <a:xfrm>
            <a:off x="9381292" y="6146284"/>
            <a:ext cx="361531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38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7286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B4EAC-A6D0-F392-7436-AC0932EB2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C9DE6-2607-A44D-6A1E-E3B0F6231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zh-CN" altLang="en-US" dirty="0"/>
              <a:t>课程、实训项目与学习资源体系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EF26A8B-0A94-E8C7-1B03-E863D1FD1246}"/>
              </a:ext>
            </a:extLst>
          </p:cNvPr>
          <p:cNvSpPr/>
          <p:nvPr/>
        </p:nvSpPr>
        <p:spPr>
          <a:xfrm>
            <a:off x="615950" y="933450"/>
            <a:ext cx="10972800" cy="586740"/>
          </a:xfrm>
          <a:prstGeom prst="roundRect">
            <a:avLst>
              <a:gd name="adj" fmla="val 23377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13058129-57AE-5545-58CC-90091D22BDA0}"/>
              </a:ext>
            </a:extLst>
          </p:cNvPr>
          <p:cNvSpPr/>
          <p:nvPr/>
        </p:nvSpPr>
        <p:spPr>
          <a:xfrm>
            <a:off x="806450" y="1062990"/>
            <a:ext cx="792480" cy="327660"/>
          </a:xfrm>
          <a:prstGeom prst="roundRect">
            <a:avLst>
              <a:gd name="adj" fmla="val 18605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2F80773-7413-6C0B-BA72-5EC74809AF3B}"/>
              </a:ext>
            </a:extLst>
          </p:cNvPr>
          <p:cNvSpPr/>
          <p:nvPr/>
        </p:nvSpPr>
        <p:spPr>
          <a:xfrm>
            <a:off x="615950" y="1583690"/>
            <a:ext cx="10972800" cy="3772853"/>
          </a:xfrm>
          <a:prstGeom prst="roundRect">
            <a:avLst>
              <a:gd name="adj" fmla="val 4039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02AA0F9-A6E0-7F36-3667-DA41C02B2799}"/>
              </a:ext>
            </a:extLst>
          </p:cNvPr>
          <p:cNvSpPr/>
          <p:nvPr/>
        </p:nvSpPr>
        <p:spPr>
          <a:xfrm>
            <a:off x="623570" y="1591310"/>
            <a:ext cx="10957560" cy="640080"/>
          </a:xfrm>
          <a:prstGeom prst="rect">
            <a:avLst/>
          </a:prstGeom>
          <a:solidFill>
            <a:srgbClr val="0565FF"/>
          </a:solidFill>
          <a:ln>
            <a:noFill/>
          </a:ln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15A43FF6-2F2D-BB7A-277B-8E065BE8B777}"/>
              </a:ext>
            </a:extLst>
          </p:cNvPr>
          <p:cNvSpPr/>
          <p:nvPr/>
        </p:nvSpPr>
        <p:spPr>
          <a:xfrm>
            <a:off x="3236277" y="1591310"/>
            <a:ext cx="914" cy="64008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01FB3E0D-BD5C-24F9-9FC7-DE80B93BCEEA}"/>
              </a:ext>
            </a:extLst>
          </p:cNvPr>
          <p:cNvSpPr/>
          <p:nvPr/>
        </p:nvSpPr>
        <p:spPr>
          <a:xfrm>
            <a:off x="5323443" y="1591310"/>
            <a:ext cx="914" cy="64008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2DB99AE1-D4A7-5650-3C1C-855A35F0EA9A}"/>
              </a:ext>
            </a:extLst>
          </p:cNvPr>
          <p:cNvSpPr/>
          <p:nvPr/>
        </p:nvSpPr>
        <p:spPr>
          <a:xfrm>
            <a:off x="7410609" y="1591310"/>
            <a:ext cx="914" cy="64008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12DA169C-5CFD-E711-4888-5557EF80A9DC}"/>
              </a:ext>
            </a:extLst>
          </p:cNvPr>
          <p:cNvSpPr/>
          <p:nvPr/>
        </p:nvSpPr>
        <p:spPr>
          <a:xfrm>
            <a:off x="9497774" y="1591310"/>
            <a:ext cx="914" cy="64008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96F89BA3-BEF9-AC90-C2C6-F3B4EC9E5742}"/>
              </a:ext>
            </a:extLst>
          </p:cNvPr>
          <p:cNvSpPr/>
          <p:nvPr/>
        </p:nvSpPr>
        <p:spPr>
          <a:xfrm>
            <a:off x="623570" y="2235200"/>
            <a:ext cx="10957560" cy="914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A637F73B-D218-D627-A91A-A0E5C3BC623E}"/>
              </a:ext>
            </a:extLst>
          </p:cNvPr>
          <p:cNvSpPr/>
          <p:nvPr/>
        </p:nvSpPr>
        <p:spPr>
          <a:xfrm>
            <a:off x="623570" y="2239010"/>
            <a:ext cx="2608897" cy="511969"/>
          </a:xfrm>
          <a:prstGeom prst="rect">
            <a:avLst/>
          </a:prstGeom>
          <a:solidFill>
            <a:srgbClr val="ECF7FF"/>
          </a:solidFill>
          <a:ln>
            <a:noFill/>
          </a:ln>
        </p:spPr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E8FA203C-628A-7A9F-17CC-69C87E650361}"/>
              </a:ext>
            </a:extLst>
          </p:cNvPr>
          <p:cNvSpPr/>
          <p:nvPr/>
        </p:nvSpPr>
        <p:spPr>
          <a:xfrm>
            <a:off x="775970" y="2382242"/>
            <a:ext cx="291108" cy="225504"/>
          </a:xfrm>
          <a:prstGeom prst="roundRect">
            <a:avLst>
              <a:gd name="adj" fmla="val 27033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DCFE0578-6998-2643-F136-7B9370699A35}"/>
              </a:ext>
            </a:extLst>
          </p:cNvPr>
          <p:cNvSpPr/>
          <p:nvPr/>
        </p:nvSpPr>
        <p:spPr>
          <a:xfrm>
            <a:off x="3236277" y="2239010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A997CEF3-77FF-801B-543A-F94E6862B05E}"/>
              </a:ext>
            </a:extLst>
          </p:cNvPr>
          <p:cNvSpPr/>
          <p:nvPr/>
        </p:nvSpPr>
        <p:spPr>
          <a:xfrm>
            <a:off x="5323443" y="2239010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0350561F-1B35-DBFF-8FF5-41FFE55EBE4B}"/>
              </a:ext>
            </a:extLst>
          </p:cNvPr>
          <p:cNvSpPr/>
          <p:nvPr/>
        </p:nvSpPr>
        <p:spPr>
          <a:xfrm>
            <a:off x="7410609" y="2239010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510DC106-CC75-7BB6-96D8-0EEE2B12E6D4}"/>
              </a:ext>
            </a:extLst>
          </p:cNvPr>
          <p:cNvSpPr/>
          <p:nvPr/>
        </p:nvSpPr>
        <p:spPr>
          <a:xfrm>
            <a:off x="9497774" y="2239010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161DC6A4-9CA1-5405-265D-AB3D953C1E6E}"/>
              </a:ext>
            </a:extLst>
          </p:cNvPr>
          <p:cNvSpPr/>
          <p:nvPr/>
        </p:nvSpPr>
        <p:spPr>
          <a:xfrm>
            <a:off x="623570" y="2750979"/>
            <a:ext cx="10957560" cy="519589"/>
          </a:xfrm>
          <a:prstGeom prst="rect">
            <a:avLst/>
          </a:prstGeom>
          <a:solidFill>
            <a:srgbClr val="FAFDFF"/>
          </a:solidFill>
          <a:ln>
            <a:noFill/>
          </a:ln>
        </p:spPr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F0BA7E8F-95A4-27C0-4257-CD793526EA7D}"/>
              </a:ext>
            </a:extLst>
          </p:cNvPr>
          <p:cNvSpPr/>
          <p:nvPr/>
        </p:nvSpPr>
        <p:spPr>
          <a:xfrm>
            <a:off x="623570" y="2754789"/>
            <a:ext cx="10957560" cy="914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38" name="Shape 21">
            <a:extLst>
              <a:ext uri="{FF2B5EF4-FFF2-40B4-BE49-F238E27FC236}">
                <a16:creationId xmlns:a16="http://schemas.microsoft.com/office/drawing/2014/main" id="{6D2F0C10-A9CA-245B-5C54-3FCF7206064A}"/>
              </a:ext>
            </a:extLst>
          </p:cNvPr>
          <p:cNvSpPr/>
          <p:nvPr/>
        </p:nvSpPr>
        <p:spPr>
          <a:xfrm>
            <a:off x="623570" y="2758599"/>
            <a:ext cx="2608897" cy="511969"/>
          </a:xfrm>
          <a:prstGeom prst="rect">
            <a:avLst/>
          </a:prstGeom>
          <a:solidFill>
            <a:srgbClr val="E8F4FF"/>
          </a:solidFill>
          <a:ln>
            <a:noFill/>
          </a:ln>
        </p:spPr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4C6CB2C8-64E9-3AD2-8D42-6BC204A32A46}"/>
              </a:ext>
            </a:extLst>
          </p:cNvPr>
          <p:cNvSpPr/>
          <p:nvPr/>
        </p:nvSpPr>
        <p:spPr>
          <a:xfrm>
            <a:off x="775970" y="2901831"/>
            <a:ext cx="291108" cy="225504"/>
          </a:xfrm>
          <a:prstGeom prst="roundRect">
            <a:avLst>
              <a:gd name="adj" fmla="val 27033"/>
            </a:avLst>
          </a:prstGeom>
          <a:solidFill>
            <a:srgbClr val="0565FF"/>
          </a:solidFill>
          <a:ln>
            <a:noFill/>
          </a:ln>
        </p:spPr>
      </p:sp>
      <p:sp>
        <p:nvSpPr>
          <p:cNvPr id="42" name="Shape 23">
            <a:extLst>
              <a:ext uri="{FF2B5EF4-FFF2-40B4-BE49-F238E27FC236}">
                <a16:creationId xmlns:a16="http://schemas.microsoft.com/office/drawing/2014/main" id="{98BD2A5D-41EC-6851-BC88-8D6891557345}"/>
              </a:ext>
            </a:extLst>
          </p:cNvPr>
          <p:cNvSpPr/>
          <p:nvPr/>
        </p:nvSpPr>
        <p:spPr>
          <a:xfrm>
            <a:off x="3236277" y="2758599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4AAB03FF-38BB-00F6-2FF0-B829B4926B52}"/>
              </a:ext>
            </a:extLst>
          </p:cNvPr>
          <p:cNvSpPr/>
          <p:nvPr/>
        </p:nvSpPr>
        <p:spPr>
          <a:xfrm>
            <a:off x="5323443" y="2758599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46" name="Shape 25">
            <a:extLst>
              <a:ext uri="{FF2B5EF4-FFF2-40B4-BE49-F238E27FC236}">
                <a16:creationId xmlns:a16="http://schemas.microsoft.com/office/drawing/2014/main" id="{C50BC6EB-7E88-2B0B-3F4A-B6CD3D02E7A3}"/>
              </a:ext>
            </a:extLst>
          </p:cNvPr>
          <p:cNvSpPr/>
          <p:nvPr/>
        </p:nvSpPr>
        <p:spPr>
          <a:xfrm>
            <a:off x="7410609" y="2758599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48" name="Shape 26">
            <a:extLst>
              <a:ext uri="{FF2B5EF4-FFF2-40B4-BE49-F238E27FC236}">
                <a16:creationId xmlns:a16="http://schemas.microsoft.com/office/drawing/2014/main" id="{B9896232-3999-C73A-F8B6-3646E909A103}"/>
              </a:ext>
            </a:extLst>
          </p:cNvPr>
          <p:cNvSpPr/>
          <p:nvPr/>
        </p:nvSpPr>
        <p:spPr>
          <a:xfrm>
            <a:off x="9497774" y="2758599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50" name="Shape 27">
            <a:extLst>
              <a:ext uri="{FF2B5EF4-FFF2-40B4-BE49-F238E27FC236}">
                <a16:creationId xmlns:a16="http://schemas.microsoft.com/office/drawing/2014/main" id="{22D1D8EB-DAB1-B94C-DA47-F419AF7C0772}"/>
              </a:ext>
            </a:extLst>
          </p:cNvPr>
          <p:cNvSpPr/>
          <p:nvPr/>
        </p:nvSpPr>
        <p:spPr>
          <a:xfrm>
            <a:off x="623570" y="3274378"/>
            <a:ext cx="10957560" cy="914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52" name="Shape 28">
            <a:extLst>
              <a:ext uri="{FF2B5EF4-FFF2-40B4-BE49-F238E27FC236}">
                <a16:creationId xmlns:a16="http://schemas.microsoft.com/office/drawing/2014/main" id="{BB41AEF1-2668-4E6B-624F-38CA4B3A1821}"/>
              </a:ext>
            </a:extLst>
          </p:cNvPr>
          <p:cNvSpPr/>
          <p:nvPr/>
        </p:nvSpPr>
        <p:spPr>
          <a:xfrm>
            <a:off x="623570" y="3278187"/>
            <a:ext cx="2608897" cy="511969"/>
          </a:xfrm>
          <a:prstGeom prst="rect">
            <a:avLst/>
          </a:prstGeom>
          <a:solidFill>
            <a:srgbClr val="ECF7FF"/>
          </a:solidFill>
          <a:ln>
            <a:noFill/>
          </a:ln>
        </p:spPr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6663DA3D-A2EF-97F8-3611-6033F1446A22}"/>
              </a:ext>
            </a:extLst>
          </p:cNvPr>
          <p:cNvSpPr/>
          <p:nvPr/>
        </p:nvSpPr>
        <p:spPr>
          <a:xfrm>
            <a:off x="775970" y="3421420"/>
            <a:ext cx="291108" cy="225504"/>
          </a:xfrm>
          <a:prstGeom prst="roundRect">
            <a:avLst>
              <a:gd name="adj" fmla="val 27033"/>
            </a:avLst>
          </a:prstGeom>
          <a:solidFill>
            <a:srgbClr val="007FD1"/>
          </a:solidFill>
          <a:ln>
            <a:noFill/>
          </a:ln>
        </p:spPr>
      </p:sp>
      <p:sp>
        <p:nvSpPr>
          <p:cNvPr id="56" name="Shape 30">
            <a:extLst>
              <a:ext uri="{FF2B5EF4-FFF2-40B4-BE49-F238E27FC236}">
                <a16:creationId xmlns:a16="http://schemas.microsoft.com/office/drawing/2014/main" id="{881E893F-603C-09BB-D03B-BB6440AB4DB9}"/>
              </a:ext>
            </a:extLst>
          </p:cNvPr>
          <p:cNvSpPr/>
          <p:nvPr/>
        </p:nvSpPr>
        <p:spPr>
          <a:xfrm>
            <a:off x="3236277" y="3278187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58" name="Shape 31">
            <a:extLst>
              <a:ext uri="{FF2B5EF4-FFF2-40B4-BE49-F238E27FC236}">
                <a16:creationId xmlns:a16="http://schemas.microsoft.com/office/drawing/2014/main" id="{B3C81B22-3CEC-22CE-77A9-97F4B1B6C6E5}"/>
              </a:ext>
            </a:extLst>
          </p:cNvPr>
          <p:cNvSpPr/>
          <p:nvPr/>
        </p:nvSpPr>
        <p:spPr>
          <a:xfrm>
            <a:off x="5323443" y="3278187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60" name="Shape 32">
            <a:extLst>
              <a:ext uri="{FF2B5EF4-FFF2-40B4-BE49-F238E27FC236}">
                <a16:creationId xmlns:a16="http://schemas.microsoft.com/office/drawing/2014/main" id="{55032991-4807-D3E2-E22B-212EEA0F4D1E}"/>
              </a:ext>
            </a:extLst>
          </p:cNvPr>
          <p:cNvSpPr/>
          <p:nvPr/>
        </p:nvSpPr>
        <p:spPr>
          <a:xfrm>
            <a:off x="7410609" y="3278187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62" name="Shape 33">
            <a:extLst>
              <a:ext uri="{FF2B5EF4-FFF2-40B4-BE49-F238E27FC236}">
                <a16:creationId xmlns:a16="http://schemas.microsoft.com/office/drawing/2014/main" id="{631F6B0B-5E0C-A1AB-E5D4-BD05D85CD975}"/>
              </a:ext>
            </a:extLst>
          </p:cNvPr>
          <p:cNvSpPr/>
          <p:nvPr/>
        </p:nvSpPr>
        <p:spPr>
          <a:xfrm>
            <a:off x="9497774" y="3278187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64" name="Shape 34">
            <a:extLst>
              <a:ext uri="{FF2B5EF4-FFF2-40B4-BE49-F238E27FC236}">
                <a16:creationId xmlns:a16="http://schemas.microsoft.com/office/drawing/2014/main" id="{03DF0157-BAF4-7024-5210-CA9BB57057D8}"/>
              </a:ext>
            </a:extLst>
          </p:cNvPr>
          <p:cNvSpPr/>
          <p:nvPr/>
        </p:nvSpPr>
        <p:spPr>
          <a:xfrm>
            <a:off x="623570" y="3790156"/>
            <a:ext cx="10957560" cy="519589"/>
          </a:xfrm>
          <a:prstGeom prst="rect">
            <a:avLst/>
          </a:prstGeom>
          <a:solidFill>
            <a:srgbClr val="FAFDFF"/>
          </a:solidFill>
          <a:ln>
            <a:noFill/>
          </a:ln>
        </p:spPr>
      </p:sp>
      <p:sp>
        <p:nvSpPr>
          <p:cNvPr id="66" name="Shape 35">
            <a:extLst>
              <a:ext uri="{FF2B5EF4-FFF2-40B4-BE49-F238E27FC236}">
                <a16:creationId xmlns:a16="http://schemas.microsoft.com/office/drawing/2014/main" id="{6D581EE4-20A9-DE51-A12A-8A0D6F51B6CD}"/>
              </a:ext>
            </a:extLst>
          </p:cNvPr>
          <p:cNvSpPr/>
          <p:nvPr/>
        </p:nvSpPr>
        <p:spPr>
          <a:xfrm>
            <a:off x="623570" y="3793966"/>
            <a:ext cx="10957560" cy="914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68" name="Shape 36">
            <a:extLst>
              <a:ext uri="{FF2B5EF4-FFF2-40B4-BE49-F238E27FC236}">
                <a16:creationId xmlns:a16="http://schemas.microsoft.com/office/drawing/2014/main" id="{C5A02084-BAB9-206A-7DCA-1D1B81BD6767}"/>
              </a:ext>
            </a:extLst>
          </p:cNvPr>
          <p:cNvSpPr/>
          <p:nvPr/>
        </p:nvSpPr>
        <p:spPr>
          <a:xfrm>
            <a:off x="623570" y="3797776"/>
            <a:ext cx="2608897" cy="511969"/>
          </a:xfrm>
          <a:prstGeom prst="rect">
            <a:avLst/>
          </a:prstGeom>
          <a:solidFill>
            <a:srgbClr val="E8F4FF"/>
          </a:solidFill>
          <a:ln>
            <a:noFill/>
          </a:ln>
        </p:spPr>
      </p:sp>
      <p:sp>
        <p:nvSpPr>
          <p:cNvPr id="70" name="Shape 37">
            <a:extLst>
              <a:ext uri="{FF2B5EF4-FFF2-40B4-BE49-F238E27FC236}">
                <a16:creationId xmlns:a16="http://schemas.microsoft.com/office/drawing/2014/main" id="{BBE98651-04B2-32BC-FC2B-449DCBEE1626}"/>
              </a:ext>
            </a:extLst>
          </p:cNvPr>
          <p:cNvSpPr/>
          <p:nvPr/>
        </p:nvSpPr>
        <p:spPr>
          <a:xfrm>
            <a:off x="775970" y="3941008"/>
            <a:ext cx="291108" cy="225504"/>
          </a:xfrm>
          <a:prstGeom prst="roundRect">
            <a:avLst>
              <a:gd name="adj" fmla="val 27033"/>
            </a:avLst>
          </a:prstGeom>
          <a:solidFill>
            <a:srgbClr val="00A7FF"/>
          </a:solidFill>
          <a:ln>
            <a:noFill/>
          </a:ln>
        </p:spPr>
      </p:sp>
      <p:sp>
        <p:nvSpPr>
          <p:cNvPr id="72" name="Shape 38">
            <a:extLst>
              <a:ext uri="{FF2B5EF4-FFF2-40B4-BE49-F238E27FC236}">
                <a16:creationId xmlns:a16="http://schemas.microsoft.com/office/drawing/2014/main" id="{F887D3E0-B64A-A009-E00C-487D1EA8F941}"/>
              </a:ext>
            </a:extLst>
          </p:cNvPr>
          <p:cNvSpPr/>
          <p:nvPr/>
        </p:nvSpPr>
        <p:spPr>
          <a:xfrm>
            <a:off x="3236277" y="3797776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74" name="Shape 39">
            <a:extLst>
              <a:ext uri="{FF2B5EF4-FFF2-40B4-BE49-F238E27FC236}">
                <a16:creationId xmlns:a16="http://schemas.microsoft.com/office/drawing/2014/main" id="{AA12ECAE-D95D-D322-C8DC-A6D34042F417}"/>
              </a:ext>
            </a:extLst>
          </p:cNvPr>
          <p:cNvSpPr/>
          <p:nvPr/>
        </p:nvSpPr>
        <p:spPr>
          <a:xfrm>
            <a:off x="5323443" y="3797776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76" name="Shape 40">
            <a:extLst>
              <a:ext uri="{FF2B5EF4-FFF2-40B4-BE49-F238E27FC236}">
                <a16:creationId xmlns:a16="http://schemas.microsoft.com/office/drawing/2014/main" id="{A3F9EB43-32C8-F54A-0512-AA4E1F90FE3D}"/>
              </a:ext>
            </a:extLst>
          </p:cNvPr>
          <p:cNvSpPr/>
          <p:nvPr/>
        </p:nvSpPr>
        <p:spPr>
          <a:xfrm>
            <a:off x="7410609" y="3797776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78" name="Shape 41">
            <a:extLst>
              <a:ext uri="{FF2B5EF4-FFF2-40B4-BE49-F238E27FC236}">
                <a16:creationId xmlns:a16="http://schemas.microsoft.com/office/drawing/2014/main" id="{31FBD0E7-63D7-1773-6608-D5C2131BB998}"/>
              </a:ext>
            </a:extLst>
          </p:cNvPr>
          <p:cNvSpPr/>
          <p:nvPr/>
        </p:nvSpPr>
        <p:spPr>
          <a:xfrm>
            <a:off x="9497774" y="3797776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80" name="Shape 42">
            <a:extLst>
              <a:ext uri="{FF2B5EF4-FFF2-40B4-BE49-F238E27FC236}">
                <a16:creationId xmlns:a16="http://schemas.microsoft.com/office/drawing/2014/main" id="{A5CC6171-DD25-DACC-A8C4-CD8E7BE6E084}"/>
              </a:ext>
            </a:extLst>
          </p:cNvPr>
          <p:cNvSpPr/>
          <p:nvPr/>
        </p:nvSpPr>
        <p:spPr>
          <a:xfrm>
            <a:off x="623570" y="4313555"/>
            <a:ext cx="10957560" cy="914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82" name="Shape 43">
            <a:extLst>
              <a:ext uri="{FF2B5EF4-FFF2-40B4-BE49-F238E27FC236}">
                <a16:creationId xmlns:a16="http://schemas.microsoft.com/office/drawing/2014/main" id="{490CFE90-AE87-C2A1-6ECB-0CEC38C8BE5B}"/>
              </a:ext>
            </a:extLst>
          </p:cNvPr>
          <p:cNvSpPr/>
          <p:nvPr/>
        </p:nvSpPr>
        <p:spPr>
          <a:xfrm>
            <a:off x="623570" y="4317365"/>
            <a:ext cx="2608897" cy="511969"/>
          </a:xfrm>
          <a:prstGeom prst="rect">
            <a:avLst/>
          </a:prstGeom>
          <a:solidFill>
            <a:srgbClr val="ECF7FF"/>
          </a:solidFill>
          <a:ln>
            <a:noFill/>
          </a:ln>
        </p:spPr>
      </p:sp>
      <p:sp>
        <p:nvSpPr>
          <p:cNvPr id="84" name="Shape 44">
            <a:extLst>
              <a:ext uri="{FF2B5EF4-FFF2-40B4-BE49-F238E27FC236}">
                <a16:creationId xmlns:a16="http://schemas.microsoft.com/office/drawing/2014/main" id="{FDF1C82E-CEAA-F84C-3B91-648489B19FBE}"/>
              </a:ext>
            </a:extLst>
          </p:cNvPr>
          <p:cNvSpPr/>
          <p:nvPr/>
        </p:nvSpPr>
        <p:spPr>
          <a:xfrm>
            <a:off x="775970" y="4460597"/>
            <a:ext cx="291108" cy="225504"/>
          </a:xfrm>
          <a:prstGeom prst="roundRect">
            <a:avLst>
              <a:gd name="adj" fmla="val 27033"/>
            </a:avLst>
          </a:prstGeom>
          <a:solidFill>
            <a:srgbClr val="009BAE"/>
          </a:solidFill>
          <a:ln>
            <a:noFill/>
          </a:ln>
        </p:spPr>
      </p:sp>
      <p:sp>
        <p:nvSpPr>
          <p:cNvPr id="86" name="Shape 45">
            <a:extLst>
              <a:ext uri="{FF2B5EF4-FFF2-40B4-BE49-F238E27FC236}">
                <a16:creationId xmlns:a16="http://schemas.microsoft.com/office/drawing/2014/main" id="{79DF79C3-294E-DAA5-2C46-4B7980313620}"/>
              </a:ext>
            </a:extLst>
          </p:cNvPr>
          <p:cNvSpPr/>
          <p:nvPr/>
        </p:nvSpPr>
        <p:spPr>
          <a:xfrm>
            <a:off x="3236277" y="4317365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88" name="Shape 46">
            <a:extLst>
              <a:ext uri="{FF2B5EF4-FFF2-40B4-BE49-F238E27FC236}">
                <a16:creationId xmlns:a16="http://schemas.microsoft.com/office/drawing/2014/main" id="{5BC2446C-BAE2-7E1C-43C5-42F1B75809A5}"/>
              </a:ext>
            </a:extLst>
          </p:cNvPr>
          <p:cNvSpPr/>
          <p:nvPr/>
        </p:nvSpPr>
        <p:spPr>
          <a:xfrm>
            <a:off x="5323443" y="4317365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90" name="Shape 47">
            <a:extLst>
              <a:ext uri="{FF2B5EF4-FFF2-40B4-BE49-F238E27FC236}">
                <a16:creationId xmlns:a16="http://schemas.microsoft.com/office/drawing/2014/main" id="{971FAF65-E70F-A446-EE59-50E40A406D80}"/>
              </a:ext>
            </a:extLst>
          </p:cNvPr>
          <p:cNvSpPr/>
          <p:nvPr/>
        </p:nvSpPr>
        <p:spPr>
          <a:xfrm>
            <a:off x="7410609" y="4317365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92" name="Shape 48">
            <a:extLst>
              <a:ext uri="{FF2B5EF4-FFF2-40B4-BE49-F238E27FC236}">
                <a16:creationId xmlns:a16="http://schemas.microsoft.com/office/drawing/2014/main" id="{56B4BAB6-B24D-2F66-3733-F72B60722D5E}"/>
              </a:ext>
            </a:extLst>
          </p:cNvPr>
          <p:cNvSpPr/>
          <p:nvPr/>
        </p:nvSpPr>
        <p:spPr>
          <a:xfrm>
            <a:off x="9497774" y="4317365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94" name="Shape 49">
            <a:extLst>
              <a:ext uri="{FF2B5EF4-FFF2-40B4-BE49-F238E27FC236}">
                <a16:creationId xmlns:a16="http://schemas.microsoft.com/office/drawing/2014/main" id="{FB71B1BA-127D-FB6A-8170-77E968304701}"/>
              </a:ext>
            </a:extLst>
          </p:cNvPr>
          <p:cNvSpPr/>
          <p:nvPr/>
        </p:nvSpPr>
        <p:spPr>
          <a:xfrm>
            <a:off x="623570" y="4829334"/>
            <a:ext cx="10957560" cy="519589"/>
          </a:xfrm>
          <a:prstGeom prst="rect">
            <a:avLst/>
          </a:prstGeom>
          <a:solidFill>
            <a:srgbClr val="FAFDFF"/>
          </a:solidFill>
          <a:ln>
            <a:noFill/>
          </a:ln>
        </p:spPr>
      </p:sp>
      <p:sp>
        <p:nvSpPr>
          <p:cNvPr id="96" name="Shape 50">
            <a:extLst>
              <a:ext uri="{FF2B5EF4-FFF2-40B4-BE49-F238E27FC236}">
                <a16:creationId xmlns:a16="http://schemas.microsoft.com/office/drawing/2014/main" id="{EC55359E-37DF-2ABF-9FA7-BFC568A26F3C}"/>
              </a:ext>
            </a:extLst>
          </p:cNvPr>
          <p:cNvSpPr/>
          <p:nvPr/>
        </p:nvSpPr>
        <p:spPr>
          <a:xfrm>
            <a:off x="623570" y="4833144"/>
            <a:ext cx="10957560" cy="914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98" name="Shape 51">
            <a:extLst>
              <a:ext uri="{FF2B5EF4-FFF2-40B4-BE49-F238E27FC236}">
                <a16:creationId xmlns:a16="http://schemas.microsoft.com/office/drawing/2014/main" id="{1BB3E863-3DBE-05B9-97F2-5D3FD72676BD}"/>
              </a:ext>
            </a:extLst>
          </p:cNvPr>
          <p:cNvSpPr/>
          <p:nvPr/>
        </p:nvSpPr>
        <p:spPr>
          <a:xfrm>
            <a:off x="623570" y="4836954"/>
            <a:ext cx="2608897" cy="511969"/>
          </a:xfrm>
          <a:prstGeom prst="rect">
            <a:avLst/>
          </a:prstGeom>
          <a:solidFill>
            <a:srgbClr val="E8F4FF"/>
          </a:solidFill>
          <a:ln>
            <a:noFill/>
          </a:ln>
        </p:spPr>
      </p:sp>
      <p:sp>
        <p:nvSpPr>
          <p:cNvPr id="100" name="Shape 52">
            <a:extLst>
              <a:ext uri="{FF2B5EF4-FFF2-40B4-BE49-F238E27FC236}">
                <a16:creationId xmlns:a16="http://schemas.microsoft.com/office/drawing/2014/main" id="{0E0B65C5-1297-8FE2-A0BC-384EE8D330F6}"/>
              </a:ext>
            </a:extLst>
          </p:cNvPr>
          <p:cNvSpPr/>
          <p:nvPr/>
        </p:nvSpPr>
        <p:spPr>
          <a:xfrm>
            <a:off x="775970" y="4980186"/>
            <a:ext cx="291108" cy="225504"/>
          </a:xfrm>
          <a:prstGeom prst="roundRect">
            <a:avLst>
              <a:gd name="adj" fmla="val 27033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102" name="Shape 53">
            <a:extLst>
              <a:ext uri="{FF2B5EF4-FFF2-40B4-BE49-F238E27FC236}">
                <a16:creationId xmlns:a16="http://schemas.microsoft.com/office/drawing/2014/main" id="{0404CA44-0E0D-05B4-4788-3363EC4B8303}"/>
              </a:ext>
            </a:extLst>
          </p:cNvPr>
          <p:cNvSpPr/>
          <p:nvPr/>
        </p:nvSpPr>
        <p:spPr>
          <a:xfrm>
            <a:off x="3236277" y="4836954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104" name="Shape 54">
            <a:extLst>
              <a:ext uri="{FF2B5EF4-FFF2-40B4-BE49-F238E27FC236}">
                <a16:creationId xmlns:a16="http://schemas.microsoft.com/office/drawing/2014/main" id="{B9444C48-B40A-A11F-F1BD-875A6E2E3302}"/>
              </a:ext>
            </a:extLst>
          </p:cNvPr>
          <p:cNvSpPr/>
          <p:nvPr/>
        </p:nvSpPr>
        <p:spPr>
          <a:xfrm>
            <a:off x="5323443" y="4836954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106" name="Shape 55">
            <a:extLst>
              <a:ext uri="{FF2B5EF4-FFF2-40B4-BE49-F238E27FC236}">
                <a16:creationId xmlns:a16="http://schemas.microsoft.com/office/drawing/2014/main" id="{2472525B-A2D5-1D58-9FA7-29854ACED5D7}"/>
              </a:ext>
            </a:extLst>
          </p:cNvPr>
          <p:cNvSpPr/>
          <p:nvPr/>
        </p:nvSpPr>
        <p:spPr>
          <a:xfrm>
            <a:off x="7410609" y="4836954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108" name="Shape 56">
            <a:extLst>
              <a:ext uri="{FF2B5EF4-FFF2-40B4-BE49-F238E27FC236}">
                <a16:creationId xmlns:a16="http://schemas.microsoft.com/office/drawing/2014/main" id="{FADFA381-D2FD-D569-3580-101CB5922D45}"/>
              </a:ext>
            </a:extLst>
          </p:cNvPr>
          <p:cNvSpPr/>
          <p:nvPr/>
        </p:nvSpPr>
        <p:spPr>
          <a:xfrm>
            <a:off x="9497774" y="4836954"/>
            <a:ext cx="914" cy="511969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110" name="Shape 57">
            <a:extLst>
              <a:ext uri="{FF2B5EF4-FFF2-40B4-BE49-F238E27FC236}">
                <a16:creationId xmlns:a16="http://schemas.microsoft.com/office/drawing/2014/main" id="{400226F6-D9CA-67A6-547A-9673DB74E5F3}"/>
              </a:ext>
            </a:extLst>
          </p:cNvPr>
          <p:cNvSpPr/>
          <p:nvPr/>
        </p:nvSpPr>
        <p:spPr>
          <a:xfrm>
            <a:off x="615950" y="5445443"/>
            <a:ext cx="6492240" cy="1270040"/>
          </a:xfrm>
          <a:prstGeom prst="roundRect">
            <a:avLst>
              <a:gd name="adj" fmla="val 10800"/>
            </a:avLst>
          </a:prstGeom>
          <a:solidFill>
            <a:srgbClr val="F8FC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12" name="Shape 58">
            <a:extLst>
              <a:ext uri="{FF2B5EF4-FFF2-40B4-BE49-F238E27FC236}">
                <a16:creationId xmlns:a16="http://schemas.microsoft.com/office/drawing/2014/main" id="{D8E14D05-7C2D-ADE2-D105-63A2F5D1169E}"/>
              </a:ext>
            </a:extLst>
          </p:cNvPr>
          <p:cNvSpPr/>
          <p:nvPr/>
        </p:nvSpPr>
        <p:spPr>
          <a:xfrm>
            <a:off x="745490" y="5929313"/>
            <a:ext cx="987981" cy="656630"/>
          </a:xfrm>
          <a:prstGeom prst="roundRect">
            <a:avLst>
              <a:gd name="adj" fmla="val 928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4" name="Shape 59">
            <a:extLst>
              <a:ext uri="{FF2B5EF4-FFF2-40B4-BE49-F238E27FC236}">
                <a16:creationId xmlns:a16="http://schemas.microsoft.com/office/drawing/2014/main" id="{0F6E7526-561E-6D5D-C1FA-1DAB733AE9E8}"/>
              </a:ext>
            </a:extLst>
          </p:cNvPr>
          <p:cNvSpPr/>
          <p:nvPr/>
        </p:nvSpPr>
        <p:spPr>
          <a:xfrm>
            <a:off x="1794431" y="5929313"/>
            <a:ext cx="988100" cy="656630"/>
          </a:xfrm>
          <a:prstGeom prst="roundRect">
            <a:avLst>
              <a:gd name="adj" fmla="val 928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6" name="Shape 60">
            <a:extLst>
              <a:ext uri="{FF2B5EF4-FFF2-40B4-BE49-F238E27FC236}">
                <a16:creationId xmlns:a16="http://schemas.microsoft.com/office/drawing/2014/main" id="{C69E7F9A-1728-F9CC-E520-5B18CC718E2A}"/>
              </a:ext>
            </a:extLst>
          </p:cNvPr>
          <p:cNvSpPr/>
          <p:nvPr/>
        </p:nvSpPr>
        <p:spPr>
          <a:xfrm>
            <a:off x="2843490" y="5929313"/>
            <a:ext cx="988100" cy="656630"/>
          </a:xfrm>
          <a:prstGeom prst="roundRect">
            <a:avLst>
              <a:gd name="adj" fmla="val 928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8" name="Shape 61">
            <a:extLst>
              <a:ext uri="{FF2B5EF4-FFF2-40B4-BE49-F238E27FC236}">
                <a16:creationId xmlns:a16="http://schemas.microsoft.com/office/drawing/2014/main" id="{D7ED255D-D77C-15E6-A0AC-2F1FE363C2C9}"/>
              </a:ext>
            </a:extLst>
          </p:cNvPr>
          <p:cNvSpPr/>
          <p:nvPr/>
        </p:nvSpPr>
        <p:spPr>
          <a:xfrm>
            <a:off x="3892550" y="5929313"/>
            <a:ext cx="987981" cy="656630"/>
          </a:xfrm>
          <a:prstGeom prst="roundRect">
            <a:avLst>
              <a:gd name="adj" fmla="val 928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0" name="Shape 62">
            <a:extLst>
              <a:ext uri="{FF2B5EF4-FFF2-40B4-BE49-F238E27FC236}">
                <a16:creationId xmlns:a16="http://schemas.microsoft.com/office/drawing/2014/main" id="{F91E8854-2B5F-FBA3-C8BB-DC0E33C7F84D}"/>
              </a:ext>
            </a:extLst>
          </p:cNvPr>
          <p:cNvSpPr/>
          <p:nvPr/>
        </p:nvSpPr>
        <p:spPr>
          <a:xfrm>
            <a:off x="4941491" y="5929313"/>
            <a:ext cx="988100" cy="656630"/>
          </a:xfrm>
          <a:prstGeom prst="roundRect">
            <a:avLst>
              <a:gd name="adj" fmla="val 928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2" name="Shape 63">
            <a:extLst>
              <a:ext uri="{FF2B5EF4-FFF2-40B4-BE49-F238E27FC236}">
                <a16:creationId xmlns:a16="http://schemas.microsoft.com/office/drawing/2014/main" id="{1A492AB7-49B9-E352-0BB8-CD8381EAD5AD}"/>
              </a:ext>
            </a:extLst>
          </p:cNvPr>
          <p:cNvSpPr/>
          <p:nvPr/>
        </p:nvSpPr>
        <p:spPr>
          <a:xfrm>
            <a:off x="5990550" y="5929313"/>
            <a:ext cx="988100" cy="656630"/>
          </a:xfrm>
          <a:prstGeom prst="roundRect">
            <a:avLst>
              <a:gd name="adj" fmla="val 928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4" name="Shape 64">
            <a:extLst>
              <a:ext uri="{FF2B5EF4-FFF2-40B4-BE49-F238E27FC236}">
                <a16:creationId xmlns:a16="http://schemas.microsoft.com/office/drawing/2014/main" id="{F247F2BC-E0A3-9EFC-78CE-AF1597087542}"/>
              </a:ext>
            </a:extLst>
          </p:cNvPr>
          <p:cNvSpPr/>
          <p:nvPr/>
        </p:nvSpPr>
        <p:spPr>
          <a:xfrm>
            <a:off x="7260590" y="5445443"/>
            <a:ext cx="4328160" cy="1270040"/>
          </a:xfrm>
          <a:prstGeom prst="roundRect">
            <a:avLst>
              <a:gd name="adj" fmla="val 10800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126" name="Shape 65">
            <a:extLst>
              <a:ext uri="{FF2B5EF4-FFF2-40B4-BE49-F238E27FC236}">
                <a16:creationId xmlns:a16="http://schemas.microsoft.com/office/drawing/2014/main" id="{3FE0FDDD-813C-DF1E-866A-8EA4D9634891}"/>
              </a:ext>
            </a:extLst>
          </p:cNvPr>
          <p:cNvSpPr/>
          <p:nvPr/>
        </p:nvSpPr>
        <p:spPr>
          <a:xfrm>
            <a:off x="10836870" y="5921693"/>
            <a:ext cx="629841" cy="327660"/>
          </a:xfrm>
          <a:prstGeom prst="roundRect">
            <a:avLst>
              <a:gd name="adj" fmla="val 18605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128" name="TextBox 5">
            <a:extLst>
              <a:ext uri="{FF2B5EF4-FFF2-40B4-BE49-F238E27FC236}">
                <a16:creationId xmlns:a16="http://schemas.microsoft.com/office/drawing/2014/main" id="{7576E157-86DF-8422-E376-064DF28AE3D3}"/>
              </a:ext>
            </a:extLst>
          </p:cNvPr>
          <p:cNvSpPr txBox="1"/>
          <p:nvPr/>
        </p:nvSpPr>
        <p:spPr>
          <a:xfrm>
            <a:off x="1751330" y="1085850"/>
            <a:ext cx="8490204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85"/>
              </a:lnSpc>
            </a:pPr>
            <a:r>
              <a:rPr lang="zh-CN" sz="162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岗位需要什么就学什么，项目推进到哪里就练什么；避免所有人员学习同样深度的技术内容。</a:t>
            </a:r>
          </a:p>
        </p:txBody>
      </p:sp>
      <p:sp>
        <p:nvSpPr>
          <p:cNvPr id="130" name="TextBox 6">
            <a:extLst>
              <a:ext uri="{FF2B5EF4-FFF2-40B4-BE49-F238E27FC236}">
                <a16:creationId xmlns:a16="http://schemas.microsoft.com/office/drawing/2014/main" id="{763F056E-1577-111E-2EBF-2D6DE4862125}"/>
              </a:ext>
            </a:extLst>
          </p:cNvPr>
          <p:cNvSpPr txBox="1"/>
          <p:nvPr/>
        </p:nvSpPr>
        <p:spPr>
          <a:xfrm>
            <a:off x="623570" y="1591310"/>
            <a:ext cx="2663761" cy="667512"/>
          </a:xfrm>
          <a:prstGeom prst="rect">
            <a:avLst/>
          </a:prstGeom>
          <a:noFill/>
        </p:spPr>
        <p:txBody>
          <a:bodyPr wrap="square" lIns="152400" tIns="91440" rIns="152400" bIns="91440" anchor="ctr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课程域 × 人才层级</a:t>
            </a:r>
          </a:p>
        </p:txBody>
      </p:sp>
      <p:sp>
        <p:nvSpPr>
          <p:cNvPr id="132" name="TextBox 7">
            <a:extLst>
              <a:ext uri="{FF2B5EF4-FFF2-40B4-BE49-F238E27FC236}">
                <a16:creationId xmlns:a16="http://schemas.microsoft.com/office/drawing/2014/main" id="{1353184B-65B8-1750-052D-F07D3B568567}"/>
              </a:ext>
            </a:extLst>
          </p:cNvPr>
          <p:cNvSpPr txBox="1"/>
          <p:nvPr/>
        </p:nvSpPr>
        <p:spPr>
          <a:xfrm>
            <a:off x="3359150" y="1934210"/>
            <a:ext cx="18912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会用｜岗位任务</a:t>
            </a:r>
          </a:p>
        </p:txBody>
      </p:sp>
      <p:sp>
        <p:nvSpPr>
          <p:cNvPr id="134" name="TextBox 8">
            <a:extLst>
              <a:ext uri="{FF2B5EF4-FFF2-40B4-BE49-F238E27FC236}">
                <a16:creationId xmlns:a16="http://schemas.microsoft.com/office/drawing/2014/main" id="{C26177E7-53B2-F9CF-C97E-35BA9BEA2ECC}"/>
              </a:ext>
            </a:extLst>
          </p:cNvPr>
          <p:cNvSpPr txBox="1"/>
          <p:nvPr/>
        </p:nvSpPr>
        <p:spPr>
          <a:xfrm>
            <a:off x="5447030" y="1934210"/>
            <a:ext cx="18912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会搭｜单场景助手</a:t>
            </a:r>
          </a:p>
        </p:txBody>
      </p:sp>
      <p:sp>
        <p:nvSpPr>
          <p:cNvPr id="136" name="TextBox 9">
            <a:extLst>
              <a:ext uri="{FF2B5EF4-FFF2-40B4-BE49-F238E27FC236}">
                <a16:creationId xmlns:a16="http://schemas.microsoft.com/office/drawing/2014/main" id="{63E46035-4544-052B-903B-58DF8CBCDF0D}"/>
              </a:ext>
            </a:extLst>
          </p:cNvPr>
          <p:cNvSpPr txBox="1"/>
          <p:nvPr/>
        </p:nvSpPr>
        <p:spPr>
          <a:xfrm>
            <a:off x="7534910" y="1934210"/>
            <a:ext cx="18912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会做｜复杂应用</a:t>
            </a:r>
          </a:p>
        </p:txBody>
      </p:sp>
      <p:sp>
        <p:nvSpPr>
          <p:cNvPr id="138" name="TextBox 10">
            <a:extLst>
              <a:ext uri="{FF2B5EF4-FFF2-40B4-BE49-F238E27FC236}">
                <a16:creationId xmlns:a16="http://schemas.microsoft.com/office/drawing/2014/main" id="{0C2A6B2C-89CB-192D-0EC4-149A031901DE}"/>
              </a:ext>
            </a:extLst>
          </p:cNvPr>
          <p:cNvSpPr txBox="1"/>
          <p:nvPr/>
        </p:nvSpPr>
        <p:spPr>
          <a:xfrm>
            <a:off x="9622790" y="1934210"/>
            <a:ext cx="18912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会促｜总体方案</a:t>
            </a:r>
          </a:p>
        </p:txBody>
      </p:sp>
      <p:sp>
        <p:nvSpPr>
          <p:cNvPr id="140" name="TextBox 11">
            <a:extLst>
              <a:ext uri="{FF2B5EF4-FFF2-40B4-BE49-F238E27FC236}">
                <a16:creationId xmlns:a16="http://schemas.microsoft.com/office/drawing/2014/main" id="{5E83CF4E-106E-603E-E9DE-855CB9CC7776}"/>
              </a:ext>
            </a:extLst>
          </p:cNvPr>
          <p:cNvSpPr txBox="1"/>
          <p:nvPr/>
        </p:nvSpPr>
        <p:spPr>
          <a:xfrm>
            <a:off x="897890" y="5574030"/>
            <a:ext cx="163220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zh-CN" sz="13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六类可复用资源底座</a:t>
            </a:r>
          </a:p>
        </p:txBody>
      </p:sp>
      <p:sp>
        <p:nvSpPr>
          <p:cNvPr id="142" name="TextBox 12">
            <a:extLst>
              <a:ext uri="{FF2B5EF4-FFF2-40B4-BE49-F238E27FC236}">
                <a16:creationId xmlns:a16="http://schemas.microsoft.com/office/drawing/2014/main" id="{877D63BE-FFBA-B8C7-B26E-ACF307FB4627}"/>
              </a:ext>
            </a:extLst>
          </p:cNvPr>
          <p:cNvSpPr txBox="1"/>
          <p:nvPr/>
        </p:nvSpPr>
        <p:spPr>
          <a:xfrm>
            <a:off x="7382510" y="5566410"/>
            <a:ext cx="163220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zh-CN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资源治理与持续更新</a:t>
            </a:r>
          </a:p>
        </p:txBody>
      </p:sp>
      <p:sp>
        <p:nvSpPr>
          <p:cNvPr id="144" name="TextBox 13">
            <a:extLst>
              <a:ext uri="{FF2B5EF4-FFF2-40B4-BE49-F238E27FC236}">
                <a16:creationId xmlns:a16="http://schemas.microsoft.com/office/drawing/2014/main" id="{C5109E35-0B93-EFF5-9BB7-8A5DA3E7C62E}"/>
              </a:ext>
            </a:extLst>
          </p:cNvPr>
          <p:cNvSpPr txBox="1"/>
          <p:nvPr/>
        </p:nvSpPr>
        <p:spPr>
          <a:xfrm>
            <a:off x="7382510" y="6343650"/>
            <a:ext cx="413918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720"/>
              </a:spcBef>
            </a:pPr>
            <a:r>
              <a:rPr lang="zh-CN" sz="10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技术变化、学员问题、项目复盘与业务反馈共同触发内容迭代。</a:t>
            </a:r>
          </a:p>
        </p:txBody>
      </p:sp>
      <p:sp>
        <p:nvSpPr>
          <p:cNvPr id="146" name="TextBox 14">
            <a:extLst>
              <a:ext uri="{FF2B5EF4-FFF2-40B4-BE49-F238E27FC236}">
                <a16:creationId xmlns:a16="http://schemas.microsoft.com/office/drawing/2014/main" id="{AEDB8D98-3F35-73E3-84C7-3E2CC7E6AD02}"/>
              </a:ext>
            </a:extLst>
          </p:cNvPr>
          <p:cNvSpPr txBox="1"/>
          <p:nvPr/>
        </p:nvSpPr>
        <p:spPr>
          <a:xfrm>
            <a:off x="928370" y="1123950"/>
            <a:ext cx="6035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配置原则</a:t>
            </a:r>
          </a:p>
        </p:txBody>
      </p:sp>
      <p:sp>
        <p:nvSpPr>
          <p:cNvPr id="148" name="TextBox 15">
            <a:extLst>
              <a:ext uri="{FF2B5EF4-FFF2-40B4-BE49-F238E27FC236}">
                <a16:creationId xmlns:a16="http://schemas.microsoft.com/office/drawing/2014/main" id="{6446ABEE-79DB-D6D1-5807-CDF850EC2CC3}"/>
              </a:ext>
            </a:extLst>
          </p:cNvPr>
          <p:cNvSpPr txBox="1"/>
          <p:nvPr/>
        </p:nvSpPr>
        <p:spPr>
          <a:xfrm>
            <a:off x="3359150" y="1682750"/>
            <a:ext cx="189128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0"/>
              </a:lnSpc>
            </a:pPr>
            <a:r>
              <a:rPr lang="zh-CN" sz="13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全员应用层</a:t>
            </a:r>
          </a:p>
        </p:txBody>
      </p:sp>
      <p:sp>
        <p:nvSpPr>
          <p:cNvPr id="150" name="TextBox 16">
            <a:extLst>
              <a:ext uri="{FF2B5EF4-FFF2-40B4-BE49-F238E27FC236}">
                <a16:creationId xmlns:a16="http://schemas.microsoft.com/office/drawing/2014/main" id="{2ED565F2-0594-B8A9-338C-56B8D388EE5C}"/>
              </a:ext>
            </a:extLst>
          </p:cNvPr>
          <p:cNvSpPr txBox="1"/>
          <p:nvPr/>
        </p:nvSpPr>
        <p:spPr>
          <a:xfrm>
            <a:off x="5447030" y="1682750"/>
            <a:ext cx="189128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0"/>
              </a:lnSpc>
            </a:pPr>
            <a:r>
              <a:rPr lang="en-US" sz="13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ADEA</a:t>
            </a:r>
          </a:p>
        </p:txBody>
      </p:sp>
      <p:sp>
        <p:nvSpPr>
          <p:cNvPr id="152" name="TextBox 17">
            <a:extLst>
              <a:ext uri="{FF2B5EF4-FFF2-40B4-BE49-F238E27FC236}">
                <a16:creationId xmlns:a16="http://schemas.microsoft.com/office/drawing/2014/main" id="{9DBA69BF-F058-2A3C-FCA0-6769FC195B0D}"/>
              </a:ext>
            </a:extLst>
          </p:cNvPr>
          <p:cNvSpPr txBox="1"/>
          <p:nvPr/>
        </p:nvSpPr>
        <p:spPr>
          <a:xfrm>
            <a:off x="7534910" y="1682750"/>
            <a:ext cx="189128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0"/>
              </a:lnSpc>
            </a:pPr>
            <a:r>
              <a:rPr lang="en-US" sz="13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ADEP</a:t>
            </a:r>
          </a:p>
        </p:txBody>
      </p:sp>
      <p:sp>
        <p:nvSpPr>
          <p:cNvPr id="154" name="TextBox 18">
            <a:extLst>
              <a:ext uri="{FF2B5EF4-FFF2-40B4-BE49-F238E27FC236}">
                <a16:creationId xmlns:a16="http://schemas.microsoft.com/office/drawing/2014/main" id="{EA4B783B-DB7A-8142-DC94-FB674A8FDBFC}"/>
              </a:ext>
            </a:extLst>
          </p:cNvPr>
          <p:cNvSpPr txBox="1"/>
          <p:nvPr/>
        </p:nvSpPr>
        <p:spPr>
          <a:xfrm>
            <a:off x="9622790" y="1682750"/>
            <a:ext cx="189128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0"/>
              </a:lnSpc>
            </a:pPr>
            <a:r>
              <a:rPr lang="en-US" sz="13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ADEE</a:t>
            </a:r>
          </a:p>
        </p:txBody>
      </p:sp>
      <p:sp>
        <p:nvSpPr>
          <p:cNvPr id="156" name="TextBox 19">
            <a:extLst>
              <a:ext uri="{FF2B5EF4-FFF2-40B4-BE49-F238E27FC236}">
                <a16:creationId xmlns:a16="http://schemas.microsoft.com/office/drawing/2014/main" id="{D631F545-B9F5-5FC1-BE85-9FC69473B614}"/>
              </a:ext>
            </a:extLst>
          </p:cNvPr>
          <p:cNvSpPr txBox="1"/>
          <p:nvPr/>
        </p:nvSpPr>
        <p:spPr>
          <a:xfrm>
            <a:off x="836930" y="2422882"/>
            <a:ext cx="310739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58" name="TextBox 20">
            <a:extLst>
              <a:ext uri="{FF2B5EF4-FFF2-40B4-BE49-F238E27FC236}">
                <a16:creationId xmlns:a16="http://schemas.microsoft.com/office/drawing/2014/main" id="{BDE8E3D4-398E-A60F-E90A-0573866C01A6}"/>
              </a:ext>
            </a:extLst>
          </p:cNvPr>
          <p:cNvSpPr txBox="1"/>
          <p:nvPr/>
        </p:nvSpPr>
        <p:spPr>
          <a:xfrm>
            <a:off x="1158518" y="2397482"/>
            <a:ext cx="1876919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AI认知、边界与安全使用</a:t>
            </a:r>
          </a:p>
        </p:txBody>
      </p:sp>
      <p:sp>
        <p:nvSpPr>
          <p:cNvPr id="160" name="TextBox 21">
            <a:extLst>
              <a:ext uri="{FF2B5EF4-FFF2-40B4-BE49-F238E27FC236}">
                <a16:creationId xmlns:a16="http://schemas.microsoft.com/office/drawing/2014/main" id="{A2FCE9E1-AC94-E3F8-AF14-3091F0E254D3}"/>
              </a:ext>
            </a:extLst>
          </p:cNvPr>
          <p:cNvSpPr txBox="1"/>
          <p:nvPr/>
        </p:nvSpPr>
        <p:spPr>
          <a:xfrm>
            <a:off x="3351530" y="233045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必修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｜风险识别、结果核验、数据底线</a:t>
            </a:r>
          </a:p>
        </p:txBody>
      </p:sp>
      <p:sp>
        <p:nvSpPr>
          <p:cNvPr id="162" name="TextBox 22">
            <a:extLst>
              <a:ext uri="{FF2B5EF4-FFF2-40B4-BE49-F238E27FC236}">
                <a16:creationId xmlns:a16="http://schemas.microsoft.com/office/drawing/2014/main" id="{5449C50E-F104-3AFE-6756-80DCB6A78C44}"/>
              </a:ext>
            </a:extLst>
          </p:cNvPr>
          <p:cNvSpPr txBox="1"/>
          <p:nvPr/>
        </p:nvSpPr>
        <p:spPr>
          <a:xfrm>
            <a:off x="5439410" y="233045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｜模型边界与构建安全检查</a:t>
            </a:r>
          </a:p>
        </p:txBody>
      </p:sp>
      <p:sp>
        <p:nvSpPr>
          <p:cNvPr id="164" name="TextBox 23">
            <a:extLst>
              <a:ext uri="{FF2B5EF4-FFF2-40B4-BE49-F238E27FC236}">
                <a16:creationId xmlns:a16="http://schemas.microsoft.com/office/drawing/2014/main" id="{0B9FCA9D-F40C-F7B4-CD6F-E8C49B30A1E7}"/>
              </a:ext>
            </a:extLst>
          </p:cNvPr>
          <p:cNvSpPr txBox="1"/>
          <p:nvPr/>
        </p:nvSpPr>
        <p:spPr>
          <a:xfrm>
            <a:off x="7527290" y="233045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深化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｜权限、日志与异常责任</a:t>
            </a:r>
          </a:p>
        </p:txBody>
      </p:sp>
      <p:sp>
        <p:nvSpPr>
          <p:cNvPr id="166" name="TextBox 24">
            <a:extLst>
              <a:ext uri="{FF2B5EF4-FFF2-40B4-BE49-F238E27FC236}">
                <a16:creationId xmlns:a16="http://schemas.microsoft.com/office/drawing/2014/main" id="{FD2294DC-334A-1872-0B87-C2CC65D8735C}"/>
              </a:ext>
            </a:extLst>
          </p:cNvPr>
          <p:cNvSpPr txBox="1"/>
          <p:nvPr/>
        </p:nvSpPr>
        <p:spPr>
          <a:xfrm>
            <a:off x="9615170" y="233045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主导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｜风险分级与治理框架</a:t>
            </a:r>
          </a:p>
        </p:txBody>
      </p:sp>
      <p:sp>
        <p:nvSpPr>
          <p:cNvPr id="168" name="TextBox 25">
            <a:extLst>
              <a:ext uri="{FF2B5EF4-FFF2-40B4-BE49-F238E27FC236}">
                <a16:creationId xmlns:a16="http://schemas.microsoft.com/office/drawing/2014/main" id="{3CF8B3B5-7399-B0CF-AB52-88AFF49BF077}"/>
              </a:ext>
            </a:extLst>
          </p:cNvPr>
          <p:cNvSpPr txBox="1"/>
          <p:nvPr/>
        </p:nvSpPr>
        <p:spPr>
          <a:xfrm>
            <a:off x="836930" y="2936121"/>
            <a:ext cx="310739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70" name="TextBox 26">
            <a:extLst>
              <a:ext uri="{FF2B5EF4-FFF2-40B4-BE49-F238E27FC236}">
                <a16:creationId xmlns:a16="http://schemas.microsoft.com/office/drawing/2014/main" id="{81ECB3C7-1D0A-F83B-E4EC-01CF984662D7}"/>
              </a:ext>
            </a:extLst>
          </p:cNvPr>
          <p:cNvSpPr txBox="1"/>
          <p:nvPr/>
        </p:nvSpPr>
        <p:spPr>
          <a:xfrm>
            <a:off x="1158518" y="2917071"/>
            <a:ext cx="1705356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提示工程与智能体基础</a:t>
            </a:r>
          </a:p>
        </p:txBody>
      </p:sp>
      <p:sp>
        <p:nvSpPr>
          <p:cNvPr id="172" name="TextBox 27">
            <a:extLst>
              <a:ext uri="{FF2B5EF4-FFF2-40B4-BE49-F238E27FC236}">
                <a16:creationId xmlns:a16="http://schemas.microsoft.com/office/drawing/2014/main" id="{1109172E-47CB-FE23-7B73-E0EA9B3E1BE4}"/>
              </a:ext>
            </a:extLst>
          </p:cNvPr>
          <p:cNvSpPr txBox="1"/>
          <p:nvPr/>
        </p:nvSpPr>
        <p:spPr>
          <a:xfrm>
            <a:off x="3351530" y="284861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｜任务表达、上下文与提示模板</a:t>
            </a:r>
          </a:p>
        </p:txBody>
      </p:sp>
      <p:sp>
        <p:nvSpPr>
          <p:cNvPr id="174" name="TextBox 28">
            <a:extLst>
              <a:ext uri="{FF2B5EF4-FFF2-40B4-BE49-F238E27FC236}">
                <a16:creationId xmlns:a16="http://schemas.microsoft.com/office/drawing/2014/main" id="{CA1567E5-36BF-179F-4ADE-07093341B171}"/>
              </a:ext>
            </a:extLst>
          </p:cNvPr>
          <p:cNvSpPr txBox="1"/>
          <p:nvPr/>
        </p:nvSpPr>
        <p:spPr>
          <a:xfrm>
            <a:off x="5439410" y="284861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必修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｜智能体构建、调试与发布</a:t>
            </a:r>
          </a:p>
        </p:txBody>
      </p:sp>
      <p:sp>
        <p:nvSpPr>
          <p:cNvPr id="176" name="TextBox 29">
            <a:extLst>
              <a:ext uri="{FF2B5EF4-FFF2-40B4-BE49-F238E27FC236}">
                <a16:creationId xmlns:a16="http://schemas.microsoft.com/office/drawing/2014/main" id="{5CFD8686-830B-A211-D563-527278B69B28}"/>
              </a:ext>
            </a:extLst>
          </p:cNvPr>
          <p:cNvSpPr txBox="1"/>
          <p:nvPr/>
        </p:nvSpPr>
        <p:spPr>
          <a:xfrm>
            <a:off x="7527290" y="284861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｜组件化与复杂任务拆解</a:t>
            </a:r>
          </a:p>
        </p:txBody>
      </p:sp>
      <p:sp>
        <p:nvSpPr>
          <p:cNvPr id="178" name="TextBox 30">
            <a:extLst>
              <a:ext uri="{FF2B5EF4-FFF2-40B4-BE49-F238E27FC236}">
                <a16:creationId xmlns:a16="http://schemas.microsoft.com/office/drawing/2014/main" id="{AAAF0E7B-C03C-70B5-F0FC-137735CAEF38}"/>
              </a:ext>
            </a:extLst>
          </p:cNvPr>
          <p:cNvSpPr txBox="1"/>
          <p:nvPr/>
        </p:nvSpPr>
        <p:spPr>
          <a:xfrm>
            <a:off x="9615170" y="284861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规划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｜能力边界与场景组合</a:t>
            </a:r>
          </a:p>
        </p:txBody>
      </p:sp>
      <p:sp>
        <p:nvSpPr>
          <p:cNvPr id="180" name="TextBox 31">
            <a:extLst>
              <a:ext uri="{FF2B5EF4-FFF2-40B4-BE49-F238E27FC236}">
                <a16:creationId xmlns:a16="http://schemas.microsoft.com/office/drawing/2014/main" id="{74F93AC5-3118-4C6C-D6A3-357BB83BD69B}"/>
              </a:ext>
            </a:extLst>
          </p:cNvPr>
          <p:cNvSpPr txBox="1"/>
          <p:nvPr/>
        </p:nvSpPr>
        <p:spPr>
          <a:xfrm>
            <a:off x="836930" y="3455710"/>
            <a:ext cx="310739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82" name="TextBox 32">
            <a:extLst>
              <a:ext uri="{FF2B5EF4-FFF2-40B4-BE49-F238E27FC236}">
                <a16:creationId xmlns:a16="http://schemas.microsoft.com/office/drawing/2014/main" id="{C7AE7280-0BD2-9861-E936-3B6A23DD168C}"/>
              </a:ext>
            </a:extLst>
          </p:cNvPr>
          <p:cNvSpPr txBox="1"/>
          <p:nvPr/>
        </p:nvSpPr>
        <p:spPr>
          <a:xfrm>
            <a:off x="1158518" y="3436660"/>
            <a:ext cx="1895267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知识增强、RAG与上下文</a:t>
            </a:r>
          </a:p>
        </p:txBody>
      </p:sp>
      <p:sp>
        <p:nvSpPr>
          <p:cNvPr id="184" name="TextBox 33">
            <a:extLst>
              <a:ext uri="{FF2B5EF4-FFF2-40B4-BE49-F238E27FC236}">
                <a16:creationId xmlns:a16="http://schemas.microsoft.com/office/drawing/2014/main" id="{B6AD2BF4-187A-87B2-53A7-55BFF7BD1E1D}"/>
              </a:ext>
            </a:extLst>
          </p:cNvPr>
          <p:cNvSpPr txBox="1"/>
          <p:nvPr/>
        </p:nvSpPr>
        <p:spPr>
          <a:xfrm>
            <a:off x="3351530" y="336677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｜资料组织与知识来源意识</a:t>
            </a:r>
          </a:p>
        </p:txBody>
      </p:sp>
      <p:sp>
        <p:nvSpPr>
          <p:cNvPr id="186" name="TextBox 34">
            <a:extLst>
              <a:ext uri="{FF2B5EF4-FFF2-40B4-BE49-F238E27FC236}">
                <a16:creationId xmlns:a16="http://schemas.microsoft.com/office/drawing/2014/main" id="{95AA0ED8-A022-6673-1853-33C49AAD9397}"/>
              </a:ext>
            </a:extLst>
          </p:cNvPr>
          <p:cNvSpPr txBox="1"/>
          <p:nvPr/>
        </p:nvSpPr>
        <p:spPr>
          <a:xfrm>
            <a:off x="5439410" y="336677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｜知识库与RAG基础</a:t>
            </a:r>
          </a:p>
        </p:txBody>
      </p:sp>
      <p:sp>
        <p:nvSpPr>
          <p:cNvPr id="188" name="TextBox 35">
            <a:extLst>
              <a:ext uri="{FF2B5EF4-FFF2-40B4-BE49-F238E27FC236}">
                <a16:creationId xmlns:a16="http://schemas.microsoft.com/office/drawing/2014/main" id="{6F339CC5-4807-E040-2665-2487ABED8D32}"/>
              </a:ext>
            </a:extLst>
          </p:cNvPr>
          <p:cNvSpPr txBox="1"/>
          <p:nvPr/>
        </p:nvSpPr>
        <p:spPr>
          <a:xfrm>
            <a:off x="7527290" y="336677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深化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｜Agentic RAG与上下文工程</a:t>
            </a:r>
          </a:p>
        </p:txBody>
      </p:sp>
      <p:sp>
        <p:nvSpPr>
          <p:cNvPr id="190" name="TextBox 36">
            <a:extLst>
              <a:ext uri="{FF2B5EF4-FFF2-40B4-BE49-F238E27FC236}">
                <a16:creationId xmlns:a16="http://schemas.microsoft.com/office/drawing/2014/main" id="{2C59ED4B-AC7D-FDE5-960C-CB73554D823E}"/>
              </a:ext>
            </a:extLst>
          </p:cNvPr>
          <p:cNvSpPr txBox="1"/>
          <p:nvPr/>
        </p:nvSpPr>
        <p:spPr>
          <a:xfrm>
            <a:off x="9615170" y="336677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统筹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｜企业知识架构与复用策略</a:t>
            </a:r>
          </a:p>
        </p:txBody>
      </p:sp>
      <p:sp>
        <p:nvSpPr>
          <p:cNvPr id="192" name="TextBox 37">
            <a:extLst>
              <a:ext uri="{FF2B5EF4-FFF2-40B4-BE49-F238E27FC236}">
                <a16:creationId xmlns:a16="http://schemas.microsoft.com/office/drawing/2014/main" id="{9745B2A0-50A3-7DEB-DA34-89600F7A8D88}"/>
              </a:ext>
            </a:extLst>
          </p:cNvPr>
          <p:cNvSpPr txBox="1"/>
          <p:nvPr/>
        </p:nvSpPr>
        <p:spPr>
          <a:xfrm>
            <a:off x="836930" y="3975298"/>
            <a:ext cx="310739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194" name="TextBox 38">
            <a:extLst>
              <a:ext uri="{FF2B5EF4-FFF2-40B4-BE49-F238E27FC236}">
                <a16:creationId xmlns:a16="http://schemas.microsoft.com/office/drawing/2014/main" id="{D46FECBA-EC2E-E656-64DC-7D19F5F3C3C5}"/>
              </a:ext>
            </a:extLst>
          </p:cNvPr>
          <p:cNvSpPr txBox="1"/>
          <p:nvPr/>
        </p:nvSpPr>
        <p:spPr>
          <a:xfrm>
            <a:off x="1158518" y="3873976"/>
            <a:ext cx="223524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工具、MCP、工作流与多智能</a:t>
            </a:r>
          </a:p>
        </p:txBody>
      </p:sp>
      <p:sp>
        <p:nvSpPr>
          <p:cNvPr id="196" name="TextBox 39">
            <a:extLst>
              <a:ext uri="{FF2B5EF4-FFF2-40B4-BE49-F238E27FC236}">
                <a16:creationId xmlns:a16="http://schemas.microsoft.com/office/drawing/2014/main" id="{ACBB8239-1953-CA6F-E2E8-9645C029D8E6}"/>
              </a:ext>
            </a:extLst>
          </p:cNvPr>
          <p:cNvSpPr txBox="1"/>
          <p:nvPr/>
        </p:nvSpPr>
        <p:spPr>
          <a:xfrm>
            <a:off x="1158518" y="4038521"/>
            <a:ext cx="285750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</a:t>
            </a:r>
          </a:p>
        </p:txBody>
      </p:sp>
      <p:sp>
        <p:nvSpPr>
          <p:cNvPr id="198" name="TextBox 40">
            <a:extLst>
              <a:ext uri="{FF2B5EF4-FFF2-40B4-BE49-F238E27FC236}">
                <a16:creationId xmlns:a16="http://schemas.microsoft.com/office/drawing/2014/main" id="{0FCDF5EA-0375-BF91-D1E2-D41A1C1534B3}"/>
              </a:ext>
            </a:extLst>
          </p:cNvPr>
          <p:cNvSpPr txBox="1"/>
          <p:nvPr/>
        </p:nvSpPr>
        <p:spPr>
          <a:xfrm>
            <a:off x="3351530" y="389255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体验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｜授权工具与自动化流程</a:t>
            </a:r>
          </a:p>
        </p:txBody>
      </p:sp>
      <p:sp>
        <p:nvSpPr>
          <p:cNvPr id="200" name="TextBox 41">
            <a:extLst>
              <a:ext uri="{FF2B5EF4-FFF2-40B4-BE49-F238E27FC236}">
                <a16:creationId xmlns:a16="http://schemas.microsoft.com/office/drawing/2014/main" id="{29F8A87A-EFB6-6837-6E71-24491E7715CE}"/>
              </a:ext>
            </a:extLst>
          </p:cNvPr>
          <p:cNvSpPr txBox="1"/>
          <p:nvPr/>
        </p:nvSpPr>
        <p:spPr>
          <a:xfrm>
            <a:off x="5439410" y="389255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｜工具调用、MCP与基础工作流</a:t>
            </a:r>
          </a:p>
        </p:txBody>
      </p:sp>
      <p:sp>
        <p:nvSpPr>
          <p:cNvPr id="202" name="TextBox 42">
            <a:extLst>
              <a:ext uri="{FF2B5EF4-FFF2-40B4-BE49-F238E27FC236}">
                <a16:creationId xmlns:a16="http://schemas.microsoft.com/office/drawing/2014/main" id="{5AC4C7A3-9F9C-CF89-73C7-ACBA40E6DF8E}"/>
              </a:ext>
            </a:extLst>
          </p:cNvPr>
          <p:cNvSpPr txBox="1"/>
          <p:nvPr/>
        </p:nvSpPr>
        <p:spPr>
          <a:xfrm>
            <a:off x="7527290" y="389255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必修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｜系统接口、复杂编排、多智能体</a:t>
            </a:r>
          </a:p>
        </p:txBody>
      </p:sp>
      <p:sp>
        <p:nvSpPr>
          <p:cNvPr id="204" name="TextBox 43">
            <a:extLst>
              <a:ext uri="{FF2B5EF4-FFF2-40B4-BE49-F238E27FC236}">
                <a16:creationId xmlns:a16="http://schemas.microsoft.com/office/drawing/2014/main" id="{9506B3FF-09FA-EF65-87F8-7AF0FAB316B4}"/>
              </a:ext>
            </a:extLst>
          </p:cNvPr>
          <p:cNvSpPr txBox="1"/>
          <p:nvPr/>
        </p:nvSpPr>
        <p:spPr>
          <a:xfrm>
            <a:off x="9615170" y="389255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｜公共能力与系统集成路线</a:t>
            </a:r>
          </a:p>
        </p:txBody>
      </p:sp>
      <p:sp>
        <p:nvSpPr>
          <p:cNvPr id="206" name="TextBox 44">
            <a:extLst>
              <a:ext uri="{FF2B5EF4-FFF2-40B4-BE49-F238E27FC236}">
                <a16:creationId xmlns:a16="http://schemas.microsoft.com/office/drawing/2014/main" id="{79D5107E-11FE-F6D9-E518-BA4FD5432078}"/>
              </a:ext>
            </a:extLst>
          </p:cNvPr>
          <p:cNvSpPr txBox="1"/>
          <p:nvPr/>
        </p:nvSpPr>
        <p:spPr>
          <a:xfrm>
            <a:off x="836930" y="4494887"/>
            <a:ext cx="310739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</a:p>
        </p:txBody>
      </p:sp>
      <p:sp>
        <p:nvSpPr>
          <p:cNvPr id="208" name="TextBox 45">
            <a:extLst>
              <a:ext uri="{FF2B5EF4-FFF2-40B4-BE49-F238E27FC236}">
                <a16:creationId xmlns:a16="http://schemas.microsoft.com/office/drawing/2014/main" id="{2C8D60EE-41DD-4C12-2393-43AB36E4D425}"/>
              </a:ext>
            </a:extLst>
          </p:cNvPr>
          <p:cNvSpPr txBox="1"/>
          <p:nvPr/>
        </p:nvSpPr>
        <p:spPr>
          <a:xfrm>
            <a:off x="1158518" y="4475837"/>
            <a:ext cx="202082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评估测试、交付与发布运营</a:t>
            </a:r>
          </a:p>
        </p:txBody>
      </p:sp>
      <p:sp>
        <p:nvSpPr>
          <p:cNvPr id="210" name="TextBox 46">
            <a:extLst>
              <a:ext uri="{FF2B5EF4-FFF2-40B4-BE49-F238E27FC236}">
                <a16:creationId xmlns:a16="http://schemas.microsoft.com/office/drawing/2014/main" id="{97B1D06E-6D79-7C78-63DA-61DC5C383CD9}"/>
              </a:ext>
            </a:extLst>
          </p:cNvPr>
          <p:cNvSpPr txBox="1"/>
          <p:nvPr/>
        </p:nvSpPr>
        <p:spPr>
          <a:xfrm>
            <a:off x="3351530" y="441071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｜结果核验与岗位效果对比</a:t>
            </a:r>
          </a:p>
        </p:txBody>
      </p:sp>
      <p:sp>
        <p:nvSpPr>
          <p:cNvPr id="212" name="TextBox 47">
            <a:extLst>
              <a:ext uri="{FF2B5EF4-FFF2-40B4-BE49-F238E27FC236}">
                <a16:creationId xmlns:a16="http://schemas.microsoft.com/office/drawing/2014/main" id="{92AE4442-CA3E-1195-D1B1-65C1C46D6889}"/>
              </a:ext>
            </a:extLst>
          </p:cNvPr>
          <p:cNvSpPr txBox="1"/>
          <p:nvPr/>
        </p:nvSpPr>
        <p:spPr>
          <a:xfrm>
            <a:off x="5439410" y="441071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｜功能测试与使用说明</a:t>
            </a:r>
          </a:p>
        </p:txBody>
      </p:sp>
      <p:sp>
        <p:nvSpPr>
          <p:cNvPr id="214" name="TextBox 48">
            <a:extLst>
              <a:ext uri="{FF2B5EF4-FFF2-40B4-BE49-F238E27FC236}">
                <a16:creationId xmlns:a16="http://schemas.microsoft.com/office/drawing/2014/main" id="{32C1A95D-311A-CE25-FEF2-89C158171C95}"/>
              </a:ext>
            </a:extLst>
          </p:cNvPr>
          <p:cNvSpPr txBox="1"/>
          <p:nvPr/>
        </p:nvSpPr>
        <p:spPr>
          <a:xfrm>
            <a:off x="7527290" y="441071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主责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｜测试集、部署、监控与回退</a:t>
            </a:r>
          </a:p>
        </p:txBody>
      </p:sp>
      <p:sp>
        <p:nvSpPr>
          <p:cNvPr id="216" name="TextBox 49">
            <a:extLst>
              <a:ext uri="{FF2B5EF4-FFF2-40B4-BE49-F238E27FC236}">
                <a16:creationId xmlns:a16="http://schemas.microsoft.com/office/drawing/2014/main" id="{E6631AE5-9B0A-D73C-6347-740308B0CEF0}"/>
              </a:ext>
            </a:extLst>
          </p:cNvPr>
          <p:cNvSpPr txBox="1"/>
          <p:nvPr/>
        </p:nvSpPr>
        <p:spPr>
          <a:xfrm>
            <a:off x="9615170" y="441071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治理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｜标准、质量门槛与运营机制</a:t>
            </a:r>
          </a:p>
        </p:txBody>
      </p:sp>
      <p:sp>
        <p:nvSpPr>
          <p:cNvPr id="218" name="TextBox 50">
            <a:extLst>
              <a:ext uri="{FF2B5EF4-FFF2-40B4-BE49-F238E27FC236}">
                <a16:creationId xmlns:a16="http://schemas.microsoft.com/office/drawing/2014/main" id="{D898886E-57BF-5968-01F0-22360EABCE88}"/>
              </a:ext>
            </a:extLst>
          </p:cNvPr>
          <p:cNvSpPr txBox="1"/>
          <p:nvPr/>
        </p:nvSpPr>
        <p:spPr>
          <a:xfrm>
            <a:off x="836930" y="5014476"/>
            <a:ext cx="310739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</a:p>
        </p:txBody>
      </p:sp>
      <p:sp>
        <p:nvSpPr>
          <p:cNvPr id="220" name="TextBox 51">
            <a:extLst>
              <a:ext uri="{FF2B5EF4-FFF2-40B4-BE49-F238E27FC236}">
                <a16:creationId xmlns:a16="http://schemas.microsoft.com/office/drawing/2014/main" id="{E69B281F-E27E-AF01-5281-69A47FA8509C}"/>
              </a:ext>
            </a:extLst>
          </p:cNvPr>
          <p:cNvSpPr txBox="1"/>
          <p:nvPr/>
        </p:nvSpPr>
        <p:spPr>
          <a:xfrm>
            <a:off x="1158518" y="4995426"/>
            <a:ext cx="233629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安全治理、成本资源与总体架构</a:t>
            </a:r>
          </a:p>
        </p:txBody>
      </p:sp>
      <p:sp>
        <p:nvSpPr>
          <p:cNvPr id="222" name="TextBox 52">
            <a:extLst>
              <a:ext uri="{FF2B5EF4-FFF2-40B4-BE49-F238E27FC236}">
                <a16:creationId xmlns:a16="http://schemas.microsoft.com/office/drawing/2014/main" id="{1C7C1F14-F1C1-DD3D-EC0C-C201A09CD05C}"/>
              </a:ext>
            </a:extLst>
          </p:cNvPr>
          <p:cNvSpPr txBox="1"/>
          <p:nvPr/>
        </p:nvSpPr>
        <p:spPr>
          <a:xfrm>
            <a:off x="3351530" y="492887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遵循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｜使用规范与人工确认</a:t>
            </a:r>
          </a:p>
        </p:txBody>
      </p:sp>
      <p:sp>
        <p:nvSpPr>
          <p:cNvPr id="224" name="TextBox 53">
            <a:extLst>
              <a:ext uri="{FF2B5EF4-FFF2-40B4-BE49-F238E27FC236}">
                <a16:creationId xmlns:a16="http://schemas.microsoft.com/office/drawing/2014/main" id="{557311AF-128D-AD74-9620-C60CA389A4B9}"/>
              </a:ext>
            </a:extLst>
          </p:cNvPr>
          <p:cNvSpPr txBox="1"/>
          <p:nvPr/>
        </p:nvSpPr>
        <p:spPr>
          <a:xfrm>
            <a:off x="5439410" y="492887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｜资源额度与基础安全检查</a:t>
            </a:r>
          </a:p>
        </p:txBody>
      </p:sp>
      <p:sp>
        <p:nvSpPr>
          <p:cNvPr id="226" name="TextBox 54">
            <a:extLst>
              <a:ext uri="{FF2B5EF4-FFF2-40B4-BE49-F238E27FC236}">
                <a16:creationId xmlns:a16="http://schemas.microsoft.com/office/drawing/2014/main" id="{0F2E9FC8-BAB7-BA52-7AFE-04CE1CE413F1}"/>
              </a:ext>
            </a:extLst>
          </p:cNvPr>
          <p:cNvSpPr txBox="1"/>
          <p:nvPr/>
        </p:nvSpPr>
        <p:spPr>
          <a:xfrm>
            <a:off x="7527290" y="492887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｜成本、权限、部署与运维约束</a:t>
            </a:r>
          </a:p>
        </p:txBody>
      </p:sp>
      <p:sp>
        <p:nvSpPr>
          <p:cNvPr id="228" name="TextBox 55">
            <a:extLst>
              <a:ext uri="{FF2B5EF4-FFF2-40B4-BE49-F238E27FC236}">
                <a16:creationId xmlns:a16="http://schemas.microsoft.com/office/drawing/2014/main" id="{9E96D6FB-D96E-298F-84DB-B0A2D0B0DB0B}"/>
              </a:ext>
            </a:extLst>
          </p:cNvPr>
          <p:cNvSpPr txBox="1"/>
          <p:nvPr/>
        </p:nvSpPr>
        <p:spPr>
          <a:xfrm>
            <a:off x="9615170" y="4928870"/>
            <a:ext cx="189890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主导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｜总体架构、治理与演进路线</a:t>
            </a:r>
          </a:p>
        </p:txBody>
      </p:sp>
      <p:sp>
        <p:nvSpPr>
          <p:cNvPr id="230" name="TextBox 56">
            <a:extLst>
              <a:ext uri="{FF2B5EF4-FFF2-40B4-BE49-F238E27FC236}">
                <a16:creationId xmlns:a16="http://schemas.microsoft.com/office/drawing/2014/main" id="{CA464C0E-5E2B-542B-B716-F7C4AF12C37F}"/>
              </a:ext>
            </a:extLst>
          </p:cNvPr>
          <p:cNvSpPr txBox="1"/>
          <p:nvPr/>
        </p:nvSpPr>
        <p:spPr>
          <a:xfrm>
            <a:off x="806450" y="5993130"/>
            <a:ext cx="923544" cy="5608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0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课程内容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视频、讲义、模板</a:t>
            </a:r>
          </a:p>
        </p:txBody>
      </p:sp>
      <p:sp>
        <p:nvSpPr>
          <p:cNvPr id="232" name="TextBox 57">
            <a:extLst>
              <a:ext uri="{FF2B5EF4-FFF2-40B4-BE49-F238E27FC236}">
                <a16:creationId xmlns:a16="http://schemas.microsoft.com/office/drawing/2014/main" id="{15F5C57C-C750-7E23-E228-608D570FB7E5}"/>
              </a:ext>
            </a:extLst>
          </p:cNvPr>
          <p:cNvSpPr txBox="1"/>
          <p:nvPr/>
        </p:nvSpPr>
        <p:spPr>
          <a:xfrm>
            <a:off x="1858010" y="5993130"/>
            <a:ext cx="923544" cy="5608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0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实验环境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配置、开发、调试</a:t>
            </a:r>
          </a:p>
        </p:txBody>
      </p:sp>
      <p:sp>
        <p:nvSpPr>
          <p:cNvPr id="234" name="TextBox 58">
            <a:extLst>
              <a:ext uri="{FF2B5EF4-FFF2-40B4-BE49-F238E27FC236}">
                <a16:creationId xmlns:a16="http://schemas.microsoft.com/office/drawing/2014/main" id="{8AF76698-29B3-AFCD-EFFB-C9F9AF4E9CA5}"/>
              </a:ext>
            </a:extLst>
          </p:cNvPr>
          <p:cNvSpPr txBox="1"/>
          <p:nvPr/>
        </p:nvSpPr>
        <p:spPr>
          <a:xfrm>
            <a:off x="2901950" y="5993130"/>
            <a:ext cx="923544" cy="5608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0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数据知识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样本、知识与制度</a:t>
            </a:r>
          </a:p>
        </p:txBody>
      </p:sp>
      <p:sp>
        <p:nvSpPr>
          <p:cNvPr id="236" name="TextBox 59">
            <a:extLst>
              <a:ext uri="{FF2B5EF4-FFF2-40B4-BE49-F238E27FC236}">
                <a16:creationId xmlns:a16="http://schemas.microsoft.com/office/drawing/2014/main" id="{6509753E-DD67-0ABD-3147-7EB459799299}"/>
              </a:ext>
            </a:extLst>
          </p:cNvPr>
          <p:cNvSpPr txBox="1"/>
          <p:nvPr/>
        </p:nvSpPr>
        <p:spPr>
          <a:xfrm>
            <a:off x="3953510" y="5993130"/>
            <a:ext cx="923544" cy="5608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0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工具模型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服务、算力与额度</a:t>
            </a:r>
          </a:p>
        </p:txBody>
      </p:sp>
      <p:sp>
        <p:nvSpPr>
          <p:cNvPr id="238" name="TextBox 60">
            <a:extLst>
              <a:ext uri="{FF2B5EF4-FFF2-40B4-BE49-F238E27FC236}">
                <a16:creationId xmlns:a16="http://schemas.microsoft.com/office/drawing/2014/main" id="{D5ED5A6F-AA6B-4B14-5BFE-9B82FE8B7FEE}"/>
              </a:ext>
            </a:extLst>
          </p:cNvPr>
          <p:cNvSpPr txBox="1"/>
          <p:nvPr/>
        </p:nvSpPr>
        <p:spPr>
          <a:xfrm>
            <a:off x="5005070" y="5993130"/>
            <a:ext cx="923544" cy="5608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0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场景项目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场景库、项目库、案例</a:t>
            </a:r>
          </a:p>
        </p:txBody>
      </p:sp>
      <p:sp>
        <p:nvSpPr>
          <p:cNvPr id="240" name="TextBox 61">
            <a:extLst>
              <a:ext uri="{FF2B5EF4-FFF2-40B4-BE49-F238E27FC236}">
                <a16:creationId xmlns:a16="http://schemas.microsoft.com/office/drawing/2014/main" id="{420EF17C-F797-F188-B64C-660FCFA0B3F7}"/>
              </a:ext>
            </a:extLst>
          </p:cNvPr>
          <p:cNvSpPr txBox="1"/>
          <p:nvPr/>
        </p:nvSpPr>
        <p:spPr>
          <a:xfrm>
            <a:off x="6049010" y="5993130"/>
            <a:ext cx="923544" cy="5608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0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测试量规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测试集、评价与交付文档</a:t>
            </a:r>
          </a:p>
        </p:txBody>
      </p:sp>
      <p:sp>
        <p:nvSpPr>
          <p:cNvPr id="242" name="TextBox 62">
            <a:extLst>
              <a:ext uri="{FF2B5EF4-FFF2-40B4-BE49-F238E27FC236}">
                <a16:creationId xmlns:a16="http://schemas.microsoft.com/office/drawing/2014/main" id="{65F271D5-FA8C-F456-06C2-98753466FDE6}"/>
              </a:ext>
            </a:extLst>
          </p:cNvPr>
          <p:cNvSpPr txBox="1"/>
          <p:nvPr/>
        </p:nvSpPr>
        <p:spPr>
          <a:xfrm>
            <a:off x="9683750" y="5603558"/>
            <a:ext cx="2178558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BFE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通用标准化｜企业内容定制化</a:t>
            </a:r>
          </a:p>
        </p:txBody>
      </p:sp>
      <p:sp>
        <p:nvSpPr>
          <p:cNvPr id="244" name="TextBox 63">
            <a:extLst>
              <a:ext uri="{FF2B5EF4-FFF2-40B4-BE49-F238E27FC236}">
                <a16:creationId xmlns:a16="http://schemas.microsoft.com/office/drawing/2014/main" id="{2FC03D42-5696-114C-8360-622401FB9C02}"/>
              </a:ext>
            </a:extLst>
          </p:cNvPr>
          <p:cNvSpPr txBox="1"/>
          <p:nvPr/>
        </p:nvSpPr>
        <p:spPr>
          <a:xfrm>
            <a:off x="7443470" y="5985510"/>
            <a:ext cx="5654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</a:t>
            </a:r>
          </a:p>
        </p:txBody>
      </p:sp>
      <p:sp>
        <p:nvSpPr>
          <p:cNvPr id="246" name="TextBox 64">
            <a:extLst>
              <a:ext uri="{FF2B5EF4-FFF2-40B4-BE49-F238E27FC236}">
                <a16:creationId xmlns:a16="http://schemas.microsoft.com/office/drawing/2014/main" id="{ABED7BD3-F006-A807-D137-D44EA1692CF7}"/>
              </a:ext>
            </a:extLst>
          </p:cNvPr>
          <p:cNvSpPr txBox="1"/>
          <p:nvPr/>
        </p:nvSpPr>
        <p:spPr>
          <a:xfrm>
            <a:off x="8136890" y="5985510"/>
            <a:ext cx="5654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脱敏</a:t>
            </a:r>
          </a:p>
        </p:txBody>
      </p:sp>
      <p:sp>
        <p:nvSpPr>
          <p:cNvPr id="248" name="TextBox 65">
            <a:extLst>
              <a:ext uri="{FF2B5EF4-FFF2-40B4-BE49-F238E27FC236}">
                <a16:creationId xmlns:a16="http://schemas.microsoft.com/office/drawing/2014/main" id="{207B779C-2040-DD0E-ECE3-A1507DA4C735}"/>
              </a:ext>
            </a:extLst>
          </p:cNvPr>
          <p:cNvSpPr txBox="1"/>
          <p:nvPr/>
        </p:nvSpPr>
        <p:spPr>
          <a:xfrm>
            <a:off x="8822690" y="5985510"/>
            <a:ext cx="5654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</a:t>
            </a:r>
          </a:p>
        </p:txBody>
      </p:sp>
      <p:sp>
        <p:nvSpPr>
          <p:cNvPr id="250" name="TextBox 66">
            <a:extLst>
              <a:ext uri="{FF2B5EF4-FFF2-40B4-BE49-F238E27FC236}">
                <a16:creationId xmlns:a16="http://schemas.microsoft.com/office/drawing/2014/main" id="{686B924E-0198-A6B2-CE35-0BFB3F347DCC}"/>
              </a:ext>
            </a:extLst>
          </p:cNvPr>
          <p:cNvSpPr txBox="1"/>
          <p:nvPr/>
        </p:nvSpPr>
        <p:spPr>
          <a:xfrm>
            <a:off x="9516110" y="5985510"/>
            <a:ext cx="5654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</a:t>
            </a:r>
          </a:p>
        </p:txBody>
      </p:sp>
      <p:sp>
        <p:nvSpPr>
          <p:cNvPr id="252" name="TextBox 67">
            <a:extLst>
              <a:ext uri="{FF2B5EF4-FFF2-40B4-BE49-F238E27FC236}">
                <a16:creationId xmlns:a16="http://schemas.microsoft.com/office/drawing/2014/main" id="{45D57509-C9CB-2919-C56D-8F5BF80FB48C}"/>
              </a:ext>
            </a:extLst>
          </p:cNvPr>
          <p:cNvSpPr txBox="1"/>
          <p:nvPr/>
        </p:nvSpPr>
        <p:spPr>
          <a:xfrm>
            <a:off x="10209530" y="5985510"/>
            <a:ext cx="5654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额度</a:t>
            </a:r>
          </a:p>
        </p:txBody>
      </p:sp>
      <p:sp>
        <p:nvSpPr>
          <p:cNvPr id="254" name="TextBox 68">
            <a:extLst>
              <a:ext uri="{FF2B5EF4-FFF2-40B4-BE49-F238E27FC236}">
                <a16:creationId xmlns:a16="http://schemas.microsoft.com/office/drawing/2014/main" id="{34E36110-543F-870C-A122-2D8F46AB7935}"/>
              </a:ext>
            </a:extLst>
          </p:cNvPr>
          <p:cNvSpPr txBox="1"/>
          <p:nvPr/>
        </p:nvSpPr>
        <p:spPr>
          <a:xfrm>
            <a:off x="10895330" y="5985510"/>
            <a:ext cx="5654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6221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BB4BD-EB24-1702-C3F3-4E0977C68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29BCF8-6E92-3A4A-033C-540A8C855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en-US" altLang="zh-CN" dirty="0"/>
              <a:t>360 AI</a:t>
            </a:r>
            <a:r>
              <a:rPr lang="zh-CN" altLang="en-US" dirty="0"/>
              <a:t>微认证与</a:t>
            </a:r>
            <a:r>
              <a:rPr lang="en-US" altLang="zh-CN" dirty="0"/>
              <a:t>ADE</a:t>
            </a:r>
            <a:r>
              <a:rPr lang="zh-CN" altLang="en-US" dirty="0"/>
              <a:t>三级认证体系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3C0F0BF8-34E8-585B-628A-87DA2BA0E194}"/>
              </a:ext>
            </a:extLst>
          </p:cNvPr>
          <p:cNvSpPr/>
          <p:nvPr/>
        </p:nvSpPr>
        <p:spPr>
          <a:xfrm>
            <a:off x="609600" y="990600"/>
            <a:ext cx="10972800" cy="441960"/>
          </a:xfrm>
          <a:prstGeom prst="roundRect">
            <a:avLst>
              <a:gd name="adj" fmla="val 27586"/>
            </a:avLst>
          </a:prstGeom>
          <a:solidFill>
            <a:srgbClr val="ECF7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47E1407-5E71-4942-B601-971A63B63AAD}"/>
              </a:ext>
            </a:extLst>
          </p:cNvPr>
          <p:cNvSpPr/>
          <p:nvPr/>
        </p:nvSpPr>
        <p:spPr>
          <a:xfrm>
            <a:off x="9030414" y="1040130"/>
            <a:ext cx="2361486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DBF4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F40B7CB-2BE1-5443-A6AB-8A330EFF505C}"/>
              </a:ext>
            </a:extLst>
          </p:cNvPr>
          <p:cNvSpPr/>
          <p:nvPr/>
        </p:nvSpPr>
        <p:spPr>
          <a:xfrm>
            <a:off x="609600" y="2026920"/>
            <a:ext cx="2526030" cy="2987040"/>
          </a:xfrm>
          <a:prstGeom prst="roundRect">
            <a:avLst>
              <a:gd name="adj" fmla="val 6033"/>
            </a:avLst>
          </a:prstGeom>
          <a:solidFill>
            <a:srgbClr val="FFFFFF"/>
          </a:solidFill>
          <a:ln w="19050">
            <a:solidFill>
              <a:srgbClr val="CDD9F5"/>
            </a:solidFill>
            <a:prstDash val="solid"/>
          </a:ln>
        </p:spPr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AE083789-93EA-B28A-FED9-1FFB48CE7F6D}"/>
              </a:ext>
            </a:extLst>
          </p:cNvPr>
          <p:cNvSpPr/>
          <p:nvPr/>
        </p:nvSpPr>
        <p:spPr>
          <a:xfrm>
            <a:off x="624840" y="2042160"/>
            <a:ext cx="2495550" cy="624840"/>
          </a:xfrm>
          <a:prstGeom prst="rect">
            <a:avLst/>
          </a:prstGeom>
          <a:solidFill>
            <a:srgbClr val="E1E8FF"/>
          </a:solidFill>
          <a:ln>
            <a:noFill/>
          </a:ln>
        </p:spPr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41DCA517-B770-9A4D-13E0-90F7200DF83A}"/>
              </a:ext>
            </a:extLst>
          </p:cNvPr>
          <p:cNvSpPr/>
          <p:nvPr/>
        </p:nvSpPr>
        <p:spPr>
          <a:xfrm>
            <a:off x="762000" y="216408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416BDDFB-646B-6E4C-FD7B-B8AEDE74782C}"/>
              </a:ext>
            </a:extLst>
          </p:cNvPr>
          <p:cNvSpPr/>
          <p:nvPr/>
        </p:nvSpPr>
        <p:spPr>
          <a:xfrm>
            <a:off x="762000" y="4058603"/>
            <a:ext cx="2221230" cy="802957"/>
          </a:xfrm>
          <a:prstGeom prst="roundRect">
            <a:avLst>
              <a:gd name="adj" fmla="val 11388"/>
            </a:avLst>
          </a:prstGeom>
          <a:solidFill>
            <a:srgbClr val="F3F7FF"/>
          </a:solidFill>
          <a:ln w="9525">
            <a:solidFill>
              <a:srgbClr val="D7E4F7"/>
            </a:solidFill>
            <a:prstDash val="solid"/>
          </a:ln>
        </p:spPr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07FA03A5-2582-72E2-42A3-6CA112D82510}"/>
              </a:ext>
            </a:extLst>
          </p:cNvPr>
          <p:cNvSpPr/>
          <p:nvPr/>
        </p:nvSpPr>
        <p:spPr>
          <a:xfrm>
            <a:off x="3425190" y="1874520"/>
            <a:ext cx="2526030" cy="3139440"/>
          </a:xfrm>
          <a:prstGeom prst="roundRect">
            <a:avLst>
              <a:gd name="adj" fmla="val 6033"/>
            </a:avLst>
          </a:prstGeom>
          <a:solidFill>
            <a:srgbClr val="FFFFFF"/>
          </a:solidFill>
          <a:ln w="19050">
            <a:solidFill>
              <a:srgbClr val="B8DDF8"/>
            </a:solidFill>
            <a:prstDash val="solid"/>
          </a:ln>
        </p:spPr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C5396F85-ACA9-573E-27E2-24389F82ECC0}"/>
              </a:ext>
            </a:extLst>
          </p:cNvPr>
          <p:cNvSpPr/>
          <p:nvPr/>
        </p:nvSpPr>
        <p:spPr>
          <a:xfrm>
            <a:off x="3440430" y="1889760"/>
            <a:ext cx="2495550" cy="624840"/>
          </a:xfrm>
          <a:prstGeom prst="rect">
            <a:avLst/>
          </a:prstGeom>
          <a:solidFill>
            <a:srgbClr val="D9F2FF"/>
          </a:solidFill>
          <a:ln>
            <a:noFill/>
          </a:ln>
        </p:spPr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D713E581-11D7-E640-3B69-8C6C03046B2E}"/>
              </a:ext>
            </a:extLst>
          </p:cNvPr>
          <p:cNvSpPr/>
          <p:nvPr/>
        </p:nvSpPr>
        <p:spPr>
          <a:xfrm>
            <a:off x="3577590" y="201168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0565FF"/>
          </a:solidFill>
          <a:ln>
            <a:noFill/>
          </a:ln>
        </p:spPr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9858FC5F-BCBD-E5D8-6973-030457E0C5FF}"/>
              </a:ext>
            </a:extLst>
          </p:cNvPr>
          <p:cNvSpPr/>
          <p:nvPr/>
        </p:nvSpPr>
        <p:spPr>
          <a:xfrm>
            <a:off x="3577590" y="4088606"/>
            <a:ext cx="2221230" cy="802957"/>
          </a:xfrm>
          <a:prstGeom prst="roundRect">
            <a:avLst>
              <a:gd name="adj" fmla="val 11388"/>
            </a:avLst>
          </a:prstGeom>
          <a:solidFill>
            <a:srgbClr val="F0FAFF"/>
          </a:solidFill>
          <a:ln w="9525">
            <a:solidFill>
              <a:srgbClr val="CFEAF8"/>
            </a:solidFill>
            <a:prstDash val="solid"/>
          </a:ln>
        </p:spPr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0058DA65-B2CB-DF89-A9FE-02731F0823E4}"/>
              </a:ext>
            </a:extLst>
          </p:cNvPr>
          <p:cNvSpPr/>
          <p:nvPr/>
        </p:nvSpPr>
        <p:spPr>
          <a:xfrm>
            <a:off x="6240780" y="1722120"/>
            <a:ext cx="2526030" cy="3291840"/>
          </a:xfrm>
          <a:prstGeom prst="roundRect">
            <a:avLst>
              <a:gd name="adj" fmla="val 6033"/>
            </a:avLst>
          </a:prstGeom>
          <a:solidFill>
            <a:srgbClr val="FFFFFF"/>
          </a:solidFill>
          <a:ln w="19050">
            <a:solidFill>
              <a:srgbClr val="8ED9FA"/>
            </a:solidFill>
            <a:prstDash val="solid"/>
          </a:ln>
        </p:spPr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031922E5-7E8B-100C-1B56-01E165802C14}"/>
              </a:ext>
            </a:extLst>
          </p:cNvPr>
          <p:cNvSpPr/>
          <p:nvPr/>
        </p:nvSpPr>
        <p:spPr>
          <a:xfrm>
            <a:off x="6256020" y="1737360"/>
            <a:ext cx="2495550" cy="624840"/>
          </a:xfrm>
          <a:prstGeom prst="rect">
            <a:avLst/>
          </a:prstGeom>
          <a:solidFill>
            <a:srgbClr val="D8F6FF"/>
          </a:solidFill>
          <a:ln>
            <a:noFill/>
          </a:ln>
        </p:spPr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906FBAC0-67F7-525C-FCD8-D140BE3FE7B1}"/>
              </a:ext>
            </a:extLst>
          </p:cNvPr>
          <p:cNvSpPr/>
          <p:nvPr/>
        </p:nvSpPr>
        <p:spPr>
          <a:xfrm>
            <a:off x="6393180" y="185928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00A7FF"/>
          </a:solidFill>
          <a:ln>
            <a:noFill/>
          </a:ln>
        </p:spPr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E74FBCD0-BFE0-4440-065E-95E6A1C75C10}"/>
              </a:ext>
            </a:extLst>
          </p:cNvPr>
          <p:cNvSpPr/>
          <p:nvPr/>
        </p:nvSpPr>
        <p:spPr>
          <a:xfrm>
            <a:off x="6393180" y="4058603"/>
            <a:ext cx="2221230" cy="802957"/>
          </a:xfrm>
          <a:prstGeom prst="roundRect">
            <a:avLst>
              <a:gd name="adj" fmla="val 11388"/>
            </a:avLst>
          </a:prstGeom>
          <a:solidFill>
            <a:srgbClr val="EEFBFF"/>
          </a:solidFill>
          <a:ln w="9525">
            <a:solidFill>
              <a:srgbClr val="BDEBFA"/>
            </a:solidFill>
            <a:prstDash val="solid"/>
          </a:ln>
        </p:spPr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04D70249-5F7D-2250-7F36-11321EA99C8D}"/>
              </a:ext>
            </a:extLst>
          </p:cNvPr>
          <p:cNvSpPr/>
          <p:nvPr/>
        </p:nvSpPr>
        <p:spPr>
          <a:xfrm>
            <a:off x="9056370" y="1554480"/>
            <a:ext cx="2526030" cy="3459480"/>
          </a:xfrm>
          <a:prstGeom prst="roundRect">
            <a:avLst>
              <a:gd name="adj" fmla="val 6033"/>
            </a:avLst>
          </a:prstGeom>
          <a:solidFill>
            <a:srgbClr val="FFFFFF"/>
          </a:solidFill>
          <a:ln w="19050">
            <a:solidFill>
              <a:srgbClr val="77D8BF"/>
            </a:solidFill>
            <a:prstDash val="solid"/>
          </a:ln>
        </p:spPr>
      </p:sp>
      <p:sp>
        <p:nvSpPr>
          <p:cNvPr id="34" name="Shape 18">
            <a:extLst>
              <a:ext uri="{FF2B5EF4-FFF2-40B4-BE49-F238E27FC236}">
                <a16:creationId xmlns:a16="http://schemas.microsoft.com/office/drawing/2014/main" id="{90CAB302-24EA-D31E-5B1B-81229404AA17}"/>
              </a:ext>
            </a:extLst>
          </p:cNvPr>
          <p:cNvSpPr/>
          <p:nvPr/>
        </p:nvSpPr>
        <p:spPr>
          <a:xfrm>
            <a:off x="9071610" y="1569720"/>
            <a:ext cx="2495550" cy="624840"/>
          </a:xfrm>
          <a:prstGeom prst="rect">
            <a:avLst/>
          </a:prstGeom>
          <a:solidFill>
            <a:srgbClr val="DDF8F0"/>
          </a:solidFill>
          <a:ln>
            <a:noFill/>
          </a:ln>
        </p:spPr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865C27F9-A68C-1BF8-4DE2-57AE73D04DA6}"/>
              </a:ext>
            </a:extLst>
          </p:cNvPr>
          <p:cNvSpPr/>
          <p:nvPr/>
        </p:nvSpPr>
        <p:spPr>
          <a:xfrm>
            <a:off x="9208770" y="169164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38" name="Shape 20">
            <a:extLst>
              <a:ext uri="{FF2B5EF4-FFF2-40B4-BE49-F238E27FC236}">
                <a16:creationId xmlns:a16="http://schemas.microsoft.com/office/drawing/2014/main" id="{C049C333-C238-6EB7-FD60-3C998B2904F1}"/>
              </a:ext>
            </a:extLst>
          </p:cNvPr>
          <p:cNvSpPr/>
          <p:nvPr/>
        </p:nvSpPr>
        <p:spPr>
          <a:xfrm>
            <a:off x="9208770" y="4058603"/>
            <a:ext cx="2221230" cy="802957"/>
          </a:xfrm>
          <a:prstGeom prst="roundRect">
            <a:avLst>
              <a:gd name="adj" fmla="val 11388"/>
            </a:avLst>
          </a:prstGeom>
          <a:solidFill>
            <a:srgbClr val="EFFBF7"/>
          </a:solidFill>
          <a:ln w="9525">
            <a:solidFill>
              <a:srgbClr val="BFE9DA"/>
            </a:solidFill>
            <a:prstDash val="solid"/>
          </a:ln>
        </p:spPr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0B55445B-F7C6-578E-606F-749295EFD734}"/>
              </a:ext>
            </a:extLst>
          </p:cNvPr>
          <p:cNvSpPr/>
          <p:nvPr/>
        </p:nvSpPr>
        <p:spPr>
          <a:xfrm>
            <a:off x="609600" y="5135880"/>
            <a:ext cx="6239232" cy="1379220"/>
          </a:xfrm>
          <a:prstGeom prst="roundRect">
            <a:avLst>
              <a:gd name="adj" fmla="val 9945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072C313B-0918-0436-37C3-CF72435D69BB}"/>
              </a:ext>
            </a:extLst>
          </p:cNvPr>
          <p:cNvSpPr/>
          <p:nvPr/>
        </p:nvSpPr>
        <p:spPr>
          <a:xfrm>
            <a:off x="617220" y="5143500"/>
            <a:ext cx="6223992" cy="381000"/>
          </a:xfrm>
          <a:prstGeom prst="rect">
            <a:avLst/>
          </a:prstGeom>
          <a:solidFill>
            <a:srgbClr val="0721A8"/>
          </a:solidFill>
          <a:ln>
            <a:noFill/>
          </a:ln>
        </p:spPr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37182C62-6E1A-9307-B88E-2789E85F2DE5}"/>
              </a:ext>
            </a:extLst>
          </p:cNvPr>
          <p:cNvSpPr/>
          <p:nvPr/>
        </p:nvSpPr>
        <p:spPr>
          <a:xfrm>
            <a:off x="723900" y="5631180"/>
            <a:ext cx="1445419" cy="758904"/>
          </a:xfrm>
          <a:prstGeom prst="roundRect">
            <a:avLst>
              <a:gd name="adj" fmla="val 11045"/>
            </a:avLst>
          </a:prstGeom>
          <a:solidFill>
            <a:srgbClr val="F1F6FF"/>
          </a:solidFill>
          <a:ln w="9525">
            <a:solidFill>
              <a:srgbClr val="D7E4F7"/>
            </a:solidFill>
            <a:prstDash val="solid"/>
          </a:ln>
        </p:spPr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CB538D2D-7C17-46CB-80CA-BDC1D1227FB1}"/>
              </a:ext>
            </a:extLst>
          </p:cNvPr>
          <p:cNvSpPr/>
          <p:nvPr/>
        </p:nvSpPr>
        <p:spPr>
          <a:xfrm>
            <a:off x="2245519" y="5631180"/>
            <a:ext cx="1445538" cy="758904"/>
          </a:xfrm>
          <a:prstGeom prst="roundRect">
            <a:avLst>
              <a:gd name="adj" fmla="val 11045"/>
            </a:avLst>
          </a:prstGeom>
          <a:solidFill>
            <a:srgbClr val="EDF9FF"/>
          </a:solidFill>
          <a:ln w="9525">
            <a:solidFill>
              <a:srgbClr val="CFEAF8"/>
            </a:solidFill>
            <a:prstDash val="solid"/>
          </a:ln>
        </p:spPr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5A11E7AC-E696-88EF-FAFF-E7CCF5D9A836}"/>
              </a:ext>
            </a:extLst>
          </p:cNvPr>
          <p:cNvSpPr/>
          <p:nvPr/>
        </p:nvSpPr>
        <p:spPr>
          <a:xfrm>
            <a:off x="3767257" y="5631180"/>
            <a:ext cx="1445538" cy="758904"/>
          </a:xfrm>
          <a:prstGeom prst="roundRect">
            <a:avLst>
              <a:gd name="adj" fmla="val 11045"/>
            </a:avLst>
          </a:prstGeom>
          <a:solidFill>
            <a:srgbClr val="EEFBFF"/>
          </a:solidFill>
          <a:ln w="9525">
            <a:solidFill>
              <a:srgbClr val="BDEBFA"/>
            </a:solidFill>
            <a:prstDash val="solid"/>
          </a:ln>
        </p:spPr>
      </p:sp>
      <p:sp>
        <p:nvSpPr>
          <p:cNvPr id="50" name="Shape 26">
            <a:extLst>
              <a:ext uri="{FF2B5EF4-FFF2-40B4-BE49-F238E27FC236}">
                <a16:creationId xmlns:a16="http://schemas.microsoft.com/office/drawing/2014/main" id="{351623FD-537A-E106-7FA3-C7B24851C68E}"/>
              </a:ext>
            </a:extLst>
          </p:cNvPr>
          <p:cNvSpPr/>
          <p:nvPr/>
        </p:nvSpPr>
        <p:spPr>
          <a:xfrm>
            <a:off x="5288994" y="5631180"/>
            <a:ext cx="1445538" cy="758904"/>
          </a:xfrm>
          <a:prstGeom prst="roundRect">
            <a:avLst>
              <a:gd name="adj" fmla="val 11045"/>
            </a:avLst>
          </a:prstGeom>
          <a:solidFill>
            <a:srgbClr val="EFFBF7"/>
          </a:solidFill>
          <a:ln w="9525">
            <a:solidFill>
              <a:srgbClr val="BFE9DA"/>
            </a:solidFill>
            <a:prstDash val="solid"/>
          </a:ln>
        </p:spPr>
      </p:sp>
      <p:sp>
        <p:nvSpPr>
          <p:cNvPr id="52" name="Shape 27">
            <a:extLst>
              <a:ext uri="{FF2B5EF4-FFF2-40B4-BE49-F238E27FC236}">
                <a16:creationId xmlns:a16="http://schemas.microsoft.com/office/drawing/2014/main" id="{3B375ED7-4AF6-2D83-9F1F-B7E2D05D1B4C}"/>
              </a:ext>
            </a:extLst>
          </p:cNvPr>
          <p:cNvSpPr/>
          <p:nvPr/>
        </p:nvSpPr>
        <p:spPr>
          <a:xfrm>
            <a:off x="6970752" y="5135880"/>
            <a:ext cx="4611648" cy="1379220"/>
          </a:xfrm>
          <a:prstGeom prst="roundRect">
            <a:avLst>
              <a:gd name="adj" fmla="val 9945"/>
            </a:avLst>
          </a:prstGeom>
          <a:solidFill>
            <a:srgbClr val="EBFAFF"/>
          </a:solidFill>
          <a:ln w="19050">
            <a:solidFill>
              <a:srgbClr val="00A7FF"/>
            </a:solidFill>
            <a:prstDash val="solid"/>
          </a:ln>
        </p:spPr>
      </p:sp>
      <p:sp>
        <p:nvSpPr>
          <p:cNvPr id="54" name="Shape 28">
            <a:extLst>
              <a:ext uri="{FF2B5EF4-FFF2-40B4-BE49-F238E27FC236}">
                <a16:creationId xmlns:a16="http://schemas.microsoft.com/office/drawing/2014/main" id="{8F48AB65-2EFC-2C55-17D7-93A12CC9A4F2}"/>
              </a:ext>
            </a:extLst>
          </p:cNvPr>
          <p:cNvSpPr/>
          <p:nvPr/>
        </p:nvSpPr>
        <p:spPr>
          <a:xfrm>
            <a:off x="6985992" y="5151120"/>
            <a:ext cx="4581168" cy="381000"/>
          </a:xfrm>
          <a:prstGeom prst="rect">
            <a:avLst/>
          </a:prstGeom>
          <a:solidFill>
            <a:srgbClr val="00A7FF"/>
          </a:solidFill>
          <a:ln>
            <a:noFill/>
          </a:ln>
        </p:spPr>
      </p:sp>
      <p:sp>
        <p:nvSpPr>
          <p:cNvPr id="56" name="Shape 29">
            <a:extLst>
              <a:ext uri="{FF2B5EF4-FFF2-40B4-BE49-F238E27FC236}">
                <a16:creationId xmlns:a16="http://schemas.microsoft.com/office/drawing/2014/main" id="{7560BA2F-50F5-A03A-053A-2137392E61EE}"/>
              </a:ext>
            </a:extLst>
          </p:cNvPr>
          <p:cNvSpPr/>
          <p:nvPr/>
        </p:nvSpPr>
        <p:spPr>
          <a:xfrm>
            <a:off x="7092672" y="5638800"/>
            <a:ext cx="2145744" cy="770334"/>
          </a:xfrm>
          <a:prstGeom prst="roundRect">
            <a:avLst>
              <a:gd name="adj" fmla="val 10881"/>
            </a:avLst>
          </a:prstGeom>
          <a:solidFill>
            <a:srgbClr val="FFFFFF"/>
          </a:solidFill>
          <a:ln w="9525">
            <a:solidFill>
              <a:srgbClr val="B8DDF8"/>
            </a:solidFill>
            <a:prstDash val="solid"/>
          </a:ln>
        </p:spPr>
      </p:sp>
      <p:sp>
        <p:nvSpPr>
          <p:cNvPr id="58" name="Shape 30">
            <a:extLst>
              <a:ext uri="{FF2B5EF4-FFF2-40B4-BE49-F238E27FC236}">
                <a16:creationId xmlns:a16="http://schemas.microsoft.com/office/drawing/2014/main" id="{6999C477-AED3-EB9B-80FB-6CB9B00C6450}"/>
              </a:ext>
            </a:extLst>
          </p:cNvPr>
          <p:cNvSpPr/>
          <p:nvPr/>
        </p:nvSpPr>
        <p:spPr>
          <a:xfrm>
            <a:off x="9314617" y="5638800"/>
            <a:ext cx="2145863" cy="770334"/>
          </a:xfrm>
          <a:prstGeom prst="roundRect">
            <a:avLst>
              <a:gd name="adj" fmla="val 10881"/>
            </a:avLst>
          </a:prstGeom>
          <a:solidFill>
            <a:srgbClr val="FFFFFF"/>
          </a:solidFill>
          <a:ln w="9525">
            <a:solidFill>
              <a:srgbClr val="BFE9DA"/>
            </a:solidFill>
            <a:prstDash val="solid"/>
          </a:ln>
        </p:spPr>
      </p:sp>
      <p:sp>
        <p:nvSpPr>
          <p:cNvPr id="60" name="TextBox 4">
            <a:extLst>
              <a:ext uri="{FF2B5EF4-FFF2-40B4-BE49-F238E27FC236}">
                <a16:creationId xmlns:a16="http://schemas.microsoft.com/office/drawing/2014/main" id="{8122BE1D-B0A1-09DE-705B-92F4AF4DB1DC}"/>
              </a:ext>
            </a:extLst>
          </p:cNvPr>
          <p:cNvSpPr txBox="1"/>
          <p:nvPr/>
        </p:nvSpPr>
        <p:spPr>
          <a:xfrm>
            <a:off x="982980" y="1074420"/>
            <a:ext cx="500786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05"/>
              </a:lnSpc>
            </a:pPr>
            <a:r>
              <a:rPr lang="zh-CN" sz="1560" b="1" dirty="0">
                <a:solidFill>
                  <a:srgbClr val="0F2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认证提供统一能力语言和成长入口，但不能替代岗位判断</a:t>
            </a:r>
          </a:p>
        </p:txBody>
      </p:sp>
      <p:sp>
        <p:nvSpPr>
          <p:cNvPr id="62" name="TextBox 5">
            <a:extLst>
              <a:ext uri="{FF2B5EF4-FFF2-40B4-BE49-F238E27FC236}">
                <a16:creationId xmlns:a16="http://schemas.microsoft.com/office/drawing/2014/main" id="{DEA83E87-E5F3-0926-0791-88F3B14698CB}"/>
              </a:ext>
            </a:extLst>
          </p:cNvPr>
          <p:cNvSpPr txBox="1"/>
          <p:nvPr/>
        </p:nvSpPr>
        <p:spPr>
          <a:xfrm>
            <a:off x="9015984" y="1060450"/>
            <a:ext cx="2636520" cy="149352"/>
          </a:xfrm>
          <a:prstGeom prst="rect">
            <a:avLst/>
          </a:prstGeom>
          <a:noFill/>
        </p:spPr>
        <p:txBody>
          <a:bodyPr wrap="square" lIns="144780" tIns="68580" rIns="144780" bIns="68580" anchor="t">
            <a:noAutofit/>
          </a:bodyPr>
          <a:lstStyle/>
          <a:p>
            <a:pPr>
              <a:lnSpc>
                <a:spcPts val="1620"/>
              </a:lnSpc>
            </a:pPr>
            <a:r>
              <a:rPr lang="zh-CN" sz="105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 · 实训 · 项目 · 人才档案贯通</a:t>
            </a:r>
          </a:p>
        </p:txBody>
      </p:sp>
      <p:sp>
        <p:nvSpPr>
          <p:cNvPr id="64" name="TextBox 6">
            <a:extLst>
              <a:ext uri="{FF2B5EF4-FFF2-40B4-BE49-F238E27FC236}">
                <a16:creationId xmlns:a16="http://schemas.microsoft.com/office/drawing/2014/main" id="{CBDB0DEE-BC95-3D58-F166-489FBC783F91}"/>
              </a:ext>
            </a:extLst>
          </p:cNvPr>
          <p:cNvSpPr txBox="1"/>
          <p:nvPr/>
        </p:nvSpPr>
        <p:spPr>
          <a:xfrm>
            <a:off x="1242060" y="2148840"/>
            <a:ext cx="1243584" cy="1874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4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全员能力入口</a:t>
            </a:r>
          </a:p>
        </p:txBody>
      </p:sp>
      <p:sp>
        <p:nvSpPr>
          <p:cNvPr id="66" name="TextBox 7">
            <a:extLst>
              <a:ext uri="{FF2B5EF4-FFF2-40B4-BE49-F238E27FC236}">
                <a16:creationId xmlns:a16="http://schemas.microsoft.com/office/drawing/2014/main" id="{AB832EF3-16C4-34DB-55C0-82BC256B4A9F}"/>
              </a:ext>
            </a:extLst>
          </p:cNvPr>
          <p:cNvSpPr txBox="1"/>
          <p:nvPr/>
        </p:nvSpPr>
        <p:spPr>
          <a:xfrm>
            <a:off x="1242060" y="2339340"/>
            <a:ext cx="124358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240"/>
              </a:spcBef>
            </a:pPr>
            <a:r>
              <a:rPr lang="zh-CN" sz="15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AI微认证</a:t>
            </a:r>
          </a:p>
        </p:txBody>
      </p:sp>
      <p:sp>
        <p:nvSpPr>
          <p:cNvPr id="68" name="TextBox 8">
            <a:extLst>
              <a:ext uri="{FF2B5EF4-FFF2-40B4-BE49-F238E27FC236}">
                <a16:creationId xmlns:a16="http://schemas.microsoft.com/office/drawing/2014/main" id="{4A0FE8CB-C6B7-149C-5019-3427CFAC8F9A}"/>
              </a:ext>
            </a:extLst>
          </p:cNvPr>
          <p:cNvSpPr txBox="1"/>
          <p:nvPr/>
        </p:nvSpPr>
        <p:spPr>
          <a:xfrm>
            <a:off x="762000" y="2804160"/>
            <a:ext cx="22799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</a:t>
            </a:r>
          </a:p>
        </p:txBody>
      </p:sp>
      <p:sp>
        <p:nvSpPr>
          <p:cNvPr id="70" name="TextBox 9">
            <a:extLst>
              <a:ext uri="{FF2B5EF4-FFF2-40B4-BE49-F238E27FC236}">
                <a16:creationId xmlns:a16="http://schemas.microsoft.com/office/drawing/2014/main" id="{A53375B2-EF8C-EC78-7317-8F2A0B4DA20B}"/>
              </a:ext>
            </a:extLst>
          </p:cNvPr>
          <p:cNvSpPr txBox="1"/>
          <p:nvPr/>
        </p:nvSpPr>
        <p:spPr>
          <a:xfrm>
            <a:off x="762000" y="3040380"/>
            <a:ext cx="2279904" cy="2179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240"/>
              </a:spcBef>
            </a:pPr>
            <a:r>
              <a:rPr lang="zh-CN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企业广泛员工、岗位应用人员</a:t>
            </a:r>
          </a:p>
        </p:txBody>
      </p:sp>
      <p:sp>
        <p:nvSpPr>
          <p:cNvPr id="72" name="TextBox 10">
            <a:extLst>
              <a:ext uri="{FF2B5EF4-FFF2-40B4-BE49-F238E27FC236}">
                <a16:creationId xmlns:a16="http://schemas.microsoft.com/office/drawing/2014/main" id="{C69D5CF3-892B-E53B-D75C-8A28A8D63972}"/>
              </a:ext>
            </a:extLst>
          </p:cNvPr>
          <p:cNvSpPr txBox="1"/>
          <p:nvPr/>
        </p:nvSpPr>
        <p:spPr>
          <a:xfrm>
            <a:off x="762000" y="3322320"/>
            <a:ext cx="22799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验证能力</a:t>
            </a:r>
          </a:p>
        </p:txBody>
      </p:sp>
      <p:sp>
        <p:nvSpPr>
          <p:cNvPr id="74" name="TextBox 11">
            <a:extLst>
              <a:ext uri="{FF2B5EF4-FFF2-40B4-BE49-F238E27FC236}">
                <a16:creationId xmlns:a16="http://schemas.microsoft.com/office/drawing/2014/main" id="{1EB2E5CE-6295-2AAD-1724-ACB2C83D6348}"/>
              </a:ext>
            </a:extLst>
          </p:cNvPr>
          <p:cNvSpPr txBox="1"/>
          <p:nvPr/>
        </p:nvSpPr>
        <p:spPr>
          <a:xfrm>
            <a:off x="762000" y="3558540"/>
            <a:ext cx="227990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AI基础认知 · 岗位提效 · 人机协作 · 结果核验 · 安全使用</a:t>
            </a:r>
          </a:p>
        </p:txBody>
      </p:sp>
      <p:sp>
        <p:nvSpPr>
          <p:cNvPr id="76" name="TextBox 12">
            <a:extLst>
              <a:ext uri="{FF2B5EF4-FFF2-40B4-BE49-F238E27FC236}">
                <a16:creationId xmlns:a16="http://schemas.microsoft.com/office/drawing/2014/main" id="{C65F8FA8-A6EA-B18D-A787-14990EABD93D}"/>
              </a:ext>
            </a:extLst>
          </p:cNvPr>
          <p:cNvSpPr txBox="1"/>
          <p:nvPr/>
        </p:nvSpPr>
        <p:spPr>
          <a:xfrm>
            <a:off x="876300" y="4152900"/>
            <a:ext cx="20513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主要证据</a:t>
            </a:r>
          </a:p>
        </p:txBody>
      </p:sp>
      <p:sp>
        <p:nvSpPr>
          <p:cNvPr id="78" name="TextBox 13">
            <a:extLst>
              <a:ext uri="{FF2B5EF4-FFF2-40B4-BE49-F238E27FC236}">
                <a16:creationId xmlns:a16="http://schemas.microsoft.com/office/drawing/2014/main" id="{3B0A3727-2085-8DD9-2656-E5FADDCA2E23}"/>
              </a:ext>
            </a:extLst>
          </p:cNvPr>
          <p:cNvSpPr txBox="1"/>
          <p:nvPr/>
        </p:nvSpPr>
        <p:spPr>
          <a:xfrm>
            <a:off x="876300" y="4389120"/>
            <a:ext cx="205130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岗位案例、提示模板、个人工作方法</a:t>
            </a:r>
          </a:p>
        </p:txBody>
      </p:sp>
      <p:sp>
        <p:nvSpPr>
          <p:cNvPr id="80" name="TextBox 14">
            <a:extLst>
              <a:ext uri="{FF2B5EF4-FFF2-40B4-BE49-F238E27FC236}">
                <a16:creationId xmlns:a16="http://schemas.microsoft.com/office/drawing/2014/main" id="{2ADA5F50-7DEF-970E-C30B-00A5E960B735}"/>
              </a:ext>
            </a:extLst>
          </p:cNvPr>
          <p:cNvSpPr txBox="1"/>
          <p:nvPr/>
        </p:nvSpPr>
        <p:spPr>
          <a:xfrm>
            <a:off x="4061460" y="1996440"/>
            <a:ext cx="1022604" cy="1874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4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初级工程人才</a:t>
            </a:r>
          </a:p>
        </p:txBody>
      </p:sp>
      <p:sp>
        <p:nvSpPr>
          <p:cNvPr id="82" name="TextBox 15">
            <a:extLst>
              <a:ext uri="{FF2B5EF4-FFF2-40B4-BE49-F238E27FC236}">
                <a16:creationId xmlns:a16="http://schemas.microsoft.com/office/drawing/2014/main" id="{166F3620-439F-9EDF-40C1-7B5B18B3A2D1}"/>
              </a:ext>
            </a:extLst>
          </p:cNvPr>
          <p:cNvSpPr txBox="1"/>
          <p:nvPr/>
        </p:nvSpPr>
        <p:spPr>
          <a:xfrm>
            <a:off x="4061460" y="2179320"/>
            <a:ext cx="1022604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95"/>
              </a:lnSpc>
              <a:spcBef>
                <a:spcPts val="240"/>
              </a:spcBef>
            </a:pPr>
            <a:r>
              <a:rPr lang="zh-CN" sz="156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ADEA认证</a:t>
            </a:r>
          </a:p>
        </p:txBody>
      </p:sp>
      <p:sp>
        <p:nvSpPr>
          <p:cNvPr id="84" name="TextBox 16">
            <a:extLst>
              <a:ext uri="{FF2B5EF4-FFF2-40B4-BE49-F238E27FC236}">
                <a16:creationId xmlns:a16="http://schemas.microsoft.com/office/drawing/2014/main" id="{1EEBBD4A-79A6-68B6-48BD-29E46CC7ED8B}"/>
              </a:ext>
            </a:extLst>
          </p:cNvPr>
          <p:cNvSpPr txBox="1"/>
          <p:nvPr/>
        </p:nvSpPr>
        <p:spPr>
          <a:xfrm>
            <a:off x="3581400" y="2651760"/>
            <a:ext cx="22799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</a:t>
            </a:r>
          </a:p>
        </p:txBody>
      </p:sp>
      <p:sp>
        <p:nvSpPr>
          <p:cNvPr id="86" name="TextBox 17">
            <a:extLst>
              <a:ext uri="{FF2B5EF4-FFF2-40B4-BE49-F238E27FC236}">
                <a16:creationId xmlns:a16="http://schemas.microsoft.com/office/drawing/2014/main" id="{595D12AB-2783-8A7A-1BA6-C1BB4825BA65}"/>
              </a:ext>
            </a:extLst>
          </p:cNvPr>
          <p:cNvSpPr txBox="1"/>
          <p:nvPr/>
        </p:nvSpPr>
        <p:spPr>
          <a:xfrm>
            <a:off x="3581400" y="2887980"/>
            <a:ext cx="227990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240"/>
              </a:spcBef>
            </a:pPr>
            <a:r>
              <a:rPr lang="zh-CN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初级开发、数字化人员、业务技术骨干</a:t>
            </a:r>
          </a:p>
        </p:txBody>
      </p:sp>
      <p:sp>
        <p:nvSpPr>
          <p:cNvPr id="88" name="TextBox 18">
            <a:extLst>
              <a:ext uri="{FF2B5EF4-FFF2-40B4-BE49-F238E27FC236}">
                <a16:creationId xmlns:a16="http://schemas.microsoft.com/office/drawing/2014/main" id="{84286128-437D-8C43-2B37-76C9C8A97F80}"/>
              </a:ext>
            </a:extLst>
          </p:cNvPr>
          <p:cNvSpPr txBox="1"/>
          <p:nvPr/>
        </p:nvSpPr>
        <p:spPr>
          <a:xfrm>
            <a:off x="3581400" y="3360420"/>
            <a:ext cx="22799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验证能力</a:t>
            </a:r>
          </a:p>
        </p:txBody>
      </p:sp>
      <p:sp>
        <p:nvSpPr>
          <p:cNvPr id="90" name="TextBox 19">
            <a:extLst>
              <a:ext uri="{FF2B5EF4-FFF2-40B4-BE49-F238E27FC236}">
                <a16:creationId xmlns:a16="http://schemas.microsoft.com/office/drawing/2014/main" id="{00D4CD33-572D-E860-D92A-42E598B0A9AB}"/>
              </a:ext>
            </a:extLst>
          </p:cNvPr>
          <p:cNvSpPr txBox="1"/>
          <p:nvPr/>
        </p:nvSpPr>
        <p:spPr>
          <a:xfrm>
            <a:off x="3581400" y="3596640"/>
            <a:ext cx="227990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单场景助手构建、知识与工具组合、基础调试与测试</a:t>
            </a:r>
          </a:p>
        </p:txBody>
      </p:sp>
      <p:sp>
        <p:nvSpPr>
          <p:cNvPr id="92" name="TextBox 20">
            <a:extLst>
              <a:ext uri="{FF2B5EF4-FFF2-40B4-BE49-F238E27FC236}">
                <a16:creationId xmlns:a16="http://schemas.microsoft.com/office/drawing/2014/main" id="{98A86810-E26D-8CFD-1352-8348C4730EBF}"/>
              </a:ext>
            </a:extLst>
          </p:cNvPr>
          <p:cNvSpPr txBox="1"/>
          <p:nvPr/>
        </p:nvSpPr>
        <p:spPr>
          <a:xfrm>
            <a:off x="3695700" y="4183380"/>
            <a:ext cx="20513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主要证据</a:t>
            </a:r>
          </a:p>
        </p:txBody>
      </p:sp>
      <p:sp>
        <p:nvSpPr>
          <p:cNvPr id="94" name="TextBox 21">
            <a:extLst>
              <a:ext uri="{FF2B5EF4-FFF2-40B4-BE49-F238E27FC236}">
                <a16:creationId xmlns:a16="http://schemas.microsoft.com/office/drawing/2014/main" id="{F70273AC-F242-C72C-8542-620980C441C3}"/>
              </a:ext>
            </a:extLst>
          </p:cNvPr>
          <p:cNvSpPr txBox="1"/>
          <p:nvPr/>
        </p:nvSpPr>
        <p:spPr>
          <a:xfrm>
            <a:off x="3695700" y="4419600"/>
            <a:ext cx="205130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可运行助手、场景说明、测试记录、安全边界</a:t>
            </a:r>
          </a:p>
        </p:txBody>
      </p:sp>
      <p:sp>
        <p:nvSpPr>
          <p:cNvPr id="96" name="TextBox 22">
            <a:extLst>
              <a:ext uri="{FF2B5EF4-FFF2-40B4-BE49-F238E27FC236}">
                <a16:creationId xmlns:a16="http://schemas.microsoft.com/office/drawing/2014/main" id="{581C3EAC-BA16-E246-0CD3-D8D4B8C71391}"/>
              </a:ext>
            </a:extLst>
          </p:cNvPr>
          <p:cNvSpPr txBox="1"/>
          <p:nvPr/>
        </p:nvSpPr>
        <p:spPr>
          <a:xfrm>
            <a:off x="6873240" y="1844040"/>
            <a:ext cx="999744" cy="1874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40"/>
              </a:lnSpc>
            </a:pPr>
            <a:r>
              <a:rPr lang="zh-CN" sz="108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中级交付人才</a:t>
            </a:r>
          </a:p>
        </p:txBody>
      </p:sp>
      <p:sp>
        <p:nvSpPr>
          <p:cNvPr id="98" name="TextBox 23">
            <a:extLst>
              <a:ext uri="{FF2B5EF4-FFF2-40B4-BE49-F238E27FC236}">
                <a16:creationId xmlns:a16="http://schemas.microsoft.com/office/drawing/2014/main" id="{730B3329-1BA8-7D3D-4C70-1A34F150A189}"/>
              </a:ext>
            </a:extLst>
          </p:cNvPr>
          <p:cNvSpPr txBox="1"/>
          <p:nvPr/>
        </p:nvSpPr>
        <p:spPr>
          <a:xfrm>
            <a:off x="6873240" y="2026920"/>
            <a:ext cx="999744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95"/>
              </a:lnSpc>
              <a:spcBef>
                <a:spcPts val="240"/>
              </a:spcBef>
            </a:pPr>
            <a:r>
              <a:rPr lang="zh-CN" sz="156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ADEP认证</a:t>
            </a:r>
          </a:p>
        </p:txBody>
      </p:sp>
      <p:sp>
        <p:nvSpPr>
          <p:cNvPr id="100" name="TextBox 24">
            <a:extLst>
              <a:ext uri="{FF2B5EF4-FFF2-40B4-BE49-F238E27FC236}">
                <a16:creationId xmlns:a16="http://schemas.microsoft.com/office/drawing/2014/main" id="{448DFDAF-3E23-2F65-2A67-F2A2A79C27A5}"/>
              </a:ext>
            </a:extLst>
          </p:cNvPr>
          <p:cNvSpPr txBox="1"/>
          <p:nvPr/>
        </p:nvSpPr>
        <p:spPr>
          <a:xfrm>
            <a:off x="6393180" y="2499360"/>
            <a:ext cx="22799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</a:t>
            </a:r>
          </a:p>
        </p:txBody>
      </p:sp>
      <p:sp>
        <p:nvSpPr>
          <p:cNvPr id="102" name="TextBox 25">
            <a:extLst>
              <a:ext uri="{FF2B5EF4-FFF2-40B4-BE49-F238E27FC236}">
                <a16:creationId xmlns:a16="http://schemas.microsoft.com/office/drawing/2014/main" id="{9A1206F4-727B-CAC0-E58D-31BB3F67EC00}"/>
              </a:ext>
            </a:extLst>
          </p:cNvPr>
          <p:cNvSpPr txBox="1"/>
          <p:nvPr/>
        </p:nvSpPr>
        <p:spPr>
          <a:xfrm>
            <a:off x="6393180" y="2735580"/>
            <a:ext cx="227990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240"/>
              </a:spcBef>
            </a:pPr>
            <a:r>
              <a:rPr lang="zh-CN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开发、系统集成、交付与项目技术骨干</a:t>
            </a:r>
          </a:p>
        </p:txBody>
      </p:sp>
      <p:sp>
        <p:nvSpPr>
          <p:cNvPr id="104" name="TextBox 26">
            <a:extLst>
              <a:ext uri="{FF2B5EF4-FFF2-40B4-BE49-F238E27FC236}">
                <a16:creationId xmlns:a16="http://schemas.microsoft.com/office/drawing/2014/main" id="{F138C763-6B4A-E3DB-5AA6-A41FE0EE69B8}"/>
              </a:ext>
            </a:extLst>
          </p:cNvPr>
          <p:cNvSpPr txBox="1"/>
          <p:nvPr/>
        </p:nvSpPr>
        <p:spPr>
          <a:xfrm>
            <a:off x="6393180" y="3208020"/>
            <a:ext cx="22799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验证能力</a:t>
            </a:r>
          </a:p>
        </p:txBody>
      </p:sp>
      <p:sp>
        <p:nvSpPr>
          <p:cNvPr id="106" name="TextBox 27">
            <a:extLst>
              <a:ext uri="{FF2B5EF4-FFF2-40B4-BE49-F238E27FC236}">
                <a16:creationId xmlns:a16="http://schemas.microsoft.com/office/drawing/2014/main" id="{9E510329-FDEF-0622-E5D7-28C2E622CFCA}"/>
              </a:ext>
            </a:extLst>
          </p:cNvPr>
          <p:cNvSpPr txBox="1"/>
          <p:nvPr/>
        </p:nvSpPr>
        <p:spPr>
          <a:xfrm>
            <a:off x="6393180" y="3444240"/>
            <a:ext cx="227990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复杂应用集成、评测优化、稳定运行、工程交付与运维准备</a:t>
            </a:r>
          </a:p>
        </p:txBody>
      </p:sp>
      <p:sp>
        <p:nvSpPr>
          <p:cNvPr id="108" name="TextBox 28">
            <a:extLst>
              <a:ext uri="{FF2B5EF4-FFF2-40B4-BE49-F238E27FC236}">
                <a16:creationId xmlns:a16="http://schemas.microsoft.com/office/drawing/2014/main" id="{C4D36CD1-0B3E-1E1B-1162-85573CE3E9CE}"/>
              </a:ext>
            </a:extLst>
          </p:cNvPr>
          <p:cNvSpPr txBox="1"/>
          <p:nvPr/>
        </p:nvSpPr>
        <p:spPr>
          <a:xfrm>
            <a:off x="6507480" y="4152900"/>
            <a:ext cx="20513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主要证据</a:t>
            </a:r>
          </a:p>
        </p:txBody>
      </p:sp>
      <p:sp>
        <p:nvSpPr>
          <p:cNvPr id="110" name="TextBox 29">
            <a:extLst>
              <a:ext uri="{FF2B5EF4-FFF2-40B4-BE49-F238E27FC236}">
                <a16:creationId xmlns:a16="http://schemas.microsoft.com/office/drawing/2014/main" id="{1A890274-EA24-5C27-7C9B-A5366BF9D771}"/>
              </a:ext>
            </a:extLst>
          </p:cNvPr>
          <p:cNvSpPr txBox="1"/>
          <p:nvPr/>
        </p:nvSpPr>
        <p:spPr>
          <a:xfrm>
            <a:off x="6507480" y="4389120"/>
            <a:ext cx="205130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复杂应用、测试集、评测报告、部署与交付材料</a:t>
            </a:r>
          </a:p>
        </p:txBody>
      </p:sp>
      <p:sp>
        <p:nvSpPr>
          <p:cNvPr id="112" name="TextBox 30">
            <a:extLst>
              <a:ext uri="{FF2B5EF4-FFF2-40B4-BE49-F238E27FC236}">
                <a16:creationId xmlns:a16="http://schemas.microsoft.com/office/drawing/2014/main" id="{79454DE7-9FBD-8427-5AD3-BF4080E34C65}"/>
              </a:ext>
            </a:extLst>
          </p:cNvPr>
          <p:cNvSpPr txBox="1"/>
          <p:nvPr/>
        </p:nvSpPr>
        <p:spPr>
          <a:xfrm>
            <a:off x="9692640" y="1676400"/>
            <a:ext cx="984504" cy="1874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4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高级架构人才</a:t>
            </a:r>
          </a:p>
        </p:txBody>
      </p:sp>
      <p:sp>
        <p:nvSpPr>
          <p:cNvPr id="114" name="TextBox 31">
            <a:extLst>
              <a:ext uri="{FF2B5EF4-FFF2-40B4-BE49-F238E27FC236}">
                <a16:creationId xmlns:a16="http://schemas.microsoft.com/office/drawing/2014/main" id="{002ABC3C-51B2-3183-760A-BD9B2EAEBDC7}"/>
              </a:ext>
            </a:extLst>
          </p:cNvPr>
          <p:cNvSpPr txBox="1"/>
          <p:nvPr/>
        </p:nvSpPr>
        <p:spPr>
          <a:xfrm>
            <a:off x="9692640" y="1859280"/>
            <a:ext cx="984504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95"/>
              </a:lnSpc>
              <a:spcBef>
                <a:spcPts val="240"/>
              </a:spcBef>
            </a:pPr>
            <a:r>
              <a:rPr lang="zh-CN" sz="1560" b="1" dirty="0">
                <a:solidFill>
                  <a:srgbClr val="075A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ADEE认证</a:t>
            </a:r>
          </a:p>
        </p:txBody>
      </p:sp>
      <p:sp>
        <p:nvSpPr>
          <p:cNvPr id="116" name="TextBox 32">
            <a:extLst>
              <a:ext uri="{FF2B5EF4-FFF2-40B4-BE49-F238E27FC236}">
                <a16:creationId xmlns:a16="http://schemas.microsoft.com/office/drawing/2014/main" id="{E1CB31F6-FF9B-C1A6-3EAD-67D107782B23}"/>
              </a:ext>
            </a:extLst>
          </p:cNvPr>
          <p:cNvSpPr txBox="1"/>
          <p:nvPr/>
        </p:nvSpPr>
        <p:spPr>
          <a:xfrm>
            <a:off x="9212580" y="2331720"/>
            <a:ext cx="22799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</a:t>
            </a:r>
          </a:p>
        </p:txBody>
      </p:sp>
      <p:sp>
        <p:nvSpPr>
          <p:cNvPr id="118" name="TextBox 33">
            <a:extLst>
              <a:ext uri="{FF2B5EF4-FFF2-40B4-BE49-F238E27FC236}">
                <a16:creationId xmlns:a16="http://schemas.microsoft.com/office/drawing/2014/main" id="{20687AB1-BB13-20FD-DED7-D2EC8E4C3904}"/>
              </a:ext>
            </a:extLst>
          </p:cNvPr>
          <p:cNvSpPr txBox="1"/>
          <p:nvPr/>
        </p:nvSpPr>
        <p:spPr>
          <a:xfrm>
            <a:off x="9212580" y="2567940"/>
            <a:ext cx="227990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240"/>
              </a:spcBef>
            </a:pPr>
            <a:r>
              <a:rPr lang="zh-CN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架构师、技术负责人、AI平台主管与项目负责人</a:t>
            </a:r>
          </a:p>
        </p:txBody>
      </p:sp>
      <p:sp>
        <p:nvSpPr>
          <p:cNvPr id="120" name="TextBox 34">
            <a:extLst>
              <a:ext uri="{FF2B5EF4-FFF2-40B4-BE49-F238E27FC236}">
                <a16:creationId xmlns:a16="http://schemas.microsoft.com/office/drawing/2014/main" id="{0BB9486C-4384-4A21-5E6C-4A886A4EA103}"/>
              </a:ext>
            </a:extLst>
          </p:cNvPr>
          <p:cNvSpPr txBox="1"/>
          <p:nvPr/>
        </p:nvSpPr>
        <p:spPr>
          <a:xfrm>
            <a:off x="9212580" y="3040380"/>
            <a:ext cx="22799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验证能力</a:t>
            </a:r>
          </a:p>
        </p:txBody>
      </p:sp>
      <p:sp>
        <p:nvSpPr>
          <p:cNvPr id="122" name="TextBox 35">
            <a:extLst>
              <a:ext uri="{FF2B5EF4-FFF2-40B4-BE49-F238E27FC236}">
                <a16:creationId xmlns:a16="http://schemas.microsoft.com/office/drawing/2014/main" id="{9C19B5B3-F46F-B0AE-EDA4-6CD4E3B59CAD}"/>
              </a:ext>
            </a:extLst>
          </p:cNvPr>
          <p:cNvSpPr txBox="1"/>
          <p:nvPr/>
        </p:nvSpPr>
        <p:spPr>
          <a:xfrm>
            <a:off x="9212580" y="3276600"/>
            <a:ext cx="227990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企业总体架构、治理机制、成本风险控制与规模化运营</a:t>
            </a:r>
          </a:p>
        </p:txBody>
      </p:sp>
      <p:sp>
        <p:nvSpPr>
          <p:cNvPr id="124" name="TextBox 36">
            <a:extLst>
              <a:ext uri="{FF2B5EF4-FFF2-40B4-BE49-F238E27FC236}">
                <a16:creationId xmlns:a16="http://schemas.microsoft.com/office/drawing/2014/main" id="{586B34F6-F2BB-BEDB-3B67-A805BA3257A4}"/>
              </a:ext>
            </a:extLst>
          </p:cNvPr>
          <p:cNvSpPr txBox="1"/>
          <p:nvPr/>
        </p:nvSpPr>
        <p:spPr>
          <a:xfrm>
            <a:off x="9326880" y="4152900"/>
            <a:ext cx="20513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主要证据</a:t>
            </a:r>
          </a:p>
        </p:txBody>
      </p:sp>
      <p:sp>
        <p:nvSpPr>
          <p:cNvPr id="126" name="TextBox 37">
            <a:extLst>
              <a:ext uri="{FF2B5EF4-FFF2-40B4-BE49-F238E27FC236}">
                <a16:creationId xmlns:a16="http://schemas.microsoft.com/office/drawing/2014/main" id="{7AB63B2F-AA4B-5F52-F287-97210F5011D3}"/>
              </a:ext>
            </a:extLst>
          </p:cNvPr>
          <p:cNvSpPr txBox="1"/>
          <p:nvPr/>
        </p:nvSpPr>
        <p:spPr>
          <a:xfrm>
            <a:off x="9326880" y="4389120"/>
            <a:ext cx="205130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总体架构、治理规范、资源策略、分阶段实施路线</a:t>
            </a:r>
          </a:p>
        </p:txBody>
      </p:sp>
      <p:sp>
        <p:nvSpPr>
          <p:cNvPr id="128" name="TextBox 38">
            <a:extLst>
              <a:ext uri="{FF2B5EF4-FFF2-40B4-BE49-F238E27FC236}">
                <a16:creationId xmlns:a16="http://schemas.microsoft.com/office/drawing/2014/main" id="{7BCECA65-B20F-2E1F-7AFE-91CAFBCAB141}"/>
              </a:ext>
            </a:extLst>
          </p:cNvPr>
          <p:cNvSpPr txBox="1"/>
          <p:nvPr/>
        </p:nvSpPr>
        <p:spPr>
          <a:xfrm>
            <a:off x="769620" y="5212080"/>
            <a:ext cx="357530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980"/>
              </a:lnSpc>
            </a:pPr>
            <a:r>
              <a:rPr lang="zh-CN" sz="13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企业应用边界｜认证结果应与真实贡献组合使用</a:t>
            </a:r>
          </a:p>
        </p:txBody>
      </p:sp>
      <p:sp>
        <p:nvSpPr>
          <p:cNvPr id="130" name="TextBox 39">
            <a:extLst>
              <a:ext uri="{FF2B5EF4-FFF2-40B4-BE49-F238E27FC236}">
                <a16:creationId xmlns:a16="http://schemas.microsoft.com/office/drawing/2014/main" id="{BDA5F939-878D-519D-BA26-ED0C6EFC806F}"/>
              </a:ext>
            </a:extLst>
          </p:cNvPr>
          <p:cNvSpPr txBox="1"/>
          <p:nvPr/>
        </p:nvSpPr>
        <p:spPr>
          <a:xfrm>
            <a:off x="822960" y="5707380"/>
            <a:ext cx="13045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培养推荐</a:t>
            </a:r>
          </a:p>
        </p:txBody>
      </p:sp>
      <p:sp>
        <p:nvSpPr>
          <p:cNvPr id="132" name="TextBox 40">
            <a:extLst>
              <a:ext uri="{FF2B5EF4-FFF2-40B4-BE49-F238E27FC236}">
                <a16:creationId xmlns:a16="http://schemas.microsoft.com/office/drawing/2014/main" id="{FDF473F6-1CDB-D6CD-DE36-F836D82AEF5B}"/>
              </a:ext>
            </a:extLst>
          </p:cNvPr>
          <p:cNvSpPr txBox="1"/>
          <p:nvPr/>
        </p:nvSpPr>
        <p:spPr>
          <a:xfrm>
            <a:off x="822960" y="5943600"/>
            <a:ext cx="13045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识别能力差距与下一学习路径</a:t>
            </a:r>
          </a:p>
        </p:txBody>
      </p:sp>
      <p:sp>
        <p:nvSpPr>
          <p:cNvPr id="134" name="TextBox 41">
            <a:extLst>
              <a:ext uri="{FF2B5EF4-FFF2-40B4-BE49-F238E27FC236}">
                <a16:creationId xmlns:a16="http://schemas.microsoft.com/office/drawing/2014/main" id="{039A27A6-FEBA-9844-A50C-C56CB2553940}"/>
              </a:ext>
            </a:extLst>
          </p:cNvPr>
          <p:cNvSpPr txBox="1"/>
          <p:nvPr/>
        </p:nvSpPr>
        <p:spPr>
          <a:xfrm>
            <a:off x="2346960" y="5707380"/>
            <a:ext cx="13045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角色匹配</a:t>
            </a:r>
          </a:p>
        </p:txBody>
      </p:sp>
      <p:sp>
        <p:nvSpPr>
          <p:cNvPr id="136" name="TextBox 42">
            <a:extLst>
              <a:ext uri="{FF2B5EF4-FFF2-40B4-BE49-F238E27FC236}">
                <a16:creationId xmlns:a16="http://schemas.microsoft.com/office/drawing/2014/main" id="{81553BF3-28EA-76C7-0434-6C9992E876B5}"/>
              </a:ext>
            </a:extLst>
          </p:cNvPr>
          <p:cNvSpPr txBox="1"/>
          <p:nvPr/>
        </p:nvSpPr>
        <p:spPr>
          <a:xfrm>
            <a:off x="2346960" y="5943600"/>
            <a:ext cx="13045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结合项目经历配置团队角色</a:t>
            </a:r>
          </a:p>
        </p:txBody>
      </p:sp>
      <p:sp>
        <p:nvSpPr>
          <p:cNvPr id="138" name="TextBox 43">
            <a:extLst>
              <a:ext uri="{FF2B5EF4-FFF2-40B4-BE49-F238E27FC236}">
                <a16:creationId xmlns:a16="http://schemas.microsoft.com/office/drawing/2014/main" id="{FBF97BC2-BC5C-6F1B-8110-99FDE112B3B4}"/>
              </a:ext>
            </a:extLst>
          </p:cNvPr>
          <p:cNvSpPr txBox="1"/>
          <p:nvPr/>
        </p:nvSpPr>
        <p:spPr>
          <a:xfrm>
            <a:off x="3863340" y="5707380"/>
            <a:ext cx="13045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人才盘点</a:t>
            </a:r>
          </a:p>
        </p:txBody>
      </p:sp>
      <p:sp>
        <p:nvSpPr>
          <p:cNvPr id="140" name="TextBox 44">
            <a:extLst>
              <a:ext uri="{FF2B5EF4-FFF2-40B4-BE49-F238E27FC236}">
                <a16:creationId xmlns:a16="http://schemas.microsoft.com/office/drawing/2014/main" id="{A13ED37E-3816-8665-722D-63462A5B37FF}"/>
              </a:ext>
            </a:extLst>
          </p:cNvPr>
          <p:cNvSpPr txBox="1"/>
          <p:nvPr/>
        </p:nvSpPr>
        <p:spPr>
          <a:xfrm>
            <a:off x="3863340" y="5943600"/>
            <a:ext cx="13045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与作品、业务反馈共同评价</a:t>
            </a:r>
          </a:p>
        </p:txBody>
      </p:sp>
      <p:sp>
        <p:nvSpPr>
          <p:cNvPr id="142" name="TextBox 45">
            <a:extLst>
              <a:ext uri="{FF2B5EF4-FFF2-40B4-BE49-F238E27FC236}">
                <a16:creationId xmlns:a16="http://schemas.microsoft.com/office/drawing/2014/main" id="{99AFEF0A-DED2-0E52-445E-9960C2B24AFE}"/>
              </a:ext>
            </a:extLst>
          </p:cNvPr>
          <p:cNvSpPr txBox="1"/>
          <p:nvPr/>
        </p:nvSpPr>
        <p:spPr>
          <a:xfrm>
            <a:off x="5387340" y="5707380"/>
            <a:ext cx="13045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进阶发展</a:t>
            </a:r>
          </a:p>
        </p:txBody>
      </p:sp>
      <p:sp>
        <p:nvSpPr>
          <p:cNvPr id="144" name="TextBox 46">
            <a:extLst>
              <a:ext uri="{FF2B5EF4-FFF2-40B4-BE49-F238E27FC236}">
                <a16:creationId xmlns:a16="http://schemas.microsoft.com/office/drawing/2014/main" id="{2D1C1675-6A98-6C53-EDEB-6370CE6498EA}"/>
              </a:ext>
            </a:extLst>
          </p:cNvPr>
          <p:cNvSpPr txBox="1"/>
          <p:nvPr/>
        </p:nvSpPr>
        <p:spPr>
          <a:xfrm>
            <a:off x="5387340" y="5943600"/>
            <a:ext cx="13045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持续贡献更新动态人才档案</a:t>
            </a:r>
          </a:p>
        </p:txBody>
      </p:sp>
      <p:sp>
        <p:nvSpPr>
          <p:cNvPr id="146" name="TextBox 47">
            <a:extLst>
              <a:ext uri="{FF2B5EF4-FFF2-40B4-BE49-F238E27FC236}">
                <a16:creationId xmlns:a16="http://schemas.microsoft.com/office/drawing/2014/main" id="{54C50A0F-E331-434A-ECBA-C0F49572BD59}"/>
              </a:ext>
            </a:extLst>
          </p:cNvPr>
          <p:cNvSpPr txBox="1"/>
          <p:nvPr/>
        </p:nvSpPr>
        <p:spPr>
          <a:xfrm>
            <a:off x="7139940" y="5219700"/>
            <a:ext cx="240182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980"/>
              </a:lnSpc>
            </a:pPr>
            <a:r>
              <a:rPr lang="zh-CN" sz="13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双向入口｜让认证真正牵引成长</a:t>
            </a:r>
          </a:p>
        </p:txBody>
      </p:sp>
      <p:sp>
        <p:nvSpPr>
          <p:cNvPr id="148" name="TextBox 48">
            <a:extLst>
              <a:ext uri="{FF2B5EF4-FFF2-40B4-BE49-F238E27FC236}">
                <a16:creationId xmlns:a16="http://schemas.microsoft.com/office/drawing/2014/main" id="{8E05654D-3C59-204A-454E-66D553F2785F}"/>
              </a:ext>
            </a:extLst>
          </p:cNvPr>
          <p:cNvSpPr txBox="1"/>
          <p:nvPr/>
        </p:nvSpPr>
        <p:spPr>
          <a:xfrm>
            <a:off x="7200900" y="5715000"/>
            <a:ext cx="199034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等同能力入口</a:t>
            </a:r>
          </a:p>
        </p:txBody>
      </p:sp>
      <p:sp>
        <p:nvSpPr>
          <p:cNvPr id="150" name="TextBox 49">
            <a:extLst>
              <a:ext uri="{FF2B5EF4-FFF2-40B4-BE49-F238E27FC236}">
                <a16:creationId xmlns:a16="http://schemas.microsoft.com/office/drawing/2014/main" id="{3AD51403-0FDC-93AD-464D-D577AB31B80C}"/>
              </a:ext>
            </a:extLst>
          </p:cNvPr>
          <p:cNvSpPr txBox="1"/>
          <p:nvPr/>
        </p:nvSpPr>
        <p:spPr>
          <a:xfrm>
            <a:off x="7200900" y="5966460"/>
            <a:ext cx="19903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已有经验者经能力摸底与作品审核，进入合适等级</a:t>
            </a:r>
          </a:p>
        </p:txBody>
      </p:sp>
      <p:sp>
        <p:nvSpPr>
          <p:cNvPr id="152" name="TextBox 50">
            <a:extLst>
              <a:ext uri="{FF2B5EF4-FFF2-40B4-BE49-F238E27FC236}">
                <a16:creationId xmlns:a16="http://schemas.microsoft.com/office/drawing/2014/main" id="{EF3B568B-E39F-09AB-2471-E0F088F8F4B5}"/>
              </a:ext>
            </a:extLst>
          </p:cNvPr>
          <p:cNvSpPr txBox="1"/>
          <p:nvPr/>
        </p:nvSpPr>
        <p:spPr>
          <a:xfrm>
            <a:off x="9418320" y="5715000"/>
            <a:ext cx="199034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未通过补训</a:t>
            </a:r>
          </a:p>
        </p:txBody>
      </p:sp>
      <p:sp>
        <p:nvSpPr>
          <p:cNvPr id="154" name="TextBox 51">
            <a:extLst>
              <a:ext uri="{FF2B5EF4-FFF2-40B4-BE49-F238E27FC236}">
                <a16:creationId xmlns:a16="http://schemas.microsoft.com/office/drawing/2014/main" id="{11388928-37F6-2B81-5863-7C895CEB572E}"/>
              </a:ext>
            </a:extLst>
          </p:cNvPr>
          <p:cNvSpPr txBox="1"/>
          <p:nvPr/>
        </p:nvSpPr>
        <p:spPr>
          <a:xfrm>
            <a:off x="9418320" y="5966460"/>
            <a:ext cx="199034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依据评价维度给出补训建议，再次提交能力证据</a:t>
            </a:r>
          </a:p>
        </p:txBody>
      </p:sp>
      <p:sp>
        <p:nvSpPr>
          <p:cNvPr id="156" name="TextBox 52">
            <a:extLst>
              <a:ext uri="{FF2B5EF4-FFF2-40B4-BE49-F238E27FC236}">
                <a16:creationId xmlns:a16="http://schemas.microsoft.com/office/drawing/2014/main" id="{B609CCE1-B22F-90A2-3CA2-88B49D4EBD2E}"/>
              </a:ext>
            </a:extLst>
          </p:cNvPr>
          <p:cNvSpPr txBox="1"/>
          <p:nvPr/>
        </p:nvSpPr>
        <p:spPr>
          <a:xfrm>
            <a:off x="839629" y="2232660"/>
            <a:ext cx="280487" cy="2636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160"/>
              </a:lnSpc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58" name="TextBox 53">
            <a:extLst>
              <a:ext uri="{FF2B5EF4-FFF2-40B4-BE49-F238E27FC236}">
                <a16:creationId xmlns:a16="http://schemas.microsoft.com/office/drawing/2014/main" id="{F78B6DAD-6566-0D73-FF4D-4B7891942618}"/>
              </a:ext>
            </a:extLst>
          </p:cNvPr>
          <p:cNvSpPr txBox="1"/>
          <p:nvPr/>
        </p:nvSpPr>
        <p:spPr>
          <a:xfrm>
            <a:off x="3162300" y="3358515"/>
            <a:ext cx="291084" cy="3398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790"/>
              </a:lnSpc>
            </a:pPr>
            <a:r>
              <a:rPr lang="en-US" sz="186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160" name="TextBox 54">
            <a:extLst>
              <a:ext uri="{FF2B5EF4-FFF2-40B4-BE49-F238E27FC236}">
                <a16:creationId xmlns:a16="http://schemas.microsoft.com/office/drawing/2014/main" id="{337A8AA7-6D36-3E25-008F-4CFD41652EDB}"/>
              </a:ext>
            </a:extLst>
          </p:cNvPr>
          <p:cNvSpPr txBox="1"/>
          <p:nvPr/>
        </p:nvSpPr>
        <p:spPr>
          <a:xfrm>
            <a:off x="3655219" y="2080260"/>
            <a:ext cx="280487" cy="2636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160"/>
              </a:lnSpc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62" name="TextBox 55">
            <a:extLst>
              <a:ext uri="{FF2B5EF4-FFF2-40B4-BE49-F238E27FC236}">
                <a16:creationId xmlns:a16="http://schemas.microsoft.com/office/drawing/2014/main" id="{83E98D52-085E-F9EA-1302-D08F5E70D87D}"/>
              </a:ext>
            </a:extLst>
          </p:cNvPr>
          <p:cNvSpPr txBox="1"/>
          <p:nvPr/>
        </p:nvSpPr>
        <p:spPr>
          <a:xfrm>
            <a:off x="5977890" y="3282315"/>
            <a:ext cx="291084" cy="3398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790"/>
              </a:lnSpc>
            </a:pPr>
            <a:r>
              <a:rPr lang="en-US" sz="1860" b="1" dirty="0">
                <a:solidFill>
                  <a:srgbClr val="00A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164" name="TextBox 56">
            <a:extLst>
              <a:ext uri="{FF2B5EF4-FFF2-40B4-BE49-F238E27FC236}">
                <a16:creationId xmlns:a16="http://schemas.microsoft.com/office/drawing/2014/main" id="{2D9AF855-FA11-B557-FD7A-152AE54A5020}"/>
              </a:ext>
            </a:extLst>
          </p:cNvPr>
          <p:cNvSpPr txBox="1"/>
          <p:nvPr/>
        </p:nvSpPr>
        <p:spPr>
          <a:xfrm>
            <a:off x="6470809" y="1927860"/>
            <a:ext cx="280487" cy="2636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160"/>
              </a:lnSpc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66" name="TextBox 57">
            <a:extLst>
              <a:ext uri="{FF2B5EF4-FFF2-40B4-BE49-F238E27FC236}">
                <a16:creationId xmlns:a16="http://schemas.microsoft.com/office/drawing/2014/main" id="{367A7352-D100-D45D-D0DB-B673A4DF042E}"/>
              </a:ext>
            </a:extLst>
          </p:cNvPr>
          <p:cNvSpPr txBox="1"/>
          <p:nvPr/>
        </p:nvSpPr>
        <p:spPr>
          <a:xfrm>
            <a:off x="8793480" y="3206115"/>
            <a:ext cx="291084" cy="3398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790"/>
              </a:lnSpc>
            </a:pPr>
            <a:r>
              <a:rPr lang="en-US" sz="186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168" name="TextBox 58">
            <a:extLst>
              <a:ext uri="{FF2B5EF4-FFF2-40B4-BE49-F238E27FC236}">
                <a16:creationId xmlns:a16="http://schemas.microsoft.com/office/drawing/2014/main" id="{D36E1CFA-6937-B232-53EE-FABF5C9DF6DB}"/>
              </a:ext>
            </a:extLst>
          </p:cNvPr>
          <p:cNvSpPr txBox="1"/>
          <p:nvPr/>
        </p:nvSpPr>
        <p:spPr>
          <a:xfrm>
            <a:off x="9286399" y="1760220"/>
            <a:ext cx="280487" cy="2636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160"/>
              </a:lnSpc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170" name="TextBox 59">
            <a:extLst>
              <a:ext uri="{FF2B5EF4-FFF2-40B4-BE49-F238E27FC236}">
                <a16:creationId xmlns:a16="http://schemas.microsoft.com/office/drawing/2014/main" id="{80E334B3-C568-3EAB-BADF-F88232718F77}"/>
              </a:ext>
            </a:extLst>
          </p:cNvPr>
          <p:cNvSpPr txBox="1"/>
          <p:nvPr/>
        </p:nvSpPr>
        <p:spPr>
          <a:xfrm>
            <a:off x="5042892" y="5238750"/>
            <a:ext cx="202082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不能直接等同岗位任职资格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5190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C0F79-A2B3-C9BA-F5E2-BA85F0708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5E195-5A4D-493A-C5F4-8754DE27C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en-US" altLang="zh-CN" dirty="0"/>
              <a:t>“</a:t>
            </a:r>
            <a:r>
              <a:rPr lang="zh-CN" altLang="en-US" dirty="0"/>
              <a:t>一考双证</a:t>
            </a:r>
            <a:r>
              <a:rPr lang="en-US" altLang="zh-CN" dirty="0"/>
              <a:t>”</a:t>
            </a:r>
            <a:r>
              <a:rPr lang="zh-CN" altLang="en-US" dirty="0"/>
              <a:t>与认证质量保障机制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CA53B56-B852-5385-BC6D-AA85146ABFA5}"/>
              </a:ext>
            </a:extLst>
          </p:cNvPr>
          <p:cNvSpPr/>
          <p:nvPr/>
        </p:nvSpPr>
        <p:spPr>
          <a:xfrm>
            <a:off x="670560" y="1143000"/>
            <a:ext cx="10850880" cy="533400"/>
          </a:xfrm>
          <a:prstGeom prst="roundRect">
            <a:avLst>
              <a:gd name="adj" fmla="val 22857"/>
            </a:avLst>
          </a:prstGeom>
          <a:solidFill>
            <a:srgbClr val="ECF7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FE2F9B0C-171F-3DCC-140B-D3E2CBB90CA3}"/>
              </a:ext>
            </a:extLst>
          </p:cNvPr>
          <p:cNvSpPr/>
          <p:nvPr/>
        </p:nvSpPr>
        <p:spPr>
          <a:xfrm>
            <a:off x="670560" y="1813560"/>
            <a:ext cx="1085088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D38F605-BA1F-7277-9AB3-B17F8A292AB0}"/>
              </a:ext>
            </a:extLst>
          </p:cNvPr>
          <p:cNvSpPr/>
          <p:nvPr/>
        </p:nvSpPr>
        <p:spPr>
          <a:xfrm>
            <a:off x="815340" y="1927860"/>
            <a:ext cx="2176462" cy="876300"/>
          </a:xfrm>
          <a:prstGeom prst="roundRect">
            <a:avLst>
              <a:gd name="adj" fmla="val 12174"/>
            </a:avLst>
          </a:prstGeom>
          <a:solidFill>
            <a:srgbClr val="F7FB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FB008CC-625F-581C-E494-E72C2937C023}"/>
              </a:ext>
            </a:extLst>
          </p:cNvPr>
          <p:cNvSpPr/>
          <p:nvPr/>
        </p:nvSpPr>
        <p:spPr>
          <a:xfrm>
            <a:off x="937260" y="2198370"/>
            <a:ext cx="335280" cy="335280"/>
          </a:xfrm>
          <a:prstGeom prst="roundRect">
            <a:avLst>
              <a:gd name="adj" fmla="val 27273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2844E6C1-EA62-D111-8587-4E5E7A8F0283}"/>
              </a:ext>
            </a:extLst>
          </p:cNvPr>
          <p:cNvSpPr/>
          <p:nvPr/>
        </p:nvSpPr>
        <p:spPr>
          <a:xfrm>
            <a:off x="5862876" y="1927860"/>
            <a:ext cx="2176582" cy="876300"/>
          </a:xfrm>
          <a:prstGeom prst="roundRect">
            <a:avLst>
              <a:gd name="adj" fmla="val 12174"/>
            </a:avLst>
          </a:prstGeom>
          <a:solidFill>
            <a:srgbClr val="F2FFFC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BDD24B12-550B-72E5-748D-F46A6B024CD7}"/>
              </a:ext>
            </a:extLst>
          </p:cNvPr>
          <p:cNvSpPr/>
          <p:nvPr/>
        </p:nvSpPr>
        <p:spPr>
          <a:xfrm>
            <a:off x="5984796" y="2198370"/>
            <a:ext cx="335280" cy="335280"/>
          </a:xfrm>
          <a:prstGeom prst="roundRect">
            <a:avLst>
              <a:gd name="adj" fmla="val 27273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62801E91-87C1-3ACF-6987-E00D5CF3B0CC}"/>
              </a:ext>
            </a:extLst>
          </p:cNvPr>
          <p:cNvSpPr/>
          <p:nvPr/>
        </p:nvSpPr>
        <p:spPr>
          <a:xfrm>
            <a:off x="8123277" y="1927860"/>
            <a:ext cx="1043702" cy="876300"/>
          </a:xfrm>
          <a:prstGeom prst="roundRect">
            <a:avLst>
              <a:gd name="adj" fmla="val 10435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D6F1DF54-8DB6-D3A5-372C-5BFDC5169834}"/>
              </a:ext>
            </a:extLst>
          </p:cNvPr>
          <p:cNvSpPr/>
          <p:nvPr/>
        </p:nvSpPr>
        <p:spPr>
          <a:xfrm>
            <a:off x="9227939" y="1927860"/>
            <a:ext cx="1043821" cy="876300"/>
          </a:xfrm>
          <a:prstGeom prst="roundRect">
            <a:avLst>
              <a:gd name="adj" fmla="val 10435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7A5C15CD-398F-4E26-7125-277258470575}"/>
              </a:ext>
            </a:extLst>
          </p:cNvPr>
          <p:cNvSpPr/>
          <p:nvPr/>
        </p:nvSpPr>
        <p:spPr>
          <a:xfrm>
            <a:off x="10332720" y="1927860"/>
            <a:ext cx="1043821" cy="876300"/>
          </a:xfrm>
          <a:prstGeom prst="roundRect">
            <a:avLst>
              <a:gd name="adj" fmla="val 10435"/>
            </a:avLst>
          </a:prstGeom>
          <a:solidFill>
            <a:srgbClr val="EFFFFA"/>
          </a:solidFill>
          <a:ln>
            <a:noFill/>
          </a:ln>
        </p:spPr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1358B2A2-8682-84E1-F14A-02FF472131F0}"/>
              </a:ext>
            </a:extLst>
          </p:cNvPr>
          <p:cNvSpPr/>
          <p:nvPr/>
        </p:nvSpPr>
        <p:spPr>
          <a:xfrm>
            <a:off x="670560" y="3017520"/>
            <a:ext cx="10850880" cy="2333712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8CCBFF"/>
            </a:solidFill>
            <a:prstDash val="solid"/>
          </a:ln>
        </p:spPr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73CC1C35-B0B5-999A-AA56-503815B9112B}"/>
              </a:ext>
            </a:extLst>
          </p:cNvPr>
          <p:cNvSpPr/>
          <p:nvPr/>
        </p:nvSpPr>
        <p:spPr>
          <a:xfrm>
            <a:off x="822960" y="3509010"/>
            <a:ext cx="3251121" cy="1760220"/>
          </a:xfrm>
          <a:prstGeom prst="roundRect">
            <a:avLst>
              <a:gd name="adj" fmla="val 6494"/>
            </a:avLst>
          </a:prstGeom>
          <a:solidFill>
            <a:srgbClr val="F7FB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66E463D3-181B-203E-418A-F05B343A580C}"/>
              </a:ext>
            </a:extLst>
          </p:cNvPr>
          <p:cNvSpPr/>
          <p:nvPr/>
        </p:nvSpPr>
        <p:spPr>
          <a:xfrm>
            <a:off x="3334941" y="3608070"/>
            <a:ext cx="640080" cy="243840"/>
          </a:xfrm>
          <a:prstGeom prst="roundRect">
            <a:avLst>
              <a:gd name="adj" fmla="val 50000"/>
            </a:avLst>
          </a:prstGeom>
          <a:solidFill>
            <a:srgbClr val="E1E8FF"/>
          </a:solidFill>
          <a:ln>
            <a:noFill/>
          </a:ln>
        </p:spPr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DFB3FB14-EA2C-82E7-4CDA-DD58BB39C57B}"/>
              </a:ext>
            </a:extLst>
          </p:cNvPr>
          <p:cNvSpPr/>
          <p:nvPr/>
        </p:nvSpPr>
        <p:spPr>
          <a:xfrm>
            <a:off x="922020" y="3920490"/>
            <a:ext cx="3053001" cy="381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21E78E8D-DE73-802A-EC03-05AB1C5EE8D3}"/>
              </a:ext>
            </a:extLst>
          </p:cNvPr>
          <p:cNvSpPr/>
          <p:nvPr/>
        </p:nvSpPr>
        <p:spPr>
          <a:xfrm>
            <a:off x="998220" y="3981450"/>
            <a:ext cx="259080" cy="259080"/>
          </a:xfrm>
          <a:prstGeom prst="roundRect">
            <a:avLst>
              <a:gd name="adj" fmla="val 29412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55AEAD45-CCF0-7DBD-350C-67B5E02A801B}"/>
              </a:ext>
            </a:extLst>
          </p:cNvPr>
          <p:cNvSpPr/>
          <p:nvPr/>
        </p:nvSpPr>
        <p:spPr>
          <a:xfrm>
            <a:off x="922020" y="4354830"/>
            <a:ext cx="3053001" cy="381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D2F5BAEE-EF39-93A2-0FBF-224810498FB5}"/>
              </a:ext>
            </a:extLst>
          </p:cNvPr>
          <p:cNvSpPr/>
          <p:nvPr/>
        </p:nvSpPr>
        <p:spPr>
          <a:xfrm>
            <a:off x="998220" y="4415790"/>
            <a:ext cx="259080" cy="259080"/>
          </a:xfrm>
          <a:prstGeom prst="roundRect">
            <a:avLst>
              <a:gd name="adj" fmla="val 29412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69E68DEF-42D3-BA75-B088-24C8B0EF7F2B}"/>
              </a:ext>
            </a:extLst>
          </p:cNvPr>
          <p:cNvSpPr/>
          <p:nvPr/>
        </p:nvSpPr>
        <p:spPr>
          <a:xfrm>
            <a:off x="922020" y="4789170"/>
            <a:ext cx="3053001" cy="381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8" name="Shape 21">
            <a:extLst>
              <a:ext uri="{FF2B5EF4-FFF2-40B4-BE49-F238E27FC236}">
                <a16:creationId xmlns:a16="http://schemas.microsoft.com/office/drawing/2014/main" id="{6AC467DD-976B-A554-A490-97EE73F5D75E}"/>
              </a:ext>
            </a:extLst>
          </p:cNvPr>
          <p:cNvSpPr/>
          <p:nvPr/>
        </p:nvSpPr>
        <p:spPr>
          <a:xfrm>
            <a:off x="998220" y="4850130"/>
            <a:ext cx="259080" cy="259080"/>
          </a:xfrm>
          <a:prstGeom prst="roundRect">
            <a:avLst>
              <a:gd name="adj" fmla="val 29412"/>
            </a:avLst>
          </a:prstGeom>
          <a:solidFill>
            <a:srgbClr val="0565FF"/>
          </a:solidFill>
          <a:ln>
            <a:noFill/>
          </a:ln>
        </p:spPr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FEFA63FA-6DDB-24E9-1093-617CA6EC4874}"/>
              </a:ext>
            </a:extLst>
          </p:cNvPr>
          <p:cNvSpPr/>
          <p:nvPr/>
        </p:nvSpPr>
        <p:spPr>
          <a:xfrm>
            <a:off x="4142661" y="4312920"/>
            <a:ext cx="259080" cy="259080"/>
          </a:xfrm>
          <a:prstGeom prst="ellipse">
            <a:avLst/>
          </a:prstGeom>
          <a:solidFill>
            <a:srgbClr val="0565FF"/>
          </a:solidFill>
          <a:ln>
            <a:noFill/>
          </a:ln>
        </p:spPr>
      </p:sp>
      <p:sp>
        <p:nvSpPr>
          <p:cNvPr id="42" name="Shape 23">
            <a:extLst>
              <a:ext uri="{FF2B5EF4-FFF2-40B4-BE49-F238E27FC236}">
                <a16:creationId xmlns:a16="http://schemas.microsoft.com/office/drawing/2014/main" id="{0D7FD60A-10C3-9CE1-5C10-45340326E23F}"/>
              </a:ext>
            </a:extLst>
          </p:cNvPr>
          <p:cNvSpPr/>
          <p:nvPr/>
        </p:nvSpPr>
        <p:spPr>
          <a:xfrm>
            <a:off x="4470321" y="3509010"/>
            <a:ext cx="3251240" cy="1760220"/>
          </a:xfrm>
          <a:prstGeom prst="roundRect">
            <a:avLst>
              <a:gd name="adj" fmla="val 6494"/>
            </a:avLst>
          </a:prstGeom>
          <a:solidFill>
            <a:srgbClr val="F2FCFF"/>
          </a:solidFill>
          <a:ln w="9525">
            <a:solidFill>
              <a:srgbClr val="BFE6FA"/>
            </a:solidFill>
            <a:prstDash val="solid"/>
          </a:ln>
        </p:spPr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C6191224-7C40-03D6-AB92-8DB80185430D}"/>
              </a:ext>
            </a:extLst>
          </p:cNvPr>
          <p:cNvSpPr/>
          <p:nvPr/>
        </p:nvSpPr>
        <p:spPr>
          <a:xfrm>
            <a:off x="6982420" y="3608070"/>
            <a:ext cx="640080" cy="243840"/>
          </a:xfrm>
          <a:prstGeom prst="roundRect">
            <a:avLst>
              <a:gd name="adj" fmla="val 50000"/>
            </a:avLst>
          </a:prstGeom>
          <a:solidFill>
            <a:srgbClr val="DDF3FF"/>
          </a:solidFill>
          <a:ln>
            <a:noFill/>
          </a:ln>
        </p:spPr>
      </p:sp>
      <p:sp>
        <p:nvSpPr>
          <p:cNvPr id="46" name="Shape 25">
            <a:extLst>
              <a:ext uri="{FF2B5EF4-FFF2-40B4-BE49-F238E27FC236}">
                <a16:creationId xmlns:a16="http://schemas.microsoft.com/office/drawing/2014/main" id="{806D988B-4C1F-BCEC-0268-CC5283DDA490}"/>
              </a:ext>
            </a:extLst>
          </p:cNvPr>
          <p:cNvSpPr/>
          <p:nvPr/>
        </p:nvSpPr>
        <p:spPr>
          <a:xfrm>
            <a:off x="4569381" y="3920490"/>
            <a:ext cx="3053120" cy="381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8" name="Shape 26">
            <a:extLst>
              <a:ext uri="{FF2B5EF4-FFF2-40B4-BE49-F238E27FC236}">
                <a16:creationId xmlns:a16="http://schemas.microsoft.com/office/drawing/2014/main" id="{317E36E7-216A-BD85-3497-7F42916AF071}"/>
              </a:ext>
            </a:extLst>
          </p:cNvPr>
          <p:cNvSpPr/>
          <p:nvPr/>
        </p:nvSpPr>
        <p:spPr>
          <a:xfrm>
            <a:off x="4645581" y="3981450"/>
            <a:ext cx="259080" cy="259080"/>
          </a:xfrm>
          <a:prstGeom prst="roundRect">
            <a:avLst>
              <a:gd name="adj" fmla="val 29412"/>
            </a:avLst>
          </a:prstGeom>
          <a:solidFill>
            <a:srgbClr val="1787F5"/>
          </a:solidFill>
          <a:ln>
            <a:noFill/>
          </a:ln>
        </p:spPr>
      </p:sp>
      <p:sp>
        <p:nvSpPr>
          <p:cNvPr id="50" name="Shape 27">
            <a:extLst>
              <a:ext uri="{FF2B5EF4-FFF2-40B4-BE49-F238E27FC236}">
                <a16:creationId xmlns:a16="http://schemas.microsoft.com/office/drawing/2014/main" id="{E4C786E5-B122-F6BF-FBBE-CBE20E984BE6}"/>
              </a:ext>
            </a:extLst>
          </p:cNvPr>
          <p:cNvSpPr/>
          <p:nvPr/>
        </p:nvSpPr>
        <p:spPr>
          <a:xfrm>
            <a:off x="4569381" y="4354830"/>
            <a:ext cx="3053120" cy="381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2" name="Shape 28">
            <a:extLst>
              <a:ext uri="{FF2B5EF4-FFF2-40B4-BE49-F238E27FC236}">
                <a16:creationId xmlns:a16="http://schemas.microsoft.com/office/drawing/2014/main" id="{33FF953D-5DC5-42BC-5DA4-03CECD66993E}"/>
              </a:ext>
            </a:extLst>
          </p:cNvPr>
          <p:cNvSpPr/>
          <p:nvPr/>
        </p:nvSpPr>
        <p:spPr>
          <a:xfrm>
            <a:off x="4645581" y="4415790"/>
            <a:ext cx="259080" cy="259080"/>
          </a:xfrm>
          <a:prstGeom prst="roundRect">
            <a:avLst>
              <a:gd name="adj" fmla="val 29412"/>
            </a:avLst>
          </a:prstGeom>
          <a:solidFill>
            <a:srgbClr val="1787F5"/>
          </a:solidFill>
          <a:ln>
            <a:noFill/>
          </a:ln>
        </p:spPr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4713C655-33EA-00D3-2B16-9C334F02D4EE}"/>
              </a:ext>
            </a:extLst>
          </p:cNvPr>
          <p:cNvSpPr/>
          <p:nvPr/>
        </p:nvSpPr>
        <p:spPr>
          <a:xfrm>
            <a:off x="4569381" y="4789170"/>
            <a:ext cx="3053120" cy="381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6" name="Shape 30">
            <a:extLst>
              <a:ext uri="{FF2B5EF4-FFF2-40B4-BE49-F238E27FC236}">
                <a16:creationId xmlns:a16="http://schemas.microsoft.com/office/drawing/2014/main" id="{4EC073E3-486E-ACB6-B51D-C54E3A1C7D27}"/>
              </a:ext>
            </a:extLst>
          </p:cNvPr>
          <p:cNvSpPr/>
          <p:nvPr/>
        </p:nvSpPr>
        <p:spPr>
          <a:xfrm>
            <a:off x="4645581" y="4850130"/>
            <a:ext cx="259080" cy="259080"/>
          </a:xfrm>
          <a:prstGeom prst="roundRect">
            <a:avLst>
              <a:gd name="adj" fmla="val 29412"/>
            </a:avLst>
          </a:prstGeom>
          <a:solidFill>
            <a:srgbClr val="00A7FF"/>
          </a:solidFill>
          <a:ln>
            <a:noFill/>
          </a:ln>
        </p:spPr>
      </p:sp>
      <p:sp>
        <p:nvSpPr>
          <p:cNvPr id="58" name="Shape 31">
            <a:extLst>
              <a:ext uri="{FF2B5EF4-FFF2-40B4-BE49-F238E27FC236}">
                <a16:creationId xmlns:a16="http://schemas.microsoft.com/office/drawing/2014/main" id="{0DEBB8D7-C48D-385B-1580-A3635E5256ED}"/>
              </a:ext>
            </a:extLst>
          </p:cNvPr>
          <p:cNvSpPr/>
          <p:nvPr/>
        </p:nvSpPr>
        <p:spPr>
          <a:xfrm>
            <a:off x="7790140" y="4312920"/>
            <a:ext cx="259080" cy="259080"/>
          </a:xfrm>
          <a:prstGeom prst="ellipse">
            <a:avLst/>
          </a:prstGeom>
          <a:solidFill>
            <a:srgbClr val="00AB7A"/>
          </a:solidFill>
          <a:ln>
            <a:noFill/>
          </a:ln>
        </p:spPr>
      </p:sp>
      <p:sp>
        <p:nvSpPr>
          <p:cNvPr id="60" name="Shape 32">
            <a:extLst>
              <a:ext uri="{FF2B5EF4-FFF2-40B4-BE49-F238E27FC236}">
                <a16:creationId xmlns:a16="http://schemas.microsoft.com/office/drawing/2014/main" id="{26D78582-AC8A-8D01-A095-C3985C62B08E}"/>
              </a:ext>
            </a:extLst>
          </p:cNvPr>
          <p:cNvSpPr/>
          <p:nvPr/>
        </p:nvSpPr>
        <p:spPr>
          <a:xfrm>
            <a:off x="8117800" y="3509010"/>
            <a:ext cx="3251121" cy="1760220"/>
          </a:xfrm>
          <a:prstGeom prst="roundRect">
            <a:avLst>
              <a:gd name="adj" fmla="val 6494"/>
            </a:avLst>
          </a:prstGeom>
          <a:solidFill>
            <a:srgbClr val="F2FFFC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62" name="Shape 33">
            <a:extLst>
              <a:ext uri="{FF2B5EF4-FFF2-40B4-BE49-F238E27FC236}">
                <a16:creationId xmlns:a16="http://schemas.microsoft.com/office/drawing/2014/main" id="{7C748142-E3EE-7256-30F3-522F0E6FA6ED}"/>
              </a:ext>
            </a:extLst>
          </p:cNvPr>
          <p:cNvSpPr/>
          <p:nvPr/>
        </p:nvSpPr>
        <p:spPr>
          <a:xfrm>
            <a:off x="10629781" y="3608070"/>
            <a:ext cx="640080" cy="243840"/>
          </a:xfrm>
          <a:prstGeom prst="roundRect">
            <a:avLst>
              <a:gd name="adj" fmla="val 50000"/>
            </a:avLst>
          </a:prstGeom>
          <a:solidFill>
            <a:srgbClr val="D9FFF5"/>
          </a:solidFill>
          <a:ln>
            <a:noFill/>
          </a:ln>
        </p:spPr>
      </p:sp>
      <p:sp>
        <p:nvSpPr>
          <p:cNvPr id="64" name="Shape 34">
            <a:extLst>
              <a:ext uri="{FF2B5EF4-FFF2-40B4-BE49-F238E27FC236}">
                <a16:creationId xmlns:a16="http://schemas.microsoft.com/office/drawing/2014/main" id="{BED9E7C5-1DB7-FCBF-66CC-CB45D748B03E}"/>
              </a:ext>
            </a:extLst>
          </p:cNvPr>
          <p:cNvSpPr/>
          <p:nvPr/>
        </p:nvSpPr>
        <p:spPr>
          <a:xfrm>
            <a:off x="8216860" y="3920490"/>
            <a:ext cx="3053001" cy="381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6" name="Shape 35">
            <a:extLst>
              <a:ext uri="{FF2B5EF4-FFF2-40B4-BE49-F238E27FC236}">
                <a16:creationId xmlns:a16="http://schemas.microsoft.com/office/drawing/2014/main" id="{C396D8BE-E650-1325-3F39-12652FDDB354}"/>
              </a:ext>
            </a:extLst>
          </p:cNvPr>
          <p:cNvSpPr/>
          <p:nvPr/>
        </p:nvSpPr>
        <p:spPr>
          <a:xfrm>
            <a:off x="8293060" y="3981450"/>
            <a:ext cx="259080" cy="259080"/>
          </a:xfrm>
          <a:prstGeom prst="roundRect">
            <a:avLst>
              <a:gd name="adj" fmla="val 29412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68" name="Shape 36">
            <a:extLst>
              <a:ext uri="{FF2B5EF4-FFF2-40B4-BE49-F238E27FC236}">
                <a16:creationId xmlns:a16="http://schemas.microsoft.com/office/drawing/2014/main" id="{BF7A88E4-5658-2B1B-B02F-6D741B45FE0F}"/>
              </a:ext>
            </a:extLst>
          </p:cNvPr>
          <p:cNvSpPr/>
          <p:nvPr/>
        </p:nvSpPr>
        <p:spPr>
          <a:xfrm>
            <a:off x="8216860" y="4354830"/>
            <a:ext cx="3053001" cy="381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0" name="Shape 37">
            <a:extLst>
              <a:ext uri="{FF2B5EF4-FFF2-40B4-BE49-F238E27FC236}">
                <a16:creationId xmlns:a16="http://schemas.microsoft.com/office/drawing/2014/main" id="{6686F602-6AEF-B129-1DF6-54E3FB5FE3F5}"/>
              </a:ext>
            </a:extLst>
          </p:cNvPr>
          <p:cNvSpPr/>
          <p:nvPr/>
        </p:nvSpPr>
        <p:spPr>
          <a:xfrm>
            <a:off x="8293060" y="4415790"/>
            <a:ext cx="259080" cy="259080"/>
          </a:xfrm>
          <a:prstGeom prst="roundRect">
            <a:avLst>
              <a:gd name="adj" fmla="val 29412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72" name="Shape 38">
            <a:extLst>
              <a:ext uri="{FF2B5EF4-FFF2-40B4-BE49-F238E27FC236}">
                <a16:creationId xmlns:a16="http://schemas.microsoft.com/office/drawing/2014/main" id="{EDE906AB-9DC1-F447-983C-C749C2EEBA66}"/>
              </a:ext>
            </a:extLst>
          </p:cNvPr>
          <p:cNvSpPr/>
          <p:nvPr/>
        </p:nvSpPr>
        <p:spPr>
          <a:xfrm>
            <a:off x="8216860" y="4789170"/>
            <a:ext cx="3053001" cy="381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4" name="Shape 39">
            <a:extLst>
              <a:ext uri="{FF2B5EF4-FFF2-40B4-BE49-F238E27FC236}">
                <a16:creationId xmlns:a16="http://schemas.microsoft.com/office/drawing/2014/main" id="{CEB14376-7B3E-94B9-F831-6550496869BB}"/>
              </a:ext>
            </a:extLst>
          </p:cNvPr>
          <p:cNvSpPr/>
          <p:nvPr/>
        </p:nvSpPr>
        <p:spPr>
          <a:xfrm>
            <a:off x="8293060" y="4850130"/>
            <a:ext cx="259080" cy="259080"/>
          </a:xfrm>
          <a:prstGeom prst="roundRect">
            <a:avLst>
              <a:gd name="adj" fmla="val 29412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76" name="Shape 40">
            <a:extLst>
              <a:ext uri="{FF2B5EF4-FFF2-40B4-BE49-F238E27FC236}">
                <a16:creationId xmlns:a16="http://schemas.microsoft.com/office/drawing/2014/main" id="{4CF149F9-3FB1-4121-AB11-2A3E4C373F87}"/>
              </a:ext>
            </a:extLst>
          </p:cNvPr>
          <p:cNvSpPr/>
          <p:nvPr/>
        </p:nvSpPr>
        <p:spPr>
          <a:xfrm>
            <a:off x="670560" y="5453340"/>
            <a:ext cx="10850880" cy="928410"/>
          </a:xfrm>
          <a:prstGeom prst="roundRect">
            <a:avLst>
              <a:gd name="adj" fmla="val 13363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78" name="Shape 41">
            <a:extLst>
              <a:ext uri="{FF2B5EF4-FFF2-40B4-BE49-F238E27FC236}">
                <a16:creationId xmlns:a16="http://schemas.microsoft.com/office/drawing/2014/main" id="{1749FF0F-B4E7-959D-9D18-728EF2AA27AD}"/>
              </a:ext>
            </a:extLst>
          </p:cNvPr>
          <p:cNvSpPr/>
          <p:nvPr/>
        </p:nvSpPr>
        <p:spPr>
          <a:xfrm>
            <a:off x="2217420" y="5560020"/>
            <a:ext cx="1475661" cy="722233"/>
          </a:xfrm>
          <a:prstGeom prst="roundRect">
            <a:avLst>
              <a:gd name="adj" fmla="val 11606"/>
            </a:avLst>
          </a:prstGeom>
          <a:solidFill>
            <a:srgbClr val="F7FBFF"/>
          </a:solidFill>
          <a:ln>
            <a:noFill/>
          </a:ln>
        </p:spPr>
      </p:sp>
      <p:sp>
        <p:nvSpPr>
          <p:cNvPr id="80" name="Shape 42">
            <a:extLst>
              <a:ext uri="{FF2B5EF4-FFF2-40B4-BE49-F238E27FC236}">
                <a16:creationId xmlns:a16="http://schemas.microsoft.com/office/drawing/2014/main" id="{D00B943C-6560-CECC-3E5E-DD5A0487685F}"/>
              </a:ext>
            </a:extLst>
          </p:cNvPr>
          <p:cNvSpPr/>
          <p:nvPr/>
        </p:nvSpPr>
        <p:spPr>
          <a:xfrm>
            <a:off x="3754041" y="5560020"/>
            <a:ext cx="1475780" cy="722233"/>
          </a:xfrm>
          <a:prstGeom prst="roundRect">
            <a:avLst>
              <a:gd name="adj" fmla="val 11606"/>
            </a:avLst>
          </a:prstGeom>
          <a:solidFill>
            <a:srgbClr val="F7FBFF"/>
          </a:solidFill>
          <a:ln>
            <a:noFill/>
          </a:ln>
        </p:spPr>
      </p:sp>
      <p:sp>
        <p:nvSpPr>
          <p:cNvPr id="82" name="Shape 43">
            <a:extLst>
              <a:ext uri="{FF2B5EF4-FFF2-40B4-BE49-F238E27FC236}">
                <a16:creationId xmlns:a16="http://schemas.microsoft.com/office/drawing/2014/main" id="{7B16AA11-AA43-F688-F4A3-9956B7439C41}"/>
              </a:ext>
            </a:extLst>
          </p:cNvPr>
          <p:cNvSpPr/>
          <p:nvPr/>
        </p:nvSpPr>
        <p:spPr>
          <a:xfrm>
            <a:off x="5290780" y="5560020"/>
            <a:ext cx="1475780" cy="722233"/>
          </a:xfrm>
          <a:prstGeom prst="roundRect">
            <a:avLst>
              <a:gd name="adj" fmla="val 11606"/>
            </a:avLst>
          </a:prstGeom>
          <a:solidFill>
            <a:srgbClr val="F7FBFF"/>
          </a:solidFill>
          <a:ln>
            <a:noFill/>
          </a:ln>
        </p:spPr>
      </p:sp>
      <p:sp>
        <p:nvSpPr>
          <p:cNvPr id="84" name="Shape 44">
            <a:extLst>
              <a:ext uri="{FF2B5EF4-FFF2-40B4-BE49-F238E27FC236}">
                <a16:creationId xmlns:a16="http://schemas.microsoft.com/office/drawing/2014/main" id="{674B8AAA-E90D-0AFA-784A-1B54BB64B3C4}"/>
              </a:ext>
            </a:extLst>
          </p:cNvPr>
          <p:cNvSpPr/>
          <p:nvPr/>
        </p:nvSpPr>
        <p:spPr>
          <a:xfrm>
            <a:off x="6827520" y="5560020"/>
            <a:ext cx="1475661" cy="722233"/>
          </a:xfrm>
          <a:prstGeom prst="roundRect">
            <a:avLst>
              <a:gd name="adj" fmla="val 11606"/>
            </a:avLst>
          </a:prstGeom>
          <a:solidFill>
            <a:srgbClr val="F7FBFF"/>
          </a:solidFill>
          <a:ln>
            <a:noFill/>
          </a:ln>
        </p:spPr>
      </p:sp>
      <p:sp>
        <p:nvSpPr>
          <p:cNvPr id="86" name="Shape 45">
            <a:extLst>
              <a:ext uri="{FF2B5EF4-FFF2-40B4-BE49-F238E27FC236}">
                <a16:creationId xmlns:a16="http://schemas.microsoft.com/office/drawing/2014/main" id="{FBE74E00-619C-9FAE-72C3-943A97B57737}"/>
              </a:ext>
            </a:extLst>
          </p:cNvPr>
          <p:cNvSpPr/>
          <p:nvPr/>
        </p:nvSpPr>
        <p:spPr>
          <a:xfrm>
            <a:off x="8364141" y="5560020"/>
            <a:ext cx="1475780" cy="722233"/>
          </a:xfrm>
          <a:prstGeom prst="roundRect">
            <a:avLst>
              <a:gd name="adj" fmla="val 11606"/>
            </a:avLst>
          </a:prstGeom>
          <a:solidFill>
            <a:srgbClr val="F2FFFC"/>
          </a:solidFill>
          <a:ln>
            <a:noFill/>
          </a:ln>
        </p:spPr>
      </p:sp>
      <p:sp>
        <p:nvSpPr>
          <p:cNvPr id="88" name="Shape 46">
            <a:extLst>
              <a:ext uri="{FF2B5EF4-FFF2-40B4-BE49-F238E27FC236}">
                <a16:creationId xmlns:a16="http://schemas.microsoft.com/office/drawing/2014/main" id="{9AC8D5C9-196F-D80D-7165-FB20DEEA1B8D}"/>
              </a:ext>
            </a:extLst>
          </p:cNvPr>
          <p:cNvSpPr/>
          <p:nvPr/>
        </p:nvSpPr>
        <p:spPr>
          <a:xfrm>
            <a:off x="9900880" y="5560020"/>
            <a:ext cx="1475780" cy="722233"/>
          </a:xfrm>
          <a:prstGeom prst="roundRect">
            <a:avLst>
              <a:gd name="adj" fmla="val 11606"/>
            </a:avLst>
          </a:prstGeom>
          <a:solidFill>
            <a:srgbClr val="F2FFFC"/>
          </a:solidFill>
          <a:ln>
            <a:noFill/>
          </a:ln>
        </p:spPr>
      </p:sp>
      <p:sp>
        <p:nvSpPr>
          <p:cNvPr id="90" name="TextBox 5">
            <a:extLst>
              <a:ext uri="{FF2B5EF4-FFF2-40B4-BE49-F238E27FC236}">
                <a16:creationId xmlns:a16="http://schemas.microsoft.com/office/drawing/2014/main" id="{4A437E1A-7579-3001-3B75-43A68840AC92}"/>
              </a:ext>
            </a:extLst>
          </p:cNvPr>
          <p:cNvSpPr txBox="1"/>
          <p:nvPr/>
        </p:nvSpPr>
        <p:spPr>
          <a:xfrm>
            <a:off x="1059180" y="1280160"/>
            <a:ext cx="7103364" cy="2865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25"/>
              </a:lnSpc>
            </a:pPr>
            <a:r>
              <a:rPr lang="zh-CN" sz="1500" b="1" dirty="0">
                <a:solidFill>
                  <a:srgbClr val="0F2A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一次统一考核形成双类成果，并以全过程证据支撑人才识别、项目选拔与职业发展。</a:t>
            </a:r>
          </a:p>
        </p:txBody>
      </p:sp>
      <p:sp>
        <p:nvSpPr>
          <p:cNvPr id="92" name="TextBox 6">
            <a:extLst>
              <a:ext uri="{FF2B5EF4-FFF2-40B4-BE49-F238E27FC236}">
                <a16:creationId xmlns:a16="http://schemas.microsoft.com/office/drawing/2014/main" id="{207C7263-A083-A561-4419-E400B7251729}"/>
              </a:ext>
            </a:extLst>
          </p:cNvPr>
          <p:cNvSpPr txBox="1"/>
          <p:nvPr/>
        </p:nvSpPr>
        <p:spPr>
          <a:xfrm>
            <a:off x="1363980" y="2133600"/>
            <a:ext cx="128930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ADE认证</a:t>
            </a:r>
          </a:p>
        </p:txBody>
      </p:sp>
      <p:sp>
        <p:nvSpPr>
          <p:cNvPr id="94" name="TextBox 7">
            <a:extLst>
              <a:ext uri="{FF2B5EF4-FFF2-40B4-BE49-F238E27FC236}">
                <a16:creationId xmlns:a16="http://schemas.microsoft.com/office/drawing/2014/main" id="{68216660-FCAA-5C83-946C-6CF44D6261D7}"/>
              </a:ext>
            </a:extLst>
          </p:cNvPr>
          <p:cNvSpPr txBox="1"/>
          <p:nvPr/>
        </p:nvSpPr>
        <p:spPr>
          <a:xfrm>
            <a:off x="1363980" y="2392680"/>
            <a:ext cx="12893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18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智能体工程能力识别</a:t>
            </a:r>
          </a:p>
        </p:txBody>
      </p:sp>
      <p:sp>
        <p:nvSpPr>
          <p:cNvPr id="96" name="TextBox 8">
            <a:extLst>
              <a:ext uri="{FF2B5EF4-FFF2-40B4-BE49-F238E27FC236}">
                <a16:creationId xmlns:a16="http://schemas.microsoft.com/office/drawing/2014/main" id="{066A2189-968F-529C-5274-94ABBA4211CE}"/>
              </a:ext>
            </a:extLst>
          </p:cNvPr>
          <p:cNvSpPr txBox="1"/>
          <p:nvPr/>
        </p:nvSpPr>
        <p:spPr>
          <a:xfrm>
            <a:off x="3520440" y="2011680"/>
            <a:ext cx="2180844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zh-CN" sz="14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一次统一考核</a:t>
            </a:r>
          </a:p>
        </p:txBody>
      </p:sp>
      <p:sp>
        <p:nvSpPr>
          <p:cNvPr id="98" name="TextBox 9">
            <a:extLst>
              <a:ext uri="{FF2B5EF4-FFF2-40B4-BE49-F238E27FC236}">
                <a16:creationId xmlns:a16="http://schemas.microsoft.com/office/drawing/2014/main" id="{683F7085-7064-5D4C-3093-720D8EB6772B}"/>
              </a:ext>
            </a:extLst>
          </p:cNvPr>
          <p:cNvSpPr txBox="1"/>
          <p:nvPr/>
        </p:nvSpPr>
        <p:spPr>
          <a:xfrm>
            <a:off x="3144703" y="2238288"/>
            <a:ext cx="2676263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180"/>
              </a:spcBef>
            </a:pPr>
            <a:r>
              <a:rPr lang="zh-CN" sz="108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同一能力标准牵引课程、实训与项目评价</a:t>
            </a:r>
          </a:p>
        </p:txBody>
      </p:sp>
      <p:sp>
        <p:nvSpPr>
          <p:cNvPr id="100" name="TextBox 10">
            <a:extLst>
              <a:ext uri="{FF2B5EF4-FFF2-40B4-BE49-F238E27FC236}">
                <a16:creationId xmlns:a16="http://schemas.microsoft.com/office/drawing/2014/main" id="{A3BD855D-2CE3-FDE3-F6E1-E58C356F4484}"/>
              </a:ext>
            </a:extLst>
          </p:cNvPr>
          <p:cNvSpPr txBox="1"/>
          <p:nvPr/>
        </p:nvSpPr>
        <p:spPr>
          <a:xfrm>
            <a:off x="6408420" y="2133600"/>
            <a:ext cx="123596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工信部NITE证书</a:t>
            </a:r>
          </a:p>
        </p:txBody>
      </p:sp>
      <p:sp>
        <p:nvSpPr>
          <p:cNvPr id="102" name="TextBox 11">
            <a:extLst>
              <a:ext uri="{FF2B5EF4-FFF2-40B4-BE49-F238E27FC236}">
                <a16:creationId xmlns:a16="http://schemas.microsoft.com/office/drawing/2014/main" id="{2BC47E3B-D429-C507-F169-53BABE69D36F}"/>
              </a:ext>
            </a:extLst>
          </p:cNvPr>
          <p:cNvSpPr txBox="1"/>
          <p:nvPr/>
        </p:nvSpPr>
        <p:spPr>
          <a:xfrm>
            <a:off x="6408420" y="2392680"/>
            <a:ext cx="123596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18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专业技能成果记录</a:t>
            </a:r>
          </a:p>
        </p:txBody>
      </p:sp>
      <p:sp>
        <p:nvSpPr>
          <p:cNvPr id="104" name="TextBox 12">
            <a:extLst>
              <a:ext uri="{FF2B5EF4-FFF2-40B4-BE49-F238E27FC236}">
                <a16:creationId xmlns:a16="http://schemas.microsoft.com/office/drawing/2014/main" id="{5B98B455-0746-61E2-EF0C-954CA2A7B955}"/>
              </a:ext>
            </a:extLst>
          </p:cNvPr>
          <p:cNvSpPr txBox="1"/>
          <p:nvPr/>
        </p:nvSpPr>
        <p:spPr>
          <a:xfrm>
            <a:off x="8199120" y="2057400"/>
            <a:ext cx="946404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00"/>
              </a:lnSpc>
            </a:pPr>
            <a:r>
              <a:rPr lang="zh-CN" sz="12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降本</a:t>
            </a:r>
          </a:p>
        </p:txBody>
      </p:sp>
      <p:sp>
        <p:nvSpPr>
          <p:cNvPr id="106" name="TextBox 13">
            <a:extLst>
              <a:ext uri="{FF2B5EF4-FFF2-40B4-BE49-F238E27FC236}">
                <a16:creationId xmlns:a16="http://schemas.microsoft.com/office/drawing/2014/main" id="{397139ED-F99F-55A7-3490-06191DE496BD}"/>
              </a:ext>
            </a:extLst>
          </p:cNvPr>
          <p:cNvSpPr txBox="1"/>
          <p:nvPr/>
        </p:nvSpPr>
        <p:spPr>
          <a:xfrm>
            <a:off x="8199120" y="2308860"/>
            <a:ext cx="94640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60"/>
              </a:lnSpc>
              <a:spcBef>
                <a:spcPts val="18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减少重复培养与考核</a:t>
            </a:r>
          </a:p>
        </p:txBody>
      </p:sp>
      <p:sp>
        <p:nvSpPr>
          <p:cNvPr id="108" name="TextBox 14">
            <a:extLst>
              <a:ext uri="{FF2B5EF4-FFF2-40B4-BE49-F238E27FC236}">
                <a16:creationId xmlns:a16="http://schemas.microsoft.com/office/drawing/2014/main" id="{4C1D403C-31BA-FEF9-8003-683DECF29E54}"/>
              </a:ext>
            </a:extLst>
          </p:cNvPr>
          <p:cNvSpPr txBox="1"/>
          <p:nvPr/>
        </p:nvSpPr>
        <p:spPr>
          <a:xfrm>
            <a:off x="9304020" y="2057400"/>
            <a:ext cx="946404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00"/>
              </a:lnSpc>
            </a:pPr>
            <a:r>
              <a:rPr lang="zh-CN" sz="12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识才</a:t>
            </a:r>
          </a:p>
        </p:txBody>
      </p:sp>
      <p:sp>
        <p:nvSpPr>
          <p:cNvPr id="110" name="TextBox 15">
            <a:extLst>
              <a:ext uri="{FF2B5EF4-FFF2-40B4-BE49-F238E27FC236}">
                <a16:creationId xmlns:a16="http://schemas.microsoft.com/office/drawing/2014/main" id="{13E33AF3-6F03-5530-6DE5-2A42BE3ABD11}"/>
              </a:ext>
            </a:extLst>
          </p:cNvPr>
          <p:cNvSpPr txBox="1"/>
          <p:nvPr/>
        </p:nvSpPr>
        <p:spPr>
          <a:xfrm>
            <a:off x="9304020" y="2308860"/>
            <a:ext cx="94640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60"/>
              </a:lnSpc>
              <a:spcBef>
                <a:spcPts val="18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沉淀人才档案与证据</a:t>
            </a:r>
          </a:p>
        </p:txBody>
      </p:sp>
      <p:sp>
        <p:nvSpPr>
          <p:cNvPr id="112" name="TextBox 16">
            <a:extLst>
              <a:ext uri="{FF2B5EF4-FFF2-40B4-BE49-F238E27FC236}">
                <a16:creationId xmlns:a16="http://schemas.microsoft.com/office/drawing/2014/main" id="{6E3B75F7-B31D-56BB-CAF6-68CA92253EF7}"/>
              </a:ext>
            </a:extLst>
          </p:cNvPr>
          <p:cNvSpPr txBox="1"/>
          <p:nvPr/>
        </p:nvSpPr>
        <p:spPr>
          <a:xfrm>
            <a:off x="10408920" y="2057400"/>
            <a:ext cx="946404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00"/>
              </a:lnSpc>
            </a:pPr>
            <a:r>
              <a:rPr lang="zh-CN" sz="120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用才</a:t>
            </a:r>
          </a:p>
        </p:txBody>
      </p:sp>
      <p:sp>
        <p:nvSpPr>
          <p:cNvPr id="114" name="TextBox 17">
            <a:extLst>
              <a:ext uri="{FF2B5EF4-FFF2-40B4-BE49-F238E27FC236}">
                <a16:creationId xmlns:a16="http://schemas.microsoft.com/office/drawing/2014/main" id="{E502F381-F353-4DE6-50E6-5D854950C338}"/>
              </a:ext>
            </a:extLst>
          </p:cNvPr>
          <p:cNvSpPr txBox="1"/>
          <p:nvPr/>
        </p:nvSpPr>
        <p:spPr>
          <a:xfrm>
            <a:off x="10408920" y="2308860"/>
            <a:ext cx="94640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60"/>
              </a:lnSpc>
              <a:spcBef>
                <a:spcPts val="18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支持项目与发展选拔</a:t>
            </a:r>
          </a:p>
        </p:txBody>
      </p:sp>
      <p:sp>
        <p:nvSpPr>
          <p:cNvPr id="116" name="TextBox 18">
            <a:extLst>
              <a:ext uri="{FF2B5EF4-FFF2-40B4-BE49-F238E27FC236}">
                <a16:creationId xmlns:a16="http://schemas.microsoft.com/office/drawing/2014/main" id="{13DCE6AE-8C9A-BA12-14A5-C66E8A388C6F}"/>
              </a:ext>
            </a:extLst>
          </p:cNvPr>
          <p:cNvSpPr txBox="1"/>
          <p:nvPr/>
        </p:nvSpPr>
        <p:spPr>
          <a:xfrm>
            <a:off x="822960" y="3139440"/>
            <a:ext cx="176936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250"/>
              </a:lnSpc>
            </a:pPr>
            <a:r>
              <a:rPr lang="zh-CN" sz="15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九步认证质量证据链</a:t>
            </a:r>
          </a:p>
        </p:txBody>
      </p:sp>
      <p:sp>
        <p:nvSpPr>
          <p:cNvPr id="118" name="TextBox 19">
            <a:extLst>
              <a:ext uri="{FF2B5EF4-FFF2-40B4-BE49-F238E27FC236}">
                <a16:creationId xmlns:a16="http://schemas.microsoft.com/office/drawing/2014/main" id="{D7AB8A4A-43E3-0BCF-0601-A3F327706C26}"/>
              </a:ext>
            </a:extLst>
          </p:cNvPr>
          <p:cNvSpPr txBox="1"/>
          <p:nvPr/>
        </p:nvSpPr>
        <p:spPr>
          <a:xfrm>
            <a:off x="8557260" y="3192780"/>
            <a:ext cx="286664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40"/>
              </a:lnSpc>
            </a:pPr>
            <a:r>
              <a:rPr lang="zh-CN" sz="96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每一步保留事实依据 · 重要项目双人评审或抽查复核</a:t>
            </a:r>
          </a:p>
        </p:txBody>
      </p:sp>
      <p:sp>
        <p:nvSpPr>
          <p:cNvPr id="120" name="TextBox 20">
            <a:extLst>
              <a:ext uri="{FF2B5EF4-FFF2-40B4-BE49-F238E27FC236}">
                <a16:creationId xmlns:a16="http://schemas.microsoft.com/office/drawing/2014/main" id="{5161923D-C8C7-DBE3-0538-A8CDBD6C57BF}"/>
              </a:ext>
            </a:extLst>
          </p:cNvPr>
          <p:cNvSpPr txBox="1"/>
          <p:nvPr/>
        </p:nvSpPr>
        <p:spPr>
          <a:xfrm>
            <a:off x="922020" y="3611880"/>
            <a:ext cx="149504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阶段一｜准备与进入</a:t>
            </a:r>
          </a:p>
        </p:txBody>
      </p:sp>
      <p:sp>
        <p:nvSpPr>
          <p:cNvPr id="122" name="TextBox 21">
            <a:extLst>
              <a:ext uri="{FF2B5EF4-FFF2-40B4-BE49-F238E27FC236}">
                <a16:creationId xmlns:a16="http://schemas.microsoft.com/office/drawing/2014/main" id="{D4D28D2C-0E9D-3DAF-5D53-00437A1DA7B6}"/>
              </a:ext>
            </a:extLst>
          </p:cNvPr>
          <p:cNvSpPr txBox="1"/>
          <p:nvPr/>
        </p:nvSpPr>
        <p:spPr>
          <a:xfrm>
            <a:off x="1356360" y="4000500"/>
            <a:ext cx="87782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能力摸底</a:t>
            </a:r>
          </a:p>
        </p:txBody>
      </p:sp>
      <p:sp>
        <p:nvSpPr>
          <p:cNvPr id="124" name="TextBox 22">
            <a:extLst>
              <a:ext uri="{FF2B5EF4-FFF2-40B4-BE49-F238E27FC236}">
                <a16:creationId xmlns:a16="http://schemas.microsoft.com/office/drawing/2014/main" id="{262B14EB-6364-E6B0-F27C-136148AA7E5D}"/>
              </a:ext>
            </a:extLst>
          </p:cNvPr>
          <p:cNvSpPr txBox="1"/>
          <p:nvPr/>
        </p:nvSpPr>
        <p:spPr>
          <a:xfrm>
            <a:off x="2247900" y="4015740"/>
            <a:ext cx="170840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形成基线与差距证据</a:t>
            </a:r>
          </a:p>
        </p:txBody>
      </p:sp>
      <p:sp>
        <p:nvSpPr>
          <p:cNvPr id="126" name="TextBox 23">
            <a:extLst>
              <a:ext uri="{FF2B5EF4-FFF2-40B4-BE49-F238E27FC236}">
                <a16:creationId xmlns:a16="http://schemas.microsoft.com/office/drawing/2014/main" id="{F8088D83-8E55-BBE3-666E-46E660906377}"/>
              </a:ext>
            </a:extLst>
          </p:cNvPr>
          <p:cNvSpPr txBox="1"/>
          <p:nvPr/>
        </p:nvSpPr>
        <p:spPr>
          <a:xfrm>
            <a:off x="1356360" y="4434840"/>
            <a:ext cx="87782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分级选班</a:t>
            </a:r>
          </a:p>
        </p:txBody>
      </p:sp>
      <p:sp>
        <p:nvSpPr>
          <p:cNvPr id="128" name="TextBox 24">
            <a:extLst>
              <a:ext uri="{FF2B5EF4-FFF2-40B4-BE49-F238E27FC236}">
                <a16:creationId xmlns:a16="http://schemas.microsoft.com/office/drawing/2014/main" id="{670356BF-1E08-A5A7-FF83-022BB9B7A9AF}"/>
              </a:ext>
            </a:extLst>
          </p:cNvPr>
          <p:cNvSpPr txBox="1"/>
          <p:nvPr/>
        </p:nvSpPr>
        <p:spPr>
          <a:xfrm>
            <a:off x="2247900" y="4450080"/>
            <a:ext cx="170840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匹配培养层级与项目</a:t>
            </a:r>
          </a:p>
        </p:txBody>
      </p:sp>
      <p:sp>
        <p:nvSpPr>
          <p:cNvPr id="130" name="TextBox 25">
            <a:extLst>
              <a:ext uri="{FF2B5EF4-FFF2-40B4-BE49-F238E27FC236}">
                <a16:creationId xmlns:a16="http://schemas.microsoft.com/office/drawing/2014/main" id="{8DD86CCA-CC5D-788B-09E4-8265A2B83C82}"/>
              </a:ext>
            </a:extLst>
          </p:cNvPr>
          <p:cNvSpPr txBox="1"/>
          <p:nvPr/>
        </p:nvSpPr>
        <p:spPr>
          <a:xfrm>
            <a:off x="1356360" y="4869180"/>
            <a:ext cx="87782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学习实训</a:t>
            </a:r>
          </a:p>
        </p:txBody>
      </p:sp>
      <p:sp>
        <p:nvSpPr>
          <p:cNvPr id="132" name="TextBox 26">
            <a:extLst>
              <a:ext uri="{FF2B5EF4-FFF2-40B4-BE49-F238E27FC236}">
                <a16:creationId xmlns:a16="http://schemas.microsoft.com/office/drawing/2014/main" id="{4A9BBAEA-6D8C-B78F-4E39-A19063E25F8A}"/>
              </a:ext>
            </a:extLst>
          </p:cNvPr>
          <p:cNvSpPr txBox="1"/>
          <p:nvPr/>
        </p:nvSpPr>
        <p:spPr>
          <a:xfrm>
            <a:off x="2247900" y="4884420"/>
            <a:ext cx="170840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完成课程、练习和项目任务</a:t>
            </a:r>
          </a:p>
        </p:txBody>
      </p:sp>
      <p:sp>
        <p:nvSpPr>
          <p:cNvPr id="134" name="TextBox 27">
            <a:extLst>
              <a:ext uri="{FF2B5EF4-FFF2-40B4-BE49-F238E27FC236}">
                <a16:creationId xmlns:a16="http://schemas.microsoft.com/office/drawing/2014/main" id="{4358AEF1-6B83-CE7A-F3A9-AE415D8BCC67}"/>
              </a:ext>
            </a:extLst>
          </p:cNvPr>
          <p:cNvSpPr txBox="1"/>
          <p:nvPr/>
        </p:nvSpPr>
        <p:spPr>
          <a:xfrm>
            <a:off x="4572000" y="3611880"/>
            <a:ext cx="149504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阶段二｜考核与作品</a:t>
            </a:r>
          </a:p>
        </p:txBody>
      </p:sp>
      <p:sp>
        <p:nvSpPr>
          <p:cNvPr id="136" name="TextBox 28">
            <a:extLst>
              <a:ext uri="{FF2B5EF4-FFF2-40B4-BE49-F238E27FC236}">
                <a16:creationId xmlns:a16="http://schemas.microsoft.com/office/drawing/2014/main" id="{BE694E16-9C85-107C-708E-5941397F1A4C}"/>
              </a:ext>
            </a:extLst>
          </p:cNvPr>
          <p:cNvSpPr txBox="1"/>
          <p:nvPr/>
        </p:nvSpPr>
        <p:spPr>
          <a:xfrm>
            <a:off x="5006340" y="4000500"/>
            <a:ext cx="87782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过程记录</a:t>
            </a:r>
          </a:p>
        </p:txBody>
      </p:sp>
      <p:sp>
        <p:nvSpPr>
          <p:cNvPr id="138" name="TextBox 29">
            <a:extLst>
              <a:ext uri="{FF2B5EF4-FFF2-40B4-BE49-F238E27FC236}">
                <a16:creationId xmlns:a16="http://schemas.microsoft.com/office/drawing/2014/main" id="{F0EBA40D-56AD-E5AA-512C-039F907F4EDF}"/>
              </a:ext>
            </a:extLst>
          </p:cNvPr>
          <p:cNvSpPr txBox="1"/>
          <p:nvPr/>
        </p:nvSpPr>
        <p:spPr>
          <a:xfrm>
            <a:off x="5897880" y="4015740"/>
            <a:ext cx="170840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留存学习、练习及迭代轨迹</a:t>
            </a:r>
          </a:p>
        </p:txBody>
      </p:sp>
      <p:sp>
        <p:nvSpPr>
          <p:cNvPr id="140" name="TextBox 30">
            <a:extLst>
              <a:ext uri="{FF2B5EF4-FFF2-40B4-BE49-F238E27FC236}">
                <a16:creationId xmlns:a16="http://schemas.microsoft.com/office/drawing/2014/main" id="{72A2A929-A6F1-D383-D622-18147075EDB7}"/>
              </a:ext>
            </a:extLst>
          </p:cNvPr>
          <p:cNvSpPr txBox="1"/>
          <p:nvPr/>
        </p:nvSpPr>
        <p:spPr>
          <a:xfrm>
            <a:off x="5006340" y="4434840"/>
            <a:ext cx="87782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考试实操</a:t>
            </a:r>
          </a:p>
        </p:txBody>
      </p:sp>
      <p:sp>
        <p:nvSpPr>
          <p:cNvPr id="142" name="TextBox 31">
            <a:extLst>
              <a:ext uri="{FF2B5EF4-FFF2-40B4-BE49-F238E27FC236}">
                <a16:creationId xmlns:a16="http://schemas.microsoft.com/office/drawing/2014/main" id="{D3F496A3-BBAB-0969-BC53-045CBF397747}"/>
              </a:ext>
            </a:extLst>
          </p:cNvPr>
          <p:cNvSpPr txBox="1"/>
          <p:nvPr/>
        </p:nvSpPr>
        <p:spPr>
          <a:xfrm>
            <a:off x="5897880" y="4450080"/>
            <a:ext cx="170840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检验知识与操作能力</a:t>
            </a:r>
          </a:p>
        </p:txBody>
      </p:sp>
      <p:sp>
        <p:nvSpPr>
          <p:cNvPr id="144" name="TextBox 32">
            <a:extLst>
              <a:ext uri="{FF2B5EF4-FFF2-40B4-BE49-F238E27FC236}">
                <a16:creationId xmlns:a16="http://schemas.microsoft.com/office/drawing/2014/main" id="{A1A496F8-0B6D-447A-30C7-62E0AE26322C}"/>
              </a:ext>
            </a:extLst>
          </p:cNvPr>
          <p:cNvSpPr txBox="1"/>
          <p:nvPr/>
        </p:nvSpPr>
        <p:spPr>
          <a:xfrm>
            <a:off x="5006340" y="4869180"/>
            <a:ext cx="87782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项目作品</a:t>
            </a:r>
          </a:p>
        </p:txBody>
      </p:sp>
      <p:sp>
        <p:nvSpPr>
          <p:cNvPr id="146" name="TextBox 33">
            <a:extLst>
              <a:ext uri="{FF2B5EF4-FFF2-40B4-BE49-F238E27FC236}">
                <a16:creationId xmlns:a16="http://schemas.microsoft.com/office/drawing/2014/main" id="{4B678A54-8B94-BFF4-8363-EDC3FB8F1F94}"/>
              </a:ext>
            </a:extLst>
          </p:cNvPr>
          <p:cNvSpPr txBox="1"/>
          <p:nvPr/>
        </p:nvSpPr>
        <p:spPr>
          <a:xfrm>
            <a:off x="5897880" y="4884420"/>
            <a:ext cx="170840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提交可运行成果与文档</a:t>
            </a:r>
          </a:p>
        </p:txBody>
      </p:sp>
      <p:sp>
        <p:nvSpPr>
          <p:cNvPr id="148" name="TextBox 34">
            <a:extLst>
              <a:ext uri="{FF2B5EF4-FFF2-40B4-BE49-F238E27FC236}">
                <a16:creationId xmlns:a16="http://schemas.microsoft.com/office/drawing/2014/main" id="{07F55124-4306-495C-40BB-1065E8A03B95}"/>
              </a:ext>
            </a:extLst>
          </p:cNvPr>
          <p:cNvSpPr txBox="1"/>
          <p:nvPr/>
        </p:nvSpPr>
        <p:spPr>
          <a:xfrm>
            <a:off x="8214360" y="3611880"/>
            <a:ext cx="149504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阶段三｜评审与授证</a:t>
            </a:r>
          </a:p>
        </p:txBody>
      </p:sp>
      <p:sp>
        <p:nvSpPr>
          <p:cNvPr id="150" name="TextBox 35">
            <a:extLst>
              <a:ext uri="{FF2B5EF4-FFF2-40B4-BE49-F238E27FC236}">
                <a16:creationId xmlns:a16="http://schemas.microsoft.com/office/drawing/2014/main" id="{E013E0BE-9403-5D57-93CA-1ACB5276C74E}"/>
              </a:ext>
            </a:extLst>
          </p:cNvPr>
          <p:cNvSpPr txBox="1"/>
          <p:nvPr/>
        </p:nvSpPr>
        <p:spPr>
          <a:xfrm>
            <a:off x="8648700" y="4000500"/>
            <a:ext cx="87782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答辩评审</a:t>
            </a:r>
          </a:p>
        </p:txBody>
      </p:sp>
      <p:sp>
        <p:nvSpPr>
          <p:cNvPr id="152" name="TextBox 36">
            <a:extLst>
              <a:ext uri="{FF2B5EF4-FFF2-40B4-BE49-F238E27FC236}">
                <a16:creationId xmlns:a16="http://schemas.microsoft.com/office/drawing/2014/main" id="{AD783E90-D949-615F-6199-6FCC09C8E565}"/>
              </a:ext>
            </a:extLst>
          </p:cNvPr>
          <p:cNvSpPr txBox="1"/>
          <p:nvPr/>
        </p:nvSpPr>
        <p:spPr>
          <a:xfrm>
            <a:off x="9540240" y="4015740"/>
            <a:ext cx="170840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核验方案、作品与事实依据</a:t>
            </a:r>
          </a:p>
        </p:txBody>
      </p:sp>
      <p:sp>
        <p:nvSpPr>
          <p:cNvPr id="154" name="TextBox 37">
            <a:extLst>
              <a:ext uri="{FF2B5EF4-FFF2-40B4-BE49-F238E27FC236}">
                <a16:creationId xmlns:a16="http://schemas.microsoft.com/office/drawing/2014/main" id="{E78DC423-7897-21A1-620B-A1CD97A6FD30}"/>
              </a:ext>
            </a:extLst>
          </p:cNvPr>
          <p:cNvSpPr txBox="1"/>
          <p:nvPr/>
        </p:nvSpPr>
        <p:spPr>
          <a:xfrm>
            <a:off x="8648700" y="4434840"/>
            <a:ext cx="87782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结果复核</a:t>
            </a:r>
          </a:p>
        </p:txBody>
      </p:sp>
      <p:sp>
        <p:nvSpPr>
          <p:cNvPr id="156" name="TextBox 38">
            <a:extLst>
              <a:ext uri="{FF2B5EF4-FFF2-40B4-BE49-F238E27FC236}">
                <a16:creationId xmlns:a16="http://schemas.microsoft.com/office/drawing/2014/main" id="{05236A11-E13F-E9CD-9DE4-50D28883A789}"/>
              </a:ext>
            </a:extLst>
          </p:cNvPr>
          <p:cNvSpPr txBox="1"/>
          <p:nvPr/>
        </p:nvSpPr>
        <p:spPr>
          <a:xfrm>
            <a:off x="9540240" y="4450080"/>
            <a:ext cx="170840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处理抽查、复审与申诉</a:t>
            </a:r>
          </a:p>
        </p:txBody>
      </p:sp>
      <p:sp>
        <p:nvSpPr>
          <p:cNvPr id="158" name="TextBox 39">
            <a:extLst>
              <a:ext uri="{FF2B5EF4-FFF2-40B4-BE49-F238E27FC236}">
                <a16:creationId xmlns:a16="http://schemas.microsoft.com/office/drawing/2014/main" id="{D17E9378-A8B3-0410-24DF-9E76D0A18E93}"/>
              </a:ext>
            </a:extLst>
          </p:cNvPr>
          <p:cNvSpPr txBox="1"/>
          <p:nvPr/>
        </p:nvSpPr>
        <p:spPr>
          <a:xfrm>
            <a:off x="8648700" y="4869180"/>
            <a:ext cx="87782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证书管理</a:t>
            </a:r>
          </a:p>
        </p:txBody>
      </p:sp>
      <p:sp>
        <p:nvSpPr>
          <p:cNvPr id="160" name="TextBox 40">
            <a:extLst>
              <a:ext uri="{FF2B5EF4-FFF2-40B4-BE49-F238E27FC236}">
                <a16:creationId xmlns:a16="http://schemas.microsoft.com/office/drawing/2014/main" id="{D745A86D-512A-E8E9-3F04-1B7B197FC520}"/>
              </a:ext>
            </a:extLst>
          </p:cNvPr>
          <p:cNvSpPr txBox="1"/>
          <p:nvPr/>
        </p:nvSpPr>
        <p:spPr>
          <a:xfrm>
            <a:off x="9540240" y="4884420"/>
            <a:ext cx="170840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发放、查询、归档与应用</a:t>
            </a:r>
          </a:p>
        </p:txBody>
      </p:sp>
      <p:sp>
        <p:nvSpPr>
          <p:cNvPr id="162" name="TextBox 41">
            <a:extLst>
              <a:ext uri="{FF2B5EF4-FFF2-40B4-BE49-F238E27FC236}">
                <a16:creationId xmlns:a16="http://schemas.microsoft.com/office/drawing/2014/main" id="{7C7A28D0-DC13-2C51-CBA8-51C361C18A52}"/>
              </a:ext>
            </a:extLst>
          </p:cNvPr>
          <p:cNvSpPr txBox="1"/>
          <p:nvPr/>
        </p:nvSpPr>
        <p:spPr>
          <a:xfrm>
            <a:off x="815340" y="5610860"/>
            <a:ext cx="135026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zh-CN" sz="13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六项质量控制</a:t>
            </a:r>
          </a:p>
        </p:txBody>
      </p:sp>
      <p:sp>
        <p:nvSpPr>
          <p:cNvPr id="164" name="TextBox 42">
            <a:extLst>
              <a:ext uri="{FF2B5EF4-FFF2-40B4-BE49-F238E27FC236}">
                <a16:creationId xmlns:a16="http://schemas.microsoft.com/office/drawing/2014/main" id="{C1CC0F3E-766E-F1E3-1B2B-22A34BF16527}"/>
              </a:ext>
            </a:extLst>
          </p:cNvPr>
          <p:cNvSpPr txBox="1"/>
          <p:nvPr/>
        </p:nvSpPr>
        <p:spPr>
          <a:xfrm>
            <a:off x="815340" y="5900420"/>
            <a:ext cx="1350264" cy="3550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  <a:spcBef>
                <a:spcPts val="240"/>
              </a:spcBef>
            </a:pPr>
            <a:r>
              <a:rPr lang="zh-CN" sz="96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制度 + 证据共同建立信任</a:t>
            </a:r>
          </a:p>
        </p:txBody>
      </p:sp>
      <p:sp>
        <p:nvSpPr>
          <p:cNvPr id="166" name="TextBox 43">
            <a:extLst>
              <a:ext uri="{FF2B5EF4-FFF2-40B4-BE49-F238E27FC236}">
                <a16:creationId xmlns:a16="http://schemas.microsoft.com/office/drawing/2014/main" id="{247534CB-C998-D79B-03D9-9BADAC9126A9}"/>
              </a:ext>
            </a:extLst>
          </p:cNvPr>
          <p:cNvSpPr txBox="1"/>
          <p:nvPr/>
        </p:nvSpPr>
        <p:spPr>
          <a:xfrm>
            <a:off x="2286000" y="5626100"/>
            <a:ext cx="13959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命题版本</a:t>
            </a:r>
          </a:p>
        </p:txBody>
      </p:sp>
      <p:sp>
        <p:nvSpPr>
          <p:cNvPr id="168" name="TextBox 44">
            <a:extLst>
              <a:ext uri="{FF2B5EF4-FFF2-40B4-BE49-F238E27FC236}">
                <a16:creationId xmlns:a16="http://schemas.microsoft.com/office/drawing/2014/main" id="{CA589028-F09C-3FA8-F0F6-463B403267F6}"/>
              </a:ext>
            </a:extLst>
          </p:cNvPr>
          <p:cNvSpPr txBox="1"/>
          <p:nvPr/>
        </p:nvSpPr>
        <p:spPr>
          <a:xfrm>
            <a:off x="2286000" y="5854700"/>
            <a:ext cx="139598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05"/>
              </a:lnSpc>
              <a:spcBef>
                <a:spcPts val="18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题目与项目版本受控</a:t>
            </a:r>
          </a:p>
        </p:txBody>
      </p:sp>
      <p:sp>
        <p:nvSpPr>
          <p:cNvPr id="170" name="TextBox 45">
            <a:extLst>
              <a:ext uri="{FF2B5EF4-FFF2-40B4-BE49-F238E27FC236}">
                <a16:creationId xmlns:a16="http://schemas.microsoft.com/office/drawing/2014/main" id="{CFD6DE9B-8FE5-CF8F-2DF3-190AF829DCAA}"/>
              </a:ext>
            </a:extLst>
          </p:cNvPr>
          <p:cNvSpPr txBox="1"/>
          <p:nvPr/>
        </p:nvSpPr>
        <p:spPr>
          <a:xfrm>
            <a:off x="3825240" y="5626100"/>
            <a:ext cx="13959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身份考场</a:t>
            </a:r>
          </a:p>
        </p:txBody>
      </p:sp>
      <p:sp>
        <p:nvSpPr>
          <p:cNvPr id="172" name="TextBox 46">
            <a:extLst>
              <a:ext uri="{FF2B5EF4-FFF2-40B4-BE49-F238E27FC236}">
                <a16:creationId xmlns:a16="http://schemas.microsoft.com/office/drawing/2014/main" id="{181C1E73-C945-0B13-F07F-9B29D4AFF541}"/>
              </a:ext>
            </a:extLst>
          </p:cNvPr>
          <p:cNvSpPr txBox="1"/>
          <p:nvPr/>
        </p:nvSpPr>
        <p:spPr>
          <a:xfrm>
            <a:off x="3825240" y="5854700"/>
            <a:ext cx="139598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05"/>
              </a:lnSpc>
              <a:spcBef>
                <a:spcPts val="18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身份、环境与过程留痕</a:t>
            </a:r>
          </a:p>
        </p:txBody>
      </p:sp>
      <p:sp>
        <p:nvSpPr>
          <p:cNvPr id="174" name="TextBox 47">
            <a:extLst>
              <a:ext uri="{FF2B5EF4-FFF2-40B4-BE49-F238E27FC236}">
                <a16:creationId xmlns:a16="http://schemas.microsoft.com/office/drawing/2014/main" id="{B41AF1D6-8068-B27D-A36D-FC23DB30166C}"/>
              </a:ext>
            </a:extLst>
          </p:cNvPr>
          <p:cNvSpPr txBox="1"/>
          <p:nvPr/>
        </p:nvSpPr>
        <p:spPr>
          <a:xfrm>
            <a:off x="5356860" y="5626100"/>
            <a:ext cx="13959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评分一致</a:t>
            </a:r>
          </a:p>
        </p:txBody>
      </p:sp>
      <p:sp>
        <p:nvSpPr>
          <p:cNvPr id="176" name="TextBox 48">
            <a:extLst>
              <a:ext uri="{FF2B5EF4-FFF2-40B4-BE49-F238E27FC236}">
                <a16:creationId xmlns:a16="http://schemas.microsoft.com/office/drawing/2014/main" id="{D1267A8C-2E8F-7CAF-C10D-D313DDADCD4E}"/>
              </a:ext>
            </a:extLst>
          </p:cNvPr>
          <p:cNvSpPr txBox="1"/>
          <p:nvPr/>
        </p:nvSpPr>
        <p:spPr>
          <a:xfrm>
            <a:off x="5356860" y="5854700"/>
            <a:ext cx="139598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05"/>
              </a:lnSpc>
              <a:spcBef>
                <a:spcPts val="18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统一标准与评审培训</a:t>
            </a:r>
          </a:p>
        </p:txBody>
      </p:sp>
      <p:sp>
        <p:nvSpPr>
          <p:cNvPr id="178" name="TextBox 49">
            <a:extLst>
              <a:ext uri="{FF2B5EF4-FFF2-40B4-BE49-F238E27FC236}">
                <a16:creationId xmlns:a16="http://schemas.microsoft.com/office/drawing/2014/main" id="{ABCDE281-E06C-E047-F0AC-93B1E959EC37}"/>
              </a:ext>
            </a:extLst>
          </p:cNvPr>
          <p:cNvSpPr txBox="1"/>
          <p:nvPr/>
        </p:nvSpPr>
        <p:spPr>
          <a:xfrm>
            <a:off x="6896100" y="5626100"/>
            <a:ext cx="13959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申诉复核</a:t>
            </a:r>
          </a:p>
        </p:txBody>
      </p:sp>
      <p:sp>
        <p:nvSpPr>
          <p:cNvPr id="180" name="TextBox 50">
            <a:extLst>
              <a:ext uri="{FF2B5EF4-FFF2-40B4-BE49-F238E27FC236}">
                <a16:creationId xmlns:a16="http://schemas.microsoft.com/office/drawing/2014/main" id="{20FEE983-6AD1-9D06-D563-28C51696A8DD}"/>
              </a:ext>
            </a:extLst>
          </p:cNvPr>
          <p:cNvSpPr txBox="1"/>
          <p:nvPr/>
        </p:nvSpPr>
        <p:spPr>
          <a:xfrm>
            <a:off x="6896100" y="5854700"/>
            <a:ext cx="139598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05"/>
              </a:lnSpc>
              <a:spcBef>
                <a:spcPts val="18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保留依据并可追溯</a:t>
            </a:r>
          </a:p>
        </p:txBody>
      </p:sp>
      <p:sp>
        <p:nvSpPr>
          <p:cNvPr id="182" name="TextBox 51">
            <a:extLst>
              <a:ext uri="{FF2B5EF4-FFF2-40B4-BE49-F238E27FC236}">
                <a16:creationId xmlns:a16="http://schemas.microsoft.com/office/drawing/2014/main" id="{5CADAB2C-4F86-8B8C-9B1C-99EB4A65AA02}"/>
              </a:ext>
            </a:extLst>
          </p:cNvPr>
          <p:cNvSpPr txBox="1"/>
          <p:nvPr/>
        </p:nvSpPr>
        <p:spPr>
          <a:xfrm>
            <a:off x="8435340" y="5626100"/>
            <a:ext cx="13959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材料脱敏</a:t>
            </a:r>
          </a:p>
        </p:txBody>
      </p:sp>
      <p:sp>
        <p:nvSpPr>
          <p:cNvPr id="184" name="TextBox 52">
            <a:extLst>
              <a:ext uri="{FF2B5EF4-FFF2-40B4-BE49-F238E27FC236}">
                <a16:creationId xmlns:a16="http://schemas.microsoft.com/office/drawing/2014/main" id="{992F9FD7-A726-CAEE-CADE-A9661F9A4CC8}"/>
              </a:ext>
            </a:extLst>
          </p:cNvPr>
          <p:cNvSpPr txBox="1"/>
          <p:nvPr/>
        </p:nvSpPr>
        <p:spPr>
          <a:xfrm>
            <a:off x="8435340" y="5854700"/>
            <a:ext cx="139598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05"/>
              </a:lnSpc>
              <a:spcBef>
                <a:spcPts val="18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明确可评价数据边界</a:t>
            </a:r>
          </a:p>
        </p:txBody>
      </p:sp>
      <p:sp>
        <p:nvSpPr>
          <p:cNvPr id="186" name="TextBox 53">
            <a:extLst>
              <a:ext uri="{FF2B5EF4-FFF2-40B4-BE49-F238E27FC236}">
                <a16:creationId xmlns:a16="http://schemas.microsoft.com/office/drawing/2014/main" id="{1CDE4711-B09A-8ACF-1666-85BA6BD7E49E}"/>
              </a:ext>
            </a:extLst>
          </p:cNvPr>
          <p:cNvSpPr txBox="1"/>
          <p:nvPr/>
        </p:nvSpPr>
        <p:spPr>
          <a:xfrm>
            <a:off x="9966960" y="5626100"/>
            <a:ext cx="13959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知识产权</a:t>
            </a:r>
          </a:p>
        </p:txBody>
      </p:sp>
      <p:sp>
        <p:nvSpPr>
          <p:cNvPr id="188" name="TextBox 54">
            <a:extLst>
              <a:ext uri="{FF2B5EF4-FFF2-40B4-BE49-F238E27FC236}">
                <a16:creationId xmlns:a16="http://schemas.microsoft.com/office/drawing/2014/main" id="{D32F8ED2-1E99-54E7-5C09-28B62123FFAF}"/>
              </a:ext>
            </a:extLst>
          </p:cNvPr>
          <p:cNvSpPr txBox="1"/>
          <p:nvPr/>
        </p:nvSpPr>
        <p:spPr>
          <a:xfrm>
            <a:off x="9966960" y="5854700"/>
            <a:ext cx="139598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05"/>
              </a:lnSpc>
              <a:spcBef>
                <a:spcPts val="18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预先确认归属与归档</a:t>
            </a:r>
          </a:p>
        </p:txBody>
      </p:sp>
      <p:sp>
        <p:nvSpPr>
          <p:cNvPr id="192" name="TextBox 56">
            <a:extLst>
              <a:ext uri="{FF2B5EF4-FFF2-40B4-BE49-F238E27FC236}">
                <a16:creationId xmlns:a16="http://schemas.microsoft.com/office/drawing/2014/main" id="{0637484F-FC43-E570-2270-D6B7523F811B}"/>
              </a:ext>
            </a:extLst>
          </p:cNvPr>
          <p:cNvSpPr txBox="1"/>
          <p:nvPr/>
        </p:nvSpPr>
        <p:spPr>
          <a:xfrm>
            <a:off x="1010047" y="2242820"/>
            <a:ext cx="180951" cy="2484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980"/>
              </a:lnSpc>
            </a:pPr>
            <a:r>
              <a:rPr lang="en-US" sz="13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</a:p>
        </p:txBody>
      </p:sp>
      <p:sp>
        <p:nvSpPr>
          <p:cNvPr id="196" name="TextBox 58">
            <a:extLst>
              <a:ext uri="{FF2B5EF4-FFF2-40B4-BE49-F238E27FC236}">
                <a16:creationId xmlns:a16="http://schemas.microsoft.com/office/drawing/2014/main" id="{74C0060E-204B-5D9C-ECDC-B45ABFA5550A}"/>
              </a:ext>
            </a:extLst>
          </p:cNvPr>
          <p:cNvSpPr txBox="1"/>
          <p:nvPr/>
        </p:nvSpPr>
        <p:spPr>
          <a:xfrm>
            <a:off x="6063297" y="2236470"/>
            <a:ext cx="169521" cy="2484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980"/>
              </a:lnSpc>
            </a:pPr>
            <a:r>
              <a:rPr lang="en-US" sz="13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</a:p>
        </p:txBody>
      </p:sp>
      <p:sp>
        <p:nvSpPr>
          <p:cNvPr id="198" name="TextBox 59">
            <a:extLst>
              <a:ext uri="{FF2B5EF4-FFF2-40B4-BE49-F238E27FC236}">
                <a16:creationId xmlns:a16="http://schemas.microsoft.com/office/drawing/2014/main" id="{D595171F-FDF2-4978-363D-47C5C2047961}"/>
              </a:ext>
            </a:extLst>
          </p:cNvPr>
          <p:cNvSpPr txBox="1"/>
          <p:nvPr/>
        </p:nvSpPr>
        <p:spPr>
          <a:xfrm>
            <a:off x="3411141" y="3646170"/>
            <a:ext cx="688848" cy="21854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40"/>
              </a:lnSpc>
            </a:pPr>
            <a:r>
              <a:rPr lang="zh-CN" sz="96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确定起点</a:t>
            </a:r>
          </a:p>
        </p:txBody>
      </p:sp>
      <p:sp>
        <p:nvSpPr>
          <p:cNvPr id="200" name="TextBox 60">
            <a:extLst>
              <a:ext uri="{FF2B5EF4-FFF2-40B4-BE49-F238E27FC236}">
                <a16:creationId xmlns:a16="http://schemas.microsoft.com/office/drawing/2014/main" id="{71EE6BDD-05D7-6593-4F89-F04A4E7AA469}"/>
              </a:ext>
            </a:extLst>
          </p:cNvPr>
          <p:cNvSpPr txBox="1"/>
          <p:nvPr/>
        </p:nvSpPr>
        <p:spPr>
          <a:xfrm>
            <a:off x="1024057" y="4009390"/>
            <a:ext cx="22405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202" name="TextBox 61">
            <a:extLst>
              <a:ext uri="{FF2B5EF4-FFF2-40B4-BE49-F238E27FC236}">
                <a16:creationId xmlns:a16="http://schemas.microsoft.com/office/drawing/2014/main" id="{3F130154-3833-CB1E-E23B-C0BFCE251ED2}"/>
              </a:ext>
            </a:extLst>
          </p:cNvPr>
          <p:cNvSpPr txBox="1"/>
          <p:nvPr/>
        </p:nvSpPr>
        <p:spPr>
          <a:xfrm>
            <a:off x="1017707" y="4437380"/>
            <a:ext cx="22405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204" name="TextBox 62">
            <a:extLst>
              <a:ext uri="{FF2B5EF4-FFF2-40B4-BE49-F238E27FC236}">
                <a16:creationId xmlns:a16="http://schemas.microsoft.com/office/drawing/2014/main" id="{45FEF757-D389-3C6B-C09D-38056C8B6853}"/>
              </a:ext>
            </a:extLst>
          </p:cNvPr>
          <p:cNvSpPr txBox="1"/>
          <p:nvPr/>
        </p:nvSpPr>
        <p:spPr>
          <a:xfrm>
            <a:off x="1024057" y="4878070"/>
            <a:ext cx="22405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206" name="TextBox 63">
            <a:extLst>
              <a:ext uri="{FF2B5EF4-FFF2-40B4-BE49-F238E27FC236}">
                <a16:creationId xmlns:a16="http://schemas.microsoft.com/office/drawing/2014/main" id="{D18BDB55-C4D2-D0DD-E3A1-A1A2D16A32F3}"/>
              </a:ext>
            </a:extLst>
          </p:cNvPr>
          <p:cNvSpPr txBox="1"/>
          <p:nvPr/>
        </p:nvSpPr>
        <p:spPr>
          <a:xfrm>
            <a:off x="4200287" y="4295140"/>
            <a:ext cx="164592" cy="2636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160"/>
              </a:lnSpc>
              <a:spcBef>
                <a:spcPts val="480"/>
              </a:spcBef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</a:p>
        </p:txBody>
      </p:sp>
      <p:sp>
        <p:nvSpPr>
          <p:cNvPr id="208" name="TextBox 64">
            <a:extLst>
              <a:ext uri="{FF2B5EF4-FFF2-40B4-BE49-F238E27FC236}">
                <a16:creationId xmlns:a16="http://schemas.microsoft.com/office/drawing/2014/main" id="{6039BF04-7BD6-0AB3-F22B-957040BA8B7D}"/>
              </a:ext>
            </a:extLst>
          </p:cNvPr>
          <p:cNvSpPr txBox="1"/>
          <p:nvPr/>
        </p:nvSpPr>
        <p:spPr>
          <a:xfrm>
            <a:off x="7058620" y="3646170"/>
            <a:ext cx="688848" cy="21854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40"/>
              </a:lnSpc>
            </a:pPr>
            <a:r>
              <a:rPr lang="zh-CN" sz="96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生成证据</a:t>
            </a:r>
          </a:p>
        </p:txBody>
      </p:sp>
      <p:sp>
        <p:nvSpPr>
          <p:cNvPr id="210" name="TextBox 65">
            <a:extLst>
              <a:ext uri="{FF2B5EF4-FFF2-40B4-BE49-F238E27FC236}">
                <a16:creationId xmlns:a16="http://schemas.microsoft.com/office/drawing/2014/main" id="{7A213EC5-F86C-4F05-06C4-D872BD1A83AB}"/>
              </a:ext>
            </a:extLst>
          </p:cNvPr>
          <p:cNvSpPr txBox="1"/>
          <p:nvPr/>
        </p:nvSpPr>
        <p:spPr>
          <a:xfrm>
            <a:off x="4671417" y="4009390"/>
            <a:ext cx="22405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212" name="TextBox 66">
            <a:extLst>
              <a:ext uri="{FF2B5EF4-FFF2-40B4-BE49-F238E27FC236}">
                <a16:creationId xmlns:a16="http://schemas.microsoft.com/office/drawing/2014/main" id="{5E2D349A-5D76-0F3C-487B-84EE96CF433A}"/>
              </a:ext>
            </a:extLst>
          </p:cNvPr>
          <p:cNvSpPr txBox="1"/>
          <p:nvPr/>
        </p:nvSpPr>
        <p:spPr>
          <a:xfrm>
            <a:off x="4665067" y="4437380"/>
            <a:ext cx="22405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</a:p>
        </p:txBody>
      </p:sp>
      <p:sp>
        <p:nvSpPr>
          <p:cNvPr id="214" name="TextBox 67">
            <a:extLst>
              <a:ext uri="{FF2B5EF4-FFF2-40B4-BE49-F238E27FC236}">
                <a16:creationId xmlns:a16="http://schemas.microsoft.com/office/drawing/2014/main" id="{957297B4-63A1-2527-7044-8934097E8693}"/>
              </a:ext>
            </a:extLst>
          </p:cNvPr>
          <p:cNvSpPr txBox="1"/>
          <p:nvPr/>
        </p:nvSpPr>
        <p:spPr>
          <a:xfrm>
            <a:off x="4665067" y="4878070"/>
            <a:ext cx="22405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</a:p>
        </p:txBody>
      </p:sp>
      <p:sp>
        <p:nvSpPr>
          <p:cNvPr id="216" name="TextBox 68">
            <a:extLst>
              <a:ext uri="{FF2B5EF4-FFF2-40B4-BE49-F238E27FC236}">
                <a16:creationId xmlns:a16="http://schemas.microsoft.com/office/drawing/2014/main" id="{F378697B-354C-4557-7E65-E88CBCA3DFAA}"/>
              </a:ext>
            </a:extLst>
          </p:cNvPr>
          <p:cNvSpPr txBox="1"/>
          <p:nvPr/>
        </p:nvSpPr>
        <p:spPr>
          <a:xfrm>
            <a:off x="7854117" y="4295140"/>
            <a:ext cx="164592" cy="2636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160"/>
              </a:lnSpc>
              <a:spcBef>
                <a:spcPts val="480"/>
              </a:spcBef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</a:p>
        </p:txBody>
      </p:sp>
      <p:sp>
        <p:nvSpPr>
          <p:cNvPr id="218" name="TextBox 69">
            <a:extLst>
              <a:ext uri="{FF2B5EF4-FFF2-40B4-BE49-F238E27FC236}">
                <a16:creationId xmlns:a16="http://schemas.microsoft.com/office/drawing/2014/main" id="{4035D591-7F37-94DC-A0B8-1E9B33E3EC85}"/>
              </a:ext>
            </a:extLst>
          </p:cNvPr>
          <p:cNvSpPr txBox="1"/>
          <p:nvPr/>
        </p:nvSpPr>
        <p:spPr>
          <a:xfrm>
            <a:off x="10705981" y="3646170"/>
            <a:ext cx="688848" cy="21854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40"/>
              </a:lnSpc>
            </a:pPr>
            <a:r>
              <a:rPr lang="zh-CN" sz="96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确认结果</a:t>
            </a:r>
          </a:p>
        </p:txBody>
      </p:sp>
      <p:sp>
        <p:nvSpPr>
          <p:cNvPr id="220" name="TextBox 70">
            <a:extLst>
              <a:ext uri="{FF2B5EF4-FFF2-40B4-BE49-F238E27FC236}">
                <a16:creationId xmlns:a16="http://schemas.microsoft.com/office/drawing/2014/main" id="{C710982F-9860-F8DE-0E88-F2F14A4FD0B5}"/>
              </a:ext>
            </a:extLst>
          </p:cNvPr>
          <p:cNvSpPr txBox="1"/>
          <p:nvPr/>
        </p:nvSpPr>
        <p:spPr>
          <a:xfrm>
            <a:off x="8306197" y="4009390"/>
            <a:ext cx="22405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</a:p>
        </p:txBody>
      </p:sp>
      <p:sp>
        <p:nvSpPr>
          <p:cNvPr id="222" name="TextBox 71">
            <a:extLst>
              <a:ext uri="{FF2B5EF4-FFF2-40B4-BE49-F238E27FC236}">
                <a16:creationId xmlns:a16="http://schemas.microsoft.com/office/drawing/2014/main" id="{09C4D082-70BA-CC44-B124-0A959C212A4B}"/>
              </a:ext>
            </a:extLst>
          </p:cNvPr>
          <p:cNvSpPr txBox="1"/>
          <p:nvPr/>
        </p:nvSpPr>
        <p:spPr>
          <a:xfrm>
            <a:off x="8318897" y="4437380"/>
            <a:ext cx="22405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</a:p>
        </p:txBody>
      </p:sp>
      <p:sp>
        <p:nvSpPr>
          <p:cNvPr id="224" name="TextBox 72">
            <a:extLst>
              <a:ext uri="{FF2B5EF4-FFF2-40B4-BE49-F238E27FC236}">
                <a16:creationId xmlns:a16="http://schemas.microsoft.com/office/drawing/2014/main" id="{626FE45E-37D8-7A4E-50FF-F840B2001F2D}"/>
              </a:ext>
            </a:extLst>
          </p:cNvPr>
          <p:cNvSpPr txBox="1"/>
          <p:nvPr/>
        </p:nvSpPr>
        <p:spPr>
          <a:xfrm>
            <a:off x="8325247" y="4871720"/>
            <a:ext cx="22405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7710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1DD24-9A19-67C4-A9EC-4FE12ED16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263AB9-8E7B-9A93-D094-D751E8EA8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zh-CN" altLang="en-US" dirty="0"/>
              <a:t>双产品支撑学习、实训与真实工作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DCD22EC-1165-CF62-514A-80225E6FAB76}"/>
              </a:ext>
            </a:extLst>
          </p:cNvPr>
          <p:cNvSpPr/>
          <p:nvPr/>
        </p:nvSpPr>
        <p:spPr>
          <a:xfrm>
            <a:off x="609600" y="1054760"/>
            <a:ext cx="10972800" cy="586740"/>
          </a:xfrm>
          <a:prstGeom prst="roundRect">
            <a:avLst>
              <a:gd name="adj" fmla="val 23377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1D5A14A3-18EF-EA68-4007-4198C65C0134}"/>
              </a:ext>
            </a:extLst>
          </p:cNvPr>
          <p:cNvSpPr/>
          <p:nvPr/>
        </p:nvSpPr>
        <p:spPr>
          <a:xfrm>
            <a:off x="800100" y="1184300"/>
            <a:ext cx="792480" cy="327660"/>
          </a:xfrm>
          <a:prstGeom prst="roundRect">
            <a:avLst>
              <a:gd name="adj" fmla="val 18605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5B3B9BB-15B0-DE24-AA54-E8BA706944C2}"/>
              </a:ext>
            </a:extLst>
          </p:cNvPr>
          <p:cNvSpPr/>
          <p:nvPr/>
        </p:nvSpPr>
        <p:spPr>
          <a:xfrm>
            <a:off x="609600" y="1666240"/>
            <a:ext cx="4526280" cy="4919503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B62B9B1-6FB1-31A8-297F-BC04CE4A3298}"/>
              </a:ext>
            </a:extLst>
          </p:cNvPr>
          <p:cNvSpPr/>
          <p:nvPr/>
        </p:nvSpPr>
        <p:spPr>
          <a:xfrm>
            <a:off x="617220" y="1673860"/>
            <a:ext cx="4511040" cy="1329690"/>
          </a:xfrm>
          <a:prstGeom prst="rect">
            <a:avLst/>
          </a:prstGeom>
          <a:solidFill>
            <a:srgbClr val="0565FF"/>
          </a:solidFill>
          <a:ln>
            <a:noFill/>
          </a:ln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8E7F334D-1680-53BD-53EA-C113BBFEAAEE}"/>
              </a:ext>
            </a:extLst>
          </p:cNvPr>
          <p:cNvSpPr/>
          <p:nvPr/>
        </p:nvSpPr>
        <p:spPr>
          <a:xfrm>
            <a:off x="3530560" y="1910080"/>
            <a:ext cx="1414820" cy="33909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50F7CBCE-544D-7386-827F-DD867E926357}"/>
              </a:ext>
            </a:extLst>
          </p:cNvPr>
          <p:cNvSpPr/>
          <p:nvPr/>
        </p:nvSpPr>
        <p:spPr>
          <a:xfrm>
            <a:off x="617220" y="3741455"/>
            <a:ext cx="4511040" cy="649129"/>
          </a:xfrm>
          <a:prstGeom prst="rect">
            <a:avLst/>
          </a:prstGeom>
          <a:solidFill>
            <a:srgbClr val="F8FCFF"/>
          </a:solidFill>
          <a:ln>
            <a:noFill/>
          </a:ln>
        </p:spPr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536827CE-1C40-3B04-9884-BCBE2DB37ADD}"/>
              </a:ext>
            </a:extLst>
          </p:cNvPr>
          <p:cNvSpPr/>
          <p:nvPr/>
        </p:nvSpPr>
        <p:spPr>
          <a:xfrm>
            <a:off x="617220" y="3745265"/>
            <a:ext cx="4511040" cy="914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3AED6B5D-FB32-9AC8-A6E6-33499665B370}"/>
              </a:ext>
            </a:extLst>
          </p:cNvPr>
          <p:cNvSpPr/>
          <p:nvPr/>
        </p:nvSpPr>
        <p:spPr>
          <a:xfrm>
            <a:off x="617220" y="4394394"/>
            <a:ext cx="4511040" cy="914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B8E7CCFD-C143-6DE2-791C-76CBA05D4771}"/>
              </a:ext>
            </a:extLst>
          </p:cNvPr>
          <p:cNvSpPr/>
          <p:nvPr/>
        </p:nvSpPr>
        <p:spPr>
          <a:xfrm>
            <a:off x="617220" y="5039712"/>
            <a:ext cx="4511040" cy="649129"/>
          </a:xfrm>
          <a:prstGeom prst="rect">
            <a:avLst/>
          </a:prstGeom>
          <a:solidFill>
            <a:srgbClr val="F8FCFF"/>
          </a:solidFill>
          <a:ln>
            <a:noFill/>
          </a:ln>
        </p:spPr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D7DEFE60-582D-7980-9622-C1DED26B3002}"/>
              </a:ext>
            </a:extLst>
          </p:cNvPr>
          <p:cNvSpPr/>
          <p:nvPr/>
        </p:nvSpPr>
        <p:spPr>
          <a:xfrm>
            <a:off x="617220" y="5043522"/>
            <a:ext cx="4511040" cy="914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E1ACD9D0-668D-7078-461C-595BD422200B}"/>
              </a:ext>
            </a:extLst>
          </p:cNvPr>
          <p:cNvSpPr/>
          <p:nvPr/>
        </p:nvSpPr>
        <p:spPr>
          <a:xfrm>
            <a:off x="769620" y="5841241"/>
            <a:ext cx="1005840" cy="327660"/>
          </a:xfrm>
          <a:prstGeom prst="roundRect">
            <a:avLst>
              <a:gd name="adj" fmla="val 18605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D6DE2CB1-004E-B00F-EDD3-43E13B28F050}"/>
              </a:ext>
            </a:extLst>
          </p:cNvPr>
          <p:cNvSpPr/>
          <p:nvPr/>
        </p:nvSpPr>
        <p:spPr>
          <a:xfrm>
            <a:off x="1836420" y="5841241"/>
            <a:ext cx="1005840" cy="327660"/>
          </a:xfrm>
          <a:prstGeom prst="roundRect">
            <a:avLst>
              <a:gd name="adj" fmla="val 18605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04A0B538-2594-B186-753B-B617271C6E93}"/>
              </a:ext>
            </a:extLst>
          </p:cNvPr>
          <p:cNvSpPr/>
          <p:nvPr/>
        </p:nvSpPr>
        <p:spPr>
          <a:xfrm>
            <a:off x="2903220" y="5841241"/>
            <a:ext cx="1005840" cy="327660"/>
          </a:xfrm>
          <a:prstGeom prst="roundRect">
            <a:avLst>
              <a:gd name="adj" fmla="val 18605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8A493E76-1733-5FC0-FB7D-11E88E3C9E68}"/>
              </a:ext>
            </a:extLst>
          </p:cNvPr>
          <p:cNvSpPr/>
          <p:nvPr/>
        </p:nvSpPr>
        <p:spPr>
          <a:xfrm>
            <a:off x="3970020" y="5841241"/>
            <a:ext cx="1005840" cy="327660"/>
          </a:xfrm>
          <a:prstGeom prst="roundRect">
            <a:avLst>
              <a:gd name="adj" fmla="val 18605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FB834684-0395-A78D-1E60-29CBF1EEEAAF}"/>
              </a:ext>
            </a:extLst>
          </p:cNvPr>
          <p:cNvSpPr/>
          <p:nvPr/>
        </p:nvSpPr>
        <p:spPr>
          <a:xfrm>
            <a:off x="5257800" y="1666240"/>
            <a:ext cx="1676400" cy="1505664"/>
          </a:xfrm>
          <a:prstGeom prst="roundRect">
            <a:avLst>
              <a:gd name="adj" fmla="val 9110"/>
            </a:avLst>
          </a:prstGeom>
          <a:solidFill>
            <a:srgbClr val="ECF7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0DA29C22-6047-F5D2-8288-0B17139F7FDA}"/>
              </a:ext>
            </a:extLst>
          </p:cNvPr>
          <p:cNvSpPr/>
          <p:nvPr/>
        </p:nvSpPr>
        <p:spPr>
          <a:xfrm>
            <a:off x="5257800" y="3735784"/>
            <a:ext cx="1676400" cy="1257300"/>
          </a:xfrm>
          <a:prstGeom prst="roundRect">
            <a:avLst>
              <a:gd name="adj" fmla="val 10909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54CA78A2-005C-F2A1-082E-2F4E0BE9C554}"/>
              </a:ext>
            </a:extLst>
          </p:cNvPr>
          <p:cNvSpPr/>
          <p:nvPr/>
        </p:nvSpPr>
        <p:spPr>
          <a:xfrm>
            <a:off x="5387340" y="4200652"/>
            <a:ext cx="1424940" cy="670512"/>
          </a:xfrm>
          <a:prstGeom prst="roundRect">
            <a:avLst>
              <a:gd name="adj" fmla="val 18605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38" name="Shape 21">
            <a:extLst>
              <a:ext uri="{FF2B5EF4-FFF2-40B4-BE49-F238E27FC236}">
                <a16:creationId xmlns:a16="http://schemas.microsoft.com/office/drawing/2014/main" id="{C33CF670-FAC7-8D82-3ADC-D60414914488}"/>
              </a:ext>
            </a:extLst>
          </p:cNvPr>
          <p:cNvSpPr/>
          <p:nvPr/>
        </p:nvSpPr>
        <p:spPr>
          <a:xfrm>
            <a:off x="5257800" y="5115004"/>
            <a:ext cx="1676400" cy="1470739"/>
          </a:xfrm>
          <a:prstGeom prst="roundRect">
            <a:avLst>
              <a:gd name="adj" fmla="val 8182"/>
            </a:avLst>
          </a:prstGeom>
          <a:solidFill>
            <a:srgbClr val="F1FBF7"/>
          </a:solidFill>
          <a:ln w="9525">
            <a:solidFill>
              <a:srgbClr val="BDE8DA"/>
            </a:solidFill>
            <a:prstDash val="solid"/>
          </a:ln>
        </p:spPr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3C52A2F2-B9CD-9FE8-6054-814C03B715EC}"/>
              </a:ext>
            </a:extLst>
          </p:cNvPr>
          <p:cNvSpPr/>
          <p:nvPr/>
        </p:nvSpPr>
        <p:spPr>
          <a:xfrm>
            <a:off x="7056120" y="1666240"/>
            <a:ext cx="4526280" cy="4919503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BDE8DA"/>
            </a:solidFill>
            <a:prstDash val="solid"/>
          </a:ln>
        </p:spPr>
      </p:sp>
      <p:sp>
        <p:nvSpPr>
          <p:cNvPr id="42" name="Shape 23">
            <a:extLst>
              <a:ext uri="{FF2B5EF4-FFF2-40B4-BE49-F238E27FC236}">
                <a16:creationId xmlns:a16="http://schemas.microsoft.com/office/drawing/2014/main" id="{41CDF545-31DC-9B74-586D-5DEE2A19E4FB}"/>
              </a:ext>
            </a:extLst>
          </p:cNvPr>
          <p:cNvSpPr/>
          <p:nvPr/>
        </p:nvSpPr>
        <p:spPr>
          <a:xfrm>
            <a:off x="7063740" y="1673860"/>
            <a:ext cx="4511040" cy="1329690"/>
          </a:xfrm>
          <a:prstGeom prst="rect">
            <a:avLst/>
          </a:prstGeom>
          <a:solidFill>
            <a:srgbClr val="00AB7A"/>
          </a:solidFill>
          <a:ln>
            <a:noFill/>
          </a:ln>
        </p:spPr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9CDEE7E5-9975-E3A9-39A2-A84382E8D245}"/>
              </a:ext>
            </a:extLst>
          </p:cNvPr>
          <p:cNvSpPr/>
          <p:nvPr/>
        </p:nvSpPr>
        <p:spPr>
          <a:xfrm>
            <a:off x="9989820" y="1910080"/>
            <a:ext cx="1402080" cy="33909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46" name="Shape 25">
            <a:extLst>
              <a:ext uri="{FF2B5EF4-FFF2-40B4-BE49-F238E27FC236}">
                <a16:creationId xmlns:a16="http://schemas.microsoft.com/office/drawing/2014/main" id="{B553504B-9589-6DA8-F86F-C2584C9E601B}"/>
              </a:ext>
            </a:extLst>
          </p:cNvPr>
          <p:cNvSpPr/>
          <p:nvPr/>
        </p:nvSpPr>
        <p:spPr>
          <a:xfrm>
            <a:off x="7063740" y="3741455"/>
            <a:ext cx="4511040" cy="649129"/>
          </a:xfrm>
          <a:prstGeom prst="rect">
            <a:avLst/>
          </a:prstGeom>
          <a:solidFill>
            <a:srgbClr val="F1FBF7"/>
          </a:solidFill>
          <a:ln>
            <a:noFill/>
          </a:ln>
        </p:spPr>
      </p:sp>
      <p:sp>
        <p:nvSpPr>
          <p:cNvPr id="48" name="Shape 26">
            <a:extLst>
              <a:ext uri="{FF2B5EF4-FFF2-40B4-BE49-F238E27FC236}">
                <a16:creationId xmlns:a16="http://schemas.microsoft.com/office/drawing/2014/main" id="{B27E5C45-BFE2-4654-E744-2B5726042FB3}"/>
              </a:ext>
            </a:extLst>
          </p:cNvPr>
          <p:cNvSpPr/>
          <p:nvPr/>
        </p:nvSpPr>
        <p:spPr>
          <a:xfrm>
            <a:off x="7063740" y="3745265"/>
            <a:ext cx="4511040" cy="914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50" name="Shape 27">
            <a:extLst>
              <a:ext uri="{FF2B5EF4-FFF2-40B4-BE49-F238E27FC236}">
                <a16:creationId xmlns:a16="http://schemas.microsoft.com/office/drawing/2014/main" id="{A50EE4B7-617C-F6AD-37C3-2C89118DE728}"/>
              </a:ext>
            </a:extLst>
          </p:cNvPr>
          <p:cNvSpPr/>
          <p:nvPr/>
        </p:nvSpPr>
        <p:spPr>
          <a:xfrm>
            <a:off x="7063740" y="4394394"/>
            <a:ext cx="4511040" cy="914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52" name="Shape 28">
            <a:extLst>
              <a:ext uri="{FF2B5EF4-FFF2-40B4-BE49-F238E27FC236}">
                <a16:creationId xmlns:a16="http://schemas.microsoft.com/office/drawing/2014/main" id="{B70E766F-14E2-C0DB-AEEF-3F183CFDF94C}"/>
              </a:ext>
            </a:extLst>
          </p:cNvPr>
          <p:cNvSpPr/>
          <p:nvPr/>
        </p:nvSpPr>
        <p:spPr>
          <a:xfrm>
            <a:off x="7063740" y="5039712"/>
            <a:ext cx="4511040" cy="649129"/>
          </a:xfrm>
          <a:prstGeom prst="rect">
            <a:avLst/>
          </a:prstGeom>
          <a:solidFill>
            <a:srgbClr val="F1FBF7"/>
          </a:solidFill>
          <a:ln>
            <a:noFill/>
          </a:ln>
        </p:spPr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A5C1EC4-D90D-000A-1BC9-76CB7287BC92}"/>
              </a:ext>
            </a:extLst>
          </p:cNvPr>
          <p:cNvSpPr/>
          <p:nvPr/>
        </p:nvSpPr>
        <p:spPr>
          <a:xfrm>
            <a:off x="7063740" y="5043522"/>
            <a:ext cx="4511040" cy="914"/>
          </a:xfrm>
          <a:prstGeom prst="line">
            <a:avLst/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56" name="Shape 30">
            <a:extLst>
              <a:ext uri="{FF2B5EF4-FFF2-40B4-BE49-F238E27FC236}">
                <a16:creationId xmlns:a16="http://schemas.microsoft.com/office/drawing/2014/main" id="{EB5612A0-824E-134A-42FB-7EC199029740}"/>
              </a:ext>
            </a:extLst>
          </p:cNvPr>
          <p:cNvSpPr/>
          <p:nvPr/>
        </p:nvSpPr>
        <p:spPr>
          <a:xfrm>
            <a:off x="7216140" y="5841241"/>
            <a:ext cx="1005840" cy="327660"/>
          </a:xfrm>
          <a:prstGeom prst="roundRect">
            <a:avLst>
              <a:gd name="adj" fmla="val 18605"/>
            </a:avLst>
          </a:prstGeom>
          <a:solidFill>
            <a:srgbClr val="EAF8F3"/>
          </a:solidFill>
          <a:ln>
            <a:noFill/>
          </a:ln>
        </p:spPr>
      </p:sp>
      <p:sp>
        <p:nvSpPr>
          <p:cNvPr id="58" name="Shape 31">
            <a:extLst>
              <a:ext uri="{FF2B5EF4-FFF2-40B4-BE49-F238E27FC236}">
                <a16:creationId xmlns:a16="http://schemas.microsoft.com/office/drawing/2014/main" id="{040D8EF5-25D1-AEA8-ECBD-49C4C054C86C}"/>
              </a:ext>
            </a:extLst>
          </p:cNvPr>
          <p:cNvSpPr/>
          <p:nvPr/>
        </p:nvSpPr>
        <p:spPr>
          <a:xfrm>
            <a:off x="8282940" y="5841241"/>
            <a:ext cx="1005840" cy="327660"/>
          </a:xfrm>
          <a:prstGeom prst="roundRect">
            <a:avLst>
              <a:gd name="adj" fmla="val 18605"/>
            </a:avLst>
          </a:prstGeom>
          <a:solidFill>
            <a:srgbClr val="EAF8F3"/>
          </a:solidFill>
          <a:ln>
            <a:noFill/>
          </a:ln>
        </p:spPr>
      </p:sp>
      <p:sp>
        <p:nvSpPr>
          <p:cNvPr id="60" name="Shape 32">
            <a:extLst>
              <a:ext uri="{FF2B5EF4-FFF2-40B4-BE49-F238E27FC236}">
                <a16:creationId xmlns:a16="http://schemas.microsoft.com/office/drawing/2014/main" id="{6B355EB4-8039-B9E8-D4B3-AFCD57CC57F3}"/>
              </a:ext>
            </a:extLst>
          </p:cNvPr>
          <p:cNvSpPr/>
          <p:nvPr/>
        </p:nvSpPr>
        <p:spPr>
          <a:xfrm>
            <a:off x="9349740" y="5841241"/>
            <a:ext cx="1005840" cy="327660"/>
          </a:xfrm>
          <a:prstGeom prst="roundRect">
            <a:avLst>
              <a:gd name="adj" fmla="val 18605"/>
            </a:avLst>
          </a:prstGeom>
          <a:solidFill>
            <a:srgbClr val="EAF8F3"/>
          </a:solidFill>
          <a:ln>
            <a:noFill/>
          </a:ln>
        </p:spPr>
      </p:sp>
      <p:sp>
        <p:nvSpPr>
          <p:cNvPr id="62" name="Shape 33">
            <a:extLst>
              <a:ext uri="{FF2B5EF4-FFF2-40B4-BE49-F238E27FC236}">
                <a16:creationId xmlns:a16="http://schemas.microsoft.com/office/drawing/2014/main" id="{F00B4A15-14D5-4961-155A-E5A37158A874}"/>
              </a:ext>
            </a:extLst>
          </p:cNvPr>
          <p:cNvSpPr/>
          <p:nvPr/>
        </p:nvSpPr>
        <p:spPr>
          <a:xfrm>
            <a:off x="10416540" y="5841241"/>
            <a:ext cx="1005840" cy="327660"/>
          </a:xfrm>
          <a:prstGeom prst="roundRect">
            <a:avLst>
              <a:gd name="adj" fmla="val 18605"/>
            </a:avLst>
          </a:prstGeom>
          <a:solidFill>
            <a:srgbClr val="EAF8F3"/>
          </a:solidFill>
          <a:ln>
            <a:noFill/>
          </a:ln>
        </p:spPr>
      </p:sp>
      <p:sp>
        <p:nvSpPr>
          <p:cNvPr id="64" name="TextBox 5">
            <a:extLst>
              <a:ext uri="{FF2B5EF4-FFF2-40B4-BE49-F238E27FC236}">
                <a16:creationId xmlns:a16="http://schemas.microsoft.com/office/drawing/2014/main" id="{9870AFE0-84E1-7FB9-9B6B-EA4B27C1DDF6}"/>
              </a:ext>
            </a:extLst>
          </p:cNvPr>
          <p:cNvSpPr txBox="1"/>
          <p:nvPr/>
        </p:nvSpPr>
        <p:spPr>
          <a:xfrm>
            <a:off x="1744980" y="1214780"/>
            <a:ext cx="753008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05"/>
              </a:lnSpc>
            </a:pPr>
            <a:r>
              <a:rPr lang="zh-CN" sz="156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纳米Work让员工</a:t>
            </a:r>
            <a:r>
              <a:rPr lang="zh-CN" sz="156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“用起来”</a:t>
            </a:r>
            <a:r>
              <a:rPr lang="zh-CN" sz="156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，实训平台让专业人才</a:t>
            </a:r>
            <a:r>
              <a:rPr lang="zh-CN" sz="156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“练出来、评出来、交付出来”</a:t>
            </a:r>
            <a:r>
              <a:rPr lang="en-US" sz="156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66" name="TextBox 6">
            <a:extLst>
              <a:ext uri="{FF2B5EF4-FFF2-40B4-BE49-F238E27FC236}">
                <a16:creationId xmlns:a16="http://schemas.microsoft.com/office/drawing/2014/main" id="{D6018644-A689-7728-F9F4-8BF4A50787F4}"/>
              </a:ext>
            </a:extLst>
          </p:cNvPr>
          <p:cNvSpPr txBox="1"/>
          <p:nvPr/>
        </p:nvSpPr>
        <p:spPr>
          <a:xfrm>
            <a:off x="800100" y="1795780"/>
            <a:ext cx="14417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DAILY WORKSPACE</a:t>
            </a:r>
          </a:p>
        </p:txBody>
      </p:sp>
      <p:sp>
        <p:nvSpPr>
          <p:cNvPr id="68" name="TextBox 7">
            <a:extLst>
              <a:ext uri="{FF2B5EF4-FFF2-40B4-BE49-F238E27FC236}">
                <a16:creationId xmlns:a16="http://schemas.microsoft.com/office/drawing/2014/main" id="{04516069-D38B-CD73-28A2-023069470251}"/>
              </a:ext>
            </a:extLst>
          </p:cNvPr>
          <p:cNvSpPr txBox="1"/>
          <p:nvPr/>
        </p:nvSpPr>
        <p:spPr>
          <a:xfrm>
            <a:off x="800100" y="2032000"/>
            <a:ext cx="1441704" cy="3627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610"/>
              </a:lnSpc>
              <a:spcBef>
                <a:spcPts val="240"/>
              </a:spcBef>
            </a:pPr>
            <a:r>
              <a:rPr lang="zh-CN" sz="17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纳米Work</a:t>
            </a:r>
          </a:p>
        </p:txBody>
      </p:sp>
      <p:sp>
        <p:nvSpPr>
          <p:cNvPr id="70" name="TextBox 8">
            <a:extLst>
              <a:ext uri="{FF2B5EF4-FFF2-40B4-BE49-F238E27FC236}">
                <a16:creationId xmlns:a16="http://schemas.microsoft.com/office/drawing/2014/main" id="{D44FB9F1-0D30-5D8F-FEBA-DFA8F00DDD1D}"/>
              </a:ext>
            </a:extLst>
          </p:cNvPr>
          <p:cNvSpPr txBox="1"/>
          <p:nvPr/>
        </p:nvSpPr>
        <p:spPr>
          <a:xfrm>
            <a:off x="3635136" y="1929532"/>
            <a:ext cx="1380744" cy="276225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noAutofit/>
          </a:bodyPr>
          <a:lstStyle/>
          <a:p>
            <a:pPr>
              <a:lnSpc>
                <a:spcPts val="1710"/>
              </a:lnSpc>
            </a:pPr>
            <a:r>
              <a:rPr lang="zh-CN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全员AI应用与提效</a:t>
            </a:r>
          </a:p>
        </p:txBody>
      </p:sp>
      <p:sp>
        <p:nvSpPr>
          <p:cNvPr id="72" name="TextBox 9">
            <a:extLst>
              <a:ext uri="{FF2B5EF4-FFF2-40B4-BE49-F238E27FC236}">
                <a16:creationId xmlns:a16="http://schemas.microsoft.com/office/drawing/2014/main" id="{1963C47C-3D2F-CE34-254A-EF0E8CB1D836}"/>
              </a:ext>
            </a:extLst>
          </p:cNvPr>
          <p:cNvSpPr txBox="1"/>
          <p:nvPr/>
        </p:nvSpPr>
        <p:spPr>
          <a:xfrm>
            <a:off x="800100" y="2458720"/>
            <a:ext cx="4200144" cy="4541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80"/>
              </a:lnSpc>
              <a:spcBef>
                <a:spcPts val="720"/>
              </a:spcBef>
            </a:pPr>
            <a:r>
              <a:rPr lang="zh-CN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贴近日常岗位，在真实工作中发现场景、完成任务并沉淀可复用方法。</a:t>
            </a:r>
          </a:p>
        </p:txBody>
      </p:sp>
      <p:sp>
        <p:nvSpPr>
          <p:cNvPr id="74" name="TextBox 10">
            <a:extLst>
              <a:ext uri="{FF2B5EF4-FFF2-40B4-BE49-F238E27FC236}">
                <a16:creationId xmlns:a16="http://schemas.microsoft.com/office/drawing/2014/main" id="{A91C17BA-CD6A-2F18-A60E-D89CABFB5B9E}"/>
              </a:ext>
            </a:extLst>
          </p:cNvPr>
          <p:cNvSpPr txBox="1"/>
          <p:nvPr/>
        </p:nvSpPr>
        <p:spPr>
          <a:xfrm>
            <a:off x="1805940" y="3225676"/>
            <a:ext cx="322478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企业广泛员工、业务团队、部门负责人和全员培养运营人员。</a:t>
            </a:r>
          </a:p>
        </p:txBody>
      </p:sp>
      <p:sp>
        <p:nvSpPr>
          <p:cNvPr id="76" name="TextBox 11">
            <a:extLst>
              <a:ext uri="{FF2B5EF4-FFF2-40B4-BE49-F238E27FC236}">
                <a16:creationId xmlns:a16="http://schemas.microsoft.com/office/drawing/2014/main" id="{5144F929-4170-7375-0D4E-32B9718DCDBF}"/>
              </a:ext>
            </a:extLst>
          </p:cNvPr>
          <p:cNvSpPr txBox="1"/>
          <p:nvPr/>
        </p:nvSpPr>
        <p:spPr>
          <a:xfrm>
            <a:off x="1805940" y="3873376"/>
            <a:ext cx="322478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使用对话、专家、技能、项目、知识库、连接和自动化完成真实岗位任务。</a:t>
            </a:r>
          </a:p>
        </p:txBody>
      </p:sp>
      <p:sp>
        <p:nvSpPr>
          <p:cNvPr id="78" name="TextBox 12">
            <a:extLst>
              <a:ext uri="{FF2B5EF4-FFF2-40B4-BE49-F238E27FC236}">
                <a16:creationId xmlns:a16="http://schemas.microsoft.com/office/drawing/2014/main" id="{65773BD8-2235-0BA7-444A-B07F982B5989}"/>
              </a:ext>
            </a:extLst>
          </p:cNvPr>
          <p:cNvSpPr txBox="1"/>
          <p:nvPr/>
        </p:nvSpPr>
        <p:spPr>
          <a:xfrm>
            <a:off x="1805940" y="4521076"/>
            <a:ext cx="322478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接近日常工作空间；连接和权限按业务需要、安全等级逐步开放。</a:t>
            </a:r>
          </a:p>
        </p:txBody>
      </p:sp>
      <p:sp>
        <p:nvSpPr>
          <p:cNvPr id="80" name="TextBox 13">
            <a:extLst>
              <a:ext uri="{FF2B5EF4-FFF2-40B4-BE49-F238E27FC236}">
                <a16:creationId xmlns:a16="http://schemas.microsoft.com/office/drawing/2014/main" id="{DE80686D-FBFE-4F1E-9854-DD1C1136E7AD}"/>
              </a:ext>
            </a:extLst>
          </p:cNvPr>
          <p:cNvSpPr txBox="1"/>
          <p:nvPr/>
        </p:nvSpPr>
        <p:spPr>
          <a:xfrm>
            <a:off x="1805940" y="5168776"/>
            <a:ext cx="322478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岗位提效案例、提示模板、岗位专家、专属技能、标准流程与场景需求。</a:t>
            </a:r>
          </a:p>
        </p:txBody>
      </p:sp>
      <p:sp>
        <p:nvSpPr>
          <p:cNvPr id="82" name="TextBox 14">
            <a:extLst>
              <a:ext uri="{FF2B5EF4-FFF2-40B4-BE49-F238E27FC236}">
                <a16:creationId xmlns:a16="http://schemas.microsoft.com/office/drawing/2014/main" id="{24EF3946-CE76-7901-F48E-8B2E6DE31DC1}"/>
              </a:ext>
            </a:extLst>
          </p:cNvPr>
          <p:cNvSpPr txBox="1"/>
          <p:nvPr/>
        </p:nvSpPr>
        <p:spPr>
          <a:xfrm>
            <a:off x="5387340" y="1795780"/>
            <a:ext cx="14721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业务场景流入</a:t>
            </a:r>
          </a:p>
        </p:txBody>
      </p:sp>
      <p:sp>
        <p:nvSpPr>
          <p:cNvPr id="84" name="TextBox 15">
            <a:extLst>
              <a:ext uri="{FF2B5EF4-FFF2-40B4-BE49-F238E27FC236}">
                <a16:creationId xmlns:a16="http://schemas.microsoft.com/office/drawing/2014/main" id="{5E14F739-BA66-EA7E-A74C-9073819C6AF6}"/>
              </a:ext>
            </a:extLst>
          </p:cNvPr>
          <p:cNvSpPr txBox="1"/>
          <p:nvPr/>
        </p:nvSpPr>
        <p:spPr>
          <a:xfrm>
            <a:off x="5387340" y="2062480"/>
            <a:ext cx="1472184" cy="576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160"/>
              </a:lnSpc>
              <a:spcBef>
                <a:spcPts val="480"/>
              </a:spcBef>
            </a:pPr>
            <a:r>
              <a:rPr lang="zh-CN" sz="144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岗位案例 → 场景筛选</a:t>
            </a:r>
          </a:p>
        </p:txBody>
      </p:sp>
      <p:sp>
        <p:nvSpPr>
          <p:cNvPr id="86" name="TextBox 16">
            <a:extLst>
              <a:ext uri="{FF2B5EF4-FFF2-40B4-BE49-F238E27FC236}">
                <a16:creationId xmlns:a16="http://schemas.microsoft.com/office/drawing/2014/main" id="{1B576CF6-E2BE-61F9-B2C6-2978338C376F}"/>
              </a:ext>
            </a:extLst>
          </p:cNvPr>
          <p:cNvSpPr txBox="1"/>
          <p:nvPr/>
        </p:nvSpPr>
        <p:spPr>
          <a:xfrm>
            <a:off x="5387340" y="2672080"/>
            <a:ext cx="1472184" cy="4008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60"/>
              </a:lnSpc>
              <a:spcBef>
                <a:spcPts val="48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说明目标、流程、指标、资料来源与责任人</a:t>
            </a:r>
          </a:p>
        </p:txBody>
      </p:sp>
      <p:sp>
        <p:nvSpPr>
          <p:cNvPr id="88" name="TextBox 17">
            <a:extLst>
              <a:ext uri="{FF2B5EF4-FFF2-40B4-BE49-F238E27FC236}">
                <a16:creationId xmlns:a16="http://schemas.microsoft.com/office/drawing/2014/main" id="{6EE61A6F-0B57-73FC-5653-C0858CBF7D20}"/>
              </a:ext>
            </a:extLst>
          </p:cNvPr>
          <p:cNvSpPr txBox="1"/>
          <p:nvPr/>
        </p:nvSpPr>
        <p:spPr>
          <a:xfrm>
            <a:off x="5379720" y="3860800"/>
            <a:ext cx="14874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BFE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协同四道机制</a:t>
            </a:r>
          </a:p>
        </p:txBody>
      </p:sp>
      <p:sp>
        <p:nvSpPr>
          <p:cNvPr id="90" name="TextBox 18">
            <a:extLst>
              <a:ext uri="{FF2B5EF4-FFF2-40B4-BE49-F238E27FC236}">
                <a16:creationId xmlns:a16="http://schemas.microsoft.com/office/drawing/2014/main" id="{F57E3E2C-CAA4-FCFA-39B9-86BECDEC89D7}"/>
              </a:ext>
            </a:extLst>
          </p:cNvPr>
          <p:cNvSpPr txBox="1"/>
          <p:nvPr/>
        </p:nvSpPr>
        <p:spPr>
          <a:xfrm>
            <a:off x="5387340" y="5247640"/>
            <a:ext cx="14721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08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专业成果回流</a:t>
            </a:r>
          </a:p>
        </p:txBody>
      </p:sp>
      <p:sp>
        <p:nvSpPr>
          <p:cNvPr id="92" name="TextBox 19">
            <a:extLst>
              <a:ext uri="{FF2B5EF4-FFF2-40B4-BE49-F238E27FC236}">
                <a16:creationId xmlns:a16="http://schemas.microsoft.com/office/drawing/2014/main" id="{DD403741-64D7-C5D9-7D3A-BCB525004673}"/>
              </a:ext>
            </a:extLst>
          </p:cNvPr>
          <p:cNvSpPr txBox="1"/>
          <p:nvPr/>
        </p:nvSpPr>
        <p:spPr>
          <a:xfrm>
            <a:off x="5387340" y="5514340"/>
            <a:ext cx="1472184" cy="576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160"/>
              </a:lnSpc>
              <a:spcBef>
                <a:spcPts val="480"/>
              </a:spcBef>
            </a:pPr>
            <a:r>
              <a:rPr lang="zh-CN" sz="1440" b="1" dirty="0">
                <a:solidFill>
                  <a:srgbClr val="007A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验证成果 → 业务应用</a:t>
            </a:r>
          </a:p>
        </p:txBody>
      </p:sp>
      <p:sp>
        <p:nvSpPr>
          <p:cNvPr id="94" name="TextBox 20">
            <a:extLst>
              <a:ext uri="{FF2B5EF4-FFF2-40B4-BE49-F238E27FC236}">
                <a16:creationId xmlns:a16="http://schemas.microsoft.com/office/drawing/2014/main" id="{950BAE67-948C-8728-AD81-692100996136}"/>
              </a:ext>
            </a:extLst>
          </p:cNvPr>
          <p:cNvSpPr txBox="1"/>
          <p:nvPr/>
        </p:nvSpPr>
        <p:spPr>
          <a:xfrm>
            <a:off x="5288776" y="6098368"/>
            <a:ext cx="1671320" cy="583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60"/>
              </a:lnSpc>
              <a:spcBef>
                <a:spcPts val="48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经试运行、安全检查、使用说明与维护安排后发布</a:t>
            </a:r>
          </a:p>
        </p:txBody>
      </p:sp>
      <p:sp>
        <p:nvSpPr>
          <p:cNvPr id="96" name="TextBox 21">
            <a:extLst>
              <a:ext uri="{FF2B5EF4-FFF2-40B4-BE49-F238E27FC236}">
                <a16:creationId xmlns:a16="http://schemas.microsoft.com/office/drawing/2014/main" id="{6FFEC61C-2605-39D7-7018-A35EB8D36426}"/>
              </a:ext>
            </a:extLst>
          </p:cNvPr>
          <p:cNvSpPr txBox="1"/>
          <p:nvPr/>
        </p:nvSpPr>
        <p:spPr>
          <a:xfrm>
            <a:off x="7246620" y="1795780"/>
            <a:ext cx="24856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CONTROLLED TRAINING</a:t>
            </a:r>
          </a:p>
        </p:txBody>
      </p:sp>
      <p:sp>
        <p:nvSpPr>
          <p:cNvPr id="98" name="TextBox 22">
            <a:extLst>
              <a:ext uri="{FF2B5EF4-FFF2-40B4-BE49-F238E27FC236}">
                <a16:creationId xmlns:a16="http://schemas.microsoft.com/office/drawing/2014/main" id="{94DCA706-28D4-5CD1-DFF1-C16E0AE26F08}"/>
              </a:ext>
            </a:extLst>
          </p:cNvPr>
          <p:cNvSpPr txBox="1"/>
          <p:nvPr/>
        </p:nvSpPr>
        <p:spPr>
          <a:xfrm>
            <a:off x="7246620" y="2032000"/>
            <a:ext cx="2485644" cy="3627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610"/>
              </a:lnSpc>
              <a:spcBef>
                <a:spcPts val="240"/>
              </a:spcBef>
            </a:pPr>
            <a:r>
              <a:rPr lang="zh-CN" sz="17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智能体应用开发实训平台</a:t>
            </a:r>
          </a:p>
        </p:txBody>
      </p:sp>
      <p:sp>
        <p:nvSpPr>
          <p:cNvPr id="100" name="TextBox 23">
            <a:extLst>
              <a:ext uri="{FF2B5EF4-FFF2-40B4-BE49-F238E27FC236}">
                <a16:creationId xmlns:a16="http://schemas.microsoft.com/office/drawing/2014/main" id="{B52CFEED-BCAE-2C1C-760F-E84656F19FB9}"/>
              </a:ext>
            </a:extLst>
          </p:cNvPr>
          <p:cNvSpPr txBox="1"/>
          <p:nvPr/>
        </p:nvSpPr>
        <p:spPr>
          <a:xfrm>
            <a:off x="10056440" y="1897144"/>
            <a:ext cx="1310640" cy="248412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noAutofit/>
          </a:bodyPr>
          <a:lstStyle/>
          <a:p>
            <a:pPr>
              <a:lnSpc>
                <a:spcPts val="1710"/>
              </a:lnSpc>
            </a:pPr>
            <a:r>
              <a:rPr lang="zh-CN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专业人才培养底座</a:t>
            </a:r>
          </a:p>
        </p:txBody>
      </p:sp>
      <p:sp>
        <p:nvSpPr>
          <p:cNvPr id="102" name="TextBox 24">
            <a:extLst>
              <a:ext uri="{FF2B5EF4-FFF2-40B4-BE49-F238E27FC236}">
                <a16:creationId xmlns:a16="http://schemas.microsoft.com/office/drawing/2014/main" id="{7FFB0934-F1E8-A0CE-51D9-68E835C2CFA4}"/>
              </a:ext>
            </a:extLst>
          </p:cNvPr>
          <p:cNvSpPr txBox="1"/>
          <p:nvPr/>
        </p:nvSpPr>
        <p:spPr>
          <a:xfrm>
            <a:off x="7246620" y="2458720"/>
            <a:ext cx="4200144" cy="4541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80"/>
              </a:lnSpc>
              <a:spcBef>
                <a:spcPts val="720"/>
              </a:spcBef>
            </a:pPr>
            <a:r>
              <a:rPr lang="zh-CN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在受控环境中完成课程、实验、项目、评测、认证和工程交付训练。</a:t>
            </a:r>
          </a:p>
        </p:txBody>
      </p:sp>
      <p:sp>
        <p:nvSpPr>
          <p:cNvPr id="104" name="TextBox 25">
            <a:extLst>
              <a:ext uri="{FF2B5EF4-FFF2-40B4-BE49-F238E27FC236}">
                <a16:creationId xmlns:a16="http://schemas.microsoft.com/office/drawing/2014/main" id="{3973AF10-8A59-668A-96E0-8AFE8E6F95A1}"/>
              </a:ext>
            </a:extLst>
          </p:cNvPr>
          <p:cNvSpPr txBox="1"/>
          <p:nvPr/>
        </p:nvSpPr>
        <p:spPr>
          <a:xfrm>
            <a:off x="8252460" y="3225676"/>
            <a:ext cx="322478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ADEA、ADEP、ADEE学员，以及讲师、导师、评审人和平台管理员。</a:t>
            </a:r>
          </a:p>
        </p:txBody>
      </p:sp>
      <p:sp>
        <p:nvSpPr>
          <p:cNvPr id="106" name="TextBox 26">
            <a:extLst>
              <a:ext uri="{FF2B5EF4-FFF2-40B4-BE49-F238E27FC236}">
                <a16:creationId xmlns:a16="http://schemas.microsoft.com/office/drawing/2014/main" id="{B742FD3E-901D-5239-0052-E32DFD46C7CC}"/>
              </a:ext>
            </a:extLst>
          </p:cNvPr>
          <p:cNvSpPr txBox="1"/>
          <p:nvPr/>
        </p:nvSpPr>
        <p:spPr>
          <a:xfrm>
            <a:off x="8252460" y="3873376"/>
            <a:ext cx="322478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课程学习、实验实践、项目开发、资源调用、测试评估、认证评价与教学运营。</a:t>
            </a:r>
          </a:p>
        </p:txBody>
      </p:sp>
      <p:sp>
        <p:nvSpPr>
          <p:cNvPr id="108" name="TextBox 27">
            <a:extLst>
              <a:ext uri="{FF2B5EF4-FFF2-40B4-BE49-F238E27FC236}">
                <a16:creationId xmlns:a16="http://schemas.microsoft.com/office/drawing/2014/main" id="{7365284D-4774-E428-9151-0027F6B3B3D3}"/>
              </a:ext>
            </a:extLst>
          </p:cNvPr>
          <p:cNvSpPr txBox="1"/>
          <p:nvPr/>
        </p:nvSpPr>
        <p:spPr>
          <a:xfrm>
            <a:off x="8252460" y="4521076"/>
            <a:ext cx="322478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受控实训空间；数据脱敏、连接审核、额度与日志管理，并与生产环境隔离。</a:t>
            </a:r>
          </a:p>
        </p:txBody>
      </p:sp>
      <p:sp>
        <p:nvSpPr>
          <p:cNvPr id="110" name="TextBox 28">
            <a:extLst>
              <a:ext uri="{FF2B5EF4-FFF2-40B4-BE49-F238E27FC236}">
                <a16:creationId xmlns:a16="http://schemas.microsoft.com/office/drawing/2014/main" id="{717C1127-8B98-0E05-1228-15BDF1F351B3}"/>
              </a:ext>
            </a:extLst>
          </p:cNvPr>
          <p:cNvSpPr txBox="1"/>
          <p:nvPr/>
        </p:nvSpPr>
        <p:spPr>
          <a:xfrm>
            <a:off x="8252460" y="5168776"/>
            <a:ext cx="322478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可运行助手、复杂应用、总体方案、测试证据、认证结果、项目交付材料与人才画像。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id="{17BF448B-C7B3-93D8-4E37-6B77906FCB30}"/>
              </a:ext>
            </a:extLst>
          </p:cNvPr>
          <p:cNvSpPr txBox="1"/>
          <p:nvPr/>
        </p:nvSpPr>
        <p:spPr>
          <a:xfrm>
            <a:off x="922020" y="1245260"/>
            <a:ext cx="6035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产品分工</a:t>
            </a:r>
          </a:p>
        </p:txBody>
      </p:sp>
      <p:sp>
        <p:nvSpPr>
          <p:cNvPr id="114" name="TextBox 30">
            <a:extLst>
              <a:ext uri="{FF2B5EF4-FFF2-40B4-BE49-F238E27FC236}">
                <a16:creationId xmlns:a16="http://schemas.microsoft.com/office/drawing/2014/main" id="{5BF4F155-4C8C-813E-C561-96A8E29826F2}"/>
              </a:ext>
            </a:extLst>
          </p:cNvPr>
          <p:cNvSpPr txBox="1"/>
          <p:nvPr/>
        </p:nvSpPr>
        <p:spPr>
          <a:xfrm>
            <a:off x="769620" y="3225676"/>
            <a:ext cx="96926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服务对象</a:t>
            </a:r>
          </a:p>
        </p:txBody>
      </p:sp>
      <p:sp>
        <p:nvSpPr>
          <p:cNvPr id="116" name="TextBox 31">
            <a:extLst>
              <a:ext uri="{FF2B5EF4-FFF2-40B4-BE49-F238E27FC236}">
                <a16:creationId xmlns:a16="http://schemas.microsoft.com/office/drawing/2014/main" id="{AA2FF8AB-A8CB-7711-A39E-8BD3B172007C}"/>
              </a:ext>
            </a:extLst>
          </p:cNvPr>
          <p:cNvSpPr txBox="1"/>
          <p:nvPr/>
        </p:nvSpPr>
        <p:spPr>
          <a:xfrm>
            <a:off x="769620" y="3873376"/>
            <a:ext cx="96926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核心任务</a:t>
            </a:r>
          </a:p>
        </p:txBody>
      </p:sp>
      <p:sp>
        <p:nvSpPr>
          <p:cNvPr id="118" name="TextBox 32">
            <a:extLst>
              <a:ext uri="{FF2B5EF4-FFF2-40B4-BE49-F238E27FC236}">
                <a16:creationId xmlns:a16="http://schemas.microsoft.com/office/drawing/2014/main" id="{ACDF8CBA-48A3-9D1B-E38E-8AC99F35EB52}"/>
              </a:ext>
            </a:extLst>
          </p:cNvPr>
          <p:cNvSpPr txBox="1"/>
          <p:nvPr/>
        </p:nvSpPr>
        <p:spPr>
          <a:xfrm>
            <a:off x="769620" y="4521076"/>
            <a:ext cx="96926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使用环境</a:t>
            </a:r>
          </a:p>
        </p:txBody>
      </p:sp>
      <p:sp>
        <p:nvSpPr>
          <p:cNvPr id="120" name="TextBox 33">
            <a:extLst>
              <a:ext uri="{FF2B5EF4-FFF2-40B4-BE49-F238E27FC236}">
                <a16:creationId xmlns:a16="http://schemas.microsoft.com/office/drawing/2014/main" id="{2CC869AB-4C96-869E-9C19-2B202899750D}"/>
              </a:ext>
            </a:extLst>
          </p:cNvPr>
          <p:cNvSpPr txBox="1"/>
          <p:nvPr/>
        </p:nvSpPr>
        <p:spPr>
          <a:xfrm>
            <a:off x="769620" y="5168776"/>
            <a:ext cx="96926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主要成果</a:t>
            </a:r>
          </a:p>
        </p:txBody>
      </p:sp>
      <p:sp>
        <p:nvSpPr>
          <p:cNvPr id="122" name="TextBox 34">
            <a:extLst>
              <a:ext uri="{FF2B5EF4-FFF2-40B4-BE49-F238E27FC236}">
                <a16:creationId xmlns:a16="http://schemas.microsoft.com/office/drawing/2014/main" id="{A3E86D42-EC39-AD70-895F-EACDADB34A8B}"/>
              </a:ext>
            </a:extLst>
          </p:cNvPr>
          <p:cNvSpPr txBox="1"/>
          <p:nvPr/>
        </p:nvSpPr>
        <p:spPr>
          <a:xfrm>
            <a:off x="830580" y="5900296"/>
            <a:ext cx="9387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发现需求</a:t>
            </a:r>
          </a:p>
        </p:txBody>
      </p:sp>
      <p:sp>
        <p:nvSpPr>
          <p:cNvPr id="124" name="TextBox 35">
            <a:extLst>
              <a:ext uri="{FF2B5EF4-FFF2-40B4-BE49-F238E27FC236}">
                <a16:creationId xmlns:a16="http://schemas.microsoft.com/office/drawing/2014/main" id="{126F6224-2C46-3BF9-129C-D3F9B66BE82D}"/>
              </a:ext>
            </a:extLst>
          </p:cNvPr>
          <p:cNvSpPr txBox="1"/>
          <p:nvPr/>
        </p:nvSpPr>
        <p:spPr>
          <a:xfrm>
            <a:off x="1897380" y="5900296"/>
            <a:ext cx="9387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验证方法</a:t>
            </a:r>
          </a:p>
        </p:txBody>
      </p:sp>
      <p:sp>
        <p:nvSpPr>
          <p:cNvPr id="126" name="TextBox 36">
            <a:extLst>
              <a:ext uri="{FF2B5EF4-FFF2-40B4-BE49-F238E27FC236}">
                <a16:creationId xmlns:a16="http://schemas.microsoft.com/office/drawing/2014/main" id="{96009ACB-D2AA-B476-9CFC-E9C46C3541AB}"/>
              </a:ext>
            </a:extLst>
          </p:cNvPr>
          <p:cNvSpPr txBox="1"/>
          <p:nvPr/>
        </p:nvSpPr>
        <p:spPr>
          <a:xfrm>
            <a:off x="2964180" y="5900296"/>
            <a:ext cx="9387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部门分享</a:t>
            </a:r>
          </a:p>
        </p:txBody>
      </p:sp>
      <p:sp>
        <p:nvSpPr>
          <p:cNvPr id="128" name="TextBox 37">
            <a:extLst>
              <a:ext uri="{FF2B5EF4-FFF2-40B4-BE49-F238E27FC236}">
                <a16:creationId xmlns:a16="http://schemas.microsoft.com/office/drawing/2014/main" id="{474D777C-AC62-6B89-36DF-37DDBB240607}"/>
              </a:ext>
            </a:extLst>
          </p:cNvPr>
          <p:cNvSpPr txBox="1"/>
          <p:nvPr/>
        </p:nvSpPr>
        <p:spPr>
          <a:xfrm>
            <a:off x="4030980" y="5900296"/>
            <a:ext cx="9387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沉淀资产</a:t>
            </a:r>
          </a:p>
        </p:txBody>
      </p:sp>
      <p:sp>
        <p:nvSpPr>
          <p:cNvPr id="130" name="TextBox 38">
            <a:extLst>
              <a:ext uri="{FF2B5EF4-FFF2-40B4-BE49-F238E27FC236}">
                <a16:creationId xmlns:a16="http://schemas.microsoft.com/office/drawing/2014/main" id="{9D35A0C2-507C-C44A-8ED9-1CD967E5FC67}"/>
              </a:ext>
            </a:extLst>
          </p:cNvPr>
          <p:cNvSpPr txBox="1"/>
          <p:nvPr/>
        </p:nvSpPr>
        <p:spPr>
          <a:xfrm>
            <a:off x="5989320" y="3309064"/>
            <a:ext cx="358445" cy="350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520"/>
              </a:lnSpc>
            </a:pPr>
            <a:r>
              <a:rPr lang="en-US" sz="16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⇄</a:t>
            </a:r>
          </a:p>
        </p:txBody>
      </p:sp>
      <p:sp>
        <p:nvSpPr>
          <p:cNvPr id="132" name="TextBox 39">
            <a:extLst>
              <a:ext uri="{FF2B5EF4-FFF2-40B4-BE49-F238E27FC236}">
                <a16:creationId xmlns:a16="http://schemas.microsoft.com/office/drawing/2014/main" id="{D39A74C3-E4A3-D6BE-4251-BDD4FBFF15C0}"/>
              </a:ext>
            </a:extLst>
          </p:cNvPr>
          <p:cNvSpPr txBox="1"/>
          <p:nvPr/>
        </p:nvSpPr>
        <p:spPr>
          <a:xfrm>
            <a:off x="5446776" y="4240494"/>
            <a:ext cx="1365504" cy="621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450"/>
              </a:lnSpc>
            </a:pPr>
            <a:r>
              <a:rPr lang="zh-CN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项目立项</a:t>
            </a:r>
          </a:p>
          <a:p>
            <a:pPr algn="ctr">
              <a:lnSpc>
                <a:spcPts val="2450"/>
              </a:lnSpc>
            </a:pPr>
            <a:r>
              <a:rPr lang="zh-CN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成果评审</a:t>
            </a:r>
          </a:p>
        </p:txBody>
      </p:sp>
      <p:sp>
        <p:nvSpPr>
          <p:cNvPr id="134" name="TextBox 40">
            <a:extLst>
              <a:ext uri="{FF2B5EF4-FFF2-40B4-BE49-F238E27FC236}">
                <a16:creationId xmlns:a16="http://schemas.microsoft.com/office/drawing/2014/main" id="{9E324D69-CA47-E0A8-99E9-511AB457EBC9}"/>
              </a:ext>
            </a:extLst>
          </p:cNvPr>
          <p:cNvSpPr txBox="1"/>
          <p:nvPr/>
        </p:nvSpPr>
        <p:spPr>
          <a:xfrm>
            <a:off x="7216140" y="3225676"/>
            <a:ext cx="96926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b="1" dirty="0">
                <a:solidFill>
                  <a:srgbClr val="008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服务对象</a:t>
            </a:r>
          </a:p>
        </p:txBody>
      </p:sp>
      <p:sp>
        <p:nvSpPr>
          <p:cNvPr id="136" name="TextBox 41">
            <a:extLst>
              <a:ext uri="{FF2B5EF4-FFF2-40B4-BE49-F238E27FC236}">
                <a16:creationId xmlns:a16="http://schemas.microsoft.com/office/drawing/2014/main" id="{AB59E314-6045-727F-2D3E-0A98B6C3EE37}"/>
              </a:ext>
            </a:extLst>
          </p:cNvPr>
          <p:cNvSpPr txBox="1"/>
          <p:nvPr/>
        </p:nvSpPr>
        <p:spPr>
          <a:xfrm>
            <a:off x="7216140" y="3873376"/>
            <a:ext cx="96926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b="1" dirty="0">
                <a:solidFill>
                  <a:srgbClr val="008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核心任务</a:t>
            </a:r>
          </a:p>
        </p:txBody>
      </p:sp>
      <p:sp>
        <p:nvSpPr>
          <p:cNvPr id="138" name="TextBox 42">
            <a:extLst>
              <a:ext uri="{FF2B5EF4-FFF2-40B4-BE49-F238E27FC236}">
                <a16:creationId xmlns:a16="http://schemas.microsoft.com/office/drawing/2014/main" id="{FA19B40D-D17F-8D46-AC13-E3F744C6A05A}"/>
              </a:ext>
            </a:extLst>
          </p:cNvPr>
          <p:cNvSpPr txBox="1"/>
          <p:nvPr/>
        </p:nvSpPr>
        <p:spPr>
          <a:xfrm>
            <a:off x="7216140" y="4521076"/>
            <a:ext cx="96926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b="1" dirty="0">
                <a:solidFill>
                  <a:srgbClr val="008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使用环境</a:t>
            </a:r>
          </a:p>
        </p:txBody>
      </p:sp>
      <p:sp>
        <p:nvSpPr>
          <p:cNvPr id="140" name="TextBox 43">
            <a:extLst>
              <a:ext uri="{FF2B5EF4-FFF2-40B4-BE49-F238E27FC236}">
                <a16:creationId xmlns:a16="http://schemas.microsoft.com/office/drawing/2014/main" id="{4CDAFF41-DA3F-3C5E-5964-FCE4B9F4B436}"/>
              </a:ext>
            </a:extLst>
          </p:cNvPr>
          <p:cNvSpPr txBox="1"/>
          <p:nvPr/>
        </p:nvSpPr>
        <p:spPr>
          <a:xfrm>
            <a:off x="7216140" y="5168776"/>
            <a:ext cx="969264" cy="423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65"/>
              </a:lnSpc>
            </a:pPr>
            <a:r>
              <a:rPr lang="zh-CN" sz="1080" b="1" dirty="0">
                <a:solidFill>
                  <a:srgbClr val="008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主要成果</a:t>
            </a:r>
          </a:p>
        </p:txBody>
      </p:sp>
      <p:sp>
        <p:nvSpPr>
          <p:cNvPr id="142" name="TextBox 44">
            <a:extLst>
              <a:ext uri="{FF2B5EF4-FFF2-40B4-BE49-F238E27FC236}">
                <a16:creationId xmlns:a16="http://schemas.microsoft.com/office/drawing/2014/main" id="{2891417A-0FA3-B98D-F4B5-3BE55E668793}"/>
              </a:ext>
            </a:extLst>
          </p:cNvPr>
          <p:cNvSpPr txBox="1"/>
          <p:nvPr/>
        </p:nvSpPr>
        <p:spPr>
          <a:xfrm>
            <a:off x="7277100" y="5900296"/>
            <a:ext cx="9387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07A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受控训练</a:t>
            </a:r>
          </a:p>
        </p:txBody>
      </p:sp>
      <p:sp>
        <p:nvSpPr>
          <p:cNvPr id="144" name="TextBox 45">
            <a:extLst>
              <a:ext uri="{FF2B5EF4-FFF2-40B4-BE49-F238E27FC236}">
                <a16:creationId xmlns:a16="http://schemas.microsoft.com/office/drawing/2014/main" id="{8A8BC652-406F-2374-D51E-8AD141E2735C}"/>
              </a:ext>
            </a:extLst>
          </p:cNvPr>
          <p:cNvSpPr txBox="1"/>
          <p:nvPr/>
        </p:nvSpPr>
        <p:spPr>
          <a:xfrm>
            <a:off x="8343900" y="5900296"/>
            <a:ext cx="9387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07A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工程验证</a:t>
            </a:r>
          </a:p>
        </p:txBody>
      </p:sp>
      <p:sp>
        <p:nvSpPr>
          <p:cNvPr id="146" name="TextBox 46">
            <a:extLst>
              <a:ext uri="{FF2B5EF4-FFF2-40B4-BE49-F238E27FC236}">
                <a16:creationId xmlns:a16="http://schemas.microsoft.com/office/drawing/2014/main" id="{9809C0E7-F544-EE3C-7F76-E16EB9E872D0}"/>
              </a:ext>
            </a:extLst>
          </p:cNvPr>
          <p:cNvSpPr txBox="1"/>
          <p:nvPr/>
        </p:nvSpPr>
        <p:spPr>
          <a:xfrm>
            <a:off x="9410700" y="5900296"/>
            <a:ext cx="9387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07A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能力评价</a:t>
            </a:r>
          </a:p>
        </p:txBody>
      </p:sp>
      <p:sp>
        <p:nvSpPr>
          <p:cNvPr id="148" name="TextBox 47">
            <a:extLst>
              <a:ext uri="{FF2B5EF4-FFF2-40B4-BE49-F238E27FC236}">
                <a16:creationId xmlns:a16="http://schemas.microsoft.com/office/drawing/2014/main" id="{616F9124-9A2B-D428-E538-E647103BB7E0}"/>
              </a:ext>
            </a:extLst>
          </p:cNvPr>
          <p:cNvSpPr txBox="1"/>
          <p:nvPr/>
        </p:nvSpPr>
        <p:spPr>
          <a:xfrm>
            <a:off x="10477500" y="5900296"/>
            <a:ext cx="9387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07A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交付准备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3794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31A2B-F9C3-BD30-4A1F-375D2663B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23EEE-0FA4-193C-29D0-95D639755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en-US" altLang="zh-CN" dirty="0"/>
              <a:t>360</a:t>
            </a:r>
            <a:r>
              <a:rPr lang="zh-CN" altLang="en-US" dirty="0"/>
              <a:t>纳米</a:t>
            </a:r>
            <a:r>
              <a:rPr lang="en-US" altLang="zh-CN" dirty="0"/>
              <a:t>Work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9A5EB7-1435-B54E-D9B5-392B95838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48" y="1181813"/>
            <a:ext cx="11024704" cy="500104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73806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CFF75-8B6C-8B44-B338-713C3B242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9162D0-0146-3D39-5E54-A35428621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zh-CN" altLang="en-US" dirty="0"/>
              <a:t>纳米</a:t>
            </a:r>
            <a:r>
              <a:rPr lang="en-US" altLang="zh-CN" dirty="0"/>
              <a:t>Work:</a:t>
            </a:r>
            <a:r>
              <a:rPr lang="zh-CN" altLang="en-US" dirty="0"/>
              <a:t>全员</a:t>
            </a:r>
            <a:r>
              <a:rPr lang="en-US" altLang="zh-CN" dirty="0"/>
              <a:t>AI</a:t>
            </a:r>
            <a:r>
              <a:rPr lang="zh-CN" altLang="en-US" dirty="0"/>
              <a:t>应用与组织能力沉淀平台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7489E414-FABA-0FAB-C4FB-5D39ED6F945B}"/>
              </a:ext>
            </a:extLst>
          </p:cNvPr>
          <p:cNvSpPr/>
          <p:nvPr/>
        </p:nvSpPr>
        <p:spPr>
          <a:xfrm>
            <a:off x="609600" y="1074420"/>
            <a:ext cx="10972800" cy="441960"/>
          </a:xfrm>
          <a:prstGeom prst="roundRect">
            <a:avLst>
              <a:gd name="adj" fmla="val 27586"/>
            </a:avLst>
          </a:prstGeom>
          <a:solidFill>
            <a:srgbClr val="ECF7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8F7BFCA-9312-1DA3-B2DB-2B793EBC32A4}"/>
              </a:ext>
            </a:extLst>
          </p:cNvPr>
          <p:cNvSpPr/>
          <p:nvPr/>
        </p:nvSpPr>
        <p:spPr>
          <a:xfrm>
            <a:off x="9319260" y="1123950"/>
            <a:ext cx="20726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DBF4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F09D3D7-ACA2-913D-1F35-0DB913616062}"/>
              </a:ext>
            </a:extLst>
          </p:cNvPr>
          <p:cNvSpPr/>
          <p:nvPr/>
        </p:nvSpPr>
        <p:spPr>
          <a:xfrm>
            <a:off x="609600" y="1638300"/>
            <a:ext cx="10972800" cy="85344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F49CCF8E-D921-FEAE-72A8-32F57EDF82B0}"/>
              </a:ext>
            </a:extLst>
          </p:cNvPr>
          <p:cNvSpPr/>
          <p:nvPr/>
        </p:nvSpPr>
        <p:spPr>
          <a:xfrm>
            <a:off x="617220" y="1645920"/>
            <a:ext cx="10957560" cy="304800"/>
          </a:xfrm>
          <a:prstGeom prst="rect">
            <a:avLst/>
          </a:prstGeom>
          <a:solidFill>
            <a:srgbClr val="0721A8"/>
          </a:solidFill>
          <a:ln>
            <a:noFill/>
          </a:ln>
        </p:spPr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FA0D547-FA88-FE03-7A1B-91D5C0266FA3}"/>
              </a:ext>
            </a:extLst>
          </p:cNvPr>
          <p:cNvSpPr/>
          <p:nvPr/>
        </p:nvSpPr>
        <p:spPr>
          <a:xfrm>
            <a:off x="723900" y="2026920"/>
            <a:ext cx="1476018" cy="396240"/>
          </a:xfrm>
          <a:prstGeom prst="roundRect">
            <a:avLst>
              <a:gd name="adj" fmla="val 21154"/>
            </a:avLst>
          </a:prstGeom>
          <a:solidFill>
            <a:srgbClr val="F1F6FF"/>
          </a:solidFill>
          <a:ln w="9525">
            <a:solidFill>
              <a:srgbClr val="D7E4F7"/>
            </a:solidFill>
            <a:prstDash val="solid"/>
          </a:ln>
        </p:spPr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74B51D16-FFDF-54BC-AE83-CF7D7D2DFC13}"/>
              </a:ext>
            </a:extLst>
          </p:cNvPr>
          <p:cNvSpPr/>
          <p:nvPr/>
        </p:nvSpPr>
        <p:spPr>
          <a:xfrm>
            <a:off x="815340" y="2114550"/>
            <a:ext cx="220980" cy="220980"/>
          </a:xfrm>
          <a:prstGeom prst="ellipse">
            <a:avLst/>
          </a:prstGeom>
          <a:solidFill>
            <a:srgbClr val="0721A8"/>
          </a:solidFill>
          <a:ln>
            <a:noFill/>
          </a:ln>
        </p:spPr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E4CA272C-C30C-B9A9-C775-FD4356EE8D80}"/>
              </a:ext>
            </a:extLst>
          </p:cNvPr>
          <p:cNvSpPr/>
          <p:nvPr/>
        </p:nvSpPr>
        <p:spPr>
          <a:xfrm>
            <a:off x="2268498" y="2026920"/>
            <a:ext cx="1476137" cy="396240"/>
          </a:xfrm>
          <a:prstGeom prst="roundRect">
            <a:avLst>
              <a:gd name="adj" fmla="val 21154"/>
            </a:avLst>
          </a:prstGeom>
          <a:solidFill>
            <a:srgbClr val="F1F6FF"/>
          </a:solidFill>
          <a:ln w="9525">
            <a:solidFill>
              <a:srgbClr val="D7E4F7"/>
            </a:solidFill>
            <a:prstDash val="solid"/>
          </a:ln>
        </p:spPr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11C3AFB6-7B55-9B65-BA44-B2C8337AE024}"/>
              </a:ext>
            </a:extLst>
          </p:cNvPr>
          <p:cNvSpPr/>
          <p:nvPr/>
        </p:nvSpPr>
        <p:spPr>
          <a:xfrm>
            <a:off x="2359938" y="2114550"/>
            <a:ext cx="220980" cy="220980"/>
          </a:xfrm>
          <a:prstGeom prst="ellipse">
            <a:avLst/>
          </a:prstGeom>
          <a:solidFill>
            <a:srgbClr val="0721A8"/>
          </a:solidFill>
          <a:ln>
            <a:noFill/>
          </a:ln>
        </p:spPr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1AC80DF4-E436-1EC7-BE3F-0839F718F68B}"/>
              </a:ext>
            </a:extLst>
          </p:cNvPr>
          <p:cNvSpPr/>
          <p:nvPr/>
        </p:nvSpPr>
        <p:spPr>
          <a:xfrm>
            <a:off x="3813215" y="2026920"/>
            <a:ext cx="1476137" cy="396240"/>
          </a:xfrm>
          <a:prstGeom prst="roundRect">
            <a:avLst>
              <a:gd name="adj" fmla="val 21154"/>
            </a:avLst>
          </a:prstGeom>
          <a:solidFill>
            <a:srgbClr val="EDF9FF"/>
          </a:solidFill>
          <a:ln w="9525">
            <a:solidFill>
              <a:srgbClr val="CFEAF8"/>
            </a:solidFill>
            <a:prstDash val="solid"/>
          </a:ln>
        </p:spPr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B123976C-BD0B-F10C-9194-793636117441}"/>
              </a:ext>
            </a:extLst>
          </p:cNvPr>
          <p:cNvSpPr/>
          <p:nvPr/>
        </p:nvSpPr>
        <p:spPr>
          <a:xfrm>
            <a:off x="3904655" y="2114550"/>
            <a:ext cx="220980" cy="220980"/>
          </a:xfrm>
          <a:prstGeom prst="ellipse">
            <a:avLst/>
          </a:prstGeom>
          <a:solidFill>
            <a:srgbClr val="0565FF"/>
          </a:solidFill>
          <a:ln>
            <a:noFill/>
          </a:ln>
        </p:spPr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B13AF373-2F3B-85F7-426E-DB33AD02E0FC}"/>
              </a:ext>
            </a:extLst>
          </p:cNvPr>
          <p:cNvSpPr/>
          <p:nvPr/>
        </p:nvSpPr>
        <p:spPr>
          <a:xfrm>
            <a:off x="5357932" y="2026920"/>
            <a:ext cx="1476018" cy="396240"/>
          </a:xfrm>
          <a:prstGeom prst="roundRect">
            <a:avLst>
              <a:gd name="adj" fmla="val 21154"/>
            </a:avLst>
          </a:prstGeom>
          <a:solidFill>
            <a:srgbClr val="EDF9FF"/>
          </a:solidFill>
          <a:ln w="9525">
            <a:solidFill>
              <a:srgbClr val="CFEAF8"/>
            </a:solidFill>
            <a:prstDash val="solid"/>
          </a:ln>
        </p:spPr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CF38BDB1-500F-43D7-2ADA-D632ED94E270}"/>
              </a:ext>
            </a:extLst>
          </p:cNvPr>
          <p:cNvSpPr/>
          <p:nvPr/>
        </p:nvSpPr>
        <p:spPr>
          <a:xfrm>
            <a:off x="5449372" y="2114550"/>
            <a:ext cx="220980" cy="220980"/>
          </a:xfrm>
          <a:prstGeom prst="ellipse">
            <a:avLst/>
          </a:prstGeom>
          <a:solidFill>
            <a:srgbClr val="0565FF"/>
          </a:solidFill>
          <a:ln>
            <a:noFill/>
          </a:ln>
        </p:spPr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253EBBF2-BAFB-1EEB-203A-4C00FAD55F43}"/>
              </a:ext>
            </a:extLst>
          </p:cNvPr>
          <p:cNvSpPr/>
          <p:nvPr/>
        </p:nvSpPr>
        <p:spPr>
          <a:xfrm>
            <a:off x="6902529" y="2026920"/>
            <a:ext cx="1476137" cy="396240"/>
          </a:xfrm>
          <a:prstGeom prst="roundRect">
            <a:avLst>
              <a:gd name="adj" fmla="val 21154"/>
            </a:avLst>
          </a:prstGeom>
          <a:solidFill>
            <a:srgbClr val="EEFBFF"/>
          </a:solidFill>
          <a:ln w="9525">
            <a:solidFill>
              <a:srgbClr val="BDEBFA"/>
            </a:solidFill>
            <a:prstDash val="solid"/>
          </a:ln>
        </p:spPr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84D89B02-48DA-A987-928D-6FED1F570B33}"/>
              </a:ext>
            </a:extLst>
          </p:cNvPr>
          <p:cNvSpPr/>
          <p:nvPr/>
        </p:nvSpPr>
        <p:spPr>
          <a:xfrm>
            <a:off x="6993969" y="2114550"/>
            <a:ext cx="220980" cy="220980"/>
          </a:xfrm>
          <a:prstGeom prst="ellipse">
            <a:avLst/>
          </a:prstGeom>
          <a:solidFill>
            <a:srgbClr val="00A7FF"/>
          </a:solidFill>
          <a:ln>
            <a:noFill/>
          </a:ln>
        </p:spPr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DE7389C2-DDB1-9AF2-B169-24CF7C376A17}"/>
              </a:ext>
            </a:extLst>
          </p:cNvPr>
          <p:cNvSpPr/>
          <p:nvPr/>
        </p:nvSpPr>
        <p:spPr>
          <a:xfrm>
            <a:off x="8447246" y="2026920"/>
            <a:ext cx="1476137" cy="396240"/>
          </a:xfrm>
          <a:prstGeom prst="roundRect">
            <a:avLst>
              <a:gd name="adj" fmla="val 21154"/>
            </a:avLst>
          </a:prstGeom>
          <a:solidFill>
            <a:srgbClr val="EEFBFF"/>
          </a:solidFill>
          <a:ln w="9525">
            <a:solidFill>
              <a:srgbClr val="BDEBFA"/>
            </a:solidFill>
            <a:prstDash val="solid"/>
          </a:ln>
        </p:spPr>
      </p:sp>
      <p:sp>
        <p:nvSpPr>
          <p:cNvPr id="34" name="Shape 18">
            <a:extLst>
              <a:ext uri="{FF2B5EF4-FFF2-40B4-BE49-F238E27FC236}">
                <a16:creationId xmlns:a16="http://schemas.microsoft.com/office/drawing/2014/main" id="{5EF35780-4CBB-503A-5F5A-23AEDEC6D7E0}"/>
              </a:ext>
            </a:extLst>
          </p:cNvPr>
          <p:cNvSpPr/>
          <p:nvPr/>
        </p:nvSpPr>
        <p:spPr>
          <a:xfrm>
            <a:off x="8538686" y="2114550"/>
            <a:ext cx="220980" cy="220980"/>
          </a:xfrm>
          <a:prstGeom prst="ellipse">
            <a:avLst/>
          </a:prstGeom>
          <a:solidFill>
            <a:srgbClr val="00A7FF"/>
          </a:solidFill>
          <a:ln>
            <a:noFill/>
          </a:ln>
        </p:spPr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2A97C549-E551-B01B-D1A5-FCF3E756625B}"/>
              </a:ext>
            </a:extLst>
          </p:cNvPr>
          <p:cNvSpPr/>
          <p:nvPr/>
        </p:nvSpPr>
        <p:spPr>
          <a:xfrm>
            <a:off x="9991963" y="2026920"/>
            <a:ext cx="1476018" cy="396240"/>
          </a:xfrm>
          <a:prstGeom prst="roundRect">
            <a:avLst>
              <a:gd name="adj" fmla="val 21154"/>
            </a:avLst>
          </a:prstGeom>
          <a:solidFill>
            <a:srgbClr val="EFFBF7"/>
          </a:solidFill>
          <a:ln w="9525">
            <a:solidFill>
              <a:srgbClr val="BFE9DA"/>
            </a:solidFill>
            <a:prstDash val="solid"/>
          </a:ln>
        </p:spPr>
      </p:sp>
      <p:sp>
        <p:nvSpPr>
          <p:cNvPr id="38" name="Shape 20">
            <a:extLst>
              <a:ext uri="{FF2B5EF4-FFF2-40B4-BE49-F238E27FC236}">
                <a16:creationId xmlns:a16="http://schemas.microsoft.com/office/drawing/2014/main" id="{ECC2CE61-2141-ACED-88DB-DB63F619CE68}"/>
              </a:ext>
            </a:extLst>
          </p:cNvPr>
          <p:cNvSpPr/>
          <p:nvPr/>
        </p:nvSpPr>
        <p:spPr>
          <a:xfrm>
            <a:off x="10083403" y="2114550"/>
            <a:ext cx="220980" cy="220980"/>
          </a:xfrm>
          <a:prstGeom prst="ellipse">
            <a:avLst/>
          </a:prstGeom>
          <a:solidFill>
            <a:srgbClr val="00AB7A"/>
          </a:solidFill>
          <a:ln>
            <a:noFill/>
          </a:ln>
        </p:spPr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1F1320A8-AC26-0AE9-B86D-FD3812BC3493}"/>
              </a:ext>
            </a:extLst>
          </p:cNvPr>
          <p:cNvSpPr/>
          <p:nvPr/>
        </p:nvSpPr>
        <p:spPr>
          <a:xfrm>
            <a:off x="609600" y="2598420"/>
            <a:ext cx="2526030" cy="1996440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9050">
            <a:solidFill>
              <a:srgbClr val="CDD9F5"/>
            </a:solidFill>
            <a:prstDash val="solid"/>
          </a:ln>
        </p:spPr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CF80B882-5328-BFCA-14BE-2C183CDA864A}"/>
              </a:ext>
            </a:extLst>
          </p:cNvPr>
          <p:cNvSpPr/>
          <p:nvPr/>
        </p:nvSpPr>
        <p:spPr>
          <a:xfrm>
            <a:off x="624840" y="2613660"/>
            <a:ext cx="2495550" cy="487680"/>
          </a:xfrm>
          <a:prstGeom prst="rect">
            <a:avLst/>
          </a:prstGeom>
          <a:solidFill>
            <a:srgbClr val="E1E8FF"/>
          </a:solidFill>
          <a:ln>
            <a:noFill/>
          </a:ln>
        </p:spPr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F370B145-692A-96C3-6E52-79CE648405CF}"/>
              </a:ext>
            </a:extLst>
          </p:cNvPr>
          <p:cNvSpPr/>
          <p:nvPr/>
        </p:nvSpPr>
        <p:spPr>
          <a:xfrm>
            <a:off x="762000" y="2697480"/>
            <a:ext cx="320040" cy="320040"/>
          </a:xfrm>
          <a:prstGeom prst="roundRect">
            <a:avLst>
              <a:gd name="adj" fmla="val 30952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B6B1E949-6122-9692-8DCF-B932B82222FA}"/>
              </a:ext>
            </a:extLst>
          </p:cNvPr>
          <p:cNvSpPr/>
          <p:nvPr/>
        </p:nvSpPr>
        <p:spPr>
          <a:xfrm>
            <a:off x="754380" y="3861078"/>
            <a:ext cx="2236470" cy="589002"/>
          </a:xfrm>
          <a:prstGeom prst="roundRect">
            <a:avLst>
              <a:gd name="adj" fmla="val 15525"/>
            </a:avLst>
          </a:prstGeom>
          <a:solidFill>
            <a:srgbClr val="F3F7FF"/>
          </a:solidFill>
          <a:ln w="9525">
            <a:solidFill>
              <a:srgbClr val="D7E4F7"/>
            </a:solidFill>
            <a:prstDash val="solid"/>
          </a:ln>
        </p:spPr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CF50BE2E-D0C2-82A5-42B3-E2E9DA125B1C}"/>
              </a:ext>
            </a:extLst>
          </p:cNvPr>
          <p:cNvSpPr/>
          <p:nvPr/>
        </p:nvSpPr>
        <p:spPr>
          <a:xfrm>
            <a:off x="3425190" y="2598420"/>
            <a:ext cx="2526030" cy="1996440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9050">
            <a:solidFill>
              <a:srgbClr val="B8DDF8"/>
            </a:solidFill>
            <a:prstDash val="solid"/>
          </a:ln>
        </p:spPr>
      </p:sp>
      <p:sp>
        <p:nvSpPr>
          <p:cNvPr id="50" name="Shape 26">
            <a:extLst>
              <a:ext uri="{FF2B5EF4-FFF2-40B4-BE49-F238E27FC236}">
                <a16:creationId xmlns:a16="http://schemas.microsoft.com/office/drawing/2014/main" id="{2B8BB7DD-5022-E0D4-CA3F-1279BDE87E8D}"/>
              </a:ext>
            </a:extLst>
          </p:cNvPr>
          <p:cNvSpPr/>
          <p:nvPr/>
        </p:nvSpPr>
        <p:spPr>
          <a:xfrm>
            <a:off x="3440430" y="2613660"/>
            <a:ext cx="2495550" cy="487680"/>
          </a:xfrm>
          <a:prstGeom prst="rect">
            <a:avLst/>
          </a:prstGeom>
          <a:solidFill>
            <a:srgbClr val="D9F2FF"/>
          </a:solidFill>
          <a:ln>
            <a:noFill/>
          </a:ln>
        </p:spPr>
      </p:sp>
      <p:sp>
        <p:nvSpPr>
          <p:cNvPr id="52" name="Shape 27">
            <a:extLst>
              <a:ext uri="{FF2B5EF4-FFF2-40B4-BE49-F238E27FC236}">
                <a16:creationId xmlns:a16="http://schemas.microsoft.com/office/drawing/2014/main" id="{9B1A6891-327B-499C-A7EA-CA1FD92ADB80}"/>
              </a:ext>
            </a:extLst>
          </p:cNvPr>
          <p:cNvSpPr/>
          <p:nvPr/>
        </p:nvSpPr>
        <p:spPr>
          <a:xfrm>
            <a:off x="3577590" y="2697480"/>
            <a:ext cx="320040" cy="320040"/>
          </a:xfrm>
          <a:prstGeom prst="roundRect">
            <a:avLst>
              <a:gd name="adj" fmla="val 30952"/>
            </a:avLst>
          </a:prstGeom>
          <a:solidFill>
            <a:srgbClr val="0565FF"/>
          </a:solidFill>
          <a:ln>
            <a:noFill/>
          </a:ln>
        </p:spPr>
      </p:sp>
      <p:sp>
        <p:nvSpPr>
          <p:cNvPr id="54" name="Shape 28">
            <a:extLst>
              <a:ext uri="{FF2B5EF4-FFF2-40B4-BE49-F238E27FC236}">
                <a16:creationId xmlns:a16="http://schemas.microsoft.com/office/drawing/2014/main" id="{946CDAA9-EA73-259C-015C-CCF9D8B76955}"/>
              </a:ext>
            </a:extLst>
          </p:cNvPr>
          <p:cNvSpPr/>
          <p:nvPr/>
        </p:nvSpPr>
        <p:spPr>
          <a:xfrm>
            <a:off x="3569970" y="3861078"/>
            <a:ext cx="2236470" cy="589002"/>
          </a:xfrm>
          <a:prstGeom prst="roundRect">
            <a:avLst>
              <a:gd name="adj" fmla="val 15525"/>
            </a:avLst>
          </a:prstGeom>
          <a:solidFill>
            <a:srgbClr val="F0FAFF"/>
          </a:solidFill>
          <a:ln w="9525">
            <a:solidFill>
              <a:srgbClr val="CFEAF8"/>
            </a:solidFill>
            <a:prstDash val="solid"/>
          </a:ln>
        </p:spPr>
      </p:sp>
      <p:sp>
        <p:nvSpPr>
          <p:cNvPr id="56" name="Shape 29">
            <a:extLst>
              <a:ext uri="{FF2B5EF4-FFF2-40B4-BE49-F238E27FC236}">
                <a16:creationId xmlns:a16="http://schemas.microsoft.com/office/drawing/2014/main" id="{76408295-EE64-7A19-9A72-F09A2F0A6753}"/>
              </a:ext>
            </a:extLst>
          </p:cNvPr>
          <p:cNvSpPr/>
          <p:nvPr/>
        </p:nvSpPr>
        <p:spPr>
          <a:xfrm>
            <a:off x="6240780" y="2598420"/>
            <a:ext cx="2526030" cy="1996440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9050">
            <a:solidFill>
              <a:srgbClr val="8ED9FA"/>
            </a:solidFill>
            <a:prstDash val="solid"/>
          </a:ln>
        </p:spPr>
      </p:sp>
      <p:sp>
        <p:nvSpPr>
          <p:cNvPr id="58" name="Shape 30">
            <a:extLst>
              <a:ext uri="{FF2B5EF4-FFF2-40B4-BE49-F238E27FC236}">
                <a16:creationId xmlns:a16="http://schemas.microsoft.com/office/drawing/2014/main" id="{9DEFE5C0-3793-F598-A12C-CBEB26657AF6}"/>
              </a:ext>
            </a:extLst>
          </p:cNvPr>
          <p:cNvSpPr/>
          <p:nvPr/>
        </p:nvSpPr>
        <p:spPr>
          <a:xfrm>
            <a:off x="6256020" y="2613660"/>
            <a:ext cx="2495550" cy="487680"/>
          </a:xfrm>
          <a:prstGeom prst="rect">
            <a:avLst/>
          </a:prstGeom>
          <a:solidFill>
            <a:srgbClr val="D8F6FF"/>
          </a:solidFill>
          <a:ln>
            <a:noFill/>
          </a:ln>
        </p:spPr>
      </p:sp>
      <p:sp>
        <p:nvSpPr>
          <p:cNvPr id="60" name="Shape 31">
            <a:extLst>
              <a:ext uri="{FF2B5EF4-FFF2-40B4-BE49-F238E27FC236}">
                <a16:creationId xmlns:a16="http://schemas.microsoft.com/office/drawing/2014/main" id="{018CDCD3-9A60-5BCB-33B3-05B22F808312}"/>
              </a:ext>
            </a:extLst>
          </p:cNvPr>
          <p:cNvSpPr/>
          <p:nvPr/>
        </p:nvSpPr>
        <p:spPr>
          <a:xfrm>
            <a:off x="6393180" y="2697480"/>
            <a:ext cx="320040" cy="320040"/>
          </a:xfrm>
          <a:prstGeom prst="roundRect">
            <a:avLst>
              <a:gd name="adj" fmla="val 30952"/>
            </a:avLst>
          </a:prstGeom>
          <a:solidFill>
            <a:srgbClr val="00A7FF"/>
          </a:solidFill>
          <a:ln>
            <a:noFill/>
          </a:ln>
        </p:spPr>
      </p:sp>
      <p:sp>
        <p:nvSpPr>
          <p:cNvPr id="62" name="Shape 32">
            <a:extLst>
              <a:ext uri="{FF2B5EF4-FFF2-40B4-BE49-F238E27FC236}">
                <a16:creationId xmlns:a16="http://schemas.microsoft.com/office/drawing/2014/main" id="{06A7C9D9-3A47-1093-AFB8-71EE230BE991}"/>
              </a:ext>
            </a:extLst>
          </p:cNvPr>
          <p:cNvSpPr/>
          <p:nvPr/>
        </p:nvSpPr>
        <p:spPr>
          <a:xfrm>
            <a:off x="6385560" y="3861078"/>
            <a:ext cx="2236470" cy="589002"/>
          </a:xfrm>
          <a:prstGeom prst="roundRect">
            <a:avLst>
              <a:gd name="adj" fmla="val 15525"/>
            </a:avLst>
          </a:prstGeom>
          <a:solidFill>
            <a:srgbClr val="EEFBFF"/>
          </a:solidFill>
          <a:ln w="9525">
            <a:solidFill>
              <a:srgbClr val="BDEBFA"/>
            </a:solidFill>
            <a:prstDash val="solid"/>
          </a:ln>
        </p:spPr>
      </p:sp>
      <p:sp>
        <p:nvSpPr>
          <p:cNvPr id="64" name="Shape 33">
            <a:extLst>
              <a:ext uri="{FF2B5EF4-FFF2-40B4-BE49-F238E27FC236}">
                <a16:creationId xmlns:a16="http://schemas.microsoft.com/office/drawing/2014/main" id="{85699F4F-53F4-74EC-B7B3-573178270FC7}"/>
              </a:ext>
            </a:extLst>
          </p:cNvPr>
          <p:cNvSpPr/>
          <p:nvPr/>
        </p:nvSpPr>
        <p:spPr>
          <a:xfrm>
            <a:off x="9056370" y="2598420"/>
            <a:ext cx="2526030" cy="1996440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9050">
            <a:solidFill>
              <a:srgbClr val="77D8BF"/>
            </a:solidFill>
            <a:prstDash val="solid"/>
          </a:ln>
        </p:spPr>
      </p:sp>
      <p:sp>
        <p:nvSpPr>
          <p:cNvPr id="66" name="Shape 34">
            <a:extLst>
              <a:ext uri="{FF2B5EF4-FFF2-40B4-BE49-F238E27FC236}">
                <a16:creationId xmlns:a16="http://schemas.microsoft.com/office/drawing/2014/main" id="{1B8B2490-EA27-3768-DA28-50AD00EB0072}"/>
              </a:ext>
            </a:extLst>
          </p:cNvPr>
          <p:cNvSpPr/>
          <p:nvPr/>
        </p:nvSpPr>
        <p:spPr>
          <a:xfrm>
            <a:off x="9071610" y="2613660"/>
            <a:ext cx="2495550" cy="487680"/>
          </a:xfrm>
          <a:prstGeom prst="rect">
            <a:avLst/>
          </a:prstGeom>
          <a:solidFill>
            <a:srgbClr val="DDF8F0"/>
          </a:solidFill>
          <a:ln>
            <a:noFill/>
          </a:ln>
        </p:spPr>
      </p:sp>
      <p:sp>
        <p:nvSpPr>
          <p:cNvPr id="68" name="Shape 35">
            <a:extLst>
              <a:ext uri="{FF2B5EF4-FFF2-40B4-BE49-F238E27FC236}">
                <a16:creationId xmlns:a16="http://schemas.microsoft.com/office/drawing/2014/main" id="{C245C18B-8AFB-A3A1-2199-2CA6364100A9}"/>
              </a:ext>
            </a:extLst>
          </p:cNvPr>
          <p:cNvSpPr/>
          <p:nvPr/>
        </p:nvSpPr>
        <p:spPr>
          <a:xfrm>
            <a:off x="9208770" y="2697480"/>
            <a:ext cx="320040" cy="320040"/>
          </a:xfrm>
          <a:prstGeom prst="roundRect">
            <a:avLst>
              <a:gd name="adj" fmla="val 30952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70" name="Shape 36">
            <a:extLst>
              <a:ext uri="{FF2B5EF4-FFF2-40B4-BE49-F238E27FC236}">
                <a16:creationId xmlns:a16="http://schemas.microsoft.com/office/drawing/2014/main" id="{59062C24-42DA-C920-9C41-46F546AF9681}"/>
              </a:ext>
            </a:extLst>
          </p:cNvPr>
          <p:cNvSpPr/>
          <p:nvPr/>
        </p:nvSpPr>
        <p:spPr>
          <a:xfrm>
            <a:off x="9201150" y="3861078"/>
            <a:ext cx="2236470" cy="589002"/>
          </a:xfrm>
          <a:prstGeom prst="roundRect">
            <a:avLst>
              <a:gd name="adj" fmla="val 15525"/>
            </a:avLst>
          </a:prstGeom>
          <a:solidFill>
            <a:srgbClr val="EFFBF7"/>
          </a:solidFill>
          <a:ln w="9525">
            <a:solidFill>
              <a:srgbClr val="BFE9DA"/>
            </a:solidFill>
            <a:prstDash val="solid"/>
          </a:ln>
        </p:spPr>
      </p:sp>
      <p:sp>
        <p:nvSpPr>
          <p:cNvPr id="72" name="Shape 37">
            <a:extLst>
              <a:ext uri="{FF2B5EF4-FFF2-40B4-BE49-F238E27FC236}">
                <a16:creationId xmlns:a16="http://schemas.microsoft.com/office/drawing/2014/main" id="{3BB79E73-205B-F7CF-6790-5D8B07C27B7D}"/>
              </a:ext>
            </a:extLst>
          </p:cNvPr>
          <p:cNvSpPr/>
          <p:nvPr/>
        </p:nvSpPr>
        <p:spPr>
          <a:xfrm>
            <a:off x="609600" y="4739640"/>
            <a:ext cx="6510457" cy="166878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74" name="Shape 38">
            <a:extLst>
              <a:ext uri="{FF2B5EF4-FFF2-40B4-BE49-F238E27FC236}">
                <a16:creationId xmlns:a16="http://schemas.microsoft.com/office/drawing/2014/main" id="{E6813973-437B-D029-6BA3-038EE14D77D3}"/>
              </a:ext>
            </a:extLst>
          </p:cNvPr>
          <p:cNvSpPr/>
          <p:nvPr/>
        </p:nvSpPr>
        <p:spPr>
          <a:xfrm>
            <a:off x="617220" y="4747260"/>
            <a:ext cx="6495217" cy="396240"/>
          </a:xfrm>
          <a:prstGeom prst="rect">
            <a:avLst/>
          </a:prstGeom>
          <a:solidFill>
            <a:srgbClr val="0565FF"/>
          </a:solidFill>
          <a:ln>
            <a:noFill/>
          </a:ln>
        </p:spPr>
      </p:sp>
      <p:sp>
        <p:nvSpPr>
          <p:cNvPr id="76" name="Shape 39">
            <a:extLst>
              <a:ext uri="{FF2B5EF4-FFF2-40B4-BE49-F238E27FC236}">
                <a16:creationId xmlns:a16="http://schemas.microsoft.com/office/drawing/2014/main" id="{EA5C6391-0FC3-6E0F-0398-7E106427595B}"/>
              </a:ext>
            </a:extLst>
          </p:cNvPr>
          <p:cNvSpPr/>
          <p:nvPr/>
        </p:nvSpPr>
        <p:spPr>
          <a:xfrm>
            <a:off x="723900" y="5234940"/>
            <a:ext cx="2048232" cy="529590"/>
          </a:xfrm>
          <a:prstGeom prst="roundRect">
            <a:avLst>
              <a:gd name="adj" fmla="val 14388"/>
            </a:avLst>
          </a:prstGeom>
          <a:solidFill>
            <a:srgbClr val="F1F6FF"/>
          </a:solidFill>
          <a:ln w="9525">
            <a:solidFill>
              <a:srgbClr val="D7E4F7"/>
            </a:solidFill>
            <a:prstDash val="solid"/>
          </a:ln>
        </p:spPr>
      </p:sp>
      <p:sp>
        <p:nvSpPr>
          <p:cNvPr id="78" name="Shape 40">
            <a:extLst>
              <a:ext uri="{FF2B5EF4-FFF2-40B4-BE49-F238E27FC236}">
                <a16:creationId xmlns:a16="http://schemas.microsoft.com/office/drawing/2014/main" id="{869C12CC-60C2-7081-F018-D22867629BD0}"/>
              </a:ext>
            </a:extLst>
          </p:cNvPr>
          <p:cNvSpPr/>
          <p:nvPr/>
        </p:nvSpPr>
        <p:spPr>
          <a:xfrm>
            <a:off x="2840712" y="5234940"/>
            <a:ext cx="2048232" cy="529590"/>
          </a:xfrm>
          <a:prstGeom prst="roundRect">
            <a:avLst>
              <a:gd name="adj" fmla="val 14388"/>
            </a:avLst>
          </a:prstGeom>
          <a:solidFill>
            <a:srgbClr val="EDF9FF"/>
          </a:solidFill>
          <a:ln w="9525">
            <a:solidFill>
              <a:srgbClr val="CFEAF8"/>
            </a:solidFill>
            <a:prstDash val="solid"/>
          </a:ln>
        </p:spPr>
      </p:sp>
      <p:sp>
        <p:nvSpPr>
          <p:cNvPr id="80" name="Shape 41">
            <a:extLst>
              <a:ext uri="{FF2B5EF4-FFF2-40B4-BE49-F238E27FC236}">
                <a16:creationId xmlns:a16="http://schemas.microsoft.com/office/drawing/2014/main" id="{2E7EBD95-90B0-8BA4-5ADE-3D6B612C367F}"/>
              </a:ext>
            </a:extLst>
          </p:cNvPr>
          <p:cNvSpPr/>
          <p:nvPr/>
        </p:nvSpPr>
        <p:spPr>
          <a:xfrm>
            <a:off x="4957524" y="5234940"/>
            <a:ext cx="2048232" cy="529590"/>
          </a:xfrm>
          <a:prstGeom prst="roundRect">
            <a:avLst>
              <a:gd name="adj" fmla="val 14388"/>
            </a:avLst>
          </a:prstGeom>
          <a:solidFill>
            <a:srgbClr val="FFF9F9"/>
          </a:solidFill>
          <a:ln w="9525">
            <a:solidFill>
              <a:srgbClr val="F0CCCC"/>
            </a:solidFill>
            <a:prstDash val="solid"/>
          </a:ln>
        </p:spPr>
      </p:sp>
      <p:sp>
        <p:nvSpPr>
          <p:cNvPr id="82" name="Shape 42">
            <a:extLst>
              <a:ext uri="{FF2B5EF4-FFF2-40B4-BE49-F238E27FC236}">
                <a16:creationId xmlns:a16="http://schemas.microsoft.com/office/drawing/2014/main" id="{F77534AE-8549-A42E-F629-5BFA2225DD06}"/>
              </a:ext>
            </a:extLst>
          </p:cNvPr>
          <p:cNvSpPr/>
          <p:nvPr/>
        </p:nvSpPr>
        <p:spPr>
          <a:xfrm>
            <a:off x="723900" y="5833110"/>
            <a:ext cx="2048232" cy="529590"/>
          </a:xfrm>
          <a:prstGeom prst="roundRect">
            <a:avLst>
              <a:gd name="adj" fmla="val 14388"/>
            </a:avLst>
          </a:prstGeom>
          <a:solidFill>
            <a:srgbClr val="EEFBFF"/>
          </a:solidFill>
          <a:ln w="9525">
            <a:solidFill>
              <a:srgbClr val="BDEBFA"/>
            </a:solidFill>
            <a:prstDash val="solid"/>
          </a:ln>
        </p:spPr>
      </p:sp>
      <p:sp>
        <p:nvSpPr>
          <p:cNvPr id="84" name="Shape 43">
            <a:extLst>
              <a:ext uri="{FF2B5EF4-FFF2-40B4-BE49-F238E27FC236}">
                <a16:creationId xmlns:a16="http://schemas.microsoft.com/office/drawing/2014/main" id="{4B0B8C38-22DC-B162-01BA-08C0C449C716}"/>
              </a:ext>
            </a:extLst>
          </p:cNvPr>
          <p:cNvSpPr/>
          <p:nvPr/>
        </p:nvSpPr>
        <p:spPr>
          <a:xfrm>
            <a:off x="2840712" y="5833110"/>
            <a:ext cx="2048232" cy="529590"/>
          </a:xfrm>
          <a:prstGeom prst="roundRect">
            <a:avLst>
              <a:gd name="adj" fmla="val 14388"/>
            </a:avLst>
          </a:prstGeom>
          <a:solidFill>
            <a:srgbClr val="EFFBF7"/>
          </a:solidFill>
          <a:ln w="9525">
            <a:solidFill>
              <a:srgbClr val="BFE9DA"/>
            </a:solidFill>
            <a:prstDash val="solid"/>
          </a:ln>
        </p:spPr>
      </p:sp>
      <p:sp>
        <p:nvSpPr>
          <p:cNvPr id="86" name="Shape 44">
            <a:extLst>
              <a:ext uri="{FF2B5EF4-FFF2-40B4-BE49-F238E27FC236}">
                <a16:creationId xmlns:a16="http://schemas.microsoft.com/office/drawing/2014/main" id="{B550AE23-7F88-2FCC-FD52-A3E360281182}"/>
              </a:ext>
            </a:extLst>
          </p:cNvPr>
          <p:cNvSpPr/>
          <p:nvPr/>
        </p:nvSpPr>
        <p:spPr>
          <a:xfrm>
            <a:off x="4957524" y="5833110"/>
            <a:ext cx="2048232" cy="529590"/>
          </a:xfrm>
          <a:prstGeom prst="roundRect">
            <a:avLst>
              <a:gd name="adj" fmla="val 14388"/>
            </a:avLst>
          </a:prstGeom>
          <a:solidFill>
            <a:srgbClr val="EFFBF7"/>
          </a:solidFill>
          <a:ln w="9525">
            <a:solidFill>
              <a:srgbClr val="BFE9DA"/>
            </a:solidFill>
            <a:prstDash val="solid"/>
          </a:ln>
        </p:spPr>
      </p:sp>
      <p:sp>
        <p:nvSpPr>
          <p:cNvPr id="88" name="Shape 45">
            <a:extLst>
              <a:ext uri="{FF2B5EF4-FFF2-40B4-BE49-F238E27FC236}">
                <a16:creationId xmlns:a16="http://schemas.microsoft.com/office/drawing/2014/main" id="{30387500-3FEF-8B71-3102-EB19784B4AA9}"/>
              </a:ext>
            </a:extLst>
          </p:cNvPr>
          <p:cNvSpPr/>
          <p:nvPr/>
        </p:nvSpPr>
        <p:spPr>
          <a:xfrm>
            <a:off x="7241977" y="4739640"/>
            <a:ext cx="4340423" cy="1668780"/>
          </a:xfrm>
          <a:prstGeom prst="roundRect">
            <a:avLst>
              <a:gd name="adj" fmla="val 8219"/>
            </a:avLst>
          </a:prstGeom>
          <a:solidFill>
            <a:srgbClr val="EFFBF7"/>
          </a:solidFill>
          <a:ln w="19050">
            <a:solidFill>
              <a:srgbClr val="00AB7A"/>
            </a:solidFill>
            <a:prstDash val="solid"/>
          </a:ln>
        </p:spPr>
      </p:sp>
      <p:sp>
        <p:nvSpPr>
          <p:cNvPr id="90" name="Shape 46">
            <a:extLst>
              <a:ext uri="{FF2B5EF4-FFF2-40B4-BE49-F238E27FC236}">
                <a16:creationId xmlns:a16="http://schemas.microsoft.com/office/drawing/2014/main" id="{6E0461F9-5B90-334E-7D58-1DEAA24D4E8A}"/>
              </a:ext>
            </a:extLst>
          </p:cNvPr>
          <p:cNvSpPr/>
          <p:nvPr/>
        </p:nvSpPr>
        <p:spPr>
          <a:xfrm>
            <a:off x="7257217" y="4754880"/>
            <a:ext cx="4309943" cy="396240"/>
          </a:xfrm>
          <a:prstGeom prst="rect">
            <a:avLst/>
          </a:prstGeom>
          <a:solidFill>
            <a:srgbClr val="00AB7A"/>
          </a:solidFill>
          <a:ln>
            <a:noFill/>
          </a:ln>
        </p:spPr>
      </p:sp>
      <p:sp>
        <p:nvSpPr>
          <p:cNvPr id="92" name="Shape 47">
            <a:extLst>
              <a:ext uri="{FF2B5EF4-FFF2-40B4-BE49-F238E27FC236}">
                <a16:creationId xmlns:a16="http://schemas.microsoft.com/office/drawing/2014/main" id="{DB7514BA-20AB-0DFF-9D69-FAA359AEB519}"/>
              </a:ext>
            </a:extLst>
          </p:cNvPr>
          <p:cNvSpPr/>
          <p:nvPr/>
        </p:nvSpPr>
        <p:spPr>
          <a:xfrm>
            <a:off x="7348657" y="5242560"/>
            <a:ext cx="4127063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BFE9DA"/>
            </a:solidFill>
            <a:prstDash val="solid"/>
          </a:ln>
        </p:spPr>
      </p:sp>
      <p:sp>
        <p:nvSpPr>
          <p:cNvPr id="94" name="Shape 48">
            <a:extLst>
              <a:ext uri="{FF2B5EF4-FFF2-40B4-BE49-F238E27FC236}">
                <a16:creationId xmlns:a16="http://schemas.microsoft.com/office/drawing/2014/main" id="{F8D08007-1844-25BA-5954-F28C67906C3B}"/>
              </a:ext>
            </a:extLst>
          </p:cNvPr>
          <p:cNvSpPr/>
          <p:nvPr/>
        </p:nvSpPr>
        <p:spPr>
          <a:xfrm>
            <a:off x="7348657" y="5516880"/>
            <a:ext cx="4127063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BFE9DA"/>
            </a:solidFill>
            <a:prstDash val="solid"/>
          </a:ln>
        </p:spPr>
      </p:sp>
      <p:sp>
        <p:nvSpPr>
          <p:cNvPr id="96" name="Shape 49">
            <a:extLst>
              <a:ext uri="{FF2B5EF4-FFF2-40B4-BE49-F238E27FC236}">
                <a16:creationId xmlns:a16="http://schemas.microsoft.com/office/drawing/2014/main" id="{1AC90603-F742-DF77-572D-554FA3A685C9}"/>
              </a:ext>
            </a:extLst>
          </p:cNvPr>
          <p:cNvSpPr/>
          <p:nvPr/>
        </p:nvSpPr>
        <p:spPr>
          <a:xfrm>
            <a:off x="7348657" y="5791200"/>
            <a:ext cx="4127063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BFE9DA"/>
            </a:solidFill>
            <a:prstDash val="solid"/>
          </a:ln>
        </p:spPr>
      </p:sp>
      <p:sp>
        <p:nvSpPr>
          <p:cNvPr id="98" name="Shape 50">
            <a:extLst>
              <a:ext uri="{FF2B5EF4-FFF2-40B4-BE49-F238E27FC236}">
                <a16:creationId xmlns:a16="http://schemas.microsoft.com/office/drawing/2014/main" id="{1318E0F6-CDC2-E2BF-C24C-2C0AF3F192B2}"/>
              </a:ext>
            </a:extLst>
          </p:cNvPr>
          <p:cNvSpPr/>
          <p:nvPr/>
        </p:nvSpPr>
        <p:spPr>
          <a:xfrm>
            <a:off x="7348657" y="6065520"/>
            <a:ext cx="4127063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F0CCCC"/>
            </a:solidFill>
            <a:prstDash val="solid"/>
          </a:ln>
        </p:spPr>
      </p:sp>
      <p:sp>
        <p:nvSpPr>
          <p:cNvPr id="100" name="TextBox 4">
            <a:extLst>
              <a:ext uri="{FF2B5EF4-FFF2-40B4-BE49-F238E27FC236}">
                <a16:creationId xmlns:a16="http://schemas.microsoft.com/office/drawing/2014/main" id="{1606DAB9-D4FF-9BF1-C0A4-95ECF5CACA22}"/>
              </a:ext>
            </a:extLst>
          </p:cNvPr>
          <p:cNvSpPr txBox="1"/>
          <p:nvPr/>
        </p:nvSpPr>
        <p:spPr>
          <a:xfrm>
            <a:off x="742188" y="1185672"/>
            <a:ext cx="679094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05"/>
              </a:lnSpc>
            </a:pPr>
            <a:r>
              <a:rPr lang="zh-CN" sz="1560" b="1" dirty="0">
                <a:solidFill>
                  <a:srgbClr val="0F2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平台价值不止是个人提效，更要把有效方法转化为可审核、可复用的组织资产</a:t>
            </a:r>
          </a:p>
        </p:txBody>
      </p:sp>
      <p:sp>
        <p:nvSpPr>
          <p:cNvPr id="102" name="TextBox 5">
            <a:extLst>
              <a:ext uri="{FF2B5EF4-FFF2-40B4-BE49-F238E27FC236}">
                <a16:creationId xmlns:a16="http://schemas.microsoft.com/office/drawing/2014/main" id="{BF92017C-DC1F-5668-44F4-715453D2CCA9}"/>
              </a:ext>
            </a:extLst>
          </p:cNvPr>
          <p:cNvSpPr txBox="1"/>
          <p:nvPr/>
        </p:nvSpPr>
        <p:spPr>
          <a:xfrm>
            <a:off x="9406711" y="1154430"/>
            <a:ext cx="2100834" cy="175260"/>
          </a:xfrm>
          <a:prstGeom prst="rect">
            <a:avLst/>
          </a:prstGeom>
          <a:noFill/>
        </p:spPr>
        <p:txBody>
          <a:bodyPr wrap="square" lIns="144780" tIns="68580" rIns="144780" bIns="68580" anchor="t">
            <a:noAutofit/>
          </a:bodyPr>
          <a:lstStyle/>
          <a:p>
            <a:pPr>
              <a:lnSpc>
                <a:spcPts val="1620"/>
              </a:lnSpc>
            </a:pPr>
            <a:r>
              <a:rPr lang="zh-CN" sz="10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从通用办公和低风险任务起步</a:t>
            </a:r>
          </a:p>
        </p:txBody>
      </p:sp>
      <p:sp>
        <p:nvSpPr>
          <p:cNvPr id="104" name="TextBox 6">
            <a:extLst>
              <a:ext uri="{FF2B5EF4-FFF2-40B4-BE49-F238E27FC236}">
                <a16:creationId xmlns:a16="http://schemas.microsoft.com/office/drawing/2014/main" id="{61A75AC9-2078-697F-5F1E-43D75E7E7558}"/>
              </a:ext>
            </a:extLst>
          </p:cNvPr>
          <p:cNvSpPr txBox="1"/>
          <p:nvPr/>
        </p:nvSpPr>
        <p:spPr>
          <a:xfrm>
            <a:off x="769620" y="1684020"/>
            <a:ext cx="2950464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00"/>
              </a:lnSpc>
            </a:pPr>
            <a:r>
              <a: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七类产品能力｜围绕真实岗位任务按需组合</a:t>
            </a:r>
          </a:p>
        </p:txBody>
      </p:sp>
      <p:sp>
        <p:nvSpPr>
          <p:cNvPr id="106" name="TextBox 7">
            <a:extLst>
              <a:ext uri="{FF2B5EF4-FFF2-40B4-BE49-F238E27FC236}">
                <a16:creationId xmlns:a16="http://schemas.microsoft.com/office/drawing/2014/main" id="{D6B6BC8B-E5B2-3A75-D10F-01500B2EE720}"/>
              </a:ext>
            </a:extLst>
          </p:cNvPr>
          <p:cNvSpPr txBox="1"/>
          <p:nvPr/>
        </p:nvSpPr>
        <p:spPr>
          <a:xfrm>
            <a:off x="1173480" y="2667000"/>
            <a:ext cx="1014984" cy="1798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19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掌握方法与边界</a:t>
            </a:r>
          </a:p>
        </p:txBody>
      </p:sp>
      <p:sp>
        <p:nvSpPr>
          <p:cNvPr id="108" name="TextBox 8">
            <a:extLst>
              <a:ext uri="{FF2B5EF4-FFF2-40B4-BE49-F238E27FC236}">
                <a16:creationId xmlns:a16="http://schemas.microsoft.com/office/drawing/2014/main" id="{7AC44E8F-4E37-FABA-9D0B-BD55164E5BFF}"/>
              </a:ext>
            </a:extLst>
          </p:cNvPr>
          <p:cNvSpPr txBox="1"/>
          <p:nvPr/>
        </p:nvSpPr>
        <p:spPr>
          <a:xfrm>
            <a:off x="1173480" y="2842260"/>
            <a:ext cx="1014984" cy="240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180"/>
              </a:spcBef>
            </a:pPr>
            <a:r>
              <a:rPr lang="zh-CN" sz="15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学会一次</a:t>
            </a:r>
          </a:p>
        </p:txBody>
      </p:sp>
      <p:sp>
        <p:nvSpPr>
          <p:cNvPr id="110" name="TextBox 9">
            <a:extLst>
              <a:ext uri="{FF2B5EF4-FFF2-40B4-BE49-F238E27FC236}">
                <a16:creationId xmlns:a16="http://schemas.microsoft.com/office/drawing/2014/main" id="{5BE50054-78F2-245C-2C46-DD838E0BA16B}"/>
              </a:ext>
            </a:extLst>
          </p:cNvPr>
          <p:cNvSpPr txBox="1"/>
          <p:nvPr/>
        </p:nvSpPr>
        <p:spPr>
          <a:xfrm>
            <a:off x="754380" y="3291840"/>
            <a:ext cx="229514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学习基本操作、人机协作方法、结果核验与数据安全要求。</a:t>
            </a:r>
          </a:p>
        </p:txBody>
      </p:sp>
      <p:sp>
        <p:nvSpPr>
          <p:cNvPr id="112" name="TextBox 10">
            <a:extLst>
              <a:ext uri="{FF2B5EF4-FFF2-40B4-BE49-F238E27FC236}">
                <a16:creationId xmlns:a16="http://schemas.microsoft.com/office/drawing/2014/main" id="{38A01471-38C6-8997-ED68-764A3B7974E3}"/>
              </a:ext>
            </a:extLst>
          </p:cNvPr>
          <p:cNvSpPr txBox="1"/>
          <p:nvPr/>
        </p:nvSpPr>
        <p:spPr>
          <a:xfrm>
            <a:off x="861060" y="3947160"/>
            <a:ext cx="20817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形成证据</a:t>
            </a:r>
          </a:p>
        </p:txBody>
      </p:sp>
      <p:sp>
        <p:nvSpPr>
          <p:cNvPr id="114" name="TextBox 11">
            <a:extLst>
              <a:ext uri="{FF2B5EF4-FFF2-40B4-BE49-F238E27FC236}">
                <a16:creationId xmlns:a16="http://schemas.microsoft.com/office/drawing/2014/main" id="{7287A56B-9259-798D-5639-3BCE7572D53C}"/>
              </a:ext>
            </a:extLst>
          </p:cNvPr>
          <p:cNvSpPr txBox="1"/>
          <p:nvPr/>
        </p:nvSpPr>
        <p:spPr>
          <a:xfrm>
            <a:off x="861060" y="4183380"/>
            <a:ext cx="208178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安全边界清单＋个人任务计划</a:t>
            </a:r>
          </a:p>
        </p:txBody>
      </p:sp>
      <p:sp>
        <p:nvSpPr>
          <p:cNvPr id="116" name="TextBox 12">
            <a:extLst>
              <a:ext uri="{FF2B5EF4-FFF2-40B4-BE49-F238E27FC236}">
                <a16:creationId xmlns:a16="http://schemas.microsoft.com/office/drawing/2014/main" id="{7F8CEBD2-F8D0-1435-3116-6882982E3132}"/>
              </a:ext>
            </a:extLst>
          </p:cNvPr>
          <p:cNvSpPr txBox="1"/>
          <p:nvPr/>
        </p:nvSpPr>
        <p:spPr>
          <a:xfrm>
            <a:off x="3992880" y="2667000"/>
            <a:ext cx="1152144" cy="1798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19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解决高频岗位任务</a:t>
            </a:r>
          </a:p>
        </p:txBody>
      </p:sp>
      <p:sp>
        <p:nvSpPr>
          <p:cNvPr id="118" name="TextBox 13">
            <a:extLst>
              <a:ext uri="{FF2B5EF4-FFF2-40B4-BE49-F238E27FC236}">
                <a16:creationId xmlns:a16="http://schemas.microsoft.com/office/drawing/2014/main" id="{FAF9E908-524B-5424-FC61-1C57A1A134D6}"/>
              </a:ext>
            </a:extLst>
          </p:cNvPr>
          <p:cNvSpPr txBox="1"/>
          <p:nvPr/>
        </p:nvSpPr>
        <p:spPr>
          <a:xfrm>
            <a:off x="3992880" y="2842260"/>
            <a:ext cx="1152144" cy="240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180"/>
              </a:spcBef>
            </a:pPr>
            <a:r>
              <a:rPr lang="zh-CN" sz="15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完成一例</a:t>
            </a:r>
          </a:p>
        </p:txBody>
      </p:sp>
      <p:sp>
        <p:nvSpPr>
          <p:cNvPr id="120" name="TextBox 14">
            <a:extLst>
              <a:ext uri="{FF2B5EF4-FFF2-40B4-BE49-F238E27FC236}">
                <a16:creationId xmlns:a16="http://schemas.microsoft.com/office/drawing/2014/main" id="{7F5F65A7-EEA4-518B-C511-84142E74ADDD}"/>
              </a:ext>
            </a:extLst>
          </p:cNvPr>
          <p:cNvSpPr txBox="1"/>
          <p:nvPr/>
        </p:nvSpPr>
        <p:spPr>
          <a:xfrm>
            <a:off x="3573780" y="3291840"/>
            <a:ext cx="229514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在真实工作中完成任务，对比使用前后的时间、质量与差错。</a:t>
            </a:r>
          </a:p>
        </p:txBody>
      </p:sp>
      <p:sp>
        <p:nvSpPr>
          <p:cNvPr id="122" name="TextBox 15">
            <a:extLst>
              <a:ext uri="{FF2B5EF4-FFF2-40B4-BE49-F238E27FC236}">
                <a16:creationId xmlns:a16="http://schemas.microsoft.com/office/drawing/2014/main" id="{42228CE6-35D0-CE23-5460-842F68CE1109}"/>
              </a:ext>
            </a:extLst>
          </p:cNvPr>
          <p:cNvSpPr txBox="1"/>
          <p:nvPr/>
        </p:nvSpPr>
        <p:spPr>
          <a:xfrm>
            <a:off x="3680460" y="3947160"/>
            <a:ext cx="20817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形成证据</a:t>
            </a:r>
          </a:p>
        </p:txBody>
      </p:sp>
      <p:sp>
        <p:nvSpPr>
          <p:cNvPr id="124" name="TextBox 16">
            <a:extLst>
              <a:ext uri="{FF2B5EF4-FFF2-40B4-BE49-F238E27FC236}">
                <a16:creationId xmlns:a16="http://schemas.microsoft.com/office/drawing/2014/main" id="{49A4F805-72C9-25B2-F7C6-971AAB0EB335}"/>
              </a:ext>
            </a:extLst>
          </p:cNvPr>
          <p:cNvSpPr txBox="1"/>
          <p:nvPr/>
        </p:nvSpPr>
        <p:spPr>
          <a:xfrm>
            <a:off x="3680460" y="4183380"/>
            <a:ext cx="208178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岗位案例＋前后效果对比</a:t>
            </a:r>
          </a:p>
        </p:txBody>
      </p:sp>
      <p:sp>
        <p:nvSpPr>
          <p:cNvPr id="126" name="TextBox 17">
            <a:extLst>
              <a:ext uri="{FF2B5EF4-FFF2-40B4-BE49-F238E27FC236}">
                <a16:creationId xmlns:a16="http://schemas.microsoft.com/office/drawing/2014/main" id="{000BC525-E483-459E-4F36-1FDCF7997F50}"/>
              </a:ext>
            </a:extLst>
          </p:cNvPr>
          <p:cNvSpPr txBox="1"/>
          <p:nvPr/>
        </p:nvSpPr>
        <p:spPr>
          <a:xfrm>
            <a:off x="6804660" y="2667000"/>
            <a:ext cx="1152144" cy="1798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190"/>
              </a:lnSpc>
            </a:pPr>
            <a:r>
              <a:rPr lang="zh-CN" sz="108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把有效做法产品化</a:t>
            </a:r>
          </a:p>
        </p:txBody>
      </p:sp>
      <p:sp>
        <p:nvSpPr>
          <p:cNvPr id="128" name="TextBox 18">
            <a:extLst>
              <a:ext uri="{FF2B5EF4-FFF2-40B4-BE49-F238E27FC236}">
                <a16:creationId xmlns:a16="http://schemas.microsoft.com/office/drawing/2014/main" id="{23F0EAC3-B30E-323B-510A-2ABDF69CDED5}"/>
              </a:ext>
            </a:extLst>
          </p:cNvPr>
          <p:cNvSpPr txBox="1"/>
          <p:nvPr/>
        </p:nvSpPr>
        <p:spPr>
          <a:xfrm>
            <a:off x="6804660" y="2842260"/>
            <a:ext cx="1152144" cy="240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180"/>
              </a:spcBef>
            </a:pPr>
            <a:r>
              <a:rPr lang="zh-CN" sz="15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沉淀一项</a:t>
            </a:r>
          </a:p>
        </p:txBody>
      </p:sp>
      <p:sp>
        <p:nvSpPr>
          <p:cNvPr id="130" name="TextBox 19">
            <a:extLst>
              <a:ext uri="{FF2B5EF4-FFF2-40B4-BE49-F238E27FC236}">
                <a16:creationId xmlns:a16="http://schemas.microsoft.com/office/drawing/2014/main" id="{6F0177EA-49A5-8282-215F-EAA987C23816}"/>
              </a:ext>
            </a:extLst>
          </p:cNvPr>
          <p:cNvSpPr txBox="1"/>
          <p:nvPr/>
        </p:nvSpPr>
        <p:spPr>
          <a:xfrm>
            <a:off x="6385560" y="3291840"/>
            <a:ext cx="229514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将方法沉淀为提示、岗位专家、专属技能或标准流程。</a:t>
            </a:r>
          </a:p>
        </p:txBody>
      </p:sp>
      <p:sp>
        <p:nvSpPr>
          <p:cNvPr id="132" name="TextBox 20">
            <a:extLst>
              <a:ext uri="{FF2B5EF4-FFF2-40B4-BE49-F238E27FC236}">
                <a16:creationId xmlns:a16="http://schemas.microsoft.com/office/drawing/2014/main" id="{233B1ED9-DCD2-5A4E-697F-DE75BEF66928}"/>
              </a:ext>
            </a:extLst>
          </p:cNvPr>
          <p:cNvSpPr txBox="1"/>
          <p:nvPr/>
        </p:nvSpPr>
        <p:spPr>
          <a:xfrm>
            <a:off x="6492240" y="3947160"/>
            <a:ext cx="20817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形成证据</a:t>
            </a:r>
          </a:p>
        </p:txBody>
      </p:sp>
      <p:sp>
        <p:nvSpPr>
          <p:cNvPr id="134" name="TextBox 21">
            <a:extLst>
              <a:ext uri="{FF2B5EF4-FFF2-40B4-BE49-F238E27FC236}">
                <a16:creationId xmlns:a16="http://schemas.microsoft.com/office/drawing/2014/main" id="{31D39CAF-961A-1FCB-3B69-C9F0D4F99DD1}"/>
              </a:ext>
            </a:extLst>
          </p:cNvPr>
          <p:cNvSpPr txBox="1"/>
          <p:nvPr/>
        </p:nvSpPr>
        <p:spPr>
          <a:xfrm>
            <a:off x="6492240" y="4183380"/>
            <a:ext cx="208178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可复用资产＋使用维护说明</a:t>
            </a:r>
          </a:p>
        </p:txBody>
      </p:sp>
      <p:sp>
        <p:nvSpPr>
          <p:cNvPr id="136" name="TextBox 22">
            <a:extLst>
              <a:ext uri="{FF2B5EF4-FFF2-40B4-BE49-F238E27FC236}">
                <a16:creationId xmlns:a16="http://schemas.microsoft.com/office/drawing/2014/main" id="{FFE0DAED-3B1F-D243-BA36-9574FD684C32}"/>
              </a:ext>
            </a:extLst>
          </p:cNvPr>
          <p:cNvSpPr txBox="1"/>
          <p:nvPr/>
        </p:nvSpPr>
        <p:spPr>
          <a:xfrm>
            <a:off x="9624060" y="2667000"/>
            <a:ext cx="1289304" cy="1798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19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评审后进入组织共享</a:t>
            </a:r>
          </a:p>
        </p:txBody>
      </p:sp>
      <p:sp>
        <p:nvSpPr>
          <p:cNvPr id="138" name="TextBox 23">
            <a:extLst>
              <a:ext uri="{FF2B5EF4-FFF2-40B4-BE49-F238E27FC236}">
                <a16:creationId xmlns:a16="http://schemas.microsoft.com/office/drawing/2014/main" id="{1D2BC106-F16C-530A-B8DF-376613A04AE2}"/>
              </a:ext>
            </a:extLst>
          </p:cNvPr>
          <p:cNvSpPr txBox="1"/>
          <p:nvPr/>
        </p:nvSpPr>
        <p:spPr>
          <a:xfrm>
            <a:off x="9624060" y="2842260"/>
            <a:ext cx="1289304" cy="240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180"/>
              </a:spcBef>
            </a:pPr>
            <a:r>
              <a:rPr lang="zh-CN" sz="1500" b="1" dirty="0">
                <a:solidFill>
                  <a:srgbClr val="075A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分享一次</a:t>
            </a:r>
          </a:p>
        </p:txBody>
      </p:sp>
      <p:sp>
        <p:nvSpPr>
          <p:cNvPr id="140" name="TextBox 24">
            <a:extLst>
              <a:ext uri="{FF2B5EF4-FFF2-40B4-BE49-F238E27FC236}">
                <a16:creationId xmlns:a16="http://schemas.microsoft.com/office/drawing/2014/main" id="{F31ACFF4-BC1A-F05B-9150-C6E95D0FCACB}"/>
              </a:ext>
            </a:extLst>
          </p:cNvPr>
          <p:cNvSpPr txBox="1"/>
          <p:nvPr/>
        </p:nvSpPr>
        <p:spPr>
          <a:xfrm>
            <a:off x="9204960" y="3291840"/>
            <a:ext cx="229514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由部门审核适用范围与风险，发布至优秀案例或资产目录。</a:t>
            </a:r>
          </a:p>
        </p:txBody>
      </p:sp>
      <p:sp>
        <p:nvSpPr>
          <p:cNvPr id="142" name="TextBox 25">
            <a:extLst>
              <a:ext uri="{FF2B5EF4-FFF2-40B4-BE49-F238E27FC236}">
                <a16:creationId xmlns:a16="http://schemas.microsoft.com/office/drawing/2014/main" id="{C6025C69-413B-04D1-60C4-5F88890834DF}"/>
              </a:ext>
            </a:extLst>
          </p:cNvPr>
          <p:cNvSpPr txBox="1"/>
          <p:nvPr/>
        </p:nvSpPr>
        <p:spPr>
          <a:xfrm>
            <a:off x="9311640" y="3947160"/>
            <a:ext cx="20817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形成证据</a:t>
            </a:r>
          </a:p>
        </p:txBody>
      </p:sp>
      <p:sp>
        <p:nvSpPr>
          <p:cNvPr id="144" name="TextBox 26">
            <a:extLst>
              <a:ext uri="{FF2B5EF4-FFF2-40B4-BE49-F238E27FC236}">
                <a16:creationId xmlns:a16="http://schemas.microsoft.com/office/drawing/2014/main" id="{E934FDD1-91AE-DA0F-6DE5-DEAAB1C600CF}"/>
              </a:ext>
            </a:extLst>
          </p:cNvPr>
          <p:cNvSpPr txBox="1"/>
          <p:nvPr/>
        </p:nvSpPr>
        <p:spPr>
          <a:xfrm>
            <a:off x="9311640" y="4183380"/>
            <a:ext cx="208178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6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审核记录＋共享范围＋责任人</a:t>
            </a:r>
          </a:p>
        </p:txBody>
      </p:sp>
      <p:sp>
        <p:nvSpPr>
          <p:cNvPr id="146" name="TextBox 27">
            <a:extLst>
              <a:ext uri="{FF2B5EF4-FFF2-40B4-BE49-F238E27FC236}">
                <a16:creationId xmlns:a16="http://schemas.microsoft.com/office/drawing/2014/main" id="{FBAEF851-4BCF-254F-2EBC-F48836CB12AE}"/>
              </a:ext>
            </a:extLst>
          </p:cNvPr>
          <p:cNvSpPr txBox="1"/>
          <p:nvPr/>
        </p:nvSpPr>
        <p:spPr>
          <a:xfrm>
            <a:off x="769620" y="4815840"/>
            <a:ext cx="303428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zh-CN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资产审核门槛｜通过后才进入组织共享</a:t>
            </a:r>
          </a:p>
        </p:txBody>
      </p:sp>
      <p:sp>
        <p:nvSpPr>
          <p:cNvPr id="148" name="TextBox 28">
            <a:extLst>
              <a:ext uri="{FF2B5EF4-FFF2-40B4-BE49-F238E27FC236}">
                <a16:creationId xmlns:a16="http://schemas.microsoft.com/office/drawing/2014/main" id="{82141C42-B9FB-6B17-7578-CBFAE7C05988}"/>
              </a:ext>
            </a:extLst>
          </p:cNvPr>
          <p:cNvSpPr txBox="1"/>
          <p:nvPr/>
        </p:nvSpPr>
        <p:spPr>
          <a:xfrm>
            <a:off x="822960" y="5303520"/>
            <a:ext cx="19065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适用范围</a:t>
            </a:r>
          </a:p>
        </p:txBody>
      </p:sp>
      <p:sp>
        <p:nvSpPr>
          <p:cNvPr id="150" name="TextBox 29">
            <a:extLst>
              <a:ext uri="{FF2B5EF4-FFF2-40B4-BE49-F238E27FC236}">
                <a16:creationId xmlns:a16="http://schemas.microsoft.com/office/drawing/2014/main" id="{059C765C-00FA-2520-5370-72829A3878D7}"/>
              </a:ext>
            </a:extLst>
          </p:cNvPr>
          <p:cNvSpPr txBox="1"/>
          <p:nvPr/>
        </p:nvSpPr>
        <p:spPr>
          <a:xfrm>
            <a:off x="822960" y="5524500"/>
            <a:ext cx="190652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  <a:spcBef>
                <a:spcPts val="1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谁能用、用于什么任务</a:t>
            </a:r>
          </a:p>
        </p:txBody>
      </p:sp>
      <p:sp>
        <p:nvSpPr>
          <p:cNvPr id="152" name="TextBox 30">
            <a:extLst>
              <a:ext uri="{FF2B5EF4-FFF2-40B4-BE49-F238E27FC236}">
                <a16:creationId xmlns:a16="http://schemas.microsoft.com/office/drawing/2014/main" id="{67B74762-B308-0643-935C-53DCFDD10138}"/>
              </a:ext>
            </a:extLst>
          </p:cNvPr>
          <p:cNvSpPr txBox="1"/>
          <p:nvPr/>
        </p:nvSpPr>
        <p:spPr>
          <a:xfrm>
            <a:off x="2941320" y="5303520"/>
            <a:ext cx="19065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知识来源</a:t>
            </a:r>
          </a:p>
        </p:txBody>
      </p:sp>
      <p:sp>
        <p:nvSpPr>
          <p:cNvPr id="154" name="TextBox 31">
            <a:extLst>
              <a:ext uri="{FF2B5EF4-FFF2-40B4-BE49-F238E27FC236}">
                <a16:creationId xmlns:a16="http://schemas.microsoft.com/office/drawing/2014/main" id="{2082F0F4-4D9D-BAAB-B95D-9AEB5EACEF38}"/>
              </a:ext>
            </a:extLst>
          </p:cNvPr>
          <p:cNvSpPr txBox="1"/>
          <p:nvPr/>
        </p:nvSpPr>
        <p:spPr>
          <a:xfrm>
            <a:off x="2941320" y="5524500"/>
            <a:ext cx="190652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  <a:spcBef>
                <a:spcPts val="1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来源可信、授权和更新清楚</a:t>
            </a:r>
          </a:p>
        </p:txBody>
      </p:sp>
      <p:sp>
        <p:nvSpPr>
          <p:cNvPr id="156" name="TextBox 32">
            <a:extLst>
              <a:ext uri="{FF2B5EF4-FFF2-40B4-BE49-F238E27FC236}">
                <a16:creationId xmlns:a16="http://schemas.microsoft.com/office/drawing/2014/main" id="{330AF0C0-70E5-CEF2-C66B-B45AAC6D6B66}"/>
              </a:ext>
            </a:extLst>
          </p:cNvPr>
          <p:cNvSpPr txBox="1"/>
          <p:nvPr/>
        </p:nvSpPr>
        <p:spPr>
          <a:xfrm>
            <a:off x="5059680" y="5303520"/>
            <a:ext cx="19065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8F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敏感信息</a:t>
            </a:r>
          </a:p>
        </p:txBody>
      </p:sp>
      <p:sp>
        <p:nvSpPr>
          <p:cNvPr id="158" name="TextBox 33">
            <a:extLst>
              <a:ext uri="{FF2B5EF4-FFF2-40B4-BE49-F238E27FC236}">
                <a16:creationId xmlns:a16="http://schemas.microsoft.com/office/drawing/2014/main" id="{FC18B0DC-125B-AC75-C41A-DCFCF3E36837}"/>
              </a:ext>
            </a:extLst>
          </p:cNvPr>
          <p:cNvSpPr txBox="1"/>
          <p:nvPr/>
        </p:nvSpPr>
        <p:spPr>
          <a:xfrm>
            <a:off x="5059680" y="5524500"/>
            <a:ext cx="190652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  <a:spcBef>
                <a:spcPts val="1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完成识别、脱敏与权限控制</a:t>
            </a:r>
          </a:p>
        </p:txBody>
      </p:sp>
      <p:sp>
        <p:nvSpPr>
          <p:cNvPr id="160" name="TextBox 34">
            <a:extLst>
              <a:ext uri="{FF2B5EF4-FFF2-40B4-BE49-F238E27FC236}">
                <a16:creationId xmlns:a16="http://schemas.microsoft.com/office/drawing/2014/main" id="{81229453-7B8B-010C-9EB7-D05965165D60}"/>
              </a:ext>
            </a:extLst>
          </p:cNvPr>
          <p:cNvSpPr txBox="1"/>
          <p:nvPr/>
        </p:nvSpPr>
        <p:spPr>
          <a:xfrm>
            <a:off x="822960" y="5905500"/>
            <a:ext cx="19065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输出稳定性</a:t>
            </a:r>
          </a:p>
        </p:txBody>
      </p:sp>
      <p:sp>
        <p:nvSpPr>
          <p:cNvPr id="162" name="TextBox 35">
            <a:extLst>
              <a:ext uri="{FF2B5EF4-FFF2-40B4-BE49-F238E27FC236}">
                <a16:creationId xmlns:a16="http://schemas.microsoft.com/office/drawing/2014/main" id="{45943C3C-B9A4-22E7-004E-46CC65508644}"/>
              </a:ext>
            </a:extLst>
          </p:cNvPr>
          <p:cNvSpPr txBox="1"/>
          <p:nvPr/>
        </p:nvSpPr>
        <p:spPr>
          <a:xfrm>
            <a:off x="822960" y="6126480"/>
            <a:ext cx="190652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  <a:spcBef>
                <a:spcPts val="1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典型任务经过测试与复核</a:t>
            </a:r>
          </a:p>
        </p:txBody>
      </p:sp>
      <p:sp>
        <p:nvSpPr>
          <p:cNvPr id="164" name="TextBox 36">
            <a:extLst>
              <a:ext uri="{FF2B5EF4-FFF2-40B4-BE49-F238E27FC236}">
                <a16:creationId xmlns:a16="http://schemas.microsoft.com/office/drawing/2014/main" id="{0C03B55D-2CA0-51E8-A21C-5E154DF9AC97}"/>
              </a:ext>
            </a:extLst>
          </p:cNvPr>
          <p:cNvSpPr txBox="1"/>
          <p:nvPr/>
        </p:nvSpPr>
        <p:spPr>
          <a:xfrm>
            <a:off x="2941320" y="5905500"/>
            <a:ext cx="19065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维护责任</a:t>
            </a:r>
          </a:p>
        </p:txBody>
      </p:sp>
      <p:sp>
        <p:nvSpPr>
          <p:cNvPr id="166" name="TextBox 37">
            <a:extLst>
              <a:ext uri="{FF2B5EF4-FFF2-40B4-BE49-F238E27FC236}">
                <a16:creationId xmlns:a16="http://schemas.microsoft.com/office/drawing/2014/main" id="{ECA77352-C932-FCA0-EB3E-6EA646CD49AD}"/>
              </a:ext>
            </a:extLst>
          </p:cNvPr>
          <p:cNvSpPr txBox="1"/>
          <p:nvPr/>
        </p:nvSpPr>
        <p:spPr>
          <a:xfrm>
            <a:off x="2941320" y="6126480"/>
            <a:ext cx="190652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  <a:spcBef>
                <a:spcPts val="1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明确负责人、反馈和更新周期</a:t>
            </a:r>
          </a:p>
        </p:txBody>
      </p:sp>
      <p:sp>
        <p:nvSpPr>
          <p:cNvPr id="168" name="TextBox 38">
            <a:extLst>
              <a:ext uri="{FF2B5EF4-FFF2-40B4-BE49-F238E27FC236}">
                <a16:creationId xmlns:a16="http://schemas.microsoft.com/office/drawing/2014/main" id="{129BAD32-B59D-6705-CB5C-72315EE9B49B}"/>
              </a:ext>
            </a:extLst>
          </p:cNvPr>
          <p:cNvSpPr txBox="1"/>
          <p:nvPr/>
        </p:nvSpPr>
        <p:spPr>
          <a:xfrm>
            <a:off x="5059680" y="5905500"/>
            <a:ext cx="190652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使用说明</a:t>
            </a:r>
          </a:p>
        </p:txBody>
      </p:sp>
      <p:sp>
        <p:nvSpPr>
          <p:cNvPr id="170" name="TextBox 39">
            <a:extLst>
              <a:ext uri="{FF2B5EF4-FFF2-40B4-BE49-F238E27FC236}">
                <a16:creationId xmlns:a16="http://schemas.microsoft.com/office/drawing/2014/main" id="{CE9EB457-F576-6BF3-CB0D-CF06410B4A7D}"/>
              </a:ext>
            </a:extLst>
          </p:cNvPr>
          <p:cNvSpPr txBox="1"/>
          <p:nvPr/>
        </p:nvSpPr>
        <p:spPr>
          <a:xfrm>
            <a:off x="5059680" y="6126480"/>
            <a:ext cx="190652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  <a:spcBef>
                <a:spcPts val="1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输入要求、核验方法与禁区</a:t>
            </a:r>
          </a:p>
        </p:txBody>
      </p:sp>
      <p:sp>
        <p:nvSpPr>
          <p:cNvPr id="172" name="TextBox 40">
            <a:extLst>
              <a:ext uri="{FF2B5EF4-FFF2-40B4-BE49-F238E27FC236}">
                <a16:creationId xmlns:a16="http://schemas.microsoft.com/office/drawing/2014/main" id="{6975C99C-5DED-F3B0-24C1-8E591CD324C8}"/>
              </a:ext>
            </a:extLst>
          </p:cNvPr>
          <p:cNvSpPr txBox="1"/>
          <p:nvPr/>
        </p:nvSpPr>
        <p:spPr>
          <a:xfrm>
            <a:off x="7406640" y="4823460"/>
            <a:ext cx="233324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zh-CN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运营指标｜持续观察真实价值</a:t>
            </a:r>
          </a:p>
        </p:txBody>
      </p:sp>
      <p:sp>
        <p:nvSpPr>
          <p:cNvPr id="174" name="TextBox 41">
            <a:extLst>
              <a:ext uri="{FF2B5EF4-FFF2-40B4-BE49-F238E27FC236}">
                <a16:creationId xmlns:a16="http://schemas.microsoft.com/office/drawing/2014/main" id="{276B0315-1027-4489-EB7F-51BAA3FBC6A6}"/>
              </a:ext>
            </a:extLst>
          </p:cNvPr>
          <p:cNvSpPr txBox="1"/>
          <p:nvPr/>
        </p:nvSpPr>
        <p:spPr>
          <a:xfrm>
            <a:off x="7444740" y="5257800"/>
            <a:ext cx="9083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使用频率</a:t>
            </a:r>
          </a:p>
        </p:txBody>
      </p:sp>
      <p:sp>
        <p:nvSpPr>
          <p:cNvPr id="176" name="TextBox 42">
            <a:extLst>
              <a:ext uri="{FF2B5EF4-FFF2-40B4-BE49-F238E27FC236}">
                <a16:creationId xmlns:a16="http://schemas.microsoft.com/office/drawing/2014/main" id="{EF5C79F4-458C-E185-54E5-24BAA8D92E75}"/>
              </a:ext>
            </a:extLst>
          </p:cNvPr>
          <p:cNvSpPr txBox="1"/>
          <p:nvPr/>
        </p:nvSpPr>
        <p:spPr>
          <a:xfrm>
            <a:off x="8298180" y="5273040"/>
            <a:ext cx="3133344" cy="195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活跃人员、任务次数、持续使用</a:t>
            </a:r>
          </a:p>
        </p:txBody>
      </p:sp>
      <p:sp>
        <p:nvSpPr>
          <p:cNvPr id="178" name="TextBox 43">
            <a:extLst>
              <a:ext uri="{FF2B5EF4-FFF2-40B4-BE49-F238E27FC236}">
                <a16:creationId xmlns:a16="http://schemas.microsoft.com/office/drawing/2014/main" id="{E78D8009-BBF2-4651-BE2E-0E6CFD361C11}"/>
              </a:ext>
            </a:extLst>
          </p:cNvPr>
          <p:cNvSpPr txBox="1"/>
          <p:nvPr/>
        </p:nvSpPr>
        <p:spPr>
          <a:xfrm>
            <a:off x="7444740" y="5532120"/>
            <a:ext cx="9083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成果质量</a:t>
            </a:r>
          </a:p>
        </p:txBody>
      </p:sp>
      <p:sp>
        <p:nvSpPr>
          <p:cNvPr id="180" name="TextBox 44">
            <a:extLst>
              <a:ext uri="{FF2B5EF4-FFF2-40B4-BE49-F238E27FC236}">
                <a16:creationId xmlns:a16="http://schemas.microsoft.com/office/drawing/2014/main" id="{81CEA613-9007-FD9E-A2AF-80D1E39BB968}"/>
              </a:ext>
            </a:extLst>
          </p:cNvPr>
          <p:cNvSpPr txBox="1"/>
          <p:nvPr/>
        </p:nvSpPr>
        <p:spPr>
          <a:xfrm>
            <a:off x="8298180" y="5547360"/>
            <a:ext cx="3133344" cy="195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任务完成度、效率与差错改善</a:t>
            </a:r>
          </a:p>
        </p:txBody>
      </p:sp>
      <p:sp>
        <p:nvSpPr>
          <p:cNvPr id="182" name="TextBox 45">
            <a:extLst>
              <a:ext uri="{FF2B5EF4-FFF2-40B4-BE49-F238E27FC236}">
                <a16:creationId xmlns:a16="http://schemas.microsoft.com/office/drawing/2014/main" id="{6A3BD022-9409-76B7-145E-C4DBAE4E7D61}"/>
              </a:ext>
            </a:extLst>
          </p:cNvPr>
          <p:cNvSpPr txBox="1"/>
          <p:nvPr/>
        </p:nvSpPr>
        <p:spPr>
          <a:xfrm>
            <a:off x="7444740" y="5806440"/>
            <a:ext cx="9083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资产复用</a:t>
            </a:r>
          </a:p>
        </p:txBody>
      </p:sp>
      <p:sp>
        <p:nvSpPr>
          <p:cNvPr id="184" name="TextBox 46">
            <a:extLst>
              <a:ext uri="{FF2B5EF4-FFF2-40B4-BE49-F238E27FC236}">
                <a16:creationId xmlns:a16="http://schemas.microsoft.com/office/drawing/2014/main" id="{66D1C93E-5459-EF2C-B9F1-CFFC691A2751}"/>
              </a:ext>
            </a:extLst>
          </p:cNvPr>
          <p:cNvSpPr txBox="1"/>
          <p:nvPr/>
        </p:nvSpPr>
        <p:spPr>
          <a:xfrm>
            <a:off x="8298180" y="5821680"/>
            <a:ext cx="3133344" cy="195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共享量、复用人数、跨部门扩散</a:t>
            </a:r>
          </a:p>
        </p:txBody>
      </p:sp>
      <p:sp>
        <p:nvSpPr>
          <p:cNvPr id="186" name="TextBox 47">
            <a:extLst>
              <a:ext uri="{FF2B5EF4-FFF2-40B4-BE49-F238E27FC236}">
                <a16:creationId xmlns:a16="http://schemas.microsoft.com/office/drawing/2014/main" id="{B3EE7435-A150-99E3-D2A6-BC326174BCB4}"/>
              </a:ext>
            </a:extLst>
          </p:cNvPr>
          <p:cNvSpPr txBox="1"/>
          <p:nvPr/>
        </p:nvSpPr>
        <p:spPr>
          <a:xfrm>
            <a:off x="7444740" y="6080760"/>
            <a:ext cx="9083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8F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异常反馈</a:t>
            </a:r>
          </a:p>
        </p:txBody>
      </p:sp>
      <p:sp>
        <p:nvSpPr>
          <p:cNvPr id="188" name="TextBox 48">
            <a:extLst>
              <a:ext uri="{FF2B5EF4-FFF2-40B4-BE49-F238E27FC236}">
                <a16:creationId xmlns:a16="http://schemas.microsoft.com/office/drawing/2014/main" id="{C864FF8F-DE61-C165-9345-F8BAB97B3686}"/>
              </a:ext>
            </a:extLst>
          </p:cNvPr>
          <p:cNvSpPr txBox="1"/>
          <p:nvPr/>
        </p:nvSpPr>
        <p:spPr>
          <a:xfrm>
            <a:off x="8298180" y="6096000"/>
            <a:ext cx="3133344" cy="195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95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风险事件、修复时效、重复问题</a:t>
            </a:r>
          </a:p>
        </p:txBody>
      </p:sp>
      <p:sp>
        <p:nvSpPr>
          <p:cNvPr id="190" name="TextBox 49">
            <a:extLst>
              <a:ext uri="{FF2B5EF4-FFF2-40B4-BE49-F238E27FC236}">
                <a16:creationId xmlns:a16="http://schemas.microsoft.com/office/drawing/2014/main" id="{3DCDAF56-1F7B-6788-D22A-CA3B48D71789}"/>
              </a:ext>
            </a:extLst>
          </p:cNvPr>
          <p:cNvSpPr txBox="1"/>
          <p:nvPr/>
        </p:nvSpPr>
        <p:spPr>
          <a:xfrm>
            <a:off x="9502140" y="1703070"/>
            <a:ext cx="233629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功能是手段，任务成果才是目标</a:t>
            </a:r>
          </a:p>
        </p:txBody>
      </p:sp>
      <p:sp>
        <p:nvSpPr>
          <p:cNvPr id="192" name="TextBox 50">
            <a:extLst>
              <a:ext uri="{FF2B5EF4-FFF2-40B4-BE49-F238E27FC236}">
                <a16:creationId xmlns:a16="http://schemas.microsoft.com/office/drawing/2014/main" id="{33B216AE-3F3A-8F25-FD51-33B658A5E696}"/>
              </a:ext>
            </a:extLst>
          </p:cNvPr>
          <p:cNvSpPr txBox="1"/>
          <p:nvPr/>
        </p:nvSpPr>
        <p:spPr>
          <a:xfrm>
            <a:off x="846868" y="2123694"/>
            <a:ext cx="16459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194" name="TextBox 51">
            <a:extLst>
              <a:ext uri="{FF2B5EF4-FFF2-40B4-BE49-F238E27FC236}">
                <a16:creationId xmlns:a16="http://schemas.microsoft.com/office/drawing/2014/main" id="{33752352-2F61-19E1-89AC-C140D3F89A43}"/>
              </a:ext>
            </a:extLst>
          </p:cNvPr>
          <p:cNvSpPr txBox="1"/>
          <p:nvPr/>
        </p:nvSpPr>
        <p:spPr>
          <a:xfrm>
            <a:off x="1097280" y="2129790"/>
            <a:ext cx="44348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</a:t>
            </a:r>
          </a:p>
        </p:txBody>
      </p:sp>
      <p:sp>
        <p:nvSpPr>
          <p:cNvPr id="196" name="TextBox 52">
            <a:extLst>
              <a:ext uri="{FF2B5EF4-FFF2-40B4-BE49-F238E27FC236}">
                <a16:creationId xmlns:a16="http://schemas.microsoft.com/office/drawing/2014/main" id="{BFD702FC-34F5-BA4C-E307-7F9A2302385E}"/>
              </a:ext>
            </a:extLst>
          </p:cNvPr>
          <p:cNvSpPr txBox="1"/>
          <p:nvPr/>
        </p:nvSpPr>
        <p:spPr>
          <a:xfrm>
            <a:off x="2391466" y="2117598"/>
            <a:ext cx="16459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198" name="TextBox 53">
            <a:extLst>
              <a:ext uri="{FF2B5EF4-FFF2-40B4-BE49-F238E27FC236}">
                <a16:creationId xmlns:a16="http://schemas.microsoft.com/office/drawing/2014/main" id="{408CD180-A362-0927-1C52-ABCCB333B2D4}"/>
              </a:ext>
            </a:extLst>
          </p:cNvPr>
          <p:cNvSpPr txBox="1"/>
          <p:nvPr/>
        </p:nvSpPr>
        <p:spPr>
          <a:xfrm>
            <a:off x="2641878" y="2129790"/>
            <a:ext cx="44348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专家</a:t>
            </a:r>
          </a:p>
        </p:txBody>
      </p:sp>
      <p:sp>
        <p:nvSpPr>
          <p:cNvPr id="200" name="TextBox 54">
            <a:extLst>
              <a:ext uri="{FF2B5EF4-FFF2-40B4-BE49-F238E27FC236}">
                <a16:creationId xmlns:a16="http://schemas.microsoft.com/office/drawing/2014/main" id="{12975FDF-C295-2032-43D5-E5BA21767DEC}"/>
              </a:ext>
            </a:extLst>
          </p:cNvPr>
          <p:cNvSpPr txBox="1"/>
          <p:nvPr/>
        </p:nvSpPr>
        <p:spPr>
          <a:xfrm>
            <a:off x="3942278" y="2117598"/>
            <a:ext cx="16459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202" name="TextBox 55">
            <a:extLst>
              <a:ext uri="{FF2B5EF4-FFF2-40B4-BE49-F238E27FC236}">
                <a16:creationId xmlns:a16="http://schemas.microsoft.com/office/drawing/2014/main" id="{989E0D33-FFEC-3E3B-FE29-85082427E090}"/>
              </a:ext>
            </a:extLst>
          </p:cNvPr>
          <p:cNvSpPr txBox="1"/>
          <p:nvPr/>
        </p:nvSpPr>
        <p:spPr>
          <a:xfrm>
            <a:off x="4186595" y="2129790"/>
            <a:ext cx="44348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</a:t>
            </a:r>
          </a:p>
        </p:txBody>
      </p:sp>
      <p:sp>
        <p:nvSpPr>
          <p:cNvPr id="204" name="TextBox 56">
            <a:extLst>
              <a:ext uri="{FF2B5EF4-FFF2-40B4-BE49-F238E27FC236}">
                <a16:creationId xmlns:a16="http://schemas.microsoft.com/office/drawing/2014/main" id="{A28E1F29-7701-E230-91BC-89FC2AF8AD1E}"/>
              </a:ext>
            </a:extLst>
          </p:cNvPr>
          <p:cNvSpPr txBox="1"/>
          <p:nvPr/>
        </p:nvSpPr>
        <p:spPr>
          <a:xfrm>
            <a:off x="5480899" y="2117598"/>
            <a:ext cx="16459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206" name="TextBox 57">
            <a:extLst>
              <a:ext uri="{FF2B5EF4-FFF2-40B4-BE49-F238E27FC236}">
                <a16:creationId xmlns:a16="http://schemas.microsoft.com/office/drawing/2014/main" id="{912643E3-7D98-7307-8720-D784BA99E011}"/>
              </a:ext>
            </a:extLst>
          </p:cNvPr>
          <p:cNvSpPr txBox="1"/>
          <p:nvPr/>
        </p:nvSpPr>
        <p:spPr>
          <a:xfrm>
            <a:off x="5731312" y="2129790"/>
            <a:ext cx="44348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</a:p>
        </p:txBody>
      </p:sp>
      <p:sp>
        <p:nvSpPr>
          <p:cNvPr id="208" name="TextBox 58">
            <a:extLst>
              <a:ext uri="{FF2B5EF4-FFF2-40B4-BE49-F238E27FC236}">
                <a16:creationId xmlns:a16="http://schemas.microsoft.com/office/drawing/2014/main" id="{94BA3E04-0693-2F28-7B17-A75893D88510}"/>
              </a:ext>
            </a:extLst>
          </p:cNvPr>
          <p:cNvSpPr txBox="1"/>
          <p:nvPr/>
        </p:nvSpPr>
        <p:spPr>
          <a:xfrm>
            <a:off x="7031593" y="2111502"/>
            <a:ext cx="16459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</a:p>
        </p:txBody>
      </p:sp>
      <p:sp>
        <p:nvSpPr>
          <p:cNvPr id="210" name="TextBox 59">
            <a:extLst>
              <a:ext uri="{FF2B5EF4-FFF2-40B4-BE49-F238E27FC236}">
                <a16:creationId xmlns:a16="http://schemas.microsoft.com/office/drawing/2014/main" id="{036130FE-8A90-5631-4D9C-D5A890D15223}"/>
              </a:ext>
            </a:extLst>
          </p:cNvPr>
          <p:cNvSpPr txBox="1"/>
          <p:nvPr/>
        </p:nvSpPr>
        <p:spPr>
          <a:xfrm>
            <a:off x="7275909" y="2129790"/>
            <a:ext cx="601218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</a:t>
            </a:r>
          </a:p>
        </p:txBody>
      </p:sp>
      <p:sp>
        <p:nvSpPr>
          <p:cNvPr id="212" name="TextBox 60">
            <a:extLst>
              <a:ext uri="{FF2B5EF4-FFF2-40B4-BE49-F238E27FC236}">
                <a16:creationId xmlns:a16="http://schemas.microsoft.com/office/drawing/2014/main" id="{C7CEDD80-8C12-3B94-A8FA-16DC697CE8CA}"/>
              </a:ext>
            </a:extLst>
          </p:cNvPr>
          <p:cNvSpPr txBox="1"/>
          <p:nvPr/>
        </p:nvSpPr>
        <p:spPr>
          <a:xfrm>
            <a:off x="8576310" y="2111502"/>
            <a:ext cx="16459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</a:p>
        </p:txBody>
      </p:sp>
      <p:sp>
        <p:nvSpPr>
          <p:cNvPr id="214" name="TextBox 61">
            <a:extLst>
              <a:ext uri="{FF2B5EF4-FFF2-40B4-BE49-F238E27FC236}">
                <a16:creationId xmlns:a16="http://schemas.microsoft.com/office/drawing/2014/main" id="{E4C7597C-DCF1-B070-79EA-28EA7F6118E8}"/>
              </a:ext>
            </a:extLst>
          </p:cNvPr>
          <p:cNvSpPr txBox="1"/>
          <p:nvPr/>
        </p:nvSpPr>
        <p:spPr>
          <a:xfrm>
            <a:off x="8820626" y="2129790"/>
            <a:ext cx="44348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</a:t>
            </a:r>
          </a:p>
        </p:txBody>
      </p:sp>
      <p:sp>
        <p:nvSpPr>
          <p:cNvPr id="216" name="TextBox 62">
            <a:extLst>
              <a:ext uri="{FF2B5EF4-FFF2-40B4-BE49-F238E27FC236}">
                <a16:creationId xmlns:a16="http://schemas.microsoft.com/office/drawing/2014/main" id="{D523D2F5-FDB1-3792-EC98-CD0330D30F2F}"/>
              </a:ext>
            </a:extLst>
          </p:cNvPr>
          <p:cNvSpPr txBox="1"/>
          <p:nvPr/>
        </p:nvSpPr>
        <p:spPr>
          <a:xfrm>
            <a:off x="10127123" y="2111502"/>
            <a:ext cx="164592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</a:p>
        </p:txBody>
      </p:sp>
      <p:sp>
        <p:nvSpPr>
          <p:cNvPr id="218" name="TextBox 63">
            <a:extLst>
              <a:ext uri="{FF2B5EF4-FFF2-40B4-BE49-F238E27FC236}">
                <a16:creationId xmlns:a16="http://schemas.microsoft.com/office/drawing/2014/main" id="{194C2255-5216-AF44-C722-70697A5B75B9}"/>
              </a:ext>
            </a:extLst>
          </p:cNvPr>
          <p:cNvSpPr txBox="1"/>
          <p:nvPr/>
        </p:nvSpPr>
        <p:spPr>
          <a:xfrm>
            <a:off x="10365343" y="2129790"/>
            <a:ext cx="601218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</a:t>
            </a:r>
          </a:p>
        </p:txBody>
      </p:sp>
      <p:sp>
        <p:nvSpPr>
          <p:cNvPr id="220" name="TextBox 64">
            <a:extLst>
              <a:ext uri="{FF2B5EF4-FFF2-40B4-BE49-F238E27FC236}">
                <a16:creationId xmlns:a16="http://schemas.microsoft.com/office/drawing/2014/main" id="{B7004B1A-911E-17A5-2BC4-9974A0D40786}"/>
              </a:ext>
            </a:extLst>
          </p:cNvPr>
          <p:cNvSpPr txBox="1"/>
          <p:nvPr/>
        </p:nvSpPr>
        <p:spPr>
          <a:xfrm>
            <a:off x="867966" y="2741295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070"/>
              </a:lnSpc>
            </a:pPr>
            <a:r>
              <a:rPr lang="en-US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222" name="TextBox 65">
            <a:extLst>
              <a:ext uri="{FF2B5EF4-FFF2-40B4-BE49-F238E27FC236}">
                <a16:creationId xmlns:a16="http://schemas.microsoft.com/office/drawing/2014/main" id="{D9BCC610-DD1F-8A98-7D79-870729E86CCF}"/>
              </a:ext>
            </a:extLst>
          </p:cNvPr>
          <p:cNvSpPr txBox="1"/>
          <p:nvPr/>
        </p:nvSpPr>
        <p:spPr>
          <a:xfrm>
            <a:off x="3162300" y="3549015"/>
            <a:ext cx="291084" cy="3398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790"/>
              </a:lnSpc>
            </a:pPr>
            <a:r>
              <a:rPr lang="en-US" sz="186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224" name="TextBox 66">
            <a:extLst>
              <a:ext uri="{FF2B5EF4-FFF2-40B4-BE49-F238E27FC236}">
                <a16:creationId xmlns:a16="http://schemas.microsoft.com/office/drawing/2014/main" id="{64E9897C-ACDC-1D25-E5AE-87D569AD90F2}"/>
              </a:ext>
            </a:extLst>
          </p:cNvPr>
          <p:cNvSpPr txBox="1"/>
          <p:nvPr/>
        </p:nvSpPr>
        <p:spPr>
          <a:xfrm>
            <a:off x="3683556" y="2741295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070"/>
              </a:lnSpc>
            </a:pPr>
            <a:r>
              <a:rPr lang="en-US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226" name="TextBox 67">
            <a:extLst>
              <a:ext uri="{FF2B5EF4-FFF2-40B4-BE49-F238E27FC236}">
                <a16:creationId xmlns:a16="http://schemas.microsoft.com/office/drawing/2014/main" id="{7654D190-5CA5-F426-459C-5DC60E62AE96}"/>
              </a:ext>
            </a:extLst>
          </p:cNvPr>
          <p:cNvSpPr txBox="1"/>
          <p:nvPr/>
        </p:nvSpPr>
        <p:spPr>
          <a:xfrm>
            <a:off x="5977890" y="3549015"/>
            <a:ext cx="291084" cy="3398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790"/>
              </a:lnSpc>
            </a:pPr>
            <a:r>
              <a:rPr lang="en-US" sz="1860" b="1" dirty="0">
                <a:solidFill>
                  <a:srgbClr val="00A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228" name="TextBox 68">
            <a:extLst>
              <a:ext uri="{FF2B5EF4-FFF2-40B4-BE49-F238E27FC236}">
                <a16:creationId xmlns:a16="http://schemas.microsoft.com/office/drawing/2014/main" id="{B99A55DB-8A0B-C200-557F-41F71E1AC998}"/>
              </a:ext>
            </a:extLst>
          </p:cNvPr>
          <p:cNvSpPr txBox="1"/>
          <p:nvPr/>
        </p:nvSpPr>
        <p:spPr>
          <a:xfrm>
            <a:off x="6499146" y="2741295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070"/>
              </a:lnSpc>
            </a:pPr>
            <a:r>
              <a:rPr lang="en-US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230" name="TextBox 69">
            <a:extLst>
              <a:ext uri="{FF2B5EF4-FFF2-40B4-BE49-F238E27FC236}">
                <a16:creationId xmlns:a16="http://schemas.microsoft.com/office/drawing/2014/main" id="{E3AEC518-58C2-1FE3-18F2-0FF0BBA1F8B7}"/>
              </a:ext>
            </a:extLst>
          </p:cNvPr>
          <p:cNvSpPr txBox="1"/>
          <p:nvPr/>
        </p:nvSpPr>
        <p:spPr>
          <a:xfrm>
            <a:off x="8793480" y="3549015"/>
            <a:ext cx="291084" cy="3398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790"/>
              </a:lnSpc>
            </a:pPr>
            <a:r>
              <a:rPr lang="en-US" sz="186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232" name="TextBox 70">
            <a:extLst>
              <a:ext uri="{FF2B5EF4-FFF2-40B4-BE49-F238E27FC236}">
                <a16:creationId xmlns:a16="http://schemas.microsoft.com/office/drawing/2014/main" id="{FBA5512F-BFDA-9F3D-A0E6-5A35120164D6}"/>
              </a:ext>
            </a:extLst>
          </p:cNvPr>
          <p:cNvSpPr txBox="1"/>
          <p:nvPr/>
        </p:nvSpPr>
        <p:spPr>
          <a:xfrm>
            <a:off x="9314736" y="2741295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070"/>
              </a:lnSpc>
            </a:pPr>
            <a:r>
              <a:rPr lang="en-US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234" name="TextBox 71">
            <a:extLst>
              <a:ext uri="{FF2B5EF4-FFF2-40B4-BE49-F238E27FC236}">
                <a16:creationId xmlns:a16="http://schemas.microsoft.com/office/drawing/2014/main" id="{D6E672FA-8110-2B6D-D4CB-EFD10ECB1CC5}"/>
              </a:ext>
            </a:extLst>
          </p:cNvPr>
          <p:cNvSpPr txBox="1"/>
          <p:nvPr/>
        </p:nvSpPr>
        <p:spPr>
          <a:xfrm>
            <a:off x="3786068" y="4850130"/>
            <a:ext cx="3778079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脱敏 · 授权 · 版本 · 责任到人 · 高风险任务人工确认</a:t>
            </a:r>
          </a:p>
        </p:txBody>
      </p:sp>
      <p:sp>
        <p:nvSpPr>
          <p:cNvPr id="236" name="TextBox 72">
            <a:extLst>
              <a:ext uri="{FF2B5EF4-FFF2-40B4-BE49-F238E27FC236}">
                <a16:creationId xmlns:a16="http://schemas.microsoft.com/office/drawing/2014/main" id="{D7BBDE4A-D436-1D63-240C-B0F381D52671}"/>
              </a:ext>
            </a:extLst>
          </p:cNvPr>
          <p:cNvSpPr txBox="1"/>
          <p:nvPr/>
        </p:nvSpPr>
        <p:spPr>
          <a:xfrm>
            <a:off x="10866120" y="4857750"/>
            <a:ext cx="758952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月度复盘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8687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4BF40-E7D1-3610-354F-B489DB73F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30BF45-F8CC-37C4-1400-632A312C4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en-US" altLang="zh-CN" dirty="0"/>
              <a:t>360</a:t>
            </a:r>
            <a:r>
              <a:rPr lang="zh-CN" altLang="en-US" dirty="0"/>
              <a:t>智能体应用开发实训平台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CEE682-B1EE-324C-5EFF-9791422B8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48" y="2230219"/>
            <a:ext cx="4282956" cy="265382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12000"/>
              </a:srgbClr>
            </a:outerShdw>
            <a:softEdge rad="0"/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3EA601C-FE80-129A-BD04-A01903B5F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8509" y="2230219"/>
            <a:ext cx="6575411" cy="270095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F752347-F45F-E995-541C-2FB0BBF6A017}"/>
              </a:ext>
            </a:extLst>
          </p:cNvPr>
          <p:cNvSpPr txBox="1"/>
          <p:nvPr/>
        </p:nvSpPr>
        <p:spPr>
          <a:xfrm>
            <a:off x="583648" y="1052247"/>
            <a:ext cx="10793402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360AI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实验室</a:t>
            </a:r>
            <a:r>
              <a:rPr lang="en-US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智能体实训平台，</a:t>
            </a:r>
            <a:r>
              <a:rPr lang="zh-CN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面向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企业、政府、高校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</a:t>
            </a:r>
            <a:r>
              <a:rPr lang="zh-CN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行业客户，提供智能体应用开发</a:t>
            </a:r>
            <a:r>
              <a:rPr lang="zh-CN" altLang="zh-CN" sz="1400" b="1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课程学习、项目实训、模型</a:t>
            </a:r>
            <a:r>
              <a:rPr lang="zh-CN" altLang="en-US" sz="14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接入</a:t>
            </a:r>
            <a:r>
              <a:rPr lang="zh-CN" altLang="zh-CN" sz="1400" b="1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、知识库、</a:t>
            </a:r>
            <a:r>
              <a:rPr lang="en-US" altLang="zh-CN" sz="1400" b="1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MCP</a:t>
            </a:r>
            <a:r>
              <a:rPr lang="zh-CN" altLang="zh-CN" sz="1400" b="1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工具、智能体构建与管理</a:t>
            </a:r>
            <a:r>
              <a:rPr lang="zh-CN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等一体化能力。平台以</a:t>
            </a:r>
            <a:r>
              <a:rPr lang="en-US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教、学、练、评、用、沉淀</a:t>
            </a:r>
            <a:r>
              <a:rPr lang="en-US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为主线，帮助客户快速建设智能体应用开发实训环境，支撑课程教学、项目实践、能力考核、认证培养和真实业务场景演示。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4B2620E-571C-916D-10CE-12F9FF2FE2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648" y="4950027"/>
            <a:ext cx="11000272" cy="16051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13597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D0F7E-D2F9-0F33-4E72-A0D6DB7F7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357EEC-90B6-3C3C-4952-DC19C8504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zh-CN" altLang="en-US" dirty="0"/>
              <a:t>智能体应用开发实训平台</a:t>
            </a:r>
            <a:r>
              <a:rPr lang="en-US" altLang="zh-CN" dirty="0"/>
              <a:t>:</a:t>
            </a:r>
            <a:r>
              <a:rPr lang="zh-CN" altLang="en-US" dirty="0"/>
              <a:t>专业人才培养底座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7C5AF43-59E3-65DE-891E-1B4863F30C32}"/>
              </a:ext>
            </a:extLst>
          </p:cNvPr>
          <p:cNvSpPr/>
          <p:nvPr/>
        </p:nvSpPr>
        <p:spPr>
          <a:xfrm>
            <a:off x="609600" y="876300"/>
            <a:ext cx="10972800" cy="52578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D8F85674-7DFC-50AD-BD48-C5AF1E56F898}"/>
              </a:ext>
            </a:extLst>
          </p:cNvPr>
          <p:cNvSpPr/>
          <p:nvPr/>
        </p:nvSpPr>
        <p:spPr>
          <a:xfrm>
            <a:off x="800100" y="982980"/>
            <a:ext cx="792480" cy="327660"/>
          </a:xfrm>
          <a:prstGeom prst="roundRect">
            <a:avLst>
              <a:gd name="adj" fmla="val 18605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CEEDDEF-DDAC-8B35-4CB8-FFB7C307568B}"/>
              </a:ext>
            </a:extLst>
          </p:cNvPr>
          <p:cNvSpPr/>
          <p:nvPr/>
        </p:nvSpPr>
        <p:spPr>
          <a:xfrm>
            <a:off x="609600" y="1501140"/>
            <a:ext cx="10972800" cy="4181713"/>
          </a:xfrm>
          <a:prstGeom prst="roundRect">
            <a:avLst>
              <a:gd name="adj" fmla="val 4009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B4322404-F1E4-9E24-A8E5-C141123EBC53}"/>
              </a:ext>
            </a:extLst>
          </p:cNvPr>
          <p:cNvSpPr/>
          <p:nvPr/>
        </p:nvSpPr>
        <p:spPr>
          <a:xfrm>
            <a:off x="8724900" y="1630680"/>
            <a:ext cx="868680" cy="327660"/>
          </a:xfrm>
          <a:prstGeom prst="roundRect">
            <a:avLst>
              <a:gd name="adj" fmla="val 18605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7FA6D19F-0A8B-1DC0-78AB-54697215F398}"/>
              </a:ext>
            </a:extLst>
          </p:cNvPr>
          <p:cNvSpPr/>
          <p:nvPr/>
        </p:nvSpPr>
        <p:spPr>
          <a:xfrm>
            <a:off x="9654540" y="1630680"/>
            <a:ext cx="868680" cy="327660"/>
          </a:xfrm>
          <a:prstGeom prst="roundRect">
            <a:avLst>
              <a:gd name="adj" fmla="val 18605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C3012EB6-1653-A326-D375-04574C31300B}"/>
              </a:ext>
            </a:extLst>
          </p:cNvPr>
          <p:cNvSpPr/>
          <p:nvPr/>
        </p:nvSpPr>
        <p:spPr>
          <a:xfrm>
            <a:off x="10584180" y="1630680"/>
            <a:ext cx="868680" cy="327660"/>
          </a:xfrm>
          <a:prstGeom prst="roundRect">
            <a:avLst>
              <a:gd name="adj" fmla="val 18605"/>
            </a:avLst>
          </a:prstGeom>
          <a:solidFill>
            <a:srgbClr val="EAF8F3"/>
          </a:solidFill>
          <a:ln>
            <a:noFill/>
          </a:ln>
        </p:spPr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E2A69FED-B058-AF29-E415-8640E5BEB56A}"/>
              </a:ext>
            </a:extLst>
          </p:cNvPr>
          <p:cNvSpPr/>
          <p:nvPr/>
        </p:nvSpPr>
        <p:spPr>
          <a:xfrm>
            <a:off x="739140" y="2049780"/>
            <a:ext cx="10713720" cy="886063"/>
          </a:xfrm>
          <a:prstGeom prst="roundRect">
            <a:avLst>
              <a:gd name="adj" fmla="val 13760"/>
            </a:avLst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C6B01DD2-B4F0-EEF6-CE71-100F844F0D57}"/>
              </a:ext>
            </a:extLst>
          </p:cNvPr>
          <p:cNvSpPr/>
          <p:nvPr/>
        </p:nvSpPr>
        <p:spPr>
          <a:xfrm>
            <a:off x="746760" y="2057400"/>
            <a:ext cx="1219200" cy="870823"/>
          </a:xfrm>
          <a:prstGeom prst="rect">
            <a:avLst/>
          </a:prstGeom>
          <a:solidFill>
            <a:srgbClr val="0721A8"/>
          </a:solidFill>
          <a:ln>
            <a:noFill/>
          </a:ln>
        </p:spPr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904B691A-6998-6046-0838-801840211A64}"/>
              </a:ext>
            </a:extLst>
          </p:cNvPr>
          <p:cNvSpPr/>
          <p:nvPr/>
        </p:nvSpPr>
        <p:spPr>
          <a:xfrm>
            <a:off x="1965960" y="2057400"/>
            <a:ext cx="9479280" cy="870823"/>
          </a:xfrm>
          <a:prstGeom prst="rect">
            <a:avLst/>
          </a:prstGeom>
          <a:solidFill>
            <a:srgbClr val="F8FCFF"/>
          </a:solidFill>
          <a:ln>
            <a:noFill/>
          </a:ln>
        </p:spPr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44C8DE82-FD7B-F7EB-1859-32344ED5888F}"/>
              </a:ext>
            </a:extLst>
          </p:cNvPr>
          <p:cNvSpPr/>
          <p:nvPr/>
        </p:nvSpPr>
        <p:spPr>
          <a:xfrm>
            <a:off x="2026920" y="2118360"/>
            <a:ext cx="1798320" cy="748903"/>
          </a:xfrm>
          <a:prstGeom prst="roundRect">
            <a:avLst>
              <a:gd name="adj" fmla="val 1221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8A8075B0-F46C-A91C-4FC6-F084F50468AC}"/>
              </a:ext>
            </a:extLst>
          </p:cNvPr>
          <p:cNvSpPr/>
          <p:nvPr/>
        </p:nvSpPr>
        <p:spPr>
          <a:xfrm>
            <a:off x="3916680" y="2118360"/>
            <a:ext cx="1798320" cy="748903"/>
          </a:xfrm>
          <a:prstGeom prst="roundRect">
            <a:avLst>
              <a:gd name="adj" fmla="val 1221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8A549B01-2B7B-CCD5-459C-95E98C680385}"/>
              </a:ext>
            </a:extLst>
          </p:cNvPr>
          <p:cNvSpPr/>
          <p:nvPr/>
        </p:nvSpPr>
        <p:spPr>
          <a:xfrm>
            <a:off x="5806440" y="2118360"/>
            <a:ext cx="1798320" cy="748903"/>
          </a:xfrm>
          <a:prstGeom prst="roundRect">
            <a:avLst>
              <a:gd name="adj" fmla="val 1221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7CC26877-ED56-C7CE-A1FF-B115D2D94AF5}"/>
              </a:ext>
            </a:extLst>
          </p:cNvPr>
          <p:cNvSpPr/>
          <p:nvPr/>
        </p:nvSpPr>
        <p:spPr>
          <a:xfrm>
            <a:off x="7696200" y="2118360"/>
            <a:ext cx="1798320" cy="748903"/>
          </a:xfrm>
          <a:prstGeom prst="roundRect">
            <a:avLst>
              <a:gd name="adj" fmla="val 1221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D4488ECE-9BC9-1AD5-FEB4-6C614759E51C}"/>
              </a:ext>
            </a:extLst>
          </p:cNvPr>
          <p:cNvSpPr/>
          <p:nvPr/>
        </p:nvSpPr>
        <p:spPr>
          <a:xfrm>
            <a:off x="9585960" y="2118360"/>
            <a:ext cx="1798320" cy="748903"/>
          </a:xfrm>
          <a:prstGeom prst="roundRect">
            <a:avLst>
              <a:gd name="adj" fmla="val 12210"/>
            </a:avLst>
          </a:prstGeom>
          <a:solidFill>
            <a:srgbClr val="EAF8F3"/>
          </a:solidFill>
          <a:ln>
            <a:noFill/>
          </a:ln>
        </p:spPr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2AB5045E-4D9C-23CF-9141-9691BF151702}"/>
              </a:ext>
            </a:extLst>
          </p:cNvPr>
          <p:cNvSpPr/>
          <p:nvPr/>
        </p:nvSpPr>
        <p:spPr>
          <a:xfrm>
            <a:off x="739140" y="2996803"/>
            <a:ext cx="10713720" cy="773430"/>
          </a:xfrm>
          <a:prstGeom prst="roundRect">
            <a:avLst>
              <a:gd name="adj" fmla="val 15764"/>
            </a:avLst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AF5E0ACF-BF17-EF31-BE96-9FB8ADB68C96}"/>
              </a:ext>
            </a:extLst>
          </p:cNvPr>
          <p:cNvSpPr/>
          <p:nvPr/>
        </p:nvSpPr>
        <p:spPr>
          <a:xfrm>
            <a:off x="746760" y="3004423"/>
            <a:ext cx="1219200" cy="758190"/>
          </a:xfrm>
          <a:prstGeom prst="rect">
            <a:avLst/>
          </a:prstGeom>
          <a:solidFill>
            <a:srgbClr val="0565FF"/>
          </a:solidFill>
          <a:ln>
            <a:noFill/>
          </a:ln>
        </p:spPr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B0930BE9-6A77-E0F9-A1B0-B63579C0DEC8}"/>
              </a:ext>
            </a:extLst>
          </p:cNvPr>
          <p:cNvSpPr/>
          <p:nvPr/>
        </p:nvSpPr>
        <p:spPr>
          <a:xfrm>
            <a:off x="1965960" y="3004423"/>
            <a:ext cx="9479280" cy="758190"/>
          </a:xfrm>
          <a:prstGeom prst="rect">
            <a:avLst/>
          </a:prstGeom>
          <a:solidFill>
            <a:srgbClr val="F8FCFF"/>
          </a:solidFill>
          <a:ln>
            <a:noFill/>
          </a:ln>
        </p:spPr>
      </p:sp>
      <p:sp>
        <p:nvSpPr>
          <p:cNvPr id="38" name="Shape 21">
            <a:extLst>
              <a:ext uri="{FF2B5EF4-FFF2-40B4-BE49-F238E27FC236}">
                <a16:creationId xmlns:a16="http://schemas.microsoft.com/office/drawing/2014/main" id="{37ACAA7D-A8C7-0BAC-E87B-F880649179C0}"/>
              </a:ext>
            </a:extLst>
          </p:cNvPr>
          <p:cNvSpPr/>
          <p:nvPr/>
        </p:nvSpPr>
        <p:spPr>
          <a:xfrm>
            <a:off x="2026920" y="3065383"/>
            <a:ext cx="1284446" cy="636270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4235B19C-3BC2-29AF-098D-6D4272A6B810}"/>
              </a:ext>
            </a:extLst>
          </p:cNvPr>
          <p:cNvSpPr/>
          <p:nvPr/>
        </p:nvSpPr>
        <p:spPr>
          <a:xfrm>
            <a:off x="3372326" y="3065383"/>
            <a:ext cx="1284565" cy="636270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2" name="Shape 23">
            <a:extLst>
              <a:ext uri="{FF2B5EF4-FFF2-40B4-BE49-F238E27FC236}">
                <a16:creationId xmlns:a16="http://schemas.microsoft.com/office/drawing/2014/main" id="{94E744DB-EE3F-5D61-5CDD-EEF2530F1C7D}"/>
              </a:ext>
            </a:extLst>
          </p:cNvPr>
          <p:cNvSpPr/>
          <p:nvPr/>
        </p:nvSpPr>
        <p:spPr>
          <a:xfrm>
            <a:off x="4717852" y="3065383"/>
            <a:ext cx="1284446" cy="636270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032DF56D-0733-29F4-956E-20C64EA73BC5}"/>
              </a:ext>
            </a:extLst>
          </p:cNvPr>
          <p:cNvSpPr/>
          <p:nvPr/>
        </p:nvSpPr>
        <p:spPr>
          <a:xfrm>
            <a:off x="6063258" y="3065383"/>
            <a:ext cx="1284565" cy="636270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6" name="Shape 25">
            <a:extLst>
              <a:ext uri="{FF2B5EF4-FFF2-40B4-BE49-F238E27FC236}">
                <a16:creationId xmlns:a16="http://schemas.microsoft.com/office/drawing/2014/main" id="{870C01F4-41D6-D8BE-62F8-E8E6B81AD01A}"/>
              </a:ext>
            </a:extLst>
          </p:cNvPr>
          <p:cNvSpPr/>
          <p:nvPr/>
        </p:nvSpPr>
        <p:spPr>
          <a:xfrm>
            <a:off x="7408783" y="3065383"/>
            <a:ext cx="1284446" cy="636270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8" name="Shape 26">
            <a:extLst>
              <a:ext uri="{FF2B5EF4-FFF2-40B4-BE49-F238E27FC236}">
                <a16:creationId xmlns:a16="http://schemas.microsoft.com/office/drawing/2014/main" id="{77CB6425-B547-0DA5-35DD-800DE8827561}"/>
              </a:ext>
            </a:extLst>
          </p:cNvPr>
          <p:cNvSpPr/>
          <p:nvPr/>
        </p:nvSpPr>
        <p:spPr>
          <a:xfrm>
            <a:off x="8754189" y="3065383"/>
            <a:ext cx="1284565" cy="636270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0" name="Shape 27">
            <a:extLst>
              <a:ext uri="{FF2B5EF4-FFF2-40B4-BE49-F238E27FC236}">
                <a16:creationId xmlns:a16="http://schemas.microsoft.com/office/drawing/2014/main" id="{D805A3A8-EDEB-CF4D-A8E6-52F44D2DBD61}"/>
              </a:ext>
            </a:extLst>
          </p:cNvPr>
          <p:cNvSpPr/>
          <p:nvPr/>
        </p:nvSpPr>
        <p:spPr>
          <a:xfrm>
            <a:off x="10099715" y="3065383"/>
            <a:ext cx="1284446" cy="636270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2" name="Shape 28">
            <a:extLst>
              <a:ext uri="{FF2B5EF4-FFF2-40B4-BE49-F238E27FC236}">
                <a16:creationId xmlns:a16="http://schemas.microsoft.com/office/drawing/2014/main" id="{600C1414-9F9B-3712-532C-C0F1F17B735C}"/>
              </a:ext>
            </a:extLst>
          </p:cNvPr>
          <p:cNvSpPr/>
          <p:nvPr/>
        </p:nvSpPr>
        <p:spPr>
          <a:xfrm>
            <a:off x="739140" y="3831193"/>
            <a:ext cx="10713720" cy="830580"/>
          </a:xfrm>
          <a:prstGeom prst="roundRect">
            <a:avLst>
              <a:gd name="adj" fmla="val 14679"/>
            </a:avLst>
          </a:prstGeom>
          <a:noFill/>
          <a:ln w="9525">
            <a:solidFill>
              <a:srgbClr val="CFE3F5"/>
            </a:solidFill>
            <a:prstDash val="solid"/>
          </a:ln>
        </p:spPr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7B7CAB65-9425-76DB-1DD8-58DE55544460}"/>
              </a:ext>
            </a:extLst>
          </p:cNvPr>
          <p:cNvSpPr/>
          <p:nvPr/>
        </p:nvSpPr>
        <p:spPr>
          <a:xfrm>
            <a:off x="746760" y="3838813"/>
            <a:ext cx="1219200" cy="815340"/>
          </a:xfrm>
          <a:prstGeom prst="rect">
            <a:avLst/>
          </a:prstGeom>
          <a:solidFill>
            <a:srgbClr val="008DE0"/>
          </a:solidFill>
          <a:ln>
            <a:noFill/>
          </a:ln>
        </p:spPr>
      </p:sp>
      <p:sp>
        <p:nvSpPr>
          <p:cNvPr id="56" name="Shape 30">
            <a:extLst>
              <a:ext uri="{FF2B5EF4-FFF2-40B4-BE49-F238E27FC236}">
                <a16:creationId xmlns:a16="http://schemas.microsoft.com/office/drawing/2014/main" id="{7C80AF3B-0A1C-CB2F-0F1A-65C3239C88DA}"/>
              </a:ext>
            </a:extLst>
          </p:cNvPr>
          <p:cNvSpPr/>
          <p:nvPr/>
        </p:nvSpPr>
        <p:spPr>
          <a:xfrm>
            <a:off x="1965960" y="3838813"/>
            <a:ext cx="9479280" cy="815340"/>
          </a:xfrm>
          <a:prstGeom prst="rect">
            <a:avLst/>
          </a:prstGeom>
          <a:solidFill>
            <a:srgbClr val="F8FCFF"/>
          </a:solidFill>
          <a:ln>
            <a:noFill/>
          </a:ln>
        </p:spPr>
      </p:sp>
      <p:sp>
        <p:nvSpPr>
          <p:cNvPr id="58" name="Shape 31">
            <a:extLst>
              <a:ext uri="{FF2B5EF4-FFF2-40B4-BE49-F238E27FC236}">
                <a16:creationId xmlns:a16="http://schemas.microsoft.com/office/drawing/2014/main" id="{4BB07048-685C-F918-FA48-85BED1722407}"/>
              </a:ext>
            </a:extLst>
          </p:cNvPr>
          <p:cNvSpPr/>
          <p:nvPr/>
        </p:nvSpPr>
        <p:spPr>
          <a:xfrm>
            <a:off x="2026920" y="3899773"/>
            <a:ext cx="985480" cy="69342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0" name="Shape 32">
            <a:extLst>
              <a:ext uri="{FF2B5EF4-FFF2-40B4-BE49-F238E27FC236}">
                <a16:creationId xmlns:a16="http://schemas.microsoft.com/office/drawing/2014/main" id="{A15F7D90-81D1-8A2E-964B-2028F9462A8B}"/>
              </a:ext>
            </a:extLst>
          </p:cNvPr>
          <p:cNvSpPr/>
          <p:nvPr/>
        </p:nvSpPr>
        <p:spPr>
          <a:xfrm>
            <a:off x="3073360" y="3899773"/>
            <a:ext cx="985480" cy="69342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2" name="Shape 33">
            <a:extLst>
              <a:ext uri="{FF2B5EF4-FFF2-40B4-BE49-F238E27FC236}">
                <a16:creationId xmlns:a16="http://schemas.microsoft.com/office/drawing/2014/main" id="{99B8A845-FE41-A0F5-CB65-3F5CDF160051}"/>
              </a:ext>
            </a:extLst>
          </p:cNvPr>
          <p:cNvSpPr/>
          <p:nvPr/>
        </p:nvSpPr>
        <p:spPr>
          <a:xfrm>
            <a:off x="4119801" y="3899773"/>
            <a:ext cx="985480" cy="69342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4" name="Shape 34">
            <a:extLst>
              <a:ext uri="{FF2B5EF4-FFF2-40B4-BE49-F238E27FC236}">
                <a16:creationId xmlns:a16="http://schemas.microsoft.com/office/drawing/2014/main" id="{5C98C12C-3860-FD8B-B5AE-4055216EA517}"/>
              </a:ext>
            </a:extLst>
          </p:cNvPr>
          <p:cNvSpPr/>
          <p:nvPr/>
        </p:nvSpPr>
        <p:spPr>
          <a:xfrm>
            <a:off x="5166241" y="3899773"/>
            <a:ext cx="985599" cy="69342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6" name="Shape 35">
            <a:extLst>
              <a:ext uri="{FF2B5EF4-FFF2-40B4-BE49-F238E27FC236}">
                <a16:creationId xmlns:a16="http://schemas.microsoft.com/office/drawing/2014/main" id="{14DA6C8A-5CE5-B477-B8C9-549B1B7BDAF3}"/>
              </a:ext>
            </a:extLst>
          </p:cNvPr>
          <p:cNvSpPr/>
          <p:nvPr/>
        </p:nvSpPr>
        <p:spPr>
          <a:xfrm>
            <a:off x="6212800" y="3899773"/>
            <a:ext cx="985480" cy="69342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8" name="Shape 36">
            <a:extLst>
              <a:ext uri="{FF2B5EF4-FFF2-40B4-BE49-F238E27FC236}">
                <a16:creationId xmlns:a16="http://schemas.microsoft.com/office/drawing/2014/main" id="{C5897F54-F1F8-55EA-0252-67740814AC55}"/>
              </a:ext>
            </a:extLst>
          </p:cNvPr>
          <p:cNvSpPr/>
          <p:nvPr/>
        </p:nvSpPr>
        <p:spPr>
          <a:xfrm>
            <a:off x="7259241" y="3899773"/>
            <a:ext cx="985480" cy="69342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0" name="Shape 37">
            <a:extLst>
              <a:ext uri="{FF2B5EF4-FFF2-40B4-BE49-F238E27FC236}">
                <a16:creationId xmlns:a16="http://schemas.microsoft.com/office/drawing/2014/main" id="{D219CCA0-F5A5-4F85-39BF-CFE488926EF7}"/>
              </a:ext>
            </a:extLst>
          </p:cNvPr>
          <p:cNvSpPr/>
          <p:nvPr/>
        </p:nvSpPr>
        <p:spPr>
          <a:xfrm>
            <a:off x="8305681" y="3899773"/>
            <a:ext cx="985599" cy="69342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2" name="Shape 38">
            <a:extLst>
              <a:ext uri="{FF2B5EF4-FFF2-40B4-BE49-F238E27FC236}">
                <a16:creationId xmlns:a16="http://schemas.microsoft.com/office/drawing/2014/main" id="{A1F19FD6-9CCD-06C1-9ABF-FC5EA02FEAF9}"/>
              </a:ext>
            </a:extLst>
          </p:cNvPr>
          <p:cNvSpPr/>
          <p:nvPr/>
        </p:nvSpPr>
        <p:spPr>
          <a:xfrm>
            <a:off x="9352240" y="3899773"/>
            <a:ext cx="985480" cy="69342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4" name="Shape 39">
            <a:extLst>
              <a:ext uri="{FF2B5EF4-FFF2-40B4-BE49-F238E27FC236}">
                <a16:creationId xmlns:a16="http://schemas.microsoft.com/office/drawing/2014/main" id="{409083A5-A5F5-8C97-B0C7-497B8C8B5748}"/>
              </a:ext>
            </a:extLst>
          </p:cNvPr>
          <p:cNvSpPr/>
          <p:nvPr/>
        </p:nvSpPr>
        <p:spPr>
          <a:xfrm>
            <a:off x="10398681" y="3899773"/>
            <a:ext cx="985480" cy="693420"/>
          </a:xfrm>
          <a:prstGeom prst="roundRect">
            <a:avLst>
              <a:gd name="adj" fmla="val 8791"/>
            </a:avLst>
          </a:prstGeom>
          <a:solidFill>
            <a:srgbClr val="EAF8F3"/>
          </a:solidFill>
          <a:ln>
            <a:noFill/>
          </a:ln>
        </p:spPr>
      </p:sp>
      <p:sp>
        <p:nvSpPr>
          <p:cNvPr id="76" name="Shape 40">
            <a:extLst>
              <a:ext uri="{FF2B5EF4-FFF2-40B4-BE49-F238E27FC236}">
                <a16:creationId xmlns:a16="http://schemas.microsoft.com/office/drawing/2014/main" id="{DF1F69DA-1D19-C8CE-DAEC-9312D84C464E}"/>
              </a:ext>
            </a:extLst>
          </p:cNvPr>
          <p:cNvSpPr/>
          <p:nvPr/>
        </p:nvSpPr>
        <p:spPr>
          <a:xfrm>
            <a:off x="739140" y="4722733"/>
            <a:ext cx="10713720" cy="830580"/>
          </a:xfrm>
          <a:prstGeom prst="roundRect">
            <a:avLst>
              <a:gd name="adj" fmla="val 14679"/>
            </a:avLst>
          </a:prstGeom>
          <a:noFill/>
          <a:ln w="9525">
            <a:solidFill>
              <a:srgbClr val="BDE8DA"/>
            </a:solidFill>
            <a:prstDash val="solid"/>
          </a:ln>
        </p:spPr>
      </p:sp>
      <p:sp>
        <p:nvSpPr>
          <p:cNvPr id="78" name="Shape 41">
            <a:extLst>
              <a:ext uri="{FF2B5EF4-FFF2-40B4-BE49-F238E27FC236}">
                <a16:creationId xmlns:a16="http://schemas.microsoft.com/office/drawing/2014/main" id="{7D005778-22FC-628D-E8BA-11641B940CD6}"/>
              </a:ext>
            </a:extLst>
          </p:cNvPr>
          <p:cNvSpPr/>
          <p:nvPr/>
        </p:nvSpPr>
        <p:spPr>
          <a:xfrm>
            <a:off x="746760" y="4730353"/>
            <a:ext cx="1219200" cy="815340"/>
          </a:xfrm>
          <a:prstGeom prst="rect">
            <a:avLst/>
          </a:prstGeom>
          <a:solidFill>
            <a:srgbClr val="00AB7A"/>
          </a:solidFill>
          <a:ln>
            <a:noFill/>
          </a:ln>
        </p:spPr>
      </p:sp>
      <p:sp>
        <p:nvSpPr>
          <p:cNvPr id="80" name="Shape 42">
            <a:extLst>
              <a:ext uri="{FF2B5EF4-FFF2-40B4-BE49-F238E27FC236}">
                <a16:creationId xmlns:a16="http://schemas.microsoft.com/office/drawing/2014/main" id="{05128DDF-2360-03B8-D51E-796C106F4246}"/>
              </a:ext>
            </a:extLst>
          </p:cNvPr>
          <p:cNvSpPr/>
          <p:nvPr/>
        </p:nvSpPr>
        <p:spPr>
          <a:xfrm>
            <a:off x="1965960" y="4730353"/>
            <a:ext cx="9479280" cy="815340"/>
          </a:xfrm>
          <a:prstGeom prst="rect">
            <a:avLst/>
          </a:prstGeom>
          <a:solidFill>
            <a:srgbClr val="F1FBF7"/>
          </a:solidFill>
          <a:ln>
            <a:noFill/>
          </a:ln>
        </p:spPr>
      </p:sp>
      <p:sp>
        <p:nvSpPr>
          <p:cNvPr id="82" name="Shape 43">
            <a:extLst>
              <a:ext uri="{FF2B5EF4-FFF2-40B4-BE49-F238E27FC236}">
                <a16:creationId xmlns:a16="http://schemas.microsoft.com/office/drawing/2014/main" id="{9F010571-DE77-060A-79F2-23C0B7DE1C62}"/>
              </a:ext>
            </a:extLst>
          </p:cNvPr>
          <p:cNvSpPr/>
          <p:nvPr/>
        </p:nvSpPr>
        <p:spPr>
          <a:xfrm>
            <a:off x="2026920" y="4791313"/>
            <a:ext cx="2270760" cy="69342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4" name="Shape 44">
            <a:extLst>
              <a:ext uri="{FF2B5EF4-FFF2-40B4-BE49-F238E27FC236}">
                <a16:creationId xmlns:a16="http://schemas.microsoft.com/office/drawing/2014/main" id="{5399F2ED-44C3-CAA3-E009-F8C8AA0DBBF7}"/>
              </a:ext>
            </a:extLst>
          </p:cNvPr>
          <p:cNvSpPr/>
          <p:nvPr/>
        </p:nvSpPr>
        <p:spPr>
          <a:xfrm>
            <a:off x="4389120" y="4791313"/>
            <a:ext cx="2270760" cy="69342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6" name="Shape 45">
            <a:extLst>
              <a:ext uri="{FF2B5EF4-FFF2-40B4-BE49-F238E27FC236}">
                <a16:creationId xmlns:a16="http://schemas.microsoft.com/office/drawing/2014/main" id="{CD79B725-799B-C4A3-4736-C25EE30396A0}"/>
              </a:ext>
            </a:extLst>
          </p:cNvPr>
          <p:cNvSpPr/>
          <p:nvPr/>
        </p:nvSpPr>
        <p:spPr>
          <a:xfrm>
            <a:off x="6751320" y="4791313"/>
            <a:ext cx="2270760" cy="69342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8" name="Shape 46">
            <a:extLst>
              <a:ext uri="{FF2B5EF4-FFF2-40B4-BE49-F238E27FC236}">
                <a16:creationId xmlns:a16="http://schemas.microsoft.com/office/drawing/2014/main" id="{5059C418-A3D8-1A1C-0A69-D5D6394BB35C}"/>
              </a:ext>
            </a:extLst>
          </p:cNvPr>
          <p:cNvSpPr/>
          <p:nvPr/>
        </p:nvSpPr>
        <p:spPr>
          <a:xfrm>
            <a:off x="9113520" y="4791313"/>
            <a:ext cx="2270760" cy="69342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0" name="Shape 47">
            <a:extLst>
              <a:ext uri="{FF2B5EF4-FFF2-40B4-BE49-F238E27FC236}">
                <a16:creationId xmlns:a16="http://schemas.microsoft.com/office/drawing/2014/main" id="{074600DC-1C51-F291-CE18-D12679873560}"/>
              </a:ext>
            </a:extLst>
          </p:cNvPr>
          <p:cNvSpPr/>
          <p:nvPr/>
        </p:nvSpPr>
        <p:spPr>
          <a:xfrm>
            <a:off x="609600" y="5774293"/>
            <a:ext cx="6963966" cy="838200"/>
          </a:xfrm>
          <a:prstGeom prst="roundRect">
            <a:avLst>
              <a:gd name="adj" fmla="val 14545"/>
            </a:avLst>
          </a:prstGeom>
          <a:solidFill>
            <a:srgbClr val="F8FC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92" name="Shape 48">
            <a:extLst>
              <a:ext uri="{FF2B5EF4-FFF2-40B4-BE49-F238E27FC236}">
                <a16:creationId xmlns:a16="http://schemas.microsoft.com/office/drawing/2014/main" id="{4D445815-9FB0-D9DB-073E-2B1E005C1499}"/>
              </a:ext>
            </a:extLst>
          </p:cNvPr>
          <p:cNvSpPr/>
          <p:nvPr/>
        </p:nvSpPr>
        <p:spPr>
          <a:xfrm>
            <a:off x="6468666" y="5842873"/>
            <a:ext cx="1005840" cy="266700"/>
          </a:xfrm>
          <a:prstGeom prst="roundRect">
            <a:avLst>
              <a:gd name="adj" fmla="val 50000"/>
            </a:avLst>
          </a:prstGeom>
          <a:solidFill>
            <a:srgbClr val="0565FF"/>
          </a:solidFill>
          <a:ln>
            <a:noFill/>
          </a:ln>
        </p:spPr>
      </p:sp>
      <p:sp>
        <p:nvSpPr>
          <p:cNvPr id="94" name="Shape 49">
            <a:extLst>
              <a:ext uri="{FF2B5EF4-FFF2-40B4-BE49-F238E27FC236}">
                <a16:creationId xmlns:a16="http://schemas.microsoft.com/office/drawing/2014/main" id="{B31B068F-D118-DA2F-26C5-DB975CBC553F}"/>
              </a:ext>
            </a:extLst>
          </p:cNvPr>
          <p:cNvSpPr/>
          <p:nvPr/>
        </p:nvSpPr>
        <p:spPr>
          <a:xfrm>
            <a:off x="708660" y="6140053"/>
            <a:ext cx="1645682" cy="403860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6" name="Shape 50">
            <a:extLst>
              <a:ext uri="{FF2B5EF4-FFF2-40B4-BE49-F238E27FC236}">
                <a16:creationId xmlns:a16="http://schemas.microsoft.com/office/drawing/2014/main" id="{012A0474-F2FE-0DAD-C3C9-571248972833}"/>
              </a:ext>
            </a:extLst>
          </p:cNvPr>
          <p:cNvSpPr/>
          <p:nvPr/>
        </p:nvSpPr>
        <p:spPr>
          <a:xfrm>
            <a:off x="2415302" y="6140053"/>
            <a:ext cx="1645801" cy="403860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8" name="Shape 51">
            <a:extLst>
              <a:ext uri="{FF2B5EF4-FFF2-40B4-BE49-F238E27FC236}">
                <a16:creationId xmlns:a16="http://schemas.microsoft.com/office/drawing/2014/main" id="{FEB579D9-D0E3-685E-2B58-F046D0691CF7}"/>
              </a:ext>
            </a:extLst>
          </p:cNvPr>
          <p:cNvSpPr/>
          <p:nvPr/>
        </p:nvSpPr>
        <p:spPr>
          <a:xfrm>
            <a:off x="4122063" y="6140053"/>
            <a:ext cx="1645682" cy="403860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0" name="Shape 52">
            <a:extLst>
              <a:ext uri="{FF2B5EF4-FFF2-40B4-BE49-F238E27FC236}">
                <a16:creationId xmlns:a16="http://schemas.microsoft.com/office/drawing/2014/main" id="{1C4DF32C-6D65-E94E-41D7-3048FB41B6DB}"/>
              </a:ext>
            </a:extLst>
          </p:cNvPr>
          <p:cNvSpPr/>
          <p:nvPr/>
        </p:nvSpPr>
        <p:spPr>
          <a:xfrm>
            <a:off x="5828705" y="6140053"/>
            <a:ext cx="1645801" cy="403860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2" name="Shape 53">
            <a:extLst>
              <a:ext uri="{FF2B5EF4-FFF2-40B4-BE49-F238E27FC236}">
                <a16:creationId xmlns:a16="http://schemas.microsoft.com/office/drawing/2014/main" id="{02958B20-2A64-DC23-A5F1-42A0D47B08CC}"/>
              </a:ext>
            </a:extLst>
          </p:cNvPr>
          <p:cNvSpPr/>
          <p:nvPr/>
        </p:nvSpPr>
        <p:spPr>
          <a:xfrm>
            <a:off x="7665006" y="5774293"/>
            <a:ext cx="3917394" cy="838200"/>
          </a:xfrm>
          <a:prstGeom prst="roundRect">
            <a:avLst>
              <a:gd name="adj" fmla="val 14545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104" name="TextBox 5">
            <a:extLst>
              <a:ext uri="{FF2B5EF4-FFF2-40B4-BE49-F238E27FC236}">
                <a16:creationId xmlns:a16="http://schemas.microsoft.com/office/drawing/2014/main" id="{20EC1181-49DE-D5ED-4A5F-52D01AD62949}"/>
              </a:ext>
            </a:extLst>
          </p:cNvPr>
          <p:cNvSpPr txBox="1"/>
          <p:nvPr/>
        </p:nvSpPr>
        <p:spPr>
          <a:xfrm>
            <a:off x="1744980" y="1013460"/>
            <a:ext cx="881786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00"/>
              </a:lnSpc>
            </a:pPr>
            <a:r>
              <a:rPr lang="zh-CN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课程、环境、项目、评测与运营必须在统一受控环境中完整跑通，才能把学习过程转化为可信能力结论。</a:t>
            </a:r>
          </a:p>
        </p:txBody>
      </p:sp>
      <p:sp>
        <p:nvSpPr>
          <p:cNvPr id="106" name="TextBox 6">
            <a:extLst>
              <a:ext uri="{FF2B5EF4-FFF2-40B4-BE49-F238E27FC236}">
                <a16:creationId xmlns:a16="http://schemas.microsoft.com/office/drawing/2014/main" id="{92769CBB-B432-D024-D21C-DACFAC372672}"/>
              </a:ext>
            </a:extLst>
          </p:cNvPr>
          <p:cNvSpPr txBox="1"/>
          <p:nvPr/>
        </p:nvSpPr>
        <p:spPr>
          <a:xfrm>
            <a:off x="739140" y="1645920"/>
            <a:ext cx="3422904" cy="3246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340"/>
              </a:lnSpc>
            </a:pPr>
            <a:r>
              <a:rPr lang="zh-CN" sz="156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学习闭环、工程资源与教学运营一体化</a:t>
            </a:r>
          </a:p>
        </p:txBody>
      </p:sp>
      <p:sp>
        <p:nvSpPr>
          <p:cNvPr id="108" name="TextBox 7">
            <a:extLst>
              <a:ext uri="{FF2B5EF4-FFF2-40B4-BE49-F238E27FC236}">
                <a16:creationId xmlns:a16="http://schemas.microsoft.com/office/drawing/2014/main" id="{AC3A050E-7827-E157-6EC4-0800C30E9773}"/>
              </a:ext>
            </a:extLst>
          </p:cNvPr>
          <p:cNvSpPr txBox="1"/>
          <p:nvPr/>
        </p:nvSpPr>
        <p:spPr>
          <a:xfrm>
            <a:off x="4229100" y="1706880"/>
            <a:ext cx="2318004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40"/>
              </a:lnSpc>
            </a:pPr>
            <a:r>
              <a:rPr lang="en-US" sz="96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UNIFIED TRAINING ARCHITECTURE</a:t>
            </a:r>
          </a:p>
        </p:txBody>
      </p:sp>
      <p:sp>
        <p:nvSpPr>
          <p:cNvPr id="110" name="TextBox 8">
            <a:extLst>
              <a:ext uri="{FF2B5EF4-FFF2-40B4-BE49-F238E27FC236}">
                <a16:creationId xmlns:a16="http://schemas.microsoft.com/office/drawing/2014/main" id="{BC5DBBE6-FAAA-1F58-CCE1-35DFA560741C}"/>
              </a:ext>
            </a:extLst>
          </p:cNvPr>
          <p:cNvSpPr txBox="1"/>
          <p:nvPr/>
        </p:nvSpPr>
        <p:spPr>
          <a:xfrm>
            <a:off x="868680" y="2430780"/>
            <a:ext cx="103022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  <a:spcBef>
                <a:spcPts val="240"/>
              </a:spcBef>
            </a:pPr>
            <a:r>
              <a:rPr lang="zh-CN" sz="10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从方法到能力结论</a:t>
            </a:r>
          </a:p>
        </p:txBody>
      </p:sp>
      <p:sp>
        <p:nvSpPr>
          <p:cNvPr id="112" name="TextBox 9">
            <a:extLst>
              <a:ext uri="{FF2B5EF4-FFF2-40B4-BE49-F238E27FC236}">
                <a16:creationId xmlns:a16="http://schemas.microsoft.com/office/drawing/2014/main" id="{A7833895-1E15-6922-9BB9-B3E9C606BBB8}"/>
              </a:ext>
            </a:extLst>
          </p:cNvPr>
          <p:cNvSpPr txBox="1"/>
          <p:nvPr/>
        </p:nvSpPr>
        <p:spPr>
          <a:xfrm>
            <a:off x="2118360" y="2453640"/>
            <a:ext cx="167030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结构化课程与示范，理解原理和方法。</a:t>
            </a:r>
          </a:p>
        </p:txBody>
      </p:sp>
      <p:sp>
        <p:nvSpPr>
          <p:cNvPr id="114" name="TextBox 10">
            <a:extLst>
              <a:ext uri="{FF2B5EF4-FFF2-40B4-BE49-F238E27FC236}">
                <a16:creationId xmlns:a16="http://schemas.microsoft.com/office/drawing/2014/main" id="{2923CBB0-AE42-3031-2CB3-0815B68B83AD}"/>
              </a:ext>
            </a:extLst>
          </p:cNvPr>
          <p:cNvSpPr txBox="1"/>
          <p:nvPr/>
        </p:nvSpPr>
        <p:spPr>
          <a:xfrm>
            <a:off x="4008120" y="2453640"/>
            <a:ext cx="167030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领取实验与项目，完成配置、开发和调试。</a:t>
            </a:r>
          </a:p>
        </p:txBody>
      </p:sp>
      <p:sp>
        <p:nvSpPr>
          <p:cNvPr id="116" name="TextBox 11">
            <a:extLst>
              <a:ext uri="{FF2B5EF4-FFF2-40B4-BE49-F238E27FC236}">
                <a16:creationId xmlns:a16="http://schemas.microsoft.com/office/drawing/2014/main" id="{BCCD7E93-A017-A5E0-FC01-0EB8E187A740}"/>
              </a:ext>
            </a:extLst>
          </p:cNvPr>
          <p:cNvSpPr txBox="1"/>
          <p:nvPr/>
        </p:nvSpPr>
        <p:spPr>
          <a:xfrm>
            <a:off x="5897880" y="2453640"/>
            <a:ext cx="167030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检查功能、效果、稳定性与安全性。</a:t>
            </a:r>
          </a:p>
        </p:txBody>
      </p:sp>
      <p:sp>
        <p:nvSpPr>
          <p:cNvPr id="118" name="TextBox 12">
            <a:extLst>
              <a:ext uri="{FF2B5EF4-FFF2-40B4-BE49-F238E27FC236}">
                <a16:creationId xmlns:a16="http://schemas.microsoft.com/office/drawing/2014/main" id="{EB5DDC1F-31DF-96F5-EFB8-C5C243235959}"/>
              </a:ext>
            </a:extLst>
          </p:cNvPr>
          <p:cNvSpPr txBox="1"/>
          <p:nvPr/>
        </p:nvSpPr>
        <p:spPr>
          <a:xfrm>
            <a:off x="7787640" y="2453640"/>
            <a:ext cx="167030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综合过程、作品、测试证据与答辩。</a:t>
            </a:r>
          </a:p>
        </p:txBody>
      </p:sp>
      <p:sp>
        <p:nvSpPr>
          <p:cNvPr id="120" name="TextBox 13">
            <a:extLst>
              <a:ext uri="{FF2B5EF4-FFF2-40B4-BE49-F238E27FC236}">
                <a16:creationId xmlns:a16="http://schemas.microsoft.com/office/drawing/2014/main" id="{E90EE3B6-4C44-9C49-CAE7-A1062EA79D29}"/>
              </a:ext>
            </a:extLst>
          </p:cNvPr>
          <p:cNvSpPr txBox="1"/>
          <p:nvPr/>
        </p:nvSpPr>
        <p:spPr>
          <a:xfrm>
            <a:off x="9677400" y="2453640"/>
            <a:ext cx="167030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形成认证、人才画像与进阶建议。</a:t>
            </a:r>
          </a:p>
        </p:txBody>
      </p:sp>
      <p:sp>
        <p:nvSpPr>
          <p:cNvPr id="122" name="TextBox 14">
            <a:extLst>
              <a:ext uri="{FF2B5EF4-FFF2-40B4-BE49-F238E27FC236}">
                <a16:creationId xmlns:a16="http://schemas.microsoft.com/office/drawing/2014/main" id="{4F451A5E-323A-CD09-9B07-F195CFD521D4}"/>
              </a:ext>
            </a:extLst>
          </p:cNvPr>
          <p:cNvSpPr txBox="1"/>
          <p:nvPr/>
        </p:nvSpPr>
        <p:spPr>
          <a:xfrm>
            <a:off x="876300" y="3421380"/>
            <a:ext cx="10149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  <a:spcBef>
                <a:spcPts val="240"/>
              </a:spcBef>
            </a:pPr>
            <a:r>
              <a:rPr lang="zh-CN" sz="10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支撑构建与验证</a:t>
            </a:r>
          </a:p>
        </p:txBody>
      </p:sp>
      <p:sp>
        <p:nvSpPr>
          <p:cNvPr id="124" name="TextBox 15">
            <a:extLst>
              <a:ext uri="{FF2B5EF4-FFF2-40B4-BE49-F238E27FC236}">
                <a16:creationId xmlns:a16="http://schemas.microsoft.com/office/drawing/2014/main" id="{33E21914-3774-4432-C7E3-EFA457A25B01}"/>
              </a:ext>
            </a:extLst>
          </p:cNvPr>
          <p:cNvSpPr txBox="1"/>
          <p:nvPr/>
        </p:nvSpPr>
        <p:spPr>
          <a:xfrm>
            <a:off x="868680" y="4183380"/>
            <a:ext cx="103022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  <a:spcBef>
                <a:spcPts val="240"/>
              </a:spcBef>
            </a:pPr>
            <a:r>
              <a:rPr lang="zh-CN" sz="10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组织教学与人才数据</a:t>
            </a:r>
          </a:p>
        </p:txBody>
      </p:sp>
      <p:sp>
        <p:nvSpPr>
          <p:cNvPr id="126" name="TextBox 16">
            <a:extLst>
              <a:ext uri="{FF2B5EF4-FFF2-40B4-BE49-F238E27FC236}">
                <a16:creationId xmlns:a16="http://schemas.microsoft.com/office/drawing/2014/main" id="{AFCE5128-0ACF-D7D2-DB71-A01FDB81BCBA}"/>
              </a:ext>
            </a:extLst>
          </p:cNvPr>
          <p:cNvSpPr txBox="1"/>
          <p:nvPr/>
        </p:nvSpPr>
        <p:spPr>
          <a:xfrm>
            <a:off x="868680" y="5074920"/>
            <a:ext cx="103022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  <a:spcBef>
                <a:spcPts val="240"/>
              </a:spcBef>
            </a:pPr>
            <a:r>
              <a:rPr lang="zh-CN" sz="10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受控训练，不复制生产</a:t>
            </a:r>
          </a:p>
        </p:txBody>
      </p:sp>
      <p:sp>
        <p:nvSpPr>
          <p:cNvPr id="128" name="TextBox 17">
            <a:extLst>
              <a:ext uri="{FF2B5EF4-FFF2-40B4-BE49-F238E27FC236}">
                <a16:creationId xmlns:a16="http://schemas.microsoft.com/office/drawing/2014/main" id="{74B1FC17-D7D7-1183-41F2-078DAE742F5D}"/>
              </a:ext>
            </a:extLst>
          </p:cNvPr>
          <p:cNvSpPr txBox="1"/>
          <p:nvPr/>
        </p:nvSpPr>
        <p:spPr>
          <a:xfrm>
            <a:off x="708660" y="5844540"/>
            <a:ext cx="274472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zh-CN" sz="13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真实角色 + 完整任务验证业务闭环</a:t>
            </a:r>
          </a:p>
        </p:txBody>
      </p:sp>
      <p:sp>
        <p:nvSpPr>
          <p:cNvPr id="130" name="TextBox 18">
            <a:extLst>
              <a:ext uri="{FF2B5EF4-FFF2-40B4-BE49-F238E27FC236}">
                <a16:creationId xmlns:a16="http://schemas.microsoft.com/office/drawing/2014/main" id="{49EC9289-1AFA-9068-8522-4FA3585CBABB}"/>
              </a:ext>
            </a:extLst>
          </p:cNvPr>
          <p:cNvSpPr txBox="1"/>
          <p:nvPr/>
        </p:nvSpPr>
        <p:spPr>
          <a:xfrm>
            <a:off x="7787640" y="6065520"/>
            <a:ext cx="110642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zh-CN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平台验收口径</a:t>
            </a:r>
          </a:p>
        </p:txBody>
      </p:sp>
      <p:sp>
        <p:nvSpPr>
          <p:cNvPr id="132" name="TextBox 19">
            <a:extLst>
              <a:ext uri="{FF2B5EF4-FFF2-40B4-BE49-F238E27FC236}">
                <a16:creationId xmlns:a16="http://schemas.microsoft.com/office/drawing/2014/main" id="{169522C8-CED7-33F1-FFBD-B1895F7B97A7}"/>
              </a:ext>
            </a:extLst>
          </p:cNvPr>
          <p:cNvSpPr txBox="1"/>
          <p:nvPr/>
        </p:nvSpPr>
        <p:spPr>
          <a:xfrm>
            <a:off x="8930640" y="6012180"/>
            <a:ext cx="258470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课程、环境、项目、评价和运营协同可用；作品与过程证据完整可追踪。</a:t>
            </a:r>
          </a:p>
        </p:txBody>
      </p:sp>
      <p:sp>
        <p:nvSpPr>
          <p:cNvPr id="134" name="TextBox 20">
            <a:extLst>
              <a:ext uri="{FF2B5EF4-FFF2-40B4-BE49-F238E27FC236}">
                <a16:creationId xmlns:a16="http://schemas.microsoft.com/office/drawing/2014/main" id="{66FBECEB-7AEF-8EF0-5AE1-5E77138906CE}"/>
              </a:ext>
            </a:extLst>
          </p:cNvPr>
          <p:cNvSpPr txBox="1"/>
          <p:nvPr/>
        </p:nvSpPr>
        <p:spPr>
          <a:xfrm>
            <a:off x="922020" y="1043940"/>
            <a:ext cx="6035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平台价值</a:t>
            </a:r>
          </a:p>
        </p:txBody>
      </p:sp>
      <p:sp>
        <p:nvSpPr>
          <p:cNvPr id="136" name="TextBox 21">
            <a:extLst>
              <a:ext uri="{FF2B5EF4-FFF2-40B4-BE49-F238E27FC236}">
                <a16:creationId xmlns:a16="http://schemas.microsoft.com/office/drawing/2014/main" id="{F3F4712F-AC86-1F10-91E0-BB1F1BC14884}"/>
              </a:ext>
            </a:extLst>
          </p:cNvPr>
          <p:cNvSpPr txBox="1"/>
          <p:nvPr/>
        </p:nvSpPr>
        <p:spPr>
          <a:xfrm>
            <a:off x="8816340" y="1699260"/>
            <a:ext cx="916686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过程可管理</a:t>
            </a:r>
          </a:p>
        </p:txBody>
      </p:sp>
      <p:sp>
        <p:nvSpPr>
          <p:cNvPr id="138" name="TextBox 22">
            <a:extLst>
              <a:ext uri="{FF2B5EF4-FFF2-40B4-BE49-F238E27FC236}">
                <a16:creationId xmlns:a16="http://schemas.microsoft.com/office/drawing/2014/main" id="{C8996981-4FAC-3974-8CCF-BDA49F97D5CF}"/>
              </a:ext>
            </a:extLst>
          </p:cNvPr>
          <p:cNvSpPr txBox="1"/>
          <p:nvPr/>
        </p:nvSpPr>
        <p:spPr>
          <a:xfrm>
            <a:off x="9745980" y="1699260"/>
            <a:ext cx="916686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结果可追踪</a:t>
            </a:r>
          </a:p>
        </p:txBody>
      </p:sp>
      <p:sp>
        <p:nvSpPr>
          <p:cNvPr id="140" name="TextBox 23">
            <a:extLst>
              <a:ext uri="{FF2B5EF4-FFF2-40B4-BE49-F238E27FC236}">
                <a16:creationId xmlns:a16="http://schemas.microsoft.com/office/drawing/2014/main" id="{23094DA1-F6BC-FBC0-8F1F-771D916FD1BE}"/>
              </a:ext>
            </a:extLst>
          </p:cNvPr>
          <p:cNvSpPr txBox="1"/>
          <p:nvPr/>
        </p:nvSpPr>
        <p:spPr>
          <a:xfrm>
            <a:off x="10675620" y="1699260"/>
            <a:ext cx="916686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8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运营可复盘</a:t>
            </a:r>
          </a:p>
        </p:txBody>
      </p:sp>
      <p:sp>
        <p:nvSpPr>
          <p:cNvPr id="142" name="TextBox 24">
            <a:extLst>
              <a:ext uri="{FF2B5EF4-FFF2-40B4-BE49-F238E27FC236}">
                <a16:creationId xmlns:a16="http://schemas.microsoft.com/office/drawing/2014/main" id="{43229323-80D2-409C-2901-80F5589984E3}"/>
              </a:ext>
            </a:extLst>
          </p:cNvPr>
          <p:cNvSpPr txBox="1"/>
          <p:nvPr/>
        </p:nvSpPr>
        <p:spPr>
          <a:xfrm>
            <a:off x="937260" y="2148840"/>
            <a:ext cx="89306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0"/>
              </a:lnSpc>
            </a:pPr>
            <a:r>
              <a:rPr lang="zh-CN" sz="13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学习侧闭环</a:t>
            </a:r>
          </a:p>
        </p:txBody>
      </p:sp>
      <p:sp>
        <p:nvSpPr>
          <p:cNvPr id="144" name="TextBox 25">
            <a:extLst>
              <a:ext uri="{FF2B5EF4-FFF2-40B4-BE49-F238E27FC236}">
                <a16:creationId xmlns:a16="http://schemas.microsoft.com/office/drawing/2014/main" id="{96E31675-EA6E-9E17-9E2E-7DC074779651}"/>
              </a:ext>
            </a:extLst>
          </p:cNvPr>
          <p:cNvSpPr txBox="1"/>
          <p:nvPr/>
        </p:nvSpPr>
        <p:spPr>
          <a:xfrm>
            <a:off x="2118360" y="2179320"/>
            <a:ext cx="167030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学习</a:t>
            </a:r>
          </a:p>
        </p:txBody>
      </p:sp>
      <p:sp>
        <p:nvSpPr>
          <p:cNvPr id="146" name="TextBox 26">
            <a:extLst>
              <a:ext uri="{FF2B5EF4-FFF2-40B4-BE49-F238E27FC236}">
                <a16:creationId xmlns:a16="http://schemas.microsoft.com/office/drawing/2014/main" id="{2253AD6D-ADC0-D20F-1FFF-5C32FB615CD1}"/>
              </a:ext>
            </a:extLst>
          </p:cNvPr>
          <p:cNvSpPr txBox="1"/>
          <p:nvPr/>
        </p:nvSpPr>
        <p:spPr>
          <a:xfrm>
            <a:off x="4008120" y="2179320"/>
            <a:ext cx="167030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实践</a:t>
            </a:r>
          </a:p>
        </p:txBody>
      </p:sp>
      <p:sp>
        <p:nvSpPr>
          <p:cNvPr id="148" name="TextBox 27">
            <a:extLst>
              <a:ext uri="{FF2B5EF4-FFF2-40B4-BE49-F238E27FC236}">
                <a16:creationId xmlns:a16="http://schemas.microsoft.com/office/drawing/2014/main" id="{141E0A3C-35F3-CDB3-9891-F4FB95C6C08A}"/>
              </a:ext>
            </a:extLst>
          </p:cNvPr>
          <p:cNvSpPr txBox="1"/>
          <p:nvPr/>
        </p:nvSpPr>
        <p:spPr>
          <a:xfrm>
            <a:off x="5897880" y="2179320"/>
            <a:ext cx="167030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08D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测试</a:t>
            </a:r>
          </a:p>
        </p:txBody>
      </p:sp>
      <p:sp>
        <p:nvSpPr>
          <p:cNvPr id="150" name="TextBox 28">
            <a:extLst>
              <a:ext uri="{FF2B5EF4-FFF2-40B4-BE49-F238E27FC236}">
                <a16:creationId xmlns:a16="http://schemas.microsoft.com/office/drawing/2014/main" id="{92C8F4FE-90B3-FB50-E0F1-35E70483C29B}"/>
              </a:ext>
            </a:extLst>
          </p:cNvPr>
          <p:cNvSpPr txBox="1"/>
          <p:nvPr/>
        </p:nvSpPr>
        <p:spPr>
          <a:xfrm>
            <a:off x="7787640" y="2179320"/>
            <a:ext cx="167030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0A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评价</a:t>
            </a:r>
          </a:p>
        </p:txBody>
      </p:sp>
      <p:sp>
        <p:nvSpPr>
          <p:cNvPr id="152" name="TextBox 29">
            <a:extLst>
              <a:ext uri="{FF2B5EF4-FFF2-40B4-BE49-F238E27FC236}">
                <a16:creationId xmlns:a16="http://schemas.microsoft.com/office/drawing/2014/main" id="{732DDDB7-64CB-6A72-83BE-2BB4389F45E5}"/>
              </a:ext>
            </a:extLst>
          </p:cNvPr>
          <p:cNvSpPr txBox="1"/>
          <p:nvPr/>
        </p:nvSpPr>
        <p:spPr>
          <a:xfrm>
            <a:off x="9677400" y="2179320"/>
            <a:ext cx="1670304" cy="2712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zh-CN" sz="1260" b="1" dirty="0">
                <a:solidFill>
                  <a:srgbClr val="008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发展</a:t>
            </a:r>
          </a:p>
        </p:txBody>
      </p:sp>
      <p:sp>
        <p:nvSpPr>
          <p:cNvPr id="154" name="TextBox 30">
            <a:extLst>
              <a:ext uri="{FF2B5EF4-FFF2-40B4-BE49-F238E27FC236}">
                <a16:creationId xmlns:a16="http://schemas.microsoft.com/office/drawing/2014/main" id="{9EEA352B-5CBA-43BA-148A-580CBF3EFA1E}"/>
              </a:ext>
            </a:extLst>
          </p:cNvPr>
          <p:cNvSpPr txBox="1"/>
          <p:nvPr/>
        </p:nvSpPr>
        <p:spPr>
          <a:xfrm>
            <a:off x="937260" y="3139440"/>
            <a:ext cx="89306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0"/>
              </a:lnSpc>
            </a:pPr>
            <a:r>
              <a:rPr lang="zh-CN" sz="13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工程资源层</a:t>
            </a:r>
          </a:p>
        </p:txBody>
      </p:sp>
      <p:sp>
        <p:nvSpPr>
          <p:cNvPr id="156" name="TextBox 31">
            <a:extLst>
              <a:ext uri="{FF2B5EF4-FFF2-40B4-BE49-F238E27FC236}">
                <a16:creationId xmlns:a16="http://schemas.microsoft.com/office/drawing/2014/main" id="{E30A60BD-01BB-9615-B839-6962549D2D2E}"/>
              </a:ext>
            </a:extLst>
          </p:cNvPr>
          <p:cNvSpPr txBox="1"/>
          <p:nvPr/>
        </p:nvSpPr>
        <p:spPr>
          <a:xfrm>
            <a:off x="2087880" y="3124200"/>
            <a:ext cx="1220724" cy="545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35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课程内容</a:t>
            </a:r>
            <a:endParaRPr lang="en-US" altLang="zh-CN" sz="1080" b="1" dirty="0">
              <a:solidFill>
                <a:srgbClr val="0565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135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视频、讲义与任务指导</a:t>
            </a:r>
          </a:p>
        </p:txBody>
      </p:sp>
      <p:sp>
        <p:nvSpPr>
          <p:cNvPr id="158" name="TextBox 32">
            <a:extLst>
              <a:ext uri="{FF2B5EF4-FFF2-40B4-BE49-F238E27FC236}">
                <a16:creationId xmlns:a16="http://schemas.microsoft.com/office/drawing/2014/main" id="{DFA644DE-5BE3-AAF0-EA3B-50F418DDDC27}"/>
              </a:ext>
            </a:extLst>
          </p:cNvPr>
          <p:cNvSpPr txBox="1"/>
          <p:nvPr/>
        </p:nvSpPr>
        <p:spPr>
          <a:xfrm>
            <a:off x="3436620" y="3124200"/>
            <a:ext cx="1220724" cy="545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35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实验环境</a:t>
            </a:r>
            <a:endParaRPr lang="en-US" altLang="zh-CN" sz="1080" b="1" dirty="0">
              <a:solidFill>
                <a:srgbClr val="0565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135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配置、开发和调试空间</a:t>
            </a:r>
          </a:p>
        </p:txBody>
      </p:sp>
      <p:sp>
        <p:nvSpPr>
          <p:cNvPr id="160" name="TextBox 33">
            <a:extLst>
              <a:ext uri="{FF2B5EF4-FFF2-40B4-BE49-F238E27FC236}">
                <a16:creationId xmlns:a16="http://schemas.microsoft.com/office/drawing/2014/main" id="{1999CE5E-A833-E4EB-168F-000D61EA19C0}"/>
              </a:ext>
            </a:extLst>
          </p:cNvPr>
          <p:cNvSpPr txBox="1"/>
          <p:nvPr/>
        </p:nvSpPr>
        <p:spPr>
          <a:xfrm>
            <a:off x="4777740" y="3124200"/>
            <a:ext cx="1220724" cy="545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35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endParaRPr lang="en-US" altLang="zh-CN" sz="1080" b="1" dirty="0">
              <a:solidFill>
                <a:srgbClr val="0565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135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分层场景与交付要求</a:t>
            </a:r>
          </a:p>
        </p:txBody>
      </p:sp>
      <p:sp>
        <p:nvSpPr>
          <p:cNvPr id="162" name="TextBox 34">
            <a:extLst>
              <a:ext uri="{FF2B5EF4-FFF2-40B4-BE49-F238E27FC236}">
                <a16:creationId xmlns:a16="http://schemas.microsoft.com/office/drawing/2014/main" id="{D499E7CA-949E-B5B5-7F56-72448CD45AF9}"/>
              </a:ext>
            </a:extLst>
          </p:cNvPr>
          <p:cNvSpPr txBox="1"/>
          <p:nvPr/>
        </p:nvSpPr>
        <p:spPr>
          <a:xfrm>
            <a:off x="6126480" y="3124200"/>
            <a:ext cx="1220724" cy="545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35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模型算力</a:t>
            </a:r>
            <a:endParaRPr lang="en-US" altLang="zh-CN" sz="1080" b="1" dirty="0">
              <a:solidFill>
                <a:srgbClr val="0565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135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模型选择、调用与额度</a:t>
            </a:r>
          </a:p>
        </p:txBody>
      </p:sp>
      <p:sp>
        <p:nvSpPr>
          <p:cNvPr id="164" name="TextBox 35">
            <a:extLst>
              <a:ext uri="{FF2B5EF4-FFF2-40B4-BE49-F238E27FC236}">
                <a16:creationId xmlns:a16="http://schemas.microsoft.com/office/drawing/2014/main" id="{84D14477-681A-4110-479F-5D40F3DFFE42}"/>
              </a:ext>
            </a:extLst>
          </p:cNvPr>
          <p:cNvSpPr txBox="1"/>
          <p:nvPr/>
        </p:nvSpPr>
        <p:spPr>
          <a:xfrm>
            <a:off x="7467600" y="3124200"/>
            <a:ext cx="1220724" cy="545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35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数据知识</a:t>
            </a:r>
            <a:endParaRPr lang="en-US" altLang="zh-CN" sz="1080" b="1" dirty="0">
              <a:solidFill>
                <a:srgbClr val="0565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135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样本、知识与授权资源</a:t>
            </a:r>
          </a:p>
        </p:txBody>
      </p:sp>
      <p:sp>
        <p:nvSpPr>
          <p:cNvPr id="166" name="TextBox 36">
            <a:extLst>
              <a:ext uri="{FF2B5EF4-FFF2-40B4-BE49-F238E27FC236}">
                <a16:creationId xmlns:a16="http://schemas.microsoft.com/office/drawing/2014/main" id="{B647C424-D5C5-A155-830B-4366C49F56EF}"/>
              </a:ext>
            </a:extLst>
          </p:cNvPr>
          <p:cNvSpPr txBox="1"/>
          <p:nvPr/>
        </p:nvSpPr>
        <p:spPr>
          <a:xfrm>
            <a:off x="8816340" y="3124200"/>
            <a:ext cx="1220724" cy="545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35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工具MCP</a:t>
            </a:r>
            <a:endParaRPr lang="en-US" altLang="zh-CN" sz="1080" b="1" dirty="0">
              <a:solidFill>
                <a:srgbClr val="0565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135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工具服务与外部连接</a:t>
            </a:r>
          </a:p>
        </p:txBody>
      </p:sp>
      <p:sp>
        <p:nvSpPr>
          <p:cNvPr id="168" name="TextBox 37">
            <a:extLst>
              <a:ext uri="{FF2B5EF4-FFF2-40B4-BE49-F238E27FC236}">
                <a16:creationId xmlns:a16="http://schemas.microsoft.com/office/drawing/2014/main" id="{8C899478-3090-4599-2FD1-311FE61E1437}"/>
              </a:ext>
            </a:extLst>
          </p:cNvPr>
          <p:cNvSpPr txBox="1"/>
          <p:nvPr/>
        </p:nvSpPr>
        <p:spPr>
          <a:xfrm>
            <a:off x="10157460" y="3124200"/>
            <a:ext cx="1220724" cy="545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35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构建评测</a:t>
            </a:r>
            <a:endParaRPr lang="en-US" altLang="zh-CN" sz="1080" b="1" dirty="0">
              <a:solidFill>
                <a:srgbClr val="0565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135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智能体、测试集与量规</a:t>
            </a:r>
          </a:p>
        </p:txBody>
      </p:sp>
      <p:sp>
        <p:nvSpPr>
          <p:cNvPr id="170" name="TextBox 38">
            <a:extLst>
              <a:ext uri="{FF2B5EF4-FFF2-40B4-BE49-F238E27FC236}">
                <a16:creationId xmlns:a16="http://schemas.microsoft.com/office/drawing/2014/main" id="{E6B02F1B-E1A2-C337-C9A5-835C09BEE404}"/>
              </a:ext>
            </a:extLst>
          </p:cNvPr>
          <p:cNvSpPr txBox="1"/>
          <p:nvPr/>
        </p:nvSpPr>
        <p:spPr>
          <a:xfrm>
            <a:off x="937260" y="3901440"/>
            <a:ext cx="89306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0"/>
              </a:lnSpc>
            </a:pPr>
            <a:r>
              <a:rPr lang="zh-CN" sz="13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管理运营侧</a:t>
            </a:r>
          </a:p>
        </p:txBody>
      </p:sp>
      <p:sp>
        <p:nvSpPr>
          <p:cNvPr id="172" name="TextBox 39">
            <a:extLst>
              <a:ext uri="{FF2B5EF4-FFF2-40B4-BE49-F238E27FC236}">
                <a16:creationId xmlns:a16="http://schemas.microsoft.com/office/drawing/2014/main" id="{46C88A76-4F5F-6088-E749-4D7EB1B99257}"/>
              </a:ext>
            </a:extLst>
          </p:cNvPr>
          <p:cNvSpPr txBox="1"/>
          <p:nvPr/>
        </p:nvSpPr>
        <p:spPr>
          <a:xfrm>
            <a:off x="2087880" y="3962400"/>
            <a:ext cx="915924" cy="5989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2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</a:t>
            </a:r>
          </a:p>
        </p:txBody>
      </p:sp>
      <p:sp>
        <p:nvSpPr>
          <p:cNvPr id="174" name="TextBox 40">
            <a:extLst>
              <a:ext uri="{FF2B5EF4-FFF2-40B4-BE49-F238E27FC236}">
                <a16:creationId xmlns:a16="http://schemas.microsoft.com/office/drawing/2014/main" id="{32423185-E29A-A8D0-45EC-4DD69410C32E}"/>
              </a:ext>
            </a:extLst>
          </p:cNvPr>
          <p:cNvSpPr txBox="1"/>
          <p:nvPr/>
        </p:nvSpPr>
        <p:spPr>
          <a:xfrm>
            <a:off x="3131820" y="3962400"/>
            <a:ext cx="915924" cy="5989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2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</a:t>
            </a:r>
          </a:p>
        </p:txBody>
      </p:sp>
      <p:sp>
        <p:nvSpPr>
          <p:cNvPr id="176" name="TextBox 41">
            <a:extLst>
              <a:ext uri="{FF2B5EF4-FFF2-40B4-BE49-F238E27FC236}">
                <a16:creationId xmlns:a16="http://schemas.microsoft.com/office/drawing/2014/main" id="{C2FC3F1C-458E-5BBF-2727-09DF94117964}"/>
              </a:ext>
            </a:extLst>
          </p:cNvPr>
          <p:cNvSpPr txBox="1"/>
          <p:nvPr/>
        </p:nvSpPr>
        <p:spPr>
          <a:xfrm>
            <a:off x="4183380" y="3962400"/>
            <a:ext cx="915924" cy="5989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2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班级</a:t>
            </a:r>
          </a:p>
        </p:txBody>
      </p:sp>
      <p:sp>
        <p:nvSpPr>
          <p:cNvPr id="178" name="TextBox 42">
            <a:extLst>
              <a:ext uri="{FF2B5EF4-FFF2-40B4-BE49-F238E27FC236}">
                <a16:creationId xmlns:a16="http://schemas.microsoft.com/office/drawing/2014/main" id="{E0C163ED-09C3-7A88-984F-0F619FF1FBF3}"/>
              </a:ext>
            </a:extLst>
          </p:cNvPr>
          <p:cNvSpPr txBox="1"/>
          <p:nvPr/>
        </p:nvSpPr>
        <p:spPr>
          <a:xfrm>
            <a:off x="5227320" y="3962400"/>
            <a:ext cx="915924" cy="5989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2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</a:t>
            </a:r>
          </a:p>
        </p:txBody>
      </p:sp>
      <p:sp>
        <p:nvSpPr>
          <p:cNvPr id="180" name="TextBox 43">
            <a:extLst>
              <a:ext uri="{FF2B5EF4-FFF2-40B4-BE49-F238E27FC236}">
                <a16:creationId xmlns:a16="http://schemas.microsoft.com/office/drawing/2014/main" id="{ECFAF106-D579-AABD-19FD-A01A5B46B185}"/>
              </a:ext>
            </a:extLst>
          </p:cNvPr>
          <p:cNvSpPr txBox="1"/>
          <p:nvPr/>
        </p:nvSpPr>
        <p:spPr>
          <a:xfrm>
            <a:off x="6271260" y="3962400"/>
            <a:ext cx="915924" cy="5989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2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</a:p>
        </p:txBody>
      </p:sp>
      <p:sp>
        <p:nvSpPr>
          <p:cNvPr id="182" name="TextBox 44">
            <a:extLst>
              <a:ext uri="{FF2B5EF4-FFF2-40B4-BE49-F238E27FC236}">
                <a16:creationId xmlns:a16="http://schemas.microsoft.com/office/drawing/2014/main" id="{51EFD464-321C-985D-DA77-CBA62DF67858}"/>
              </a:ext>
            </a:extLst>
          </p:cNvPr>
          <p:cNvSpPr txBox="1"/>
          <p:nvPr/>
        </p:nvSpPr>
        <p:spPr>
          <a:xfrm>
            <a:off x="7322820" y="3962400"/>
            <a:ext cx="915924" cy="5989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2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</a:t>
            </a:r>
          </a:p>
        </p:txBody>
      </p:sp>
      <p:sp>
        <p:nvSpPr>
          <p:cNvPr id="184" name="TextBox 45">
            <a:extLst>
              <a:ext uri="{FF2B5EF4-FFF2-40B4-BE49-F238E27FC236}">
                <a16:creationId xmlns:a16="http://schemas.microsoft.com/office/drawing/2014/main" id="{913FC7E4-7DFA-D9C6-BA4C-BCF35084B7C5}"/>
              </a:ext>
            </a:extLst>
          </p:cNvPr>
          <p:cNvSpPr txBox="1"/>
          <p:nvPr/>
        </p:nvSpPr>
        <p:spPr>
          <a:xfrm>
            <a:off x="8366760" y="3962400"/>
            <a:ext cx="915924" cy="5989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2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考试</a:t>
            </a:r>
          </a:p>
        </p:txBody>
      </p:sp>
      <p:sp>
        <p:nvSpPr>
          <p:cNvPr id="186" name="TextBox 46">
            <a:extLst>
              <a:ext uri="{FF2B5EF4-FFF2-40B4-BE49-F238E27FC236}">
                <a16:creationId xmlns:a16="http://schemas.microsoft.com/office/drawing/2014/main" id="{15C25D03-F2DE-405B-C34E-4EF91D74F03C}"/>
              </a:ext>
            </a:extLst>
          </p:cNvPr>
          <p:cNvSpPr txBox="1"/>
          <p:nvPr/>
        </p:nvSpPr>
        <p:spPr>
          <a:xfrm>
            <a:off x="9410700" y="3962400"/>
            <a:ext cx="915924" cy="5989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20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证书</a:t>
            </a:r>
          </a:p>
        </p:txBody>
      </p:sp>
      <p:sp>
        <p:nvSpPr>
          <p:cNvPr id="188" name="TextBox 47">
            <a:extLst>
              <a:ext uri="{FF2B5EF4-FFF2-40B4-BE49-F238E27FC236}">
                <a16:creationId xmlns:a16="http://schemas.microsoft.com/office/drawing/2014/main" id="{F9F995BA-46A8-9CAD-1A43-2C5BC567307F}"/>
              </a:ext>
            </a:extLst>
          </p:cNvPr>
          <p:cNvSpPr txBox="1"/>
          <p:nvPr/>
        </p:nvSpPr>
        <p:spPr>
          <a:xfrm>
            <a:off x="10462260" y="3962400"/>
            <a:ext cx="915924" cy="5989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200" b="1" dirty="0">
                <a:solidFill>
                  <a:srgbClr val="008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人才画像</a:t>
            </a:r>
          </a:p>
        </p:txBody>
      </p:sp>
      <p:sp>
        <p:nvSpPr>
          <p:cNvPr id="190" name="TextBox 48">
            <a:extLst>
              <a:ext uri="{FF2B5EF4-FFF2-40B4-BE49-F238E27FC236}">
                <a16:creationId xmlns:a16="http://schemas.microsoft.com/office/drawing/2014/main" id="{F24A3F0C-594B-65FE-BA72-C751C2D29D1C}"/>
              </a:ext>
            </a:extLst>
          </p:cNvPr>
          <p:cNvSpPr txBox="1"/>
          <p:nvPr/>
        </p:nvSpPr>
        <p:spPr>
          <a:xfrm>
            <a:off x="937260" y="4792980"/>
            <a:ext cx="89306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0"/>
              </a:lnSpc>
            </a:pPr>
            <a:r>
              <a:rPr lang="zh-CN" sz="13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安全隔离层</a:t>
            </a:r>
          </a:p>
        </p:txBody>
      </p:sp>
      <p:sp>
        <p:nvSpPr>
          <p:cNvPr id="192" name="TextBox 49">
            <a:extLst>
              <a:ext uri="{FF2B5EF4-FFF2-40B4-BE49-F238E27FC236}">
                <a16:creationId xmlns:a16="http://schemas.microsoft.com/office/drawing/2014/main" id="{C1C08082-C44A-8442-21F0-0E8681CDC6F2}"/>
              </a:ext>
            </a:extLst>
          </p:cNvPr>
          <p:cNvSpPr txBox="1"/>
          <p:nvPr/>
        </p:nvSpPr>
        <p:spPr>
          <a:xfrm>
            <a:off x="2118360" y="4853940"/>
            <a:ext cx="2142744" cy="5989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</a:pPr>
            <a:r>
              <a:rPr lang="zh-CN" sz="1080" b="1" dirty="0">
                <a:solidFill>
                  <a:srgbClr val="008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数据：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敏感数据采用脱敏样本或模拟数据</a:t>
            </a:r>
          </a:p>
        </p:txBody>
      </p:sp>
      <p:sp>
        <p:nvSpPr>
          <p:cNvPr id="194" name="TextBox 50">
            <a:extLst>
              <a:ext uri="{FF2B5EF4-FFF2-40B4-BE49-F238E27FC236}">
                <a16:creationId xmlns:a16="http://schemas.microsoft.com/office/drawing/2014/main" id="{D3AED9A7-E9D6-D316-EA7C-736ED2F8D5CF}"/>
              </a:ext>
            </a:extLst>
          </p:cNvPr>
          <p:cNvSpPr txBox="1"/>
          <p:nvPr/>
        </p:nvSpPr>
        <p:spPr>
          <a:xfrm>
            <a:off x="4480560" y="4853940"/>
            <a:ext cx="2142744" cy="5989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</a:pPr>
            <a:r>
              <a:rPr lang="zh-CN" sz="1080" b="1" dirty="0">
                <a:solidFill>
                  <a:srgbClr val="008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连接：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外部工具、MCP与接口经过审核</a:t>
            </a:r>
          </a:p>
        </p:txBody>
      </p:sp>
      <p:sp>
        <p:nvSpPr>
          <p:cNvPr id="196" name="TextBox 51">
            <a:extLst>
              <a:ext uri="{FF2B5EF4-FFF2-40B4-BE49-F238E27FC236}">
                <a16:creationId xmlns:a16="http://schemas.microsoft.com/office/drawing/2014/main" id="{B1791037-8A7B-8074-738C-51955EE9E561}"/>
              </a:ext>
            </a:extLst>
          </p:cNvPr>
          <p:cNvSpPr txBox="1"/>
          <p:nvPr/>
        </p:nvSpPr>
        <p:spPr>
          <a:xfrm>
            <a:off x="6842760" y="4853940"/>
            <a:ext cx="2142744" cy="5989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</a:pPr>
            <a:r>
              <a:rPr lang="zh-CN" sz="1080" b="1" dirty="0">
                <a:solidFill>
                  <a:srgbClr val="008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模型：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调用设置额度、日志与责任追踪</a:t>
            </a:r>
          </a:p>
        </p:txBody>
      </p:sp>
      <p:sp>
        <p:nvSpPr>
          <p:cNvPr id="198" name="TextBox 52">
            <a:extLst>
              <a:ext uri="{FF2B5EF4-FFF2-40B4-BE49-F238E27FC236}">
                <a16:creationId xmlns:a16="http://schemas.microsoft.com/office/drawing/2014/main" id="{2F915A4D-19D2-A5D3-C9F2-8A746C09F7A4}"/>
              </a:ext>
            </a:extLst>
          </p:cNvPr>
          <p:cNvSpPr txBox="1"/>
          <p:nvPr/>
        </p:nvSpPr>
        <p:spPr>
          <a:xfrm>
            <a:off x="9204960" y="4853940"/>
            <a:ext cx="2142744" cy="5989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</a:pPr>
            <a:r>
              <a:rPr lang="zh-CN" sz="1080" b="1" dirty="0">
                <a:solidFill>
                  <a:srgbClr val="008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环境：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生产与实训环境保持适当隔离</a:t>
            </a:r>
          </a:p>
        </p:txBody>
      </p:sp>
      <p:sp>
        <p:nvSpPr>
          <p:cNvPr id="200" name="TextBox 53">
            <a:extLst>
              <a:ext uri="{FF2B5EF4-FFF2-40B4-BE49-F238E27FC236}">
                <a16:creationId xmlns:a16="http://schemas.microsoft.com/office/drawing/2014/main" id="{A6CF16BF-0D9C-FAAC-FD2D-195794492CD8}"/>
              </a:ext>
            </a:extLst>
          </p:cNvPr>
          <p:cNvSpPr txBox="1"/>
          <p:nvPr/>
        </p:nvSpPr>
        <p:spPr>
          <a:xfrm>
            <a:off x="6560106" y="5880973"/>
            <a:ext cx="1074420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不是检查菜单</a:t>
            </a:r>
          </a:p>
        </p:txBody>
      </p:sp>
      <p:sp>
        <p:nvSpPr>
          <p:cNvPr id="202" name="TextBox 54">
            <a:extLst>
              <a:ext uri="{FF2B5EF4-FFF2-40B4-BE49-F238E27FC236}">
                <a16:creationId xmlns:a16="http://schemas.microsoft.com/office/drawing/2014/main" id="{77093D75-E1A0-FB69-A91F-DCFCE7EBDADD}"/>
              </a:ext>
            </a:extLst>
          </p:cNvPr>
          <p:cNvSpPr txBox="1"/>
          <p:nvPr/>
        </p:nvSpPr>
        <p:spPr>
          <a:xfrm>
            <a:off x="769620" y="6172200"/>
            <a:ext cx="1578864" cy="3703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学员：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领项目、用资源、交作品与证据</a:t>
            </a:r>
          </a:p>
        </p:txBody>
      </p:sp>
      <p:sp>
        <p:nvSpPr>
          <p:cNvPr id="204" name="TextBox 55">
            <a:extLst>
              <a:ext uri="{FF2B5EF4-FFF2-40B4-BE49-F238E27FC236}">
                <a16:creationId xmlns:a16="http://schemas.microsoft.com/office/drawing/2014/main" id="{CEEA208A-59C9-97A5-80D1-B953BAA1190D}"/>
              </a:ext>
            </a:extLst>
          </p:cNvPr>
          <p:cNvSpPr txBox="1"/>
          <p:nvPr/>
        </p:nvSpPr>
        <p:spPr>
          <a:xfrm>
            <a:off x="2476500" y="6172200"/>
            <a:ext cx="1578864" cy="3703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导师：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看过程、教方法、反馈改进</a:t>
            </a:r>
          </a:p>
        </p:txBody>
      </p:sp>
      <p:sp>
        <p:nvSpPr>
          <p:cNvPr id="206" name="TextBox 56">
            <a:extLst>
              <a:ext uri="{FF2B5EF4-FFF2-40B4-BE49-F238E27FC236}">
                <a16:creationId xmlns:a16="http://schemas.microsoft.com/office/drawing/2014/main" id="{82DD785E-9BF3-1169-7DC3-A18FB4CD01DA}"/>
              </a:ext>
            </a:extLst>
          </p:cNvPr>
          <p:cNvSpPr txBox="1"/>
          <p:nvPr/>
        </p:nvSpPr>
        <p:spPr>
          <a:xfrm>
            <a:off x="4183380" y="6172200"/>
            <a:ext cx="1578864" cy="3703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评审：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依量规、核证据、定结论</a:t>
            </a:r>
          </a:p>
        </p:txBody>
      </p:sp>
      <p:sp>
        <p:nvSpPr>
          <p:cNvPr id="208" name="TextBox 57">
            <a:extLst>
              <a:ext uri="{FF2B5EF4-FFF2-40B4-BE49-F238E27FC236}">
                <a16:creationId xmlns:a16="http://schemas.microsoft.com/office/drawing/2014/main" id="{A908C275-C651-55E6-3AA7-56FD2F568768}"/>
              </a:ext>
            </a:extLst>
          </p:cNvPr>
          <p:cNvSpPr txBox="1"/>
          <p:nvPr/>
        </p:nvSpPr>
        <p:spPr>
          <a:xfrm>
            <a:off x="5890260" y="6172200"/>
            <a:ext cx="1578864" cy="3703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35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管理员：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看进度、管资源、归档结果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6474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00E59-F1A2-AD73-8FD6-825773D8D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36CC36-F4CE-9CC4-684F-3F7551F4F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zh-CN" altLang="en-US" dirty="0"/>
              <a:t>分阶段建设与持续运营路径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B881CD3-3282-0CD8-5D75-3E23935D377E}"/>
              </a:ext>
            </a:extLst>
          </p:cNvPr>
          <p:cNvSpPr/>
          <p:nvPr/>
        </p:nvSpPr>
        <p:spPr>
          <a:xfrm>
            <a:off x="609600" y="1022350"/>
            <a:ext cx="10972800" cy="441960"/>
          </a:xfrm>
          <a:prstGeom prst="roundRect">
            <a:avLst>
              <a:gd name="adj" fmla="val 27586"/>
            </a:avLst>
          </a:prstGeom>
          <a:solidFill>
            <a:srgbClr val="ECF7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FA37A89-2C6C-ACD6-763B-934AE35D93BA}"/>
              </a:ext>
            </a:extLst>
          </p:cNvPr>
          <p:cNvSpPr/>
          <p:nvPr/>
        </p:nvSpPr>
        <p:spPr>
          <a:xfrm>
            <a:off x="8744307" y="1071880"/>
            <a:ext cx="2647593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DBF4"/>
            </a:solidFill>
            <a:prstDash val="solid"/>
          </a:ln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C41FDBA9-5520-7933-C620-2DE3F9AEC6ED}"/>
              </a:ext>
            </a:extLst>
          </p:cNvPr>
          <p:cNvSpPr/>
          <p:nvPr/>
        </p:nvSpPr>
        <p:spPr>
          <a:xfrm>
            <a:off x="609600" y="1586230"/>
            <a:ext cx="2526030" cy="3886200"/>
          </a:xfrm>
          <a:prstGeom prst="roundRect">
            <a:avLst>
              <a:gd name="adj" fmla="val 6033"/>
            </a:avLst>
          </a:prstGeom>
          <a:solidFill>
            <a:srgbClr val="FFFFFF"/>
          </a:solidFill>
          <a:ln w="19050">
            <a:solidFill>
              <a:srgbClr val="CDD9F5"/>
            </a:solidFill>
            <a:prstDash val="solid"/>
          </a:ln>
        </p:spPr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213FC4FA-5FB8-247C-C51D-9EB913AB7A3A}"/>
              </a:ext>
            </a:extLst>
          </p:cNvPr>
          <p:cNvSpPr/>
          <p:nvPr/>
        </p:nvSpPr>
        <p:spPr>
          <a:xfrm>
            <a:off x="624840" y="1601470"/>
            <a:ext cx="2495550" cy="609600"/>
          </a:xfrm>
          <a:prstGeom prst="rect">
            <a:avLst/>
          </a:prstGeom>
          <a:solidFill>
            <a:srgbClr val="E1E8FF"/>
          </a:solidFill>
          <a:ln>
            <a:noFill/>
          </a:ln>
        </p:spPr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0C5F4084-48AB-9401-BD97-4873AC9E3B63}"/>
              </a:ext>
            </a:extLst>
          </p:cNvPr>
          <p:cNvSpPr/>
          <p:nvPr/>
        </p:nvSpPr>
        <p:spPr>
          <a:xfrm>
            <a:off x="762000" y="171577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FF2DF727-9DEB-C85E-6E4F-F6482923CCFD}"/>
              </a:ext>
            </a:extLst>
          </p:cNvPr>
          <p:cNvSpPr/>
          <p:nvPr/>
        </p:nvSpPr>
        <p:spPr>
          <a:xfrm>
            <a:off x="748030" y="3355340"/>
            <a:ext cx="2236470" cy="799148"/>
          </a:xfrm>
          <a:prstGeom prst="roundRect">
            <a:avLst>
              <a:gd name="adj" fmla="val 11442"/>
            </a:avLst>
          </a:prstGeom>
          <a:solidFill>
            <a:srgbClr val="F3F7FF"/>
          </a:solidFill>
          <a:ln w="9525">
            <a:solidFill>
              <a:srgbClr val="D7E4F7"/>
            </a:solidFill>
            <a:prstDash val="solid"/>
          </a:ln>
        </p:spPr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3AE52099-7F6E-518A-CF3B-1606FFDBE9B6}"/>
              </a:ext>
            </a:extLst>
          </p:cNvPr>
          <p:cNvSpPr/>
          <p:nvPr/>
        </p:nvSpPr>
        <p:spPr>
          <a:xfrm>
            <a:off x="754380" y="4509453"/>
            <a:ext cx="2236470" cy="818198"/>
          </a:xfrm>
          <a:prstGeom prst="roundRect">
            <a:avLst>
              <a:gd name="adj" fmla="val 12107"/>
            </a:avLst>
          </a:prstGeom>
          <a:solidFill>
            <a:srgbClr val="EDF5FF"/>
          </a:solidFill>
          <a:ln w="19050">
            <a:solidFill>
              <a:srgbClr val="0565FF"/>
            </a:solidFill>
            <a:prstDash val="solid"/>
          </a:ln>
        </p:spPr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E9CFD467-78D1-504B-62C5-2257EEF4685F}"/>
              </a:ext>
            </a:extLst>
          </p:cNvPr>
          <p:cNvSpPr/>
          <p:nvPr/>
        </p:nvSpPr>
        <p:spPr>
          <a:xfrm>
            <a:off x="3425190" y="1586230"/>
            <a:ext cx="2526030" cy="3886200"/>
          </a:xfrm>
          <a:prstGeom prst="roundRect">
            <a:avLst>
              <a:gd name="adj" fmla="val 6033"/>
            </a:avLst>
          </a:prstGeom>
          <a:solidFill>
            <a:srgbClr val="FFFFFF"/>
          </a:solidFill>
          <a:ln w="19050">
            <a:solidFill>
              <a:srgbClr val="B8DDF8"/>
            </a:solidFill>
            <a:prstDash val="solid"/>
          </a:ln>
        </p:spPr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5D047C6D-93B4-D22D-27BF-712871F164D9}"/>
              </a:ext>
            </a:extLst>
          </p:cNvPr>
          <p:cNvSpPr/>
          <p:nvPr/>
        </p:nvSpPr>
        <p:spPr>
          <a:xfrm>
            <a:off x="3440430" y="1601470"/>
            <a:ext cx="2495550" cy="609600"/>
          </a:xfrm>
          <a:prstGeom prst="rect">
            <a:avLst/>
          </a:prstGeom>
          <a:solidFill>
            <a:srgbClr val="D9F2FF"/>
          </a:solidFill>
          <a:ln>
            <a:noFill/>
          </a:ln>
        </p:spPr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4C457FE2-4777-51F6-9F48-BC7727987529}"/>
              </a:ext>
            </a:extLst>
          </p:cNvPr>
          <p:cNvSpPr/>
          <p:nvPr/>
        </p:nvSpPr>
        <p:spPr>
          <a:xfrm>
            <a:off x="3577590" y="171577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0565FF"/>
          </a:solidFill>
          <a:ln>
            <a:noFill/>
          </a:ln>
        </p:spPr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8959E469-CF0C-C73F-9ABA-9D986081BC21}"/>
              </a:ext>
            </a:extLst>
          </p:cNvPr>
          <p:cNvSpPr/>
          <p:nvPr/>
        </p:nvSpPr>
        <p:spPr>
          <a:xfrm>
            <a:off x="3550920" y="3342640"/>
            <a:ext cx="2236470" cy="799148"/>
          </a:xfrm>
          <a:prstGeom prst="roundRect">
            <a:avLst>
              <a:gd name="adj" fmla="val 11442"/>
            </a:avLst>
          </a:prstGeom>
          <a:solidFill>
            <a:srgbClr val="F0FAFF"/>
          </a:solidFill>
          <a:ln w="9525">
            <a:solidFill>
              <a:srgbClr val="CFEAF8"/>
            </a:solidFill>
            <a:prstDash val="solid"/>
          </a:ln>
        </p:spPr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CF07F31A-AE2E-D1FC-3827-5012E046428C}"/>
              </a:ext>
            </a:extLst>
          </p:cNvPr>
          <p:cNvSpPr/>
          <p:nvPr/>
        </p:nvSpPr>
        <p:spPr>
          <a:xfrm>
            <a:off x="3569970" y="4509453"/>
            <a:ext cx="2236470" cy="818198"/>
          </a:xfrm>
          <a:prstGeom prst="roundRect">
            <a:avLst>
              <a:gd name="adj" fmla="val 12107"/>
            </a:avLst>
          </a:prstGeom>
          <a:solidFill>
            <a:srgbClr val="EEFBFF"/>
          </a:solidFill>
          <a:ln w="19050">
            <a:solidFill>
              <a:srgbClr val="00A7FF"/>
            </a:solidFill>
            <a:prstDash val="solid"/>
          </a:ln>
        </p:spPr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8E1A3942-4798-6380-5A45-1A4D3D305391}"/>
              </a:ext>
            </a:extLst>
          </p:cNvPr>
          <p:cNvSpPr/>
          <p:nvPr/>
        </p:nvSpPr>
        <p:spPr>
          <a:xfrm>
            <a:off x="6240780" y="1586230"/>
            <a:ext cx="2526030" cy="3886200"/>
          </a:xfrm>
          <a:prstGeom prst="roundRect">
            <a:avLst>
              <a:gd name="adj" fmla="val 6033"/>
            </a:avLst>
          </a:prstGeom>
          <a:solidFill>
            <a:srgbClr val="FFFFFF"/>
          </a:solidFill>
          <a:ln w="19050">
            <a:solidFill>
              <a:srgbClr val="8ED9FA"/>
            </a:solidFill>
            <a:prstDash val="solid"/>
          </a:ln>
        </p:spPr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4BC4A6FF-35D3-09A6-5325-54E650763539}"/>
              </a:ext>
            </a:extLst>
          </p:cNvPr>
          <p:cNvSpPr/>
          <p:nvPr/>
        </p:nvSpPr>
        <p:spPr>
          <a:xfrm>
            <a:off x="6256020" y="1601470"/>
            <a:ext cx="2495550" cy="609600"/>
          </a:xfrm>
          <a:prstGeom prst="rect">
            <a:avLst/>
          </a:prstGeom>
          <a:solidFill>
            <a:srgbClr val="D8F6FF"/>
          </a:solidFill>
          <a:ln>
            <a:noFill/>
          </a:ln>
        </p:spPr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948464EE-B6B2-1D0C-FBEE-DE1F49870281}"/>
              </a:ext>
            </a:extLst>
          </p:cNvPr>
          <p:cNvSpPr/>
          <p:nvPr/>
        </p:nvSpPr>
        <p:spPr>
          <a:xfrm>
            <a:off x="6393180" y="171577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00A7FF"/>
          </a:solidFill>
          <a:ln>
            <a:noFill/>
          </a:ln>
        </p:spPr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4F34B0ED-310C-B654-D7D7-CDF3A4F6D35C}"/>
              </a:ext>
            </a:extLst>
          </p:cNvPr>
          <p:cNvSpPr/>
          <p:nvPr/>
        </p:nvSpPr>
        <p:spPr>
          <a:xfrm>
            <a:off x="6366510" y="3323590"/>
            <a:ext cx="2236470" cy="799148"/>
          </a:xfrm>
          <a:prstGeom prst="roundRect">
            <a:avLst>
              <a:gd name="adj" fmla="val 11442"/>
            </a:avLst>
          </a:prstGeom>
          <a:solidFill>
            <a:srgbClr val="EEFBFF"/>
          </a:solidFill>
          <a:ln w="9525">
            <a:solidFill>
              <a:srgbClr val="BDEBFA"/>
            </a:solidFill>
            <a:prstDash val="solid"/>
          </a:ln>
        </p:spPr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1E1F54FD-CA9C-8372-E4F7-FE98A4EAEF4D}"/>
              </a:ext>
            </a:extLst>
          </p:cNvPr>
          <p:cNvSpPr/>
          <p:nvPr/>
        </p:nvSpPr>
        <p:spPr>
          <a:xfrm>
            <a:off x="6385560" y="4509453"/>
            <a:ext cx="2236470" cy="818198"/>
          </a:xfrm>
          <a:prstGeom prst="roundRect">
            <a:avLst>
              <a:gd name="adj" fmla="val 12107"/>
            </a:avLst>
          </a:prstGeom>
          <a:solidFill>
            <a:srgbClr val="EFFBF7"/>
          </a:solidFill>
          <a:ln w="19050">
            <a:solidFill>
              <a:srgbClr val="00AB7A"/>
            </a:solidFill>
            <a:prstDash val="solid"/>
          </a:ln>
        </p:spPr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1970A48F-66DC-9D84-F963-969E8C5D18FF}"/>
              </a:ext>
            </a:extLst>
          </p:cNvPr>
          <p:cNvSpPr/>
          <p:nvPr/>
        </p:nvSpPr>
        <p:spPr>
          <a:xfrm>
            <a:off x="9056370" y="1586230"/>
            <a:ext cx="2526030" cy="3886200"/>
          </a:xfrm>
          <a:prstGeom prst="roundRect">
            <a:avLst>
              <a:gd name="adj" fmla="val 6033"/>
            </a:avLst>
          </a:prstGeom>
          <a:solidFill>
            <a:srgbClr val="FFFFFF"/>
          </a:solidFill>
          <a:ln w="19050">
            <a:solidFill>
              <a:srgbClr val="77D8BF"/>
            </a:solidFill>
            <a:prstDash val="solid"/>
          </a:ln>
        </p:spPr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C11455A6-5818-26BC-C067-1245A19F9D66}"/>
              </a:ext>
            </a:extLst>
          </p:cNvPr>
          <p:cNvSpPr/>
          <p:nvPr/>
        </p:nvSpPr>
        <p:spPr>
          <a:xfrm>
            <a:off x="9071610" y="1601470"/>
            <a:ext cx="2495550" cy="609600"/>
          </a:xfrm>
          <a:prstGeom prst="rect">
            <a:avLst/>
          </a:prstGeom>
          <a:solidFill>
            <a:srgbClr val="DDF8F0"/>
          </a:solidFill>
          <a:ln>
            <a:noFill/>
          </a:ln>
        </p:spPr>
      </p:sp>
      <p:sp>
        <p:nvSpPr>
          <p:cNvPr id="43" name="Shape 22">
            <a:extLst>
              <a:ext uri="{FF2B5EF4-FFF2-40B4-BE49-F238E27FC236}">
                <a16:creationId xmlns:a16="http://schemas.microsoft.com/office/drawing/2014/main" id="{6BFCA460-698B-B1CC-AFB0-64777573F08B}"/>
              </a:ext>
            </a:extLst>
          </p:cNvPr>
          <p:cNvSpPr/>
          <p:nvPr/>
        </p:nvSpPr>
        <p:spPr>
          <a:xfrm>
            <a:off x="9208770" y="171577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45" name="Shape 23">
            <a:extLst>
              <a:ext uri="{FF2B5EF4-FFF2-40B4-BE49-F238E27FC236}">
                <a16:creationId xmlns:a16="http://schemas.microsoft.com/office/drawing/2014/main" id="{651FAF11-D5A4-2D5C-CC73-4FF60C737F73}"/>
              </a:ext>
            </a:extLst>
          </p:cNvPr>
          <p:cNvSpPr/>
          <p:nvPr/>
        </p:nvSpPr>
        <p:spPr>
          <a:xfrm>
            <a:off x="9194800" y="3304540"/>
            <a:ext cx="2236470" cy="799148"/>
          </a:xfrm>
          <a:prstGeom prst="roundRect">
            <a:avLst>
              <a:gd name="adj" fmla="val 11442"/>
            </a:avLst>
          </a:prstGeom>
          <a:solidFill>
            <a:srgbClr val="EFFBF7"/>
          </a:solidFill>
          <a:ln w="9525">
            <a:solidFill>
              <a:srgbClr val="BFE9DA"/>
            </a:solidFill>
            <a:prstDash val="solid"/>
          </a:ln>
        </p:spPr>
      </p:sp>
      <p:sp>
        <p:nvSpPr>
          <p:cNvPr id="47" name="Shape 24">
            <a:extLst>
              <a:ext uri="{FF2B5EF4-FFF2-40B4-BE49-F238E27FC236}">
                <a16:creationId xmlns:a16="http://schemas.microsoft.com/office/drawing/2014/main" id="{4B3E2231-A46D-439D-728E-71C387348C5E}"/>
              </a:ext>
            </a:extLst>
          </p:cNvPr>
          <p:cNvSpPr/>
          <p:nvPr/>
        </p:nvSpPr>
        <p:spPr>
          <a:xfrm>
            <a:off x="9201150" y="4509452"/>
            <a:ext cx="2236470" cy="818197"/>
          </a:xfrm>
          <a:prstGeom prst="roundRect">
            <a:avLst>
              <a:gd name="adj" fmla="val 9807"/>
            </a:avLst>
          </a:prstGeom>
          <a:solidFill>
            <a:srgbClr val="E7F9F2"/>
          </a:solidFill>
          <a:ln w="19050">
            <a:solidFill>
              <a:srgbClr val="00AB7A"/>
            </a:solidFill>
            <a:prstDash val="solid"/>
          </a:ln>
        </p:spPr>
      </p:sp>
      <p:sp>
        <p:nvSpPr>
          <p:cNvPr id="49" name="Shape 25">
            <a:extLst>
              <a:ext uri="{FF2B5EF4-FFF2-40B4-BE49-F238E27FC236}">
                <a16:creationId xmlns:a16="http://schemas.microsoft.com/office/drawing/2014/main" id="{0C99198D-5EEF-F34C-1734-DBF6A82732E5}"/>
              </a:ext>
            </a:extLst>
          </p:cNvPr>
          <p:cNvSpPr/>
          <p:nvPr/>
        </p:nvSpPr>
        <p:spPr>
          <a:xfrm>
            <a:off x="609600" y="5594350"/>
            <a:ext cx="6510457" cy="960120"/>
          </a:xfrm>
          <a:prstGeom prst="roundRect">
            <a:avLst>
              <a:gd name="adj" fmla="val 13492"/>
            </a:avLst>
          </a:prstGeom>
          <a:solidFill>
            <a:srgbClr val="F5FBFF"/>
          </a:solidFill>
          <a:ln w="9525">
            <a:solidFill>
              <a:srgbClr val="B8DBF4"/>
            </a:solidFill>
            <a:prstDash val="solid"/>
          </a:ln>
        </p:spPr>
      </p:sp>
      <p:sp>
        <p:nvSpPr>
          <p:cNvPr id="51" name="Shape 26">
            <a:extLst>
              <a:ext uri="{FF2B5EF4-FFF2-40B4-BE49-F238E27FC236}">
                <a16:creationId xmlns:a16="http://schemas.microsoft.com/office/drawing/2014/main" id="{F4E3BD00-87DC-B936-FD65-D86AC4520F2B}"/>
              </a:ext>
            </a:extLst>
          </p:cNvPr>
          <p:cNvSpPr/>
          <p:nvPr/>
        </p:nvSpPr>
        <p:spPr>
          <a:xfrm>
            <a:off x="769620" y="6051550"/>
            <a:ext cx="980837" cy="35814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9525">
            <a:solidFill>
              <a:srgbClr val="D7E4F7"/>
            </a:solidFill>
            <a:prstDash val="solid"/>
          </a:ln>
        </p:spPr>
      </p:sp>
      <p:sp>
        <p:nvSpPr>
          <p:cNvPr id="53" name="Shape 27">
            <a:extLst>
              <a:ext uri="{FF2B5EF4-FFF2-40B4-BE49-F238E27FC236}">
                <a16:creationId xmlns:a16="http://schemas.microsoft.com/office/drawing/2014/main" id="{D20C5375-CEF1-B605-A1CE-76D1078EA542}"/>
              </a:ext>
            </a:extLst>
          </p:cNvPr>
          <p:cNvSpPr/>
          <p:nvPr/>
        </p:nvSpPr>
        <p:spPr>
          <a:xfrm>
            <a:off x="1811417" y="6051550"/>
            <a:ext cx="980956" cy="35814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9525">
            <a:solidFill>
              <a:srgbClr val="D7E4F7"/>
            </a:solidFill>
            <a:prstDash val="solid"/>
          </a:ln>
        </p:spPr>
      </p:sp>
      <p:sp>
        <p:nvSpPr>
          <p:cNvPr id="55" name="Shape 28">
            <a:extLst>
              <a:ext uri="{FF2B5EF4-FFF2-40B4-BE49-F238E27FC236}">
                <a16:creationId xmlns:a16="http://schemas.microsoft.com/office/drawing/2014/main" id="{E5CDFC33-5539-29C5-81D2-BF9D3AF5AEB1}"/>
              </a:ext>
            </a:extLst>
          </p:cNvPr>
          <p:cNvSpPr/>
          <p:nvPr/>
        </p:nvSpPr>
        <p:spPr>
          <a:xfrm>
            <a:off x="2853333" y="6051550"/>
            <a:ext cx="980956" cy="35814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9525">
            <a:solidFill>
              <a:srgbClr val="CFEAF8"/>
            </a:solidFill>
            <a:prstDash val="solid"/>
          </a:ln>
        </p:spPr>
      </p:sp>
      <p:sp>
        <p:nvSpPr>
          <p:cNvPr id="57" name="Shape 29">
            <a:extLst>
              <a:ext uri="{FF2B5EF4-FFF2-40B4-BE49-F238E27FC236}">
                <a16:creationId xmlns:a16="http://schemas.microsoft.com/office/drawing/2014/main" id="{A533885E-F08B-A9E9-C072-74A526D6642D}"/>
              </a:ext>
            </a:extLst>
          </p:cNvPr>
          <p:cNvSpPr/>
          <p:nvPr/>
        </p:nvSpPr>
        <p:spPr>
          <a:xfrm>
            <a:off x="3895249" y="6051550"/>
            <a:ext cx="980956" cy="35814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9525">
            <a:solidFill>
              <a:srgbClr val="CFEAF8"/>
            </a:solidFill>
            <a:prstDash val="solid"/>
          </a:ln>
        </p:spPr>
      </p:sp>
      <p:sp>
        <p:nvSpPr>
          <p:cNvPr id="59" name="Shape 30">
            <a:extLst>
              <a:ext uri="{FF2B5EF4-FFF2-40B4-BE49-F238E27FC236}">
                <a16:creationId xmlns:a16="http://schemas.microsoft.com/office/drawing/2014/main" id="{DAEABA7D-2DBF-AA25-F53B-6547BBC054B0}"/>
              </a:ext>
            </a:extLst>
          </p:cNvPr>
          <p:cNvSpPr/>
          <p:nvPr/>
        </p:nvSpPr>
        <p:spPr>
          <a:xfrm>
            <a:off x="4937165" y="6051550"/>
            <a:ext cx="980956" cy="35814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9525">
            <a:solidFill>
              <a:srgbClr val="F0CCCC"/>
            </a:solidFill>
            <a:prstDash val="solid"/>
          </a:ln>
        </p:spPr>
      </p:sp>
      <p:sp>
        <p:nvSpPr>
          <p:cNvPr id="61" name="Shape 31">
            <a:extLst>
              <a:ext uri="{FF2B5EF4-FFF2-40B4-BE49-F238E27FC236}">
                <a16:creationId xmlns:a16="http://schemas.microsoft.com/office/drawing/2014/main" id="{AEDBBEC0-515B-B133-C21B-ABA5D489A20D}"/>
              </a:ext>
            </a:extLst>
          </p:cNvPr>
          <p:cNvSpPr/>
          <p:nvPr/>
        </p:nvSpPr>
        <p:spPr>
          <a:xfrm>
            <a:off x="5979081" y="6051550"/>
            <a:ext cx="980837" cy="35814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9525">
            <a:solidFill>
              <a:srgbClr val="BFE9DA"/>
            </a:solidFill>
            <a:prstDash val="solid"/>
          </a:ln>
        </p:spPr>
      </p:sp>
      <p:sp>
        <p:nvSpPr>
          <p:cNvPr id="63" name="Shape 32">
            <a:extLst>
              <a:ext uri="{FF2B5EF4-FFF2-40B4-BE49-F238E27FC236}">
                <a16:creationId xmlns:a16="http://schemas.microsoft.com/office/drawing/2014/main" id="{05947391-387A-DCDD-CE4B-F7E5D74BAF66}"/>
              </a:ext>
            </a:extLst>
          </p:cNvPr>
          <p:cNvSpPr/>
          <p:nvPr/>
        </p:nvSpPr>
        <p:spPr>
          <a:xfrm>
            <a:off x="7241977" y="5594350"/>
            <a:ext cx="4340423" cy="960120"/>
          </a:xfrm>
          <a:prstGeom prst="roundRect">
            <a:avLst>
              <a:gd name="adj" fmla="val 13492"/>
            </a:avLst>
          </a:prstGeom>
          <a:solidFill>
            <a:srgbClr val="ECF7FF"/>
          </a:solidFill>
          <a:ln w="19050">
            <a:solidFill>
              <a:srgbClr val="0565FF"/>
            </a:solidFill>
            <a:prstDash val="solid"/>
          </a:ln>
        </p:spPr>
      </p:sp>
      <p:sp>
        <p:nvSpPr>
          <p:cNvPr id="65" name="Shape 33">
            <a:extLst>
              <a:ext uri="{FF2B5EF4-FFF2-40B4-BE49-F238E27FC236}">
                <a16:creationId xmlns:a16="http://schemas.microsoft.com/office/drawing/2014/main" id="{ABF96472-B107-69DF-1C1B-48C13D22588B}"/>
              </a:ext>
            </a:extLst>
          </p:cNvPr>
          <p:cNvSpPr/>
          <p:nvPr/>
        </p:nvSpPr>
        <p:spPr>
          <a:xfrm>
            <a:off x="7409617" y="6066790"/>
            <a:ext cx="1289328" cy="36576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B8DBF4"/>
            </a:solidFill>
            <a:prstDash val="solid"/>
          </a:ln>
        </p:spPr>
      </p:sp>
      <p:sp>
        <p:nvSpPr>
          <p:cNvPr id="67" name="Shape 34">
            <a:extLst>
              <a:ext uri="{FF2B5EF4-FFF2-40B4-BE49-F238E27FC236}">
                <a16:creationId xmlns:a16="http://schemas.microsoft.com/office/drawing/2014/main" id="{BF038045-E1E9-1504-5D80-AE4CFDCE3694}"/>
              </a:ext>
            </a:extLst>
          </p:cNvPr>
          <p:cNvSpPr/>
          <p:nvPr/>
        </p:nvSpPr>
        <p:spPr>
          <a:xfrm>
            <a:off x="8767524" y="6066790"/>
            <a:ext cx="1289328" cy="36576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B8DBF4"/>
            </a:solidFill>
            <a:prstDash val="solid"/>
          </a:ln>
        </p:spPr>
      </p:sp>
      <p:sp>
        <p:nvSpPr>
          <p:cNvPr id="69" name="Shape 35">
            <a:extLst>
              <a:ext uri="{FF2B5EF4-FFF2-40B4-BE49-F238E27FC236}">
                <a16:creationId xmlns:a16="http://schemas.microsoft.com/office/drawing/2014/main" id="{20355324-C0C0-0F05-A78B-30C98665B344}"/>
              </a:ext>
            </a:extLst>
          </p:cNvPr>
          <p:cNvSpPr/>
          <p:nvPr/>
        </p:nvSpPr>
        <p:spPr>
          <a:xfrm>
            <a:off x="10125432" y="6066790"/>
            <a:ext cx="1289328" cy="36576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B8DBF4"/>
            </a:solidFill>
            <a:prstDash val="solid"/>
          </a:ln>
        </p:spPr>
      </p:sp>
      <p:sp>
        <p:nvSpPr>
          <p:cNvPr id="71" name="TextBox 4">
            <a:extLst>
              <a:ext uri="{FF2B5EF4-FFF2-40B4-BE49-F238E27FC236}">
                <a16:creationId xmlns:a16="http://schemas.microsoft.com/office/drawing/2014/main" id="{09B927CF-0373-948F-88F8-5D44815E4213}"/>
              </a:ext>
            </a:extLst>
          </p:cNvPr>
          <p:cNvSpPr txBox="1"/>
          <p:nvPr/>
        </p:nvSpPr>
        <p:spPr>
          <a:xfrm>
            <a:off x="982980" y="1106170"/>
            <a:ext cx="639470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05"/>
              </a:lnSpc>
            </a:pPr>
            <a:r>
              <a:rPr lang="zh-CN" sz="1560" b="1" dirty="0">
                <a:solidFill>
                  <a:srgbClr val="0F2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每一阶段都用真实成果和风险状态决定是否扩围，而不是追求一次性铺开</a:t>
            </a:r>
          </a:p>
        </p:txBody>
      </p:sp>
      <p:sp>
        <p:nvSpPr>
          <p:cNvPr id="73" name="TextBox 5">
            <a:extLst>
              <a:ext uri="{FF2B5EF4-FFF2-40B4-BE49-F238E27FC236}">
                <a16:creationId xmlns:a16="http://schemas.microsoft.com/office/drawing/2014/main" id="{4DC69FF7-601E-A420-5104-08CB9AD174A8}"/>
              </a:ext>
            </a:extLst>
          </p:cNvPr>
          <p:cNvSpPr txBox="1"/>
          <p:nvPr/>
        </p:nvSpPr>
        <p:spPr>
          <a:xfrm>
            <a:off x="8865870" y="1092200"/>
            <a:ext cx="2584704" cy="210693"/>
          </a:xfrm>
          <a:prstGeom prst="rect">
            <a:avLst/>
          </a:prstGeom>
          <a:noFill/>
        </p:spPr>
        <p:txBody>
          <a:bodyPr wrap="square" lIns="144780" tIns="68580" rIns="144780" bIns="68580" anchor="t">
            <a:noAutofit/>
          </a:bodyPr>
          <a:lstStyle/>
          <a:p>
            <a:pPr>
              <a:lnSpc>
                <a:spcPts val="1620"/>
              </a:lnSpc>
            </a:pPr>
            <a:r>
              <a:rPr lang="zh-CN" sz="100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小范围验证 → 有条件扩大 → 持续运营</a:t>
            </a:r>
          </a:p>
        </p:txBody>
      </p:sp>
      <p:sp>
        <p:nvSpPr>
          <p:cNvPr id="75" name="TextBox 6">
            <a:extLst>
              <a:ext uri="{FF2B5EF4-FFF2-40B4-BE49-F238E27FC236}">
                <a16:creationId xmlns:a16="http://schemas.microsoft.com/office/drawing/2014/main" id="{E99A1EE7-E884-3CD5-7233-AA4FFC94024F}"/>
              </a:ext>
            </a:extLst>
          </p:cNvPr>
          <p:cNvSpPr txBox="1"/>
          <p:nvPr/>
        </p:nvSpPr>
        <p:spPr>
          <a:xfrm>
            <a:off x="1242060" y="1692910"/>
            <a:ext cx="877824" cy="1874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4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从小范围开始</a:t>
            </a:r>
          </a:p>
        </p:txBody>
      </p:sp>
      <p:sp>
        <p:nvSpPr>
          <p:cNvPr id="77" name="TextBox 7">
            <a:extLst>
              <a:ext uri="{FF2B5EF4-FFF2-40B4-BE49-F238E27FC236}">
                <a16:creationId xmlns:a16="http://schemas.microsoft.com/office/drawing/2014/main" id="{A6C5B2C4-6567-A25B-40A4-78FBBA9F5791}"/>
              </a:ext>
            </a:extLst>
          </p:cNvPr>
          <p:cNvSpPr txBox="1"/>
          <p:nvPr/>
        </p:nvSpPr>
        <p:spPr>
          <a:xfrm>
            <a:off x="1242060" y="1883410"/>
            <a:ext cx="877824" cy="2636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65"/>
              </a:lnSpc>
              <a:spcBef>
                <a:spcPts val="240"/>
              </a:spcBef>
            </a:pPr>
            <a:r>
              <a:rPr lang="zh-CN" sz="162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试点验证</a:t>
            </a:r>
          </a:p>
        </p:txBody>
      </p:sp>
      <p:sp>
        <p:nvSpPr>
          <p:cNvPr id="79" name="TextBox 8">
            <a:extLst>
              <a:ext uri="{FF2B5EF4-FFF2-40B4-BE49-F238E27FC236}">
                <a16:creationId xmlns:a16="http://schemas.microsoft.com/office/drawing/2014/main" id="{EB331BE5-A73E-E158-2268-8F65E6EEF25E}"/>
              </a:ext>
            </a:extLst>
          </p:cNvPr>
          <p:cNvSpPr txBox="1"/>
          <p:nvPr/>
        </p:nvSpPr>
        <p:spPr>
          <a:xfrm>
            <a:off x="754380" y="2340610"/>
            <a:ext cx="229514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重点任务</a:t>
            </a:r>
          </a:p>
        </p:txBody>
      </p:sp>
      <p:sp>
        <p:nvSpPr>
          <p:cNvPr id="81" name="TextBox 9">
            <a:extLst>
              <a:ext uri="{FF2B5EF4-FFF2-40B4-BE49-F238E27FC236}">
                <a16:creationId xmlns:a16="http://schemas.microsoft.com/office/drawing/2014/main" id="{E53382AE-EC8B-39E6-83C1-3EE7EDE64966}"/>
              </a:ext>
            </a:extLst>
          </p:cNvPr>
          <p:cNvSpPr txBox="1"/>
          <p:nvPr/>
        </p:nvSpPr>
        <p:spPr>
          <a:xfrm>
            <a:off x="754380" y="2599690"/>
            <a:ext cx="2295144" cy="6446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30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选择少量部门与代表岗位；开展全员基础培养和纳米Work实践；搭建实训基础环境，启动ADEA试点班。</a:t>
            </a:r>
          </a:p>
        </p:txBody>
      </p:sp>
      <p:sp>
        <p:nvSpPr>
          <p:cNvPr id="83" name="TextBox 10">
            <a:extLst>
              <a:ext uri="{FF2B5EF4-FFF2-40B4-BE49-F238E27FC236}">
                <a16:creationId xmlns:a16="http://schemas.microsoft.com/office/drawing/2014/main" id="{A3DBD720-3888-CC12-5268-E2BE6EBC3775}"/>
              </a:ext>
            </a:extLst>
          </p:cNvPr>
          <p:cNvSpPr txBox="1"/>
          <p:nvPr/>
        </p:nvSpPr>
        <p:spPr>
          <a:xfrm>
            <a:off x="854710" y="3442970"/>
            <a:ext cx="208178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核心交付</a:t>
            </a:r>
          </a:p>
        </p:txBody>
      </p:sp>
      <p:sp>
        <p:nvSpPr>
          <p:cNvPr id="85" name="TextBox 11">
            <a:extLst>
              <a:ext uri="{FF2B5EF4-FFF2-40B4-BE49-F238E27FC236}">
                <a16:creationId xmlns:a16="http://schemas.microsoft.com/office/drawing/2014/main" id="{A9EABD07-A0E0-96F0-90DF-A9536C6914DF}"/>
              </a:ext>
            </a:extLst>
          </p:cNvPr>
          <p:cNvSpPr txBox="1"/>
          <p:nvPr/>
        </p:nvSpPr>
        <p:spPr>
          <a:xfrm>
            <a:off x="854710" y="3686810"/>
            <a:ext cx="208178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首批岗位案例 · ADEA助手 · 基础环境 · 支持流程 · 安全边界</a:t>
            </a:r>
          </a:p>
        </p:txBody>
      </p:sp>
      <p:sp>
        <p:nvSpPr>
          <p:cNvPr id="87" name="TextBox 12">
            <a:extLst>
              <a:ext uri="{FF2B5EF4-FFF2-40B4-BE49-F238E27FC236}">
                <a16:creationId xmlns:a16="http://schemas.microsoft.com/office/drawing/2014/main" id="{1DE2DA52-7909-05F4-F1B4-BCF64F60561E}"/>
              </a:ext>
            </a:extLst>
          </p:cNvPr>
          <p:cNvSpPr txBox="1"/>
          <p:nvPr/>
        </p:nvSpPr>
        <p:spPr>
          <a:xfrm>
            <a:off x="868680" y="4611370"/>
            <a:ext cx="20665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扩围门槛 G1</a:t>
            </a:r>
          </a:p>
        </p:txBody>
      </p:sp>
      <p:sp>
        <p:nvSpPr>
          <p:cNvPr id="89" name="TextBox 13">
            <a:extLst>
              <a:ext uri="{FF2B5EF4-FFF2-40B4-BE49-F238E27FC236}">
                <a16:creationId xmlns:a16="http://schemas.microsoft.com/office/drawing/2014/main" id="{94B4FFB1-2EAC-DCDA-4055-480DB2D3FD84}"/>
              </a:ext>
            </a:extLst>
          </p:cNvPr>
          <p:cNvSpPr txBox="1"/>
          <p:nvPr/>
        </p:nvSpPr>
        <p:spPr>
          <a:xfrm>
            <a:off x="868680" y="4847590"/>
            <a:ext cx="206654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240"/>
              </a:spcBef>
            </a:pPr>
            <a:r>
              <a:rPr lang="zh-CN" sz="108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完成率达标；案例真实可用；安全问题可控；支持流程跑通</a:t>
            </a:r>
          </a:p>
        </p:txBody>
      </p:sp>
      <p:sp>
        <p:nvSpPr>
          <p:cNvPr id="91" name="TextBox 14">
            <a:extLst>
              <a:ext uri="{FF2B5EF4-FFF2-40B4-BE49-F238E27FC236}">
                <a16:creationId xmlns:a16="http://schemas.microsoft.com/office/drawing/2014/main" id="{E1AC872F-CECE-98DF-8366-0F5CE4708757}"/>
              </a:ext>
            </a:extLst>
          </p:cNvPr>
          <p:cNvSpPr txBox="1"/>
          <p:nvPr/>
        </p:nvSpPr>
        <p:spPr>
          <a:xfrm>
            <a:off x="4061460" y="1692910"/>
            <a:ext cx="1152144" cy="1874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4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围绕价值场景扩展</a:t>
            </a:r>
          </a:p>
        </p:txBody>
      </p:sp>
      <p:sp>
        <p:nvSpPr>
          <p:cNvPr id="93" name="TextBox 15">
            <a:extLst>
              <a:ext uri="{FF2B5EF4-FFF2-40B4-BE49-F238E27FC236}">
                <a16:creationId xmlns:a16="http://schemas.microsoft.com/office/drawing/2014/main" id="{F2768B17-A8F3-EBC3-A3C6-BCECAC2AF291}"/>
              </a:ext>
            </a:extLst>
          </p:cNvPr>
          <p:cNvSpPr txBox="1"/>
          <p:nvPr/>
        </p:nvSpPr>
        <p:spPr>
          <a:xfrm>
            <a:off x="4061460" y="1883410"/>
            <a:ext cx="1152144" cy="2636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65"/>
              </a:lnSpc>
              <a:spcBef>
                <a:spcPts val="240"/>
              </a:spcBef>
            </a:pPr>
            <a:r>
              <a:rPr lang="zh-CN" sz="162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规模推进</a:t>
            </a:r>
          </a:p>
        </p:txBody>
      </p:sp>
      <p:sp>
        <p:nvSpPr>
          <p:cNvPr id="95" name="TextBox 16">
            <a:extLst>
              <a:ext uri="{FF2B5EF4-FFF2-40B4-BE49-F238E27FC236}">
                <a16:creationId xmlns:a16="http://schemas.microsoft.com/office/drawing/2014/main" id="{3B61CD5D-C14A-E372-7284-256DB7129440}"/>
              </a:ext>
            </a:extLst>
          </p:cNvPr>
          <p:cNvSpPr txBox="1"/>
          <p:nvPr/>
        </p:nvSpPr>
        <p:spPr>
          <a:xfrm>
            <a:off x="3573780" y="2340610"/>
            <a:ext cx="229514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重点任务</a:t>
            </a:r>
          </a:p>
        </p:txBody>
      </p:sp>
      <p:sp>
        <p:nvSpPr>
          <p:cNvPr id="97" name="TextBox 17">
            <a:extLst>
              <a:ext uri="{FF2B5EF4-FFF2-40B4-BE49-F238E27FC236}">
                <a16:creationId xmlns:a16="http://schemas.microsoft.com/office/drawing/2014/main" id="{F62BAB2B-62A4-8A73-AFFE-1287EF5D6057}"/>
              </a:ext>
            </a:extLst>
          </p:cNvPr>
          <p:cNvSpPr txBox="1"/>
          <p:nvPr/>
        </p:nvSpPr>
        <p:spPr>
          <a:xfrm>
            <a:off x="3573780" y="2599690"/>
            <a:ext cx="2295144" cy="6446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30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扩大部门覆盖；围绕高价值场景组织ADEP项目实训；建立案例评审、成果发布、人才档案和项目选人机制。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id="{36956E5A-7B0D-A47A-BC21-A7429A14A9A7}"/>
              </a:ext>
            </a:extLst>
          </p:cNvPr>
          <p:cNvSpPr txBox="1"/>
          <p:nvPr/>
        </p:nvSpPr>
        <p:spPr>
          <a:xfrm>
            <a:off x="3661410" y="3430270"/>
            <a:ext cx="208178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核心交付</a:t>
            </a:r>
          </a:p>
        </p:txBody>
      </p:sp>
      <p:sp>
        <p:nvSpPr>
          <p:cNvPr id="101" name="TextBox 19">
            <a:extLst>
              <a:ext uri="{FF2B5EF4-FFF2-40B4-BE49-F238E27FC236}">
                <a16:creationId xmlns:a16="http://schemas.microsoft.com/office/drawing/2014/main" id="{20B5E637-84DB-B813-82F2-40B8BD2F26CE}"/>
              </a:ext>
            </a:extLst>
          </p:cNvPr>
          <p:cNvSpPr txBox="1"/>
          <p:nvPr/>
        </p:nvSpPr>
        <p:spPr>
          <a:xfrm>
            <a:off x="3661410" y="3674110"/>
            <a:ext cx="208178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复杂应用 · 评测报告 · 资产目录 · 人才档案 · 项目组队机制</a:t>
            </a:r>
          </a:p>
        </p:txBody>
      </p:sp>
      <p:sp>
        <p:nvSpPr>
          <p:cNvPr id="103" name="TextBox 20">
            <a:extLst>
              <a:ext uri="{FF2B5EF4-FFF2-40B4-BE49-F238E27FC236}">
                <a16:creationId xmlns:a16="http://schemas.microsoft.com/office/drawing/2014/main" id="{01C46F01-14A0-25CF-6DBC-28C4AEF322E7}"/>
              </a:ext>
            </a:extLst>
          </p:cNvPr>
          <p:cNvSpPr txBox="1"/>
          <p:nvPr/>
        </p:nvSpPr>
        <p:spPr>
          <a:xfrm>
            <a:off x="3688080" y="4611370"/>
            <a:ext cx="20665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扩围门槛 G2</a:t>
            </a:r>
          </a:p>
        </p:txBody>
      </p:sp>
      <p:sp>
        <p:nvSpPr>
          <p:cNvPr id="105" name="TextBox 21">
            <a:extLst>
              <a:ext uri="{FF2B5EF4-FFF2-40B4-BE49-F238E27FC236}">
                <a16:creationId xmlns:a16="http://schemas.microsoft.com/office/drawing/2014/main" id="{3592EB3A-D3CB-2AD3-A62B-8E9FD1D02B55}"/>
              </a:ext>
            </a:extLst>
          </p:cNvPr>
          <p:cNvSpPr txBox="1"/>
          <p:nvPr/>
        </p:nvSpPr>
        <p:spPr>
          <a:xfrm>
            <a:off x="3688080" y="4847590"/>
            <a:ext cx="206654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240"/>
              </a:spcBef>
            </a:pPr>
            <a:r>
              <a:rPr lang="zh-CN" sz="108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项目测试通过；业务反馈明确；成果可复用；运营支持可承载</a:t>
            </a:r>
          </a:p>
        </p:txBody>
      </p:sp>
      <p:sp>
        <p:nvSpPr>
          <p:cNvPr id="107" name="TextBox 22">
            <a:extLst>
              <a:ext uri="{FF2B5EF4-FFF2-40B4-BE49-F238E27FC236}">
                <a16:creationId xmlns:a16="http://schemas.microsoft.com/office/drawing/2014/main" id="{3D03095D-AD1B-7DFA-572E-EAC995C9016A}"/>
              </a:ext>
            </a:extLst>
          </p:cNvPr>
          <p:cNvSpPr txBox="1"/>
          <p:nvPr/>
        </p:nvSpPr>
        <p:spPr>
          <a:xfrm>
            <a:off x="6873240" y="1692910"/>
            <a:ext cx="1014984" cy="1874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40"/>
              </a:lnSpc>
            </a:pPr>
            <a:r>
              <a:rPr lang="zh-CN" sz="108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补齐企业级机制</a:t>
            </a:r>
          </a:p>
        </p:txBody>
      </p:sp>
      <p:sp>
        <p:nvSpPr>
          <p:cNvPr id="109" name="TextBox 23">
            <a:extLst>
              <a:ext uri="{FF2B5EF4-FFF2-40B4-BE49-F238E27FC236}">
                <a16:creationId xmlns:a16="http://schemas.microsoft.com/office/drawing/2014/main" id="{6FE99117-42A5-5B2A-6EA6-BCB110BADF12}"/>
              </a:ext>
            </a:extLst>
          </p:cNvPr>
          <p:cNvSpPr txBox="1"/>
          <p:nvPr/>
        </p:nvSpPr>
        <p:spPr>
          <a:xfrm>
            <a:off x="6873240" y="1883410"/>
            <a:ext cx="1014984" cy="2636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65"/>
              </a:lnSpc>
              <a:spcBef>
                <a:spcPts val="240"/>
              </a:spcBef>
            </a:pPr>
            <a:r>
              <a:rPr lang="zh-CN" sz="162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体系完善</a:t>
            </a:r>
          </a:p>
        </p:txBody>
      </p:sp>
      <p:sp>
        <p:nvSpPr>
          <p:cNvPr id="111" name="TextBox 24">
            <a:extLst>
              <a:ext uri="{FF2B5EF4-FFF2-40B4-BE49-F238E27FC236}">
                <a16:creationId xmlns:a16="http://schemas.microsoft.com/office/drawing/2014/main" id="{47CDBDF3-1921-3E80-E204-A02785DFAC89}"/>
              </a:ext>
            </a:extLst>
          </p:cNvPr>
          <p:cNvSpPr txBox="1"/>
          <p:nvPr/>
        </p:nvSpPr>
        <p:spPr>
          <a:xfrm>
            <a:off x="6385560" y="2340610"/>
            <a:ext cx="229514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重点任务</a:t>
            </a:r>
          </a:p>
        </p:txBody>
      </p:sp>
      <p:sp>
        <p:nvSpPr>
          <p:cNvPr id="113" name="TextBox 25">
            <a:extLst>
              <a:ext uri="{FF2B5EF4-FFF2-40B4-BE49-F238E27FC236}">
                <a16:creationId xmlns:a16="http://schemas.microsoft.com/office/drawing/2014/main" id="{416BA6C0-B5DA-5735-A67E-551404CB4F78}"/>
              </a:ext>
            </a:extLst>
          </p:cNvPr>
          <p:cNvSpPr txBox="1"/>
          <p:nvPr/>
        </p:nvSpPr>
        <p:spPr>
          <a:xfrm>
            <a:off x="6385560" y="2599690"/>
            <a:ext cx="2295144" cy="6446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30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开展ADEE培养；完善总体架构、技术标准、安全治理、成本管理与跨部门运营，形成规模化约束。</a:t>
            </a:r>
          </a:p>
        </p:txBody>
      </p:sp>
      <p:sp>
        <p:nvSpPr>
          <p:cNvPr id="115" name="TextBox 26">
            <a:extLst>
              <a:ext uri="{FF2B5EF4-FFF2-40B4-BE49-F238E27FC236}">
                <a16:creationId xmlns:a16="http://schemas.microsoft.com/office/drawing/2014/main" id="{D041A35A-2533-1B67-BEF9-E30880D3E73A}"/>
              </a:ext>
            </a:extLst>
          </p:cNvPr>
          <p:cNvSpPr txBox="1"/>
          <p:nvPr/>
        </p:nvSpPr>
        <p:spPr>
          <a:xfrm>
            <a:off x="6473190" y="3411220"/>
            <a:ext cx="208178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核心交付</a:t>
            </a:r>
          </a:p>
        </p:txBody>
      </p:sp>
      <p:sp>
        <p:nvSpPr>
          <p:cNvPr id="117" name="TextBox 27">
            <a:extLst>
              <a:ext uri="{FF2B5EF4-FFF2-40B4-BE49-F238E27FC236}">
                <a16:creationId xmlns:a16="http://schemas.microsoft.com/office/drawing/2014/main" id="{CD568827-6564-F4CB-AC42-25D942E608D4}"/>
              </a:ext>
            </a:extLst>
          </p:cNvPr>
          <p:cNvSpPr txBox="1"/>
          <p:nvPr/>
        </p:nvSpPr>
        <p:spPr>
          <a:xfrm>
            <a:off x="6473190" y="3655060"/>
            <a:ext cx="208178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总体架构 · 技术标准 · 治理规范 · 成本策略 · 跨部门机制</a:t>
            </a:r>
          </a:p>
        </p:txBody>
      </p:sp>
      <p:sp>
        <p:nvSpPr>
          <p:cNvPr id="119" name="TextBox 28">
            <a:extLst>
              <a:ext uri="{FF2B5EF4-FFF2-40B4-BE49-F238E27FC236}">
                <a16:creationId xmlns:a16="http://schemas.microsoft.com/office/drawing/2014/main" id="{1C997996-1DF2-EC16-9B58-46F4DF8B9F66}"/>
              </a:ext>
            </a:extLst>
          </p:cNvPr>
          <p:cNvSpPr txBox="1"/>
          <p:nvPr/>
        </p:nvSpPr>
        <p:spPr>
          <a:xfrm>
            <a:off x="6499860" y="4611370"/>
            <a:ext cx="20665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运营门槛 G3</a:t>
            </a:r>
          </a:p>
        </p:txBody>
      </p:sp>
      <p:sp>
        <p:nvSpPr>
          <p:cNvPr id="121" name="TextBox 29">
            <a:extLst>
              <a:ext uri="{FF2B5EF4-FFF2-40B4-BE49-F238E27FC236}">
                <a16:creationId xmlns:a16="http://schemas.microsoft.com/office/drawing/2014/main" id="{58416534-C590-1E07-0132-903A8C9F97BD}"/>
              </a:ext>
            </a:extLst>
          </p:cNvPr>
          <p:cNvSpPr txBox="1"/>
          <p:nvPr/>
        </p:nvSpPr>
        <p:spPr>
          <a:xfrm>
            <a:off x="6499860" y="4847590"/>
            <a:ext cx="206654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240"/>
              </a:spcBef>
            </a:pPr>
            <a:r>
              <a:rPr lang="zh-CN" sz="108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标准落地；重大风险有决策机制；成本可观测；职责可持续</a:t>
            </a:r>
          </a:p>
        </p:txBody>
      </p:sp>
      <p:sp>
        <p:nvSpPr>
          <p:cNvPr id="123" name="TextBox 30">
            <a:extLst>
              <a:ext uri="{FF2B5EF4-FFF2-40B4-BE49-F238E27FC236}">
                <a16:creationId xmlns:a16="http://schemas.microsoft.com/office/drawing/2014/main" id="{5D806CAC-641E-CD75-A2B2-F686C58E6883}"/>
              </a:ext>
            </a:extLst>
          </p:cNvPr>
          <p:cNvSpPr txBox="1"/>
          <p:nvPr/>
        </p:nvSpPr>
        <p:spPr>
          <a:xfrm>
            <a:off x="9692640" y="1692910"/>
            <a:ext cx="1289304" cy="1874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24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人才与资产同步增长</a:t>
            </a:r>
          </a:p>
        </p:txBody>
      </p:sp>
      <p:sp>
        <p:nvSpPr>
          <p:cNvPr id="125" name="TextBox 31">
            <a:extLst>
              <a:ext uri="{FF2B5EF4-FFF2-40B4-BE49-F238E27FC236}">
                <a16:creationId xmlns:a16="http://schemas.microsoft.com/office/drawing/2014/main" id="{332AB66E-ED96-1659-F73E-66CC490B7C58}"/>
              </a:ext>
            </a:extLst>
          </p:cNvPr>
          <p:cNvSpPr txBox="1"/>
          <p:nvPr/>
        </p:nvSpPr>
        <p:spPr>
          <a:xfrm>
            <a:off x="9692640" y="1883410"/>
            <a:ext cx="1289304" cy="2636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865"/>
              </a:lnSpc>
              <a:spcBef>
                <a:spcPts val="240"/>
              </a:spcBef>
            </a:pPr>
            <a:r>
              <a:rPr lang="zh-CN" sz="1620" b="1" dirty="0">
                <a:solidFill>
                  <a:srgbClr val="075A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持续运营</a:t>
            </a:r>
          </a:p>
        </p:txBody>
      </p:sp>
      <p:sp>
        <p:nvSpPr>
          <p:cNvPr id="127" name="TextBox 32">
            <a:extLst>
              <a:ext uri="{FF2B5EF4-FFF2-40B4-BE49-F238E27FC236}">
                <a16:creationId xmlns:a16="http://schemas.microsoft.com/office/drawing/2014/main" id="{75CB1FBC-EAAA-9F0B-E384-3CB0F0D06AA6}"/>
              </a:ext>
            </a:extLst>
          </p:cNvPr>
          <p:cNvSpPr txBox="1"/>
          <p:nvPr/>
        </p:nvSpPr>
        <p:spPr>
          <a:xfrm>
            <a:off x="9204960" y="2340610"/>
            <a:ext cx="229514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重点任务</a:t>
            </a:r>
          </a:p>
        </p:txBody>
      </p:sp>
      <p:sp>
        <p:nvSpPr>
          <p:cNvPr id="129" name="TextBox 33">
            <a:extLst>
              <a:ext uri="{FF2B5EF4-FFF2-40B4-BE49-F238E27FC236}">
                <a16:creationId xmlns:a16="http://schemas.microsoft.com/office/drawing/2014/main" id="{5022A9DC-2BF7-E68C-302E-6F2830EFD497}"/>
              </a:ext>
            </a:extLst>
          </p:cNvPr>
          <p:cNvSpPr txBox="1"/>
          <p:nvPr/>
        </p:nvSpPr>
        <p:spPr>
          <a:xfrm>
            <a:off x="9204960" y="2599690"/>
            <a:ext cx="2295144" cy="6446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30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定期更新课程、项目、模型、资源与评价标准；运行导师机制、复训进阶、案例复用和年度复盘。</a:t>
            </a:r>
          </a:p>
        </p:txBody>
      </p:sp>
      <p:sp>
        <p:nvSpPr>
          <p:cNvPr id="131" name="TextBox 34">
            <a:extLst>
              <a:ext uri="{FF2B5EF4-FFF2-40B4-BE49-F238E27FC236}">
                <a16:creationId xmlns:a16="http://schemas.microsoft.com/office/drawing/2014/main" id="{E149E7EC-4D65-3A8E-0D16-9B1E8F1EB641}"/>
              </a:ext>
            </a:extLst>
          </p:cNvPr>
          <p:cNvSpPr txBox="1"/>
          <p:nvPr/>
        </p:nvSpPr>
        <p:spPr>
          <a:xfrm>
            <a:off x="9305290" y="3392170"/>
            <a:ext cx="2081784" cy="2484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10"/>
              </a:lnSpc>
            </a:pPr>
            <a:r>
              <a:rPr lang="zh-CN" sz="114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核心交付</a:t>
            </a:r>
          </a:p>
        </p:txBody>
      </p:sp>
      <p:sp>
        <p:nvSpPr>
          <p:cNvPr id="133" name="TextBox 35">
            <a:extLst>
              <a:ext uri="{FF2B5EF4-FFF2-40B4-BE49-F238E27FC236}">
                <a16:creationId xmlns:a16="http://schemas.microsoft.com/office/drawing/2014/main" id="{F1AF071B-CA89-B033-F38B-6F845E5924EF}"/>
              </a:ext>
            </a:extLst>
          </p:cNvPr>
          <p:cNvSpPr txBox="1"/>
          <p:nvPr/>
        </p:nvSpPr>
        <p:spPr>
          <a:xfrm>
            <a:off x="9305290" y="3636010"/>
            <a:ext cx="2081784" cy="408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2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年度运营报告 · 更新计划 · 进阶人才 · 复用资产 · 优化清单</a:t>
            </a:r>
          </a:p>
        </p:txBody>
      </p:sp>
      <p:sp>
        <p:nvSpPr>
          <p:cNvPr id="135" name="TextBox 36">
            <a:extLst>
              <a:ext uri="{FF2B5EF4-FFF2-40B4-BE49-F238E27FC236}">
                <a16:creationId xmlns:a16="http://schemas.microsoft.com/office/drawing/2014/main" id="{DD35DE2B-D156-6155-2E8A-0BEC4E637F8F}"/>
              </a:ext>
            </a:extLst>
          </p:cNvPr>
          <p:cNvSpPr txBox="1"/>
          <p:nvPr/>
        </p:nvSpPr>
        <p:spPr>
          <a:xfrm>
            <a:off x="9319260" y="4572000"/>
            <a:ext cx="20665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持续健康度</a:t>
            </a:r>
          </a:p>
        </p:txBody>
      </p:sp>
      <p:sp>
        <p:nvSpPr>
          <p:cNvPr id="137" name="TextBox 37">
            <a:extLst>
              <a:ext uri="{FF2B5EF4-FFF2-40B4-BE49-F238E27FC236}">
                <a16:creationId xmlns:a16="http://schemas.microsoft.com/office/drawing/2014/main" id="{BE1720D6-DB93-1989-42A2-65027BF1D069}"/>
              </a:ext>
            </a:extLst>
          </p:cNvPr>
          <p:cNvSpPr txBox="1"/>
          <p:nvPr/>
        </p:nvSpPr>
        <p:spPr>
          <a:xfrm>
            <a:off x="9319260" y="4827270"/>
            <a:ext cx="2066544" cy="6065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510"/>
              </a:lnSpc>
              <a:spcBef>
                <a:spcPts val="240"/>
              </a:spcBef>
            </a:pPr>
            <a:r>
              <a:rPr lang="zh-CN" sz="1080" b="1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业务采用、人才进阶、资产复用、风险事件与运营投入持续平衡</a:t>
            </a:r>
          </a:p>
        </p:txBody>
      </p:sp>
      <p:sp>
        <p:nvSpPr>
          <p:cNvPr id="139" name="TextBox 38">
            <a:extLst>
              <a:ext uri="{FF2B5EF4-FFF2-40B4-BE49-F238E27FC236}">
                <a16:creationId xmlns:a16="http://schemas.microsoft.com/office/drawing/2014/main" id="{694A5F4E-C06B-FCAE-AB50-D90655C19546}"/>
              </a:ext>
            </a:extLst>
          </p:cNvPr>
          <p:cNvSpPr txBox="1"/>
          <p:nvPr/>
        </p:nvSpPr>
        <p:spPr>
          <a:xfrm>
            <a:off x="769620" y="5708650"/>
            <a:ext cx="156362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980"/>
              </a:lnSpc>
            </a:pPr>
            <a:r>
              <a:rPr lang="zh-CN" sz="132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扩围决策看六类证据</a:t>
            </a:r>
          </a:p>
        </p:txBody>
      </p:sp>
      <p:sp>
        <p:nvSpPr>
          <p:cNvPr id="141" name="TextBox 39">
            <a:extLst>
              <a:ext uri="{FF2B5EF4-FFF2-40B4-BE49-F238E27FC236}">
                <a16:creationId xmlns:a16="http://schemas.microsoft.com/office/drawing/2014/main" id="{4C015EC6-F668-5783-5BB6-44761BAB12B5}"/>
              </a:ext>
            </a:extLst>
          </p:cNvPr>
          <p:cNvSpPr txBox="1"/>
          <p:nvPr/>
        </p:nvSpPr>
        <p:spPr>
          <a:xfrm>
            <a:off x="7406640" y="5716270"/>
            <a:ext cx="406298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980"/>
              </a:lnSpc>
            </a:pPr>
            <a:r>
              <a:rPr lang="zh-CN" sz="132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未达到门槛时：先纠偏，再扩围</a:t>
            </a:r>
          </a:p>
        </p:txBody>
      </p:sp>
      <p:sp>
        <p:nvSpPr>
          <p:cNvPr id="143" name="TextBox 40">
            <a:extLst>
              <a:ext uri="{FF2B5EF4-FFF2-40B4-BE49-F238E27FC236}">
                <a16:creationId xmlns:a16="http://schemas.microsoft.com/office/drawing/2014/main" id="{B1BB1CAA-38D0-B779-92BF-C14F4861E3C2}"/>
              </a:ext>
            </a:extLst>
          </p:cNvPr>
          <p:cNvSpPr txBox="1"/>
          <p:nvPr/>
        </p:nvSpPr>
        <p:spPr>
          <a:xfrm>
            <a:off x="7409617" y="6066790"/>
            <a:ext cx="1344192" cy="393192"/>
          </a:xfrm>
          <a:prstGeom prst="rect">
            <a:avLst/>
          </a:prstGeom>
          <a:noFill/>
        </p:spPr>
        <p:txBody>
          <a:bodyPr wrap="square" lIns="7620" tIns="7620" rIns="7620" bIns="762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补训关键人员</a:t>
            </a:r>
          </a:p>
        </p:txBody>
      </p:sp>
      <p:sp>
        <p:nvSpPr>
          <p:cNvPr id="145" name="TextBox 41">
            <a:extLst>
              <a:ext uri="{FF2B5EF4-FFF2-40B4-BE49-F238E27FC236}">
                <a16:creationId xmlns:a16="http://schemas.microsoft.com/office/drawing/2014/main" id="{24D5A237-A50F-8B52-6290-2A80DD21560E}"/>
              </a:ext>
            </a:extLst>
          </p:cNvPr>
          <p:cNvSpPr txBox="1"/>
          <p:nvPr/>
        </p:nvSpPr>
        <p:spPr>
          <a:xfrm>
            <a:off x="8767524" y="6066790"/>
            <a:ext cx="1344192" cy="393192"/>
          </a:xfrm>
          <a:prstGeom prst="rect">
            <a:avLst/>
          </a:prstGeom>
          <a:noFill/>
        </p:spPr>
        <p:txBody>
          <a:bodyPr wrap="square" lIns="7620" tIns="7620" rIns="7620" bIns="762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缩小场景边界</a:t>
            </a:r>
          </a:p>
        </p:txBody>
      </p:sp>
      <p:sp>
        <p:nvSpPr>
          <p:cNvPr id="147" name="TextBox 42">
            <a:extLst>
              <a:ext uri="{FF2B5EF4-FFF2-40B4-BE49-F238E27FC236}">
                <a16:creationId xmlns:a16="http://schemas.microsoft.com/office/drawing/2014/main" id="{9E553CCF-017F-C1C7-25EE-3707B8D9005B}"/>
              </a:ext>
            </a:extLst>
          </p:cNvPr>
          <p:cNvSpPr txBox="1"/>
          <p:nvPr/>
        </p:nvSpPr>
        <p:spPr>
          <a:xfrm>
            <a:off x="839629" y="1784350"/>
            <a:ext cx="280487" cy="2636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160"/>
              </a:lnSpc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49" name="TextBox 43">
            <a:extLst>
              <a:ext uri="{FF2B5EF4-FFF2-40B4-BE49-F238E27FC236}">
                <a16:creationId xmlns:a16="http://schemas.microsoft.com/office/drawing/2014/main" id="{BF75565A-3F5D-14AA-93A3-498FA3F7FCCE}"/>
              </a:ext>
            </a:extLst>
          </p:cNvPr>
          <p:cNvSpPr txBox="1"/>
          <p:nvPr/>
        </p:nvSpPr>
        <p:spPr>
          <a:xfrm>
            <a:off x="3162300" y="3172381"/>
            <a:ext cx="383134" cy="3837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790"/>
              </a:lnSpc>
            </a:pPr>
            <a:r>
              <a:rPr lang="en-US" sz="186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151" name="TextBox 44">
            <a:extLst>
              <a:ext uri="{FF2B5EF4-FFF2-40B4-BE49-F238E27FC236}">
                <a16:creationId xmlns:a16="http://schemas.microsoft.com/office/drawing/2014/main" id="{A6068040-9407-EE1B-5F27-09E3AE6266C6}"/>
              </a:ext>
            </a:extLst>
          </p:cNvPr>
          <p:cNvSpPr txBox="1"/>
          <p:nvPr/>
        </p:nvSpPr>
        <p:spPr>
          <a:xfrm>
            <a:off x="3143250" y="3557191"/>
            <a:ext cx="32918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295"/>
              </a:lnSpc>
              <a:spcBef>
                <a:spcPts val="480"/>
              </a:spcBef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</a:p>
        </p:txBody>
      </p:sp>
      <p:sp>
        <p:nvSpPr>
          <p:cNvPr id="153" name="TextBox 45">
            <a:extLst>
              <a:ext uri="{FF2B5EF4-FFF2-40B4-BE49-F238E27FC236}">
                <a16:creationId xmlns:a16="http://schemas.microsoft.com/office/drawing/2014/main" id="{69F92BEB-2C20-65CB-30E4-BE004C04F1A4}"/>
              </a:ext>
            </a:extLst>
          </p:cNvPr>
          <p:cNvSpPr txBox="1"/>
          <p:nvPr/>
        </p:nvSpPr>
        <p:spPr>
          <a:xfrm>
            <a:off x="3185636" y="3721735"/>
            <a:ext cx="244411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295"/>
              </a:lnSpc>
              <a:spcBef>
                <a:spcPts val="480"/>
              </a:spcBef>
            </a:pPr>
            <a:r>
              <a:rPr lang="en-US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G1</a:t>
            </a:r>
          </a:p>
        </p:txBody>
      </p:sp>
      <p:sp>
        <p:nvSpPr>
          <p:cNvPr id="155" name="TextBox 46">
            <a:extLst>
              <a:ext uri="{FF2B5EF4-FFF2-40B4-BE49-F238E27FC236}">
                <a16:creationId xmlns:a16="http://schemas.microsoft.com/office/drawing/2014/main" id="{ED0C3034-A7A0-AC58-2F51-E0EB793DEE70}"/>
              </a:ext>
            </a:extLst>
          </p:cNvPr>
          <p:cNvSpPr txBox="1"/>
          <p:nvPr/>
        </p:nvSpPr>
        <p:spPr>
          <a:xfrm>
            <a:off x="3655219" y="1784350"/>
            <a:ext cx="280487" cy="2636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160"/>
              </a:lnSpc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57" name="TextBox 47">
            <a:extLst>
              <a:ext uri="{FF2B5EF4-FFF2-40B4-BE49-F238E27FC236}">
                <a16:creationId xmlns:a16="http://schemas.microsoft.com/office/drawing/2014/main" id="{7EE74BA5-8137-76CE-6292-C3A4AF0BD872}"/>
              </a:ext>
            </a:extLst>
          </p:cNvPr>
          <p:cNvSpPr txBox="1"/>
          <p:nvPr/>
        </p:nvSpPr>
        <p:spPr>
          <a:xfrm>
            <a:off x="5977890" y="3172381"/>
            <a:ext cx="383134" cy="3837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790"/>
              </a:lnSpc>
            </a:pPr>
            <a:r>
              <a:rPr lang="en-US" sz="1860" b="1" dirty="0">
                <a:solidFill>
                  <a:srgbClr val="00A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159" name="TextBox 48">
            <a:extLst>
              <a:ext uri="{FF2B5EF4-FFF2-40B4-BE49-F238E27FC236}">
                <a16:creationId xmlns:a16="http://schemas.microsoft.com/office/drawing/2014/main" id="{E25BE1AB-ED57-52EE-8192-7FB6B18F4224}"/>
              </a:ext>
            </a:extLst>
          </p:cNvPr>
          <p:cNvSpPr txBox="1"/>
          <p:nvPr/>
        </p:nvSpPr>
        <p:spPr>
          <a:xfrm>
            <a:off x="5958840" y="3557191"/>
            <a:ext cx="32918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295"/>
              </a:lnSpc>
              <a:spcBef>
                <a:spcPts val="480"/>
              </a:spcBef>
            </a:pPr>
            <a:r>
              <a:rPr lang="zh-CN" sz="108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</a:p>
        </p:txBody>
      </p:sp>
      <p:sp>
        <p:nvSpPr>
          <p:cNvPr id="161" name="TextBox 49">
            <a:extLst>
              <a:ext uri="{FF2B5EF4-FFF2-40B4-BE49-F238E27FC236}">
                <a16:creationId xmlns:a16="http://schemas.microsoft.com/office/drawing/2014/main" id="{654B296F-9077-741A-E479-38DAC9286B50}"/>
              </a:ext>
            </a:extLst>
          </p:cNvPr>
          <p:cNvSpPr txBox="1"/>
          <p:nvPr/>
        </p:nvSpPr>
        <p:spPr>
          <a:xfrm>
            <a:off x="6001226" y="3721735"/>
            <a:ext cx="244411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295"/>
              </a:lnSpc>
              <a:spcBef>
                <a:spcPts val="480"/>
              </a:spcBef>
            </a:pPr>
            <a:r>
              <a:rPr lang="en-US" sz="1080" b="1" dirty="0">
                <a:solidFill>
                  <a:srgbClr val="028C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G2</a:t>
            </a:r>
          </a:p>
        </p:txBody>
      </p:sp>
      <p:sp>
        <p:nvSpPr>
          <p:cNvPr id="163" name="TextBox 50">
            <a:extLst>
              <a:ext uri="{FF2B5EF4-FFF2-40B4-BE49-F238E27FC236}">
                <a16:creationId xmlns:a16="http://schemas.microsoft.com/office/drawing/2014/main" id="{A97FDB05-252D-E034-9684-357BE9C9CD28}"/>
              </a:ext>
            </a:extLst>
          </p:cNvPr>
          <p:cNvSpPr txBox="1"/>
          <p:nvPr/>
        </p:nvSpPr>
        <p:spPr>
          <a:xfrm>
            <a:off x="6470809" y="1784350"/>
            <a:ext cx="280487" cy="2636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160"/>
              </a:lnSpc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65" name="TextBox 51">
            <a:extLst>
              <a:ext uri="{FF2B5EF4-FFF2-40B4-BE49-F238E27FC236}">
                <a16:creationId xmlns:a16="http://schemas.microsoft.com/office/drawing/2014/main" id="{0F43DF08-E087-92AE-328F-95CC623534C6}"/>
              </a:ext>
            </a:extLst>
          </p:cNvPr>
          <p:cNvSpPr txBox="1"/>
          <p:nvPr/>
        </p:nvSpPr>
        <p:spPr>
          <a:xfrm>
            <a:off x="8793480" y="3172381"/>
            <a:ext cx="383134" cy="3837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790"/>
              </a:lnSpc>
            </a:pPr>
            <a:r>
              <a:rPr lang="en-US" sz="186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167" name="TextBox 52">
            <a:extLst>
              <a:ext uri="{FF2B5EF4-FFF2-40B4-BE49-F238E27FC236}">
                <a16:creationId xmlns:a16="http://schemas.microsoft.com/office/drawing/2014/main" id="{97991049-9BA8-044A-C991-CD4776D45078}"/>
              </a:ext>
            </a:extLst>
          </p:cNvPr>
          <p:cNvSpPr txBox="1"/>
          <p:nvPr/>
        </p:nvSpPr>
        <p:spPr>
          <a:xfrm>
            <a:off x="8774430" y="3557191"/>
            <a:ext cx="32918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295"/>
              </a:lnSpc>
              <a:spcBef>
                <a:spcPts val="480"/>
              </a:spcBef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</a:p>
        </p:txBody>
      </p:sp>
      <p:sp>
        <p:nvSpPr>
          <p:cNvPr id="169" name="TextBox 53">
            <a:extLst>
              <a:ext uri="{FF2B5EF4-FFF2-40B4-BE49-F238E27FC236}">
                <a16:creationId xmlns:a16="http://schemas.microsoft.com/office/drawing/2014/main" id="{B1CDB852-D2B1-2E95-EE2E-01E304EA1F5A}"/>
              </a:ext>
            </a:extLst>
          </p:cNvPr>
          <p:cNvSpPr txBox="1"/>
          <p:nvPr/>
        </p:nvSpPr>
        <p:spPr>
          <a:xfrm>
            <a:off x="8816816" y="3721735"/>
            <a:ext cx="244411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295"/>
              </a:lnSpc>
              <a:spcBef>
                <a:spcPts val="480"/>
              </a:spcBef>
            </a:pPr>
            <a:r>
              <a:rPr lang="en-US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G3</a:t>
            </a:r>
          </a:p>
        </p:txBody>
      </p:sp>
      <p:sp>
        <p:nvSpPr>
          <p:cNvPr id="171" name="TextBox 54">
            <a:extLst>
              <a:ext uri="{FF2B5EF4-FFF2-40B4-BE49-F238E27FC236}">
                <a16:creationId xmlns:a16="http://schemas.microsoft.com/office/drawing/2014/main" id="{0DF4C7D2-01BA-7893-32F0-4E1BE7832240}"/>
              </a:ext>
            </a:extLst>
          </p:cNvPr>
          <p:cNvSpPr txBox="1"/>
          <p:nvPr/>
        </p:nvSpPr>
        <p:spPr>
          <a:xfrm>
            <a:off x="9286399" y="1784350"/>
            <a:ext cx="280487" cy="2636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160"/>
              </a:lnSpc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173" name="TextBox 55">
            <a:extLst>
              <a:ext uri="{FF2B5EF4-FFF2-40B4-BE49-F238E27FC236}">
                <a16:creationId xmlns:a16="http://schemas.microsoft.com/office/drawing/2014/main" id="{99F7067D-8340-9565-BD34-9906FED6447E}"/>
              </a:ext>
            </a:extLst>
          </p:cNvPr>
          <p:cNvSpPr txBox="1"/>
          <p:nvPr/>
        </p:nvSpPr>
        <p:spPr>
          <a:xfrm>
            <a:off x="4628317" y="5739130"/>
            <a:ext cx="280949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不以覆盖人数和上线数量作为唯一成绩</a:t>
            </a:r>
          </a:p>
        </p:txBody>
      </p:sp>
      <p:sp>
        <p:nvSpPr>
          <p:cNvPr id="175" name="TextBox 56">
            <a:extLst>
              <a:ext uri="{FF2B5EF4-FFF2-40B4-BE49-F238E27FC236}">
                <a16:creationId xmlns:a16="http://schemas.microsoft.com/office/drawing/2014/main" id="{C30BC66F-DA85-F53B-F45F-352B0BEF95CE}"/>
              </a:ext>
            </a:extLst>
          </p:cNvPr>
          <p:cNvSpPr txBox="1"/>
          <p:nvPr/>
        </p:nvSpPr>
        <p:spPr>
          <a:xfrm>
            <a:off x="917138" y="6135370"/>
            <a:ext cx="74066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人员完成率</a:t>
            </a:r>
          </a:p>
        </p:txBody>
      </p:sp>
      <p:sp>
        <p:nvSpPr>
          <p:cNvPr id="177" name="TextBox 57">
            <a:extLst>
              <a:ext uri="{FF2B5EF4-FFF2-40B4-BE49-F238E27FC236}">
                <a16:creationId xmlns:a16="http://schemas.microsoft.com/office/drawing/2014/main" id="{9128F71A-9F7C-8876-BC21-18DBACB006EF}"/>
              </a:ext>
            </a:extLst>
          </p:cNvPr>
          <p:cNvSpPr txBox="1"/>
          <p:nvPr/>
        </p:nvSpPr>
        <p:spPr>
          <a:xfrm>
            <a:off x="2027515" y="6135370"/>
            <a:ext cx="60350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案例质量</a:t>
            </a:r>
          </a:p>
        </p:txBody>
      </p:sp>
      <p:sp>
        <p:nvSpPr>
          <p:cNvPr id="179" name="TextBox 58">
            <a:extLst>
              <a:ext uri="{FF2B5EF4-FFF2-40B4-BE49-F238E27FC236}">
                <a16:creationId xmlns:a16="http://schemas.microsoft.com/office/drawing/2014/main" id="{30F045FD-0806-072D-8A84-6983B0D2ECAE}"/>
              </a:ext>
            </a:extLst>
          </p:cNvPr>
          <p:cNvSpPr txBox="1"/>
          <p:nvPr/>
        </p:nvSpPr>
        <p:spPr>
          <a:xfrm>
            <a:off x="3069431" y="6135370"/>
            <a:ext cx="60350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项目测试</a:t>
            </a:r>
          </a:p>
        </p:txBody>
      </p:sp>
      <p:sp>
        <p:nvSpPr>
          <p:cNvPr id="181" name="TextBox 59">
            <a:extLst>
              <a:ext uri="{FF2B5EF4-FFF2-40B4-BE49-F238E27FC236}">
                <a16:creationId xmlns:a16="http://schemas.microsoft.com/office/drawing/2014/main" id="{39C7F601-5E59-27B4-99AC-10C91A1234DC}"/>
              </a:ext>
            </a:extLst>
          </p:cNvPr>
          <p:cNvSpPr txBox="1"/>
          <p:nvPr/>
        </p:nvSpPr>
        <p:spPr>
          <a:xfrm>
            <a:off x="4111347" y="6135370"/>
            <a:ext cx="60350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业务反馈</a:t>
            </a:r>
          </a:p>
        </p:txBody>
      </p:sp>
      <p:sp>
        <p:nvSpPr>
          <p:cNvPr id="183" name="TextBox 60">
            <a:extLst>
              <a:ext uri="{FF2B5EF4-FFF2-40B4-BE49-F238E27FC236}">
                <a16:creationId xmlns:a16="http://schemas.microsoft.com/office/drawing/2014/main" id="{63A37A5D-B18D-B01E-8DAF-391DFA777C40}"/>
              </a:ext>
            </a:extLst>
          </p:cNvPr>
          <p:cNvSpPr txBox="1"/>
          <p:nvPr/>
        </p:nvSpPr>
        <p:spPr>
          <a:xfrm>
            <a:off x="5153263" y="6135370"/>
            <a:ext cx="60350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8F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安全问题</a:t>
            </a:r>
          </a:p>
        </p:txBody>
      </p:sp>
      <p:sp>
        <p:nvSpPr>
          <p:cNvPr id="185" name="TextBox 61">
            <a:extLst>
              <a:ext uri="{FF2B5EF4-FFF2-40B4-BE49-F238E27FC236}">
                <a16:creationId xmlns:a16="http://schemas.microsoft.com/office/drawing/2014/main" id="{673C8D4D-F236-6034-1CB0-C9A16B38C752}"/>
              </a:ext>
            </a:extLst>
          </p:cNvPr>
          <p:cNvSpPr txBox="1"/>
          <p:nvPr/>
        </p:nvSpPr>
        <p:spPr>
          <a:xfrm>
            <a:off x="6195179" y="6135370"/>
            <a:ext cx="60350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运营能力</a:t>
            </a:r>
          </a:p>
        </p:txBody>
      </p:sp>
      <p:sp>
        <p:nvSpPr>
          <p:cNvPr id="187" name="TextBox 62">
            <a:extLst>
              <a:ext uri="{FF2B5EF4-FFF2-40B4-BE49-F238E27FC236}">
                <a16:creationId xmlns:a16="http://schemas.microsoft.com/office/drawing/2014/main" id="{BC9EB7D1-3BF7-BFB7-DD37-EDE926C639CF}"/>
              </a:ext>
            </a:extLst>
          </p:cNvPr>
          <p:cNvSpPr txBox="1"/>
          <p:nvPr/>
        </p:nvSpPr>
        <p:spPr>
          <a:xfrm>
            <a:off x="10427137" y="6154420"/>
            <a:ext cx="74066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延长试运行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5046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C8DA1-F1FC-DB4A-3C07-DC62E2CF5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811072-6A72-DD79-96D1-4D44441F3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zh-CN" altLang="en-US" dirty="0"/>
              <a:t>项目交付成果、验收标准与方案优势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B402076-EBFB-02C2-A7F1-839F429D53DA}"/>
              </a:ext>
            </a:extLst>
          </p:cNvPr>
          <p:cNvSpPr/>
          <p:nvPr/>
        </p:nvSpPr>
        <p:spPr>
          <a:xfrm>
            <a:off x="508000" y="977314"/>
            <a:ext cx="10972800" cy="48768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87074C00-2C3A-076F-12A3-CC4F27C2C035}"/>
              </a:ext>
            </a:extLst>
          </p:cNvPr>
          <p:cNvSpPr/>
          <p:nvPr/>
        </p:nvSpPr>
        <p:spPr>
          <a:xfrm>
            <a:off x="698500" y="1057324"/>
            <a:ext cx="792480" cy="327660"/>
          </a:xfrm>
          <a:prstGeom prst="roundRect">
            <a:avLst>
              <a:gd name="adj" fmla="val 18605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4F0A765-346B-8C31-1080-05202EF5CB92}"/>
              </a:ext>
            </a:extLst>
          </p:cNvPr>
          <p:cNvSpPr/>
          <p:nvPr/>
        </p:nvSpPr>
        <p:spPr>
          <a:xfrm>
            <a:off x="508000" y="1571674"/>
            <a:ext cx="2651760" cy="2438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4C3C3F1-000A-DCEE-911D-FF6974628C21}"/>
              </a:ext>
            </a:extLst>
          </p:cNvPr>
          <p:cNvSpPr/>
          <p:nvPr/>
        </p:nvSpPr>
        <p:spPr>
          <a:xfrm>
            <a:off x="515620" y="1579294"/>
            <a:ext cx="2636520" cy="579120"/>
          </a:xfrm>
          <a:prstGeom prst="rect">
            <a:avLst/>
          </a:prstGeom>
          <a:solidFill>
            <a:srgbClr val="0721A8"/>
          </a:solidFill>
          <a:ln>
            <a:noFill/>
          </a:ln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8D22E89E-95BA-F8D0-C5BE-FB8EEDF3FF82}"/>
              </a:ext>
            </a:extLst>
          </p:cNvPr>
          <p:cNvSpPr/>
          <p:nvPr/>
        </p:nvSpPr>
        <p:spPr>
          <a:xfrm>
            <a:off x="622300" y="2504291"/>
            <a:ext cx="2423160" cy="208717"/>
          </a:xfrm>
          <a:prstGeom prst="roundRect">
            <a:avLst>
              <a:gd name="adj" fmla="val 29207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053635AC-FBF7-FADE-CC20-755E2E822EDA}"/>
              </a:ext>
            </a:extLst>
          </p:cNvPr>
          <p:cNvSpPr/>
          <p:nvPr/>
        </p:nvSpPr>
        <p:spPr>
          <a:xfrm>
            <a:off x="622300" y="2751107"/>
            <a:ext cx="2423160" cy="208717"/>
          </a:xfrm>
          <a:prstGeom prst="roundRect">
            <a:avLst>
              <a:gd name="adj" fmla="val 29207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D97FA727-CE9A-5B08-789E-61DC3D1F43E7}"/>
              </a:ext>
            </a:extLst>
          </p:cNvPr>
          <p:cNvSpPr/>
          <p:nvPr/>
        </p:nvSpPr>
        <p:spPr>
          <a:xfrm>
            <a:off x="622300" y="2997924"/>
            <a:ext cx="2423160" cy="208717"/>
          </a:xfrm>
          <a:prstGeom prst="roundRect">
            <a:avLst>
              <a:gd name="adj" fmla="val 29207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BC8C3093-B266-0586-8819-56A62CB65DEC}"/>
              </a:ext>
            </a:extLst>
          </p:cNvPr>
          <p:cNvSpPr/>
          <p:nvPr/>
        </p:nvSpPr>
        <p:spPr>
          <a:xfrm>
            <a:off x="622300" y="3244740"/>
            <a:ext cx="2423160" cy="208717"/>
          </a:xfrm>
          <a:prstGeom prst="roundRect">
            <a:avLst>
              <a:gd name="adj" fmla="val 29207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470D4553-9B8E-09B8-1C30-BDC6771AAED6}"/>
              </a:ext>
            </a:extLst>
          </p:cNvPr>
          <p:cNvSpPr/>
          <p:nvPr/>
        </p:nvSpPr>
        <p:spPr>
          <a:xfrm>
            <a:off x="3281680" y="1571674"/>
            <a:ext cx="2651760" cy="2438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BB000672-FCB9-8E9A-6850-917E1D95C6C3}"/>
              </a:ext>
            </a:extLst>
          </p:cNvPr>
          <p:cNvSpPr/>
          <p:nvPr/>
        </p:nvSpPr>
        <p:spPr>
          <a:xfrm>
            <a:off x="3289300" y="1579294"/>
            <a:ext cx="2636520" cy="579120"/>
          </a:xfrm>
          <a:prstGeom prst="rect">
            <a:avLst/>
          </a:prstGeom>
          <a:solidFill>
            <a:srgbClr val="0565FF"/>
          </a:solidFill>
          <a:ln>
            <a:noFill/>
          </a:ln>
        </p:spPr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EC848AD5-A232-F28F-0BC1-1649782E9ED6}"/>
              </a:ext>
            </a:extLst>
          </p:cNvPr>
          <p:cNvSpPr/>
          <p:nvPr/>
        </p:nvSpPr>
        <p:spPr>
          <a:xfrm>
            <a:off x="3395980" y="2504291"/>
            <a:ext cx="2423160" cy="208717"/>
          </a:xfrm>
          <a:prstGeom prst="roundRect">
            <a:avLst>
              <a:gd name="adj" fmla="val 29207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EDDA4AB6-CEF6-E11A-B3AC-B17F3F47DEA6}"/>
              </a:ext>
            </a:extLst>
          </p:cNvPr>
          <p:cNvSpPr/>
          <p:nvPr/>
        </p:nvSpPr>
        <p:spPr>
          <a:xfrm>
            <a:off x="3395980" y="2751107"/>
            <a:ext cx="2423160" cy="208717"/>
          </a:xfrm>
          <a:prstGeom prst="roundRect">
            <a:avLst>
              <a:gd name="adj" fmla="val 29207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48916051-F4E0-8D35-8DC7-42FD8E2DA12D}"/>
              </a:ext>
            </a:extLst>
          </p:cNvPr>
          <p:cNvSpPr/>
          <p:nvPr/>
        </p:nvSpPr>
        <p:spPr>
          <a:xfrm>
            <a:off x="3395980" y="2997924"/>
            <a:ext cx="2423160" cy="208717"/>
          </a:xfrm>
          <a:prstGeom prst="roundRect">
            <a:avLst>
              <a:gd name="adj" fmla="val 29207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300DE407-681C-8F11-56CA-DEB34580C26E}"/>
              </a:ext>
            </a:extLst>
          </p:cNvPr>
          <p:cNvSpPr/>
          <p:nvPr/>
        </p:nvSpPr>
        <p:spPr>
          <a:xfrm>
            <a:off x="3395980" y="3244740"/>
            <a:ext cx="2423160" cy="208717"/>
          </a:xfrm>
          <a:prstGeom prst="roundRect">
            <a:avLst>
              <a:gd name="adj" fmla="val 29207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AEB96AC3-7D74-E415-7BBF-F1A4C5627774}"/>
              </a:ext>
            </a:extLst>
          </p:cNvPr>
          <p:cNvSpPr/>
          <p:nvPr/>
        </p:nvSpPr>
        <p:spPr>
          <a:xfrm>
            <a:off x="6055360" y="1571674"/>
            <a:ext cx="2651760" cy="2438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B0673C8F-7342-49BB-AF61-51395CF15336}"/>
              </a:ext>
            </a:extLst>
          </p:cNvPr>
          <p:cNvSpPr/>
          <p:nvPr/>
        </p:nvSpPr>
        <p:spPr>
          <a:xfrm>
            <a:off x="6062980" y="1579294"/>
            <a:ext cx="2636520" cy="579120"/>
          </a:xfrm>
          <a:prstGeom prst="rect">
            <a:avLst/>
          </a:prstGeom>
          <a:solidFill>
            <a:srgbClr val="00A7FF"/>
          </a:solidFill>
          <a:ln>
            <a:noFill/>
          </a:ln>
        </p:spPr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85F6D480-98C9-F428-47D4-DD51C5C6669F}"/>
              </a:ext>
            </a:extLst>
          </p:cNvPr>
          <p:cNvSpPr/>
          <p:nvPr/>
        </p:nvSpPr>
        <p:spPr>
          <a:xfrm>
            <a:off x="6169660" y="2504291"/>
            <a:ext cx="2423160" cy="208717"/>
          </a:xfrm>
          <a:prstGeom prst="roundRect">
            <a:avLst>
              <a:gd name="adj" fmla="val 29207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38" name="Shape 21">
            <a:extLst>
              <a:ext uri="{FF2B5EF4-FFF2-40B4-BE49-F238E27FC236}">
                <a16:creationId xmlns:a16="http://schemas.microsoft.com/office/drawing/2014/main" id="{C14820B4-2837-3F15-DF2E-9D200A96AE1C}"/>
              </a:ext>
            </a:extLst>
          </p:cNvPr>
          <p:cNvSpPr/>
          <p:nvPr/>
        </p:nvSpPr>
        <p:spPr>
          <a:xfrm>
            <a:off x="6169660" y="2751107"/>
            <a:ext cx="2423160" cy="208717"/>
          </a:xfrm>
          <a:prstGeom prst="roundRect">
            <a:avLst>
              <a:gd name="adj" fmla="val 29207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8758E3F0-7C86-A290-8AE0-9FDAFA81AE07}"/>
              </a:ext>
            </a:extLst>
          </p:cNvPr>
          <p:cNvSpPr/>
          <p:nvPr/>
        </p:nvSpPr>
        <p:spPr>
          <a:xfrm>
            <a:off x="6169660" y="2997924"/>
            <a:ext cx="2423160" cy="208717"/>
          </a:xfrm>
          <a:prstGeom prst="roundRect">
            <a:avLst>
              <a:gd name="adj" fmla="val 29207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42" name="Shape 23">
            <a:extLst>
              <a:ext uri="{FF2B5EF4-FFF2-40B4-BE49-F238E27FC236}">
                <a16:creationId xmlns:a16="http://schemas.microsoft.com/office/drawing/2014/main" id="{598E15B7-263A-5A7B-005C-20478603E4E5}"/>
              </a:ext>
            </a:extLst>
          </p:cNvPr>
          <p:cNvSpPr/>
          <p:nvPr/>
        </p:nvSpPr>
        <p:spPr>
          <a:xfrm>
            <a:off x="6169660" y="3244740"/>
            <a:ext cx="2423160" cy="208717"/>
          </a:xfrm>
          <a:prstGeom prst="roundRect">
            <a:avLst>
              <a:gd name="adj" fmla="val 29207"/>
            </a:avLst>
          </a:prstGeom>
          <a:solidFill>
            <a:srgbClr val="ECF7FF"/>
          </a:solidFill>
          <a:ln>
            <a:noFill/>
          </a:ln>
        </p:spPr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CE1148AE-52BB-A22C-6EC0-0725361D479C}"/>
              </a:ext>
            </a:extLst>
          </p:cNvPr>
          <p:cNvSpPr/>
          <p:nvPr/>
        </p:nvSpPr>
        <p:spPr>
          <a:xfrm>
            <a:off x="8829040" y="1571674"/>
            <a:ext cx="2651760" cy="2438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BDE8DA"/>
            </a:solidFill>
            <a:prstDash val="solid"/>
          </a:ln>
        </p:spPr>
      </p:sp>
      <p:sp>
        <p:nvSpPr>
          <p:cNvPr id="46" name="Shape 25">
            <a:extLst>
              <a:ext uri="{FF2B5EF4-FFF2-40B4-BE49-F238E27FC236}">
                <a16:creationId xmlns:a16="http://schemas.microsoft.com/office/drawing/2014/main" id="{220BBB21-8C89-036F-2165-48D7BD32226E}"/>
              </a:ext>
            </a:extLst>
          </p:cNvPr>
          <p:cNvSpPr/>
          <p:nvPr/>
        </p:nvSpPr>
        <p:spPr>
          <a:xfrm>
            <a:off x="8836660" y="1579294"/>
            <a:ext cx="2636520" cy="579120"/>
          </a:xfrm>
          <a:prstGeom prst="rect">
            <a:avLst/>
          </a:prstGeom>
          <a:solidFill>
            <a:srgbClr val="00AB7A"/>
          </a:solidFill>
          <a:ln>
            <a:noFill/>
          </a:ln>
        </p:spPr>
      </p:sp>
      <p:sp>
        <p:nvSpPr>
          <p:cNvPr id="48" name="Shape 26">
            <a:extLst>
              <a:ext uri="{FF2B5EF4-FFF2-40B4-BE49-F238E27FC236}">
                <a16:creationId xmlns:a16="http://schemas.microsoft.com/office/drawing/2014/main" id="{E2403F4D-5B56-80DF-2762-D71B36C24409}"/>
              </a:ext>
            </a:extLst>
          </p:cNvPr>
          <p:cNvSpPr/>
          <p:nvPr/>
        </p:nvSpPr>
        <p:spPr>
          <a:xfrm>
            <a:off x="8943340" y="2504291"/>
            <a:ext cx="2423160" cy="208717"/>
          </a:xfrm>
          <a:prstGeom prst="roundRect">
            <a:avLst>
              <a:gd name="adj" fmla="val 29207"/>
            </a:avLst>
          </a:prstGeom>
          <a:solidFill>
            <a:srgbClr val="EAF8F3"/>
          </a:solidFill>
          <a:ln>
            <a:noFill/>
          </a:ln>
        </p:spPr>
      </p:sp>
      <p:sp>
        <p:nvSpPr>
          <p:cNvPr id="50" name="Shape 27">
            <a:extLst>
              <a:ext uri="{FF2B5EF4-FFF2-40B4-BE49-F238E27FC236}">
                <a16:creationId xmlns:a16="http://schemas.microsoft.com/office/drawing/2014/main" id="{B6E3285B-3206-65C6-A440-0EBC85FC104D}"/>
              </a:ext>
            </a:extLst>
          </p:cNvPr>
          <p:cNvSpPr/>
          <p:nvPr/>
        </p:nvSpPr>
        <p:spPr>
          <a:xfrm>
            <a:off x="8943340" y="2751107"/>
            <a:ext cx="2423160" cy="208717"/>
          </a:xfrm>
          <a:prstGeom prst="roundRect">
            <a:avLst>
              <a:gd name="adj" fmla="val 29207"/>
            </a:avLst>
          </a:prstGeom>
          <a:solidFill>
            <a:srgbClr val="EAF8F3"/>
          </a:solidFill>
          <a:ln>
            <a:noFill/>
          </a:ln>
        </p:spPr>
      </p:sp>
      <p:sp>
        <p:nvSpPr>
          <p:cNvPr id="52" name="Shape 28">
            <a:extLst>
              <a:ext uri="{FF2B5EF4-FFF2-40B4-BE49-F238E27FC236}">
                <a16:creationId xmlns:a16="http://schemas.microsoft.com/office/drawing/2014/main" id="{AB9E29BE-CB96-4663-E189-ADC0A63CE3A6}"/>
              </a:ext>
            </a:extLst>
          </p:cNvPr>
          <p:cNvSpPr/>
          <p:nvPr/>
        </p:nvSpPr>
        <p:spPr>
          <a:xfrm>
            <a:off x="8943340" y="2997924"/>
            <a:ext cx="2423160" cy="208717"/>
          </a:xfrm>
          <a:prstGeom prst="roundRect">
            <a:avLst>
              <a:gd name="adj" fmla="val 29207"/>
            </a:avLst>
          </a:prstGeom>
          <a:solidFill>
            <a:srgbClr val="EAF8F3"/>
          </a:solidFill>
          <a:ln>
            <a:noFill/>
          </a:ln>
        </p:spPr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284B9FFE-4720-214D-8372-92F0EE5F3D6F}"/>
              </a:ext>
            </a:extLst>
          </p:cNvPr>
          <p:cNvSpPr/>
          <p:nvPr/>
        </p:nvSpPr>
        <p:spPr>
          <a:xfrm>
            <a:off x="8943340" y="3244740"/>
            <a:ext cx="2423160" cy="208717"/>
          </a:xfrm>
          <a:prstGeom prst="roundRect">
            <a:avLst>
              <a:gd name="adj" fmla="val 29207"/>
            </a:avLst>
          </a:prstGeom>
          <a:solidFill>
            <a:srgbClr val="EAF8F3"/>
          </a:solidFill>
          <a:ln>
            <a:noFill/>
          </a:ln>
        </p:spPr>
      </p:sp>
      <p:sp>
        <p:nvSpPr>
          <p:cNvPr id="56" name="Shape 30">
            <a:extLst>
              <a:ext uri="{FF2B5EF4-FFF2-40B4-BE49-F238E27FC236}">
                <a16:creationId xmlns:a16="http://schemas.microsoft.com/office/drawing/2014/main" id="{376531D6-AD4E-6330-3CDB-59FA318826E6}"/>
              </a:ext>
            </a:extLst>
          </p:cNvPr>
          <p:cNvSpPr/>
          <p:nvPr/>
        </p:nvSpPr>
        <p:spPr>
          <a:xfrm>
            <a:off x="508000" y="4101514"/>
            <a:ext cx="10972800" cy="487680"/>
          </a:xfrm>
          <a:prstGeom prst="roundRect">
            <a:avLst>
              <a:gd name="adj" fmla="val 28125"/>
            </a:avLst>
          </a:prstGeom>
          <a:solidFill>
            <a:srgbClr val="F8FC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58" name="Shape 31">
            <a:extLst>
              <a:ext uri="{FF2B5EF4-FFF2-40B4-BE49-F238E27FC236}">
                <a16:creationId xmlns:a16="http://schemas.microsoft.com/office/drawing/2014/main" id="{EAAD743C-2C70-121D-4FE3-196243D15AF4}"/>
              </a:ext>
            </a:extLst>
          </p:cNvPr>
          <p:cNvSpPr/>
          <p:nvPr/>
        </p:nvSpPr>
        <p:spPr>
          <a:xfrm>
            <a:off x="2024380" y="4181524"/>
            <a:ext cx="1473160" cy="327660"/>
          </a:xfrm>
          <a:prstGeom prst="roundRect">
            <a:avLst>
              <a:gd name="adj" fmla="val 18605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60" name="Shape 32">
            <a:extLst>
              <a:ext uri="{FF2B5EF4-FFF2-40B4-BE49-F238E27FC236}">
                <a16:creationId xmlns:a16="http://schemas.microsoft.com/office/drawing/2014/main" id="{7A4D34B8-EFA8-E900-08B0-9CC4301A58DA}"/>
              </a:ext>
            </a:extLst>
          </p:cNvPr>
          <p:cNvSpPr/>
          <p:nvPr/>
        </p:nvSpPr>
        <p:spPr>
          <a:xfrm>
            <a:off x="3588980" y="4181524"/>
            <a:ext cx="1473160" cy="327660"/>
          </a:xfrm>
          <a:prstGeom prst="roundRect">
            <a:avLst>
              <a:gd name="adj" fmla="val 18605"/>
            </a:avLst>
          </a:prstGeom>
          <a:solidFill>
            <a:srgbClr val="0565FF"/>
          </a:solidFill>
          <a:ln>
            <a:noFill/>
          </a:ln>
        </p:spPr>
      </p:sp>
      <p:sp>
        <p:nvSpPr>
          <p:cNvPr id="62" name="Shape 33">
            <a:extLst>
              <a:ext uri="{FF2B5EF4-FFF2-40B4-BE49-F238E27FC236}">
                <a16:creationId xmlns:a16="http://schemas.microsoft.com/office/drawing/2014/main" id="{D25C8C15-271F-624F-BD22-A14F3BDD9D55}"/>
              </a:ext>
            </a:extLst>
          </p:cNvPr>
          <p:cNvSpPr/>
          <p:nvPr/>
        </p:nvSpPr>
        <p:spPr>
          <a:xfrm>
            <a:off x="5153581" y="4181524"/>
            <a:ext cx="1473160" cy="327660"/>
          </a:xfrm>
          <a:prstGeom prst="roundRect">
            <a:avLst>
              <a:gd name="adj" fmla="val 18605"/>
            </a:avLst>
          </a:prstGeom>
          <a:solidFill>
            <a:srgbClr val="008DE0"/>
          </a:solidFill>
          <a:ln>
            <a:noFill/>
          </a:ln>
        </p:spPr>
      </p:sp>
      <p:sp>
        <p:nvSpPr>
          <p:cNvPr id="64" name="Shape 34">
            <a:extLst>
              <a:ext uri="{FF2B5EF4-FFF2-40B4-BE49-F238E27FC236}">
                <a16:creationId xmlns:a16="http://schemas.microsoft.com/office/drawing/2014/main" id="{88317BF1-136B-5DE0-032F-47C70241488E}"/>
              </a:ext>
            </a:extLst>
          </p:cNvPr>
          <p:cNvSpPr/>
          <p:nvPr/>
        </p:nvSpPr>
        <p:spPr>
          <a:xfrm>
            <a:off x="6718181" y="4181524"/>
            <a:ext cx="1473279" cy="327660"/>
          </a:xfrm>
          <a:prstGeom prst="roundRect">
            <a:avLst>
              <a:gd name="adj" fmla="val 18605"/>
            </a:avLst>
          </a:prstGeom>
          <a:solidFill>
            <a:srgbClr val="00A7FF"/>
          </a:solidFill>
          <a:ln>
            <a:noFill/>
          </a:ln>
        </p:spPr>
      </p:sp>
      <p:sp>
        <p:nvSpPr>
          <p:cNvPr id="66" name="Shape 35">
            <a:extLst>
              <a:ext uri="{FF2B5EF4-FFF2-40B4-BE49-F238E27FC236}">
                <a16:creationId xmlns:a16="http://schemas.microsoft.com/office/drawing/2014/main" id="{A2A4B02E-14CC-B0AC-B51B-5E0BCB888508}"/>
              </a:ext>
            </a:extLst>
          </p:cNvPr>
          <p:cNvSpPr/>
          <p:nvPr/>
        </p:nvSpPr>
        <p:spPr>
          <a:xfrm>
            <a:off x="8282900" y="4181524"/>
            <a:ext cx="1473160" cy="327660"/>
          </a:xfrm>
          <a:prstGeom prst="roundRect">
            <a:avLst>
              <a:gd name="adj" fmla="val 18605"/>
            </a:avLst>
          </a:prstGeom>
          <a:solidFill>
            <a:srgbClr val="009BAE"/>
          </a:solidFill>
          <a:ln>
            <a:noFill/>
          </a:ln>
        </p:spPr>
      </p:sp>
      <p:sp>
        <p:nvSpPr>
          <p:cNvPr id="68" name="Shape 36">
            <a:extLst>
              <a:ext uri="{FF2B5EF4-FFF2-40B4-BE49-F238E27FC236}">
                <a16:creationId xmlns:a16="http://schemas.microsoft.com/office/drawing/2014/main" id="{E5ECC1B9-1B88-0A8F-9F48-9B787CB8E233}"/>
              </a:ext>
            </a:extLst>
          </p:cNvPr>
          <p:cNvSpPr/>
          <p:nvPr/>
        </p:nvSpPr>
        <p:spPr>
          <a:xfrm>
            <a:off x="9847501" y="4181524"/>
            <a:ext cx="1473160" cy="327660"/>
          </a:xfrm>
          <a:prstGeom prst="roundRect">
            <a:avLst>
              <a:gd name="adj" fmla="val 18605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70" name="Shape 37">
            <a:extLst>
              <a:ext uri="{FF2B5EF4-FFF2-40B4-BE49-F238E27FC236}">
                <a16:creationId xmlns:a16="http://schemas.microsoft.com/office/drawing/2014/main" id="{37F5EB5B-7A92-0786-C26B-DD9962EDE38D}"/>
              </a:ext>
            </a:extLst>
          </p:cNvPr>
          <p:cNvSpPr/>
          <p:nvPr/>
        </p:nvSpPr>
        <p:spPr>
          <a:xfrm>
            <a:off x="508000" y="4680634"/>
            <a:ext cx="67818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84" name="Shape 44">
            <a:extLst>
              <a:ext uri="{FF2B5EF4-FFF2-40B4-BE49-F238E27FC236}">
                <a16:creationId xmlns:a16="http://schemas.microsoft.com/office/drawing/2014/main" id="{3C4927ED-C804-1D05-0454-657CABCDE7BF}"/>
              </a:ext>
            </a:extLst>
          </p:cNvPr>
          <p:cNvSpPr/>
          <p:nvPr/>
        </p:nvSpPr>
        <p:spPr>
          <a:xfrm>
            <a:off x="7411720" y="4680634"/>
            <a:ext cx="4069080" cy="1920240"/>
          </a:xfrm>
          <a:prstGeom prst="roundRect">
            <a:avLst>
              <a:gd name="adj" fmla="val 7143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86" name="Shape 45">
            <a:extLst>
              <a:ext uri="{FF2B5EF4-FFF2-40B4-BE49-F238E27FC236}">
                <a16:creationId xmlns:a16="http://schemas.microsoft.com/office/drawing/2014/main" id="{A7FDC644-2EA5-582C-FF07-A32C73BAD6B7}"/>
              </a:ext>
            </a:extLst>
          </p:cNvPr>
          <p:cNvSpPr/>
          <p:nvPr/>
        </p:nvSpPr>
        <p:spPr>
          <a:xfrm>
            <a:off x="7503160" y="5095924"/>
            <a:ext cx="3886200" cy="432673"/>
          </a:xfrm>
          <a:prstGeom prst="roundRect">
            <a:avLst>
              <a:gd name="adj" fmla="val 21134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88" name="Shape 46">
            <a:extLst>
              <a:ext uri="{FF2B5EF4-FFF2-40B4-BE49-F238E27FC236}">
                <a16:creationId xmlns:a16="http://schemas.microsoft.com/office/drawing/2014/main" id="{CB953810-D3D5-996C-C75E-74AED7618D06}"/>
              </a:ext>
            </a:extLst>
          </p:cNvPr>
          <p:cNvSpPr/>
          <p:nvPr/>
        </p:nvSpPr>
        <p:spPr>
          <a:xfrm>
            <a:off x="7503160" y="5574317"/>
            <a:ext cx="3886200" cy="432673"/>
          </a:xfrm>
          <a:prstGeom prst="roundRect">
            <a:avLst>
              <a:gd name="adj" fmla="val 21134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90" name="TextBox 5">
            <a:extLst>
              <a:ext uri="{FF2B5EF4-FFF2-40B4-BE49-F238E27FC236}">
                <a16:creationId xmlns:a16="http://schemas.microsoft.com/office/drawing/2014/main" id="{B2338532-E9FB-6566-ECDF-0180BA4262D1}"/>
              </a:ext>
            </a:extLst>
          </p:cNvPr>
          <p:cNvSpPr txBox="1"/>
          <p:nvPr/>
        </p:nvSpPr>
        <p:spPr>
          <a:xfrm>
            <a:off x="1643380" y="1083994"/>
            <a:ext cx="837590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05"/>
              </a:lnSpc>
            </a:pPr>
            <a:r>
              <a:rPr lang="zh-CN" sz="156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不只验收“开了多少账号、上了多少课程”，而要验证</a:t>
            </a:r>
            <a:r>
              <a:rPr lang="zh-CN" sz="156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人员、项目、资产与机制</a:t>
            </a:r>
            <a:r>
              <a:rPr lang="zh-CN" sz="156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是否真实形成。</a:t>
            </a:r>
          </a:p>
        </p:txBody>
      </p:sp>
      <p:sp>
        <p:nvSpPr>
          <p:cNvPr id="92" name="TextBox 6">
            <a:extLst>
              <a:ext uri="{FF2B5EF4-FFF2-40B4-BE49-F238E27FC236}">
                <a16:creationId xmlns:a16="http://schemas.microsoft.com/office/drawing/2014/main" id="{04EEFB0D-B4BE-DF0B-226D-6FAB5A7C7DD7}"/>
              </a:ext>
            </a:extLst>
          </p:cNvPr>
          <p:cNvSpPr txBox="1"/>
          <p:nvPr/>
        </p:nvSpPr>
        <p:spPr>
          <a:xfrm>
            <a:off x="637540" y="1609774"/>
            <a:ext cx="119786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DELIVERABLE 01</a:t>
            </a:r>
          </a:p>
        </p:txBody>
      </p:sp>
      <p:sp>
        <p:nvSpPr>
          <p:cNvPr id="94" name="TextBox 7">
            <a:extLst>
              <a:ext uri="{FF2B5EF4-FFF2-40B4-BE49-F238E27FC236}">
                <a16:creationId xmlns:a16="http://schemas.microsoft.com/office/drawing/2014/main" id="{45DB17AB-87CA-21E6-12EA-690BD232A782}"/>
              </a:ext>
            </a:extLst>
          </p:cNvPr>
          <p:cNvSpPr txBox="1"/>
          <p:nvPr/>
        </p:nvSpPr>
        <p:spPr>
          <a:xfrm>
            <a:off x="637540" y="1845994"/>
            <a:ext cx="119786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250"/>
              </a:lnSpc>
              <a:spcBef>
                <a:spcPts val="240"/>
              </a:spcBef>
            </a:pPr>
            <a:r>
              <a:rPr lang="zh-CN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人才成果</a:t>
            </a:r>
          </a:p>
        </p:txBody>
      </p:sp>
      <p:sp>
        <p:nvSpPr>
          <p:cNvPr id="96" name="TextBox 8">
            <a:extLst>
              <a:ext uri="{FF2B5EF4-FFF2-40B4-BE49-F238E27FC236}">
                <a16:creationId xmlns:a16="http://schemas.microsoft.com/office/drawing/2014/main" id="{558A44CD-245B-AEE4-26D2-91BA242559E1}"/>
              </a:ext>
            </a:extLst>
          </p:cNvPr>
          <p:cNvSpPr txBox="1"/>
          <p:nvPr/>
        </p:nvSpPr>
        <p:spPr>
          <a:xfrm>
            <a:off x="622300" y="2265094"/>
            <a:ext cx="247802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形成四层人才供给</a:t>
            </a:r>
          </a:p>
        </p:txBody>
      </p:sp>
      <p:sp>
        <p:nvSpPr>
          <p:cNvPr id="98" name="TextBox 9">
            <a:extLst>
              <a:ext uri="{FF2B5EF4-FFF2-40B4-BE49-F238E27FC236}">
                <a16:creationId xmlns:a16="http://schemas.microsoft.com/office/drawing/2014/main" id="{A6062E4B-5E6D-6B76-B814-99216A1A8104}"/>
              </a:ext>
            </a:extLst>
          </p:cNvPr>
          <p:cNvSpPr txBox="1"/>
          <p:nvPr/>
        </p:nvSpPr>
        <p:spPr>
          <a:xfrm>
            <a:off x="713740" y="2516554"/>
            <a:ext cx="2295144" cy="949452"/>
          </a:xfrm>
          <a:prstGeom prst="rect">
            <a:avLst/>
          </a:prstGeom>
          <a:noFill/>
        </p:spPr>
        <p:txBody>
          <a:bodyPr wrap="square" lIns="91440" tIns="15240" rIns="91440" bIns="15240" anchor="t">
            <a:normAutofit/>
          </a:bodyPr>
          <a:lstStyle/>
          <a:p>
            <a:pPr>
              <a:lnSpc>
                <a:spcPts val="18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全员应用人员清单</a:t>
            </a:r>
          </a:p>
          <a:p>
            <a:pPr>
              <a:lnSpc>
                <a:spcPts val="18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ADEA/ADEP/ADEE梯队</a:t>
            </a:r>
          </a:p>
          <a:p>
            <a:pPr>
              <a:lnSpc>
                <a:spcPts val="18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能力评价与认证结果</a:t>
            </a:r>
          </a:p>
          <a:p>
            <a:pPr>
              <a:lnSpc>
                <a:spcPts val="18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项目经历与人才画像</a:t>
            </a:r>
          </a:p>
        </p:txBody>
      </p:sp>
      <p:sp>
        <p:nvSpPr>
          <p:cNvPr id="100" name="TextBox 10">
            <a:extLst>
              <a:ext uri="{FF2B5EF4-FFF2-40B4-BE49-F238E27FC236}">
                <a16:creationId xmlns:a16="http://schemas.microsoft.com/office/drawing/2014/main" id="{3FEBDF65-A874-B53F-80AF-2AA682CF472A}"/>
              </a:ext>
            </a:extLst>
          </p:cNvPr>
          <p:cNvSpPr txBox="1"/>
          <p:nvPr/>
        </p:nvSpPr>
        <p:spPr>
          <a:xfrm>
            <a:off x="622300" y="3514774"/>
            <a:ext cx="247802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480"/>
              </a:spcBef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检查证据：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人员名单、作品、评分记录、证书及动态档案。</a:t>
            </a:r>
          </a:p>
        </p:txBody>
      </p:sp>
      <p:sp>
        <p:nvSpPr>
          <p:cNvPr id="102" name="TextBox 11">
            <a:extLst>
              <a:ext uri="{FF2B5EF4-FFF2-40B4-BE49-F238E27FC236}">
                <a16:creationId xmlns:a16="http://schemas.microsoft.com/office/drawing/2014/main" id="{80D245AF-AC26-4295-861E-05E7E66BD058}"/>
              </a:ext>
            </a:extLst>
          </p:cNvPr>
          <p:cNvSpPr txBox="1"/>
          <p:nvPr/>
        </p:nvSpPr>
        <p:spPr>
          <a:xfrm>
            <a:off x="3411220" y="1609774"/>
            <a:ext cx="119786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DELIVERABLE 02</a:t>
            </a:r>
          </a:p>
        </p:txBody>
      </p:sp>
      <p:sp>
        <p:nvSpPr>
          <p:cNvPr id="104" name="TextBox 12">
            <a:extLst>
              <a:ext uri="{FF2B5EF4-FFF2-40B4-BE49-F238E27FC236}">
                <a16:creationId xmlns:a16="http://schemas.microsoft.com/office/drawing/2014/main" id="{C5898791-F76F-DE1F-E154-F6058347C03A}"/>
              </a:ext>
            </a:extLst>
          </p:cNvPr>
          <p:cNvSpPr txBox="1"/>
          <p:nvPr/>
        </p:nvSpPr>
        <p:spPr>
          <a:xfrm>
            <a:off x="3411220" y="1845994"/>
            <a:ext cx="119786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250"/>
              </a:lnSpc>
              <a:spcBef>
                <a:spcPts val="240"/>
              </a:spcBef>
            </a:pPr>
            <a:r>
              <a:rPr lang="zh-CN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课程资源成果</a:t>
            </a:r>
          </a:p>
        </p:txBody>
      </p:sp>
      <p:sp>
        <p:nvSpPr>
          <p:cNvPr id="106" name="TextBox 13">
            <a:extLst>
              <a:ext uri="{FF2B5EF4-FFF2-40B4-BE49-F238E27FC236}">
                <a16:creationId xmlns:a16="http://schemas.microsoft.com/office/drawing/2014/main" id="{985AAD72-E730-75D6-1CEE-5782AAA90DD2}"/>
              </a:ext>
            </a:extLst>
          </p:cNvPr>
          <p:cNvSpPr txBox="1"/>
          <p:nvPr/>
        </p:nvSpPr>
        <p:spPr>
          <a:xfrm>
            <a:off x="3395980" y="2265094"/>
            <a:ext cx="247802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形成持续复用的资源底座</a:t>
            </a:r>
          </a:p>
        </p:txBody>
      </p:sp>
      <p:sp>
        <p:nvSpPr>
          <p:cNvPr id="108" name="TextBox 14">
            <a:extLst>
              <a:ext uri="{FF2B5EF4-FFF2-40B4-BE49-F238E27FC236}">
                <a16:creationId xmlns:a16="http://schemas.microsoft.com/office/drawing/2014/main" id="{30E1AAC0-A9A9-C603-1725-EC36F62D167B}"/>
              </a:ext>
            </a:extLst>
          </p:cNvPr>
          <p:cNvSpPr txBox="1"/>
          <p:nvPr/>
        </p:nvSpPr>
        <p:spPr>
          <a:xfrm>
            <a:off x="3487420" y="2516554"/>
            <a:ext cx="2295144" cy="949452"/>
          </a:xfrm>
          <a:prstGeom prst="rect">
            <a:avLst/>
          </a:prstGeom>
          <a:noFill/>
        </p:spPr>
        <p:txBody>
          <a:bodyPr wrap="square" lIns="91440" tIns="15240" rIns="91440" bIns="15240" anchor="t">
            <a:normAutofit/>
          </a:bodyPr>
          <a:lstStyle/>
          <a:p>
            <a:pPr>
              <a:lnSpc>
                <a:spcPts val="18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分层课程与实验</a:t>
            </a:r>
          </a:p>
          <a:p>
            <a:pPr>
              <a:lnSpc>
                <a:spcPts val="18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场景库与项目库</a:t>
            </a:r>
          </a:p>
          <a:p>
            <a:pPr>
              <a:lnSpc>
                <a:spcPts val="18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测试集与评价量规</a:t>
            </a:r>
          </a:p>
          <a:p>
            <a:pPr>
              <a:lnSpc>
                <a:spcPts val="18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案例、模板与交付文档</a:t>
            </a:r>
          </a:p>
        </p:txBody>
      </p:sp>
      <p:sp>
        <p:nvSpPr>
          <p:cNvPr id="110" name="TextBox 15">
            <a:extLst>
              <a:ext uri="{FF2B5EF4-FFF2-40B4-BE49-F238E27FC236}">
                <a16:creationId xmlns:a16="http://schemas.microsoft.com/office/drawing/2014/main" id="{D216C172-7C8B-474D-4BAB-0CCB6E676EE3}"/>
              </a:ext>
            </a:extLst>
          </p:cNvPr>
          <p:cNvSpPr txBox="1"/>
          <p:nvPr/>
        </p:nvSpPr>
        <p:spPr>
          <a:xfrm>
            <a:off x="3395980" y="3514774"/>
            <a:ext cx="247802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480"/>
              </a:spcBef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检查证据：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资源目录、授权范围、版本记录、更新与归档状态。</a:t>
            </a:r>
          </a:p>
        </p:txBody>
      </p:sp>
      <p:sp>
        <p:nvSpPr>
          <p:cNvPr id="112" name="TextBox 16">
            <a:extLst>
              <a:ext uri="{FF2B5EF4-FFF2-40B4-BE49-F238E27FC236}">
                <a16:creationId xmlns:a16="http://schemas.microsoft.com/office/drawing/2014/main" id="{DA8163FD-9861-90FC-CADC-E2C8BA5661A4}"/>
              </a:ext>
            </a:extLst>
          </p:cNvPr>
          <p:cNvSpPr txBox="1"/>
          <p:nvPr/>
        </p:nvSpPr>
        <p:spPr>
          <a:xfrm>
            <a:off x="6184900" y="1609774"/>
            <a:ext cx="119786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DELIVERABLE 03</a:t>
            </a:r>
          </a:p>
        </p:txBody>
      </p:sp>
      <p:sp>
        <p:nvSpPr>
          <p:cNvPr id="114" name="TextBox 17">
            <a:extLst>
              <a:ext uri="{FF2B5EF4-FFF2-40B4-BE49-F238E27FC236}">
                <a16:creationId xmlns:a16="http://schemas.microsoft.com/office/drawing/2014/main" id="{3E1477D2-69E1-F965-A49A-17D41C5BA47E}"/>
              </a:ext>
            </a:extLst>
          </p:cNvPr>
          <p:cNvSpPr txBox="1"/>
          <p:nvPr/>
        </p:nvSpPr>
        <p:spPr>
          <a:xfrm>
            <a:off x="6184900" y="1845994"/>
            <a:ext cx="119786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250"/>
              </a:lnSpc>
              <a:spcBef>
                <a:spcPts val="240"/>
              </a:spcBef>
            </a:pPr>
            <a:r>
              <a:rPr lang="zh-CN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业务应用成果</a:t>
            </a:r>
          </a:p>
        </p:txBody>
      </p:sp>
      <p:sp>
        <p:nvSpPr>
          <p:cNvPr id="116" name="TextBox 18">
            <a:extLst>
              <a:ext uri="{FF2B5EF4-FFF2-40B4-BE49-F238E27FC236}">
                <a16:creationId xmlns:a16="http://schemas.microsoft.com/office/drawing/2014/main" id="{080BE69E-A6EB-EB64-45F8-5C45BC05F14D}"/>
              </a:ext>
            </a:extLst>
          </p:cNvPr>
          <p:cNvSpPr txBox="1"/>
          <p:nvPr/>
        </p:nvSpPr>
        <p:spPr>
          <a:xfrm>
            <a:off x="6169660" y="2265094"/>
            <a:ext cx="247802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</a:pPr>
            <a:r>
              <a:rPr 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形成可运行、可验证的成果</a:t>
            </a:r>
          </a:p>
        </p:txBody>
      </p:sp>
      <p:sp>
        <p:nvSpPr>
          <p:cNvPr id="118" name="TextBox 19">
            <a:extLst>
              <a:ext uri="{FF2B5EF4-FFF2-40B4-BE49-F238E27FC236}">
                <a16:creationId xmlns:a16="http://schemas.microsoft.com/office/drawing/2014/main" id="{BDE6698C-04C2-E056-5E98-9DB3CA61C734}"/>
              </a:ext>
            </a:extLst>
          </p:cNvPr>
          <p:cNvSpPr txBox="1"/>
          <p:nvPr/>
        </p:nvSpPr>
        <p:spPr>
          <a:xfrm>
            <a:off x="6261100" y="2516554"/>
            <a:ext cx="2295144" cy="949452"/>
          </a:xfrm>
          <a:prstGeom prst="rect">
            <a:avLst/>
          </a:prstGeom>
          <a:noFill/>
        </p:spPr>
        <p:txBody>
          <a:bodyPr wrap="square" lIns="91440" tIns="15240" rIns="91440" bIns="15240" anchor="t">
            <a:normAutofit/>
          </a:bodyPr>
          <a:lstStyle/>
          <a:p>
            <a:pPr>
              <a:lnSpc>
                <a:spcPts val="18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岗位提效案例</a:t>
            </a:r>
          </a:p>
          <a:p>
            <a:pPr>
              <a:lnSpc>
                <a:spcPts val="18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可运行单场景助手</a:t>
            </a:r>
          </a:p>
          <a:p>
            <a:pPr>
              <a:lnSpc>
                <a:spcPts val="18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复杂应用与评测报告</a:t>
            </a:r>
          </a:p>
          <a:p>
            <a:pPr>
              <a:lnSpc>
                <a:spcPts val="18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总体架构与治理方案</a:t>
            </a:r>
          </a:p>
        </p:txBody>
      </p:sp>
      <p:sp>
        <p:nvSpPr>
          <p:cNvPr id="120" name="TextBox 20">
            <a:extLst>
              <a:ext uri="{FF2B5EF4-FFF2-40B4-BE49-F238E27FC236}">
                <a16:creationId xmlns:a16="http://schemas.microsoft.com/office/drawing/2014/main" id="{29A945C3-6BC9-3AA3-3497-2E60BCE9E12A}"/>
              </a:ext>
            </a:extLst>
          </p:cNvPr>
          <p:cNvSpPr txBox="1"/>
          <p:nvPr/>
        </p:nvSpPr>
        <p:spPr>
          <a:xfrm>
            <a:off x="6169660" y="3514774"/>
            <a:ext cx="247802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480"/>
              </a:spcBef>
            </a:pPr>
            <a:r>
              <a:rPr lang="zh-CN" sz="10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检查证据：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运行结果、测试记录、业务验收、部署与交付材料。</a:t>
            </a:r>
          </a:p>
        </p:txBody>
      </p:sp>
      <p:sp>
        <p:nvSpPr>
          <p:cNvPr id="122" name="TextBox 21">
            <a:extLst>
              <a:ext uri="{FF2B5EF4-FFF2-40B4-BE49-F238E27FC236}">
                <a16:creationId xmlns:a16="http://schemas.microsoft.com/office/drawing/2014/main" id="{E3D5F5FC-82C9-0D9E-01C2-BB70865DF39B}"/>
              </a:ext>
            </a:extLst>
          </p:cNvPr>
          <p:cNvSpPr txBox="1"/>
          <p:nvPr/>
        </p:nvSpPr>
        <p:spPr>
          <a:xfrm>
            <a:off x="8958580" y="1609774"/>
            <a:ext cx="119786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DELIVERABLE 04</a:t>
            </a:r>
          </a:p>
        </p:txBody>
      </p:sp>
      <p:sp>
        <p:nvSpPr>
          <p:cNvPr id="124" name="TextBox 22">
            <a:extLst>
              <a:ext uri="{FF2B5EF4-FFF2-40B4-BE49-F238E27FC236}">
                <a16:creationId xmlns:a16="http://schemas.microsoft.com/office/drawing/2014/main" id="{18A2CB00-1ED7-CB34-A734-D1D67A0C7357}"/>
              </a:ext>
            </a:extLst>
          </p:cNvPr>
          <p:cNvSpPr txBox="1"/>
          <p:nvPr/>
        </p:nvSpPr>
        <p:spPr>
          <a:xfrm>
            <a:off x="8958580" y="1845994"/>
            <a:ext cx="119786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250"/>
              </a:lnSpc>
              <a:spcBef>
                <a:spcPts val="240"/>
              </a:spcBef>
            </a:pPr>
            <a:r>
              <a:rPr lang="zh-CN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组织机制成果</a:t>
            </a:r>
          </a:p>
        </p:txBody>
      </p:sp>
      <p:sp>
        <p:nvSpPr>
          <p:cNvPr id="126" name="TextBox 23">
            <a:extLst>
              <a:ext uri="{FF2B5EF4-FFF2-40B4-BE49-F238E27FC236}">
                <a16:creationId xmlns:a16="http://schemas.microsoft.com/office/drawing/2014/main" id="{2718D1ED-9385-D482-2CFD-055C70F296C4}"/>
              </a:ext>
            </a:extLst>
          </p:cNvPr>
          <p:cNvSpPr txBox="1"/>
          <p:nvPr/>
        </p:nvSpPr>
        <p:spPr>
          <a:xfrm>
            <a:off x="8943340" y="2265094"/>
            <a:ext cx="2478024" cy="2026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</a:pPr>
            <a:r>
              <a:rPr lang="zh-CN" sz="1080" b="1" dirty="0">
                <a:solidFill>
                  <a:srgbClr val="008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形成可持续运行的组织机制</a:t>
            </a:r>
          </a:p>
        </p:txBody>
      </p:sp>
      <p:sp>
        <p:nvSpPr>
          <p:cNvPr id="128" name="TextBox 24">
            <a:extLst>
              <a:ext uri="{FF2B5EF4-FFF2-40B4-BE49-F238E27FC236}">
                <a16:creationId xmlns:a16="http://schemas.microsoft.com/office/drawing/2014/main" id="{6E45AA83-3285-EA1C-75D2-F7EFE22E832F}"/>
              </a:ext>
            </a:extLst>
          </p:cNvPr>
          <p:cNvSpPr txBox="1"/>
          <p:nvPr/>
        </p:nvSpPr>
        <p:spPr>
          <a:xfrm>
            <a:off x="9034780" y="2516554"/>
            <a:ext cx="2295144" cy="949452"/>
          </a:xfrm>
          <a:prstGeom prst="rect">
            <a:avLst/>
          </a:prstGeom>
          <a:noFill/>
        </p:spPr>
        <p:txBody>
          <a:bodyPr wrap="square" lIns="91440" tIns="15240" rIns="91440" bIns="15240" anchor="t">
            <a:normAutofit/>
          </a:bodyPr>
          <a:lstStyle/>
          <a:p>
            <a:pPr>
              <a:lnSpc>
                <a:spcPts val="18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导师与评审人队伍</a:t>
            </a:r>
          </a:p>
          <a:p>
            <a:pPr>
              <a:lnSpc>
                <a:spcPts val="18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项目选人与角色匹配</a:t>
            </a:r>
          </a:p>
          <a:p>
            <a:pPr>
              <a:lnSpc>
                <a:spcPts val="18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资产发布与安全审查</a:t>
            </a:r>
          </a:p>
          <a:p>
            <a:pPr>
              <a:lnSpc>
                <a:spcPts val="1810"/>
              </a:lnSpc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复训更新与年度运营</a:t>
            </a:r>
          </a:p>
        </p:txBody>
      </p:sp>
      <p:sp>
        <p:nvSpPr>
          <p:cNvPr id="130" name="TextBox 25">
            <a:extLst>
              <a:ext uri="{FF2B5EF4-FFF2-40B4-BE49-F238E27FC236}">
                <a16:creationId xmlns:a16="http://schemas.microsoft.com/office/drawing/2014/main" id="{C1EFF063-9BC2-9761-02FC-814593936294}"/>
              </a:ext>
            </a:extLst>
          </p:cNvPr>
          <p:cNvSpPr txBox="1"/>
          <p:nvPr/>
        </p:nvSpPr>
        <p:spPr>
          <a:xfrm>
            <a:off x="8943340" y="3514774"/>
            <a:ext cx="247802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480"/>
              </a:spcBef>
            </a:pPr>
            <a:r>
              <a:rPr lang="zh-CN" sz="1080" b="1" dirty="0">
                <a:solidFill>
                  <a:srgbClr val="007A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检查证据：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责任人、流程规范、评审记录、运营台账与复盘计划。</a:t>
            </a:r>
          </a:p>
        </p:txBody>
      </p:sp>
      <p:sp>
        <p:nvSpPr>
          <p:cNvPr id="132" name="TextBox 26">
            <a:extLst>
              <a:ext uri="{FF2B5EF4-FFF2-40B4-BE49-F238E27FC236}">
                <a16:creationId xmlns:a16="http://schemas.microsoft.com/office/drawing/2014/main" id="{8BDA4092-CEC4-C99A-AF55-4B03F16CB06C}"/>
              </a:ext>
            </a:extLst>
          </p:cNvPr>
          <p:cNvSpPr txBox="1"/>
          <p:nvPr/>
        </p:nvSpPr>
        <p:spPr>
          <a:xfrm>
            <a:off x="668020" y="4383454"/>
            <a:ext cx="11521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  <a:spcBef>
                <a:spcPts val="240"/>
              </a:spcBef>
            </a:pPr>
            <a:r>
              <a:rPr lang="zh-CN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平台可用只是起点</a:t>
            </a:r>
          </a:p>
        </p:txBody>
      </p:sp>
      <p:sp>
        <p:nvSpPr>
          <p:cNvPr id="134" name="TextBox 27">
            <a:extLst>
              <a:ext uri="{FF2B5EF4-FFF2-40B4-BE49-F238E27FC236}">
                <a16:creationId xmlns:a16="http://schemas.microsoft.com/office/drawing/2014/main" id="{AFCE28A5-E6B6-44DD-6C84-2F42A28C2F3A}"/>
              </a:ext>
            </a:extLst>
          </p:cNvPr>
          <p:cNvSpPr txBox="1"/>
          <p:nvPr/>
        </p:nvSpPr>
        <p:spPr>
          <a:xfrm>
            <a:off x="698500" y="4788838"/>
            <a:ext cx="110642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zh-CN" sz="13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六项方案优势</a:t>
            </a:r>
          </a:p>
        </p:txBody>
      </p:sp>
      <p:sp>
        <p:nvSpPr>
          <p:cNvPr id="136" name="TextBox 28">
            <a:extLst>
              <a:ext uri="{FF2B5EF4-FFF2-40B4-BE49-F238E27FC236}">
                <a16:creationId xmlns:a16="http://schemas.microsoft.com/office/drawing/2014/main" id="{FE596E39-F185-F5D4-73EC-1AFBD9088BC6}"/>
              </a:ext>
            </a:extLst>
          </p:cNvPr>
          <p:cNvSpPr txBox="1"/>
          <p:nvPr/>
        </p:nvSpPr>
        <p:spPr>
          <a:xfrm>
            <a:off x="7503160" y="4772074"/>
            <a:ext cx="394106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zh-CN" sz="13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按时间区分验收与效果</a:t>
            </a:r>
          </a:p>
        </p:txBody>
      </p:sp>
      <p:sp>
        <p:nvSpPr>
          <p:cNvPr id="138" name="TextBox 29">
            <a:extLst>
              <a:ext uri="{FF2B5EF4-FFF2-40B4-BE49-F238E27FC236}">
                <a16:creationId xmlns:a16="http://schemas.microsoft.com/office/drawing/2014/main" id="{4811E842-5B5B-C5F3-C622-114A6619EBA8}"/>
              </a:ext>
            </a:extLst>
          </p:cNvPr>
          <p:cNvSpPr txBox="1"/>
          <p:nvPr/>
        </p:nvSpPr>
        <p:spPr>
          <a:xfrm>
            <a:off x="7503160" y="6067474"/>
            <a:ext cx="3941064" cy="3855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  <a:spcBef>
                <a:spcPts val="480"/>
              </a:spcBef>
            </a:pPr>
            <a:r>
              <a:rPr lang="zh-CN" sz="10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长期指标设置阶段基线、责任人和复盘周期，不把短期培训数据夸大为长期价值。</a:t>
            </a:r>
          </a:p>
        </p:txBody>
      </p:sp>
      <p:sp>
        <p:nvSpPr>
          <p:cNvPr id="140" name="TextBox 30">
            <a:extLst>
              <a:ext uri="{FF2B5EF4-FFF2-40B4-BE49-F238E27FC236}">
                <a16:creationId xmlns:a16="http://schemas.microsoft.com/office/drawing/2014/main" id="{B11360F5-5B11-FDF6-515A-A4F6AB3B21BE}"/>
              </a:ext>
            </a:extLst>
          </p:cNvPr>
          <p:cNvSpPr txBox="1"/>
          <p:nvPr/>
        </p:nvSpPr>
        <p:spPr>
          <a:xfrm>
            <a:off x="820420" y="1122094"/>
            <a:ext cx="60350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验收结论</a:t>
            </a:r>
          </a:p>
        </p:txBody>
      </p:sp>
      <p:sp>
        <p:nvSpPr>
          <p:cNvPr id="142" name="TextBox 31">
            <a:extLst>
              <a:ext uri="{FF2B5EF4-FFF2-40B4-BE49-F238E27FC236}">
                <a16:creationId xmlns:a16="http://schemas.microsoft.com/office/drawing/2014/main" id="{A988AC4E-017F-1DF6-157E-997529B26C72}"/>
              </a:ext>
            </a:extLst>
          </p:cNvPr>
          <p:cNvSpPr txBox="1"/>
          <p:nvPr/>
        </p:nvSpPr>
        <p:spPr>
          <a:xfrm>
            <a:off x="2744470" y="1729789"/>
            <a:ext cx="260604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430"/>
              </a:lnSpc>
            </a:pPr>
            <a:r>
              <a:rPr lang="zh-CN" sz="16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</a:p>
        </p:txBody>
      </p:sp>
      <p:sp>
        <p:nvSpPr>
          <p:cNvPr id="144" name="TextBox 32">
            <a:extLst>
              <a:ext uri="{FF2B5EF4-FFF2-40B4-BE49-F238E27FC236}">
                <a16:creationId xmlns:a16="http://schemas.microsoft.com/office/drawing/2014/main" id="{FF3CEABF-CB0E-31F2-ED36-B6EF3F6CB476}"/>
              </a:ext>
            </a:extLst>
          </p:cNvPr>
          <p:cNvSpPr txBox="1"/>
          <p:nvPr/>
        </p:nvSpPr>
        <p:spPr>
          <a:xfrm>
            <a:off x="5518150" y="1729789"/>
            <a:ext cx="260604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430"/>
              </a:lnSpc>
            </a:pPr>
            <a:r>
              <a:rPr lang="zh-CN" sz="16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</a:t>
            </a:r>
          </a:p>
        </p:txBody>
      </p:sp>
      <p:sp>
        <p:nvSpPr>
          <p:cNvPr id="146" name="TextBox 33">
            <a:extLst>
              <a:ext uri="{FF2B5EF4-FFF2-40B4-BE49-F238E27FC236}">
                <a16:creationId xmlns:a16="http://schemas.microsoft.com/office/drawing/2014/main" id="{E5D365B9-7FD9-0EFE-9C64-D3E0CBA40E25}"/>
              </a:ext>
            </a:extLst>
          </p:cNvPr>
          <p:cNvSpPr txBox="1"/>
          <p:nvPr/>
        </p:nvSpPr>
        <p:spPr>
          <a:xfrm>
            <a:off x="8291830" y="1729789"/>
            <a:ext cx="260604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430"/>
              </a:lnSpc>
            </a:pPr>
            <a:r>
              <a:rPr lang="zh-CN" sz="16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</a:p>
        </p:txBody>
      </p:sp>
      <p:sp>
        <p:nvSpPr>
          <p:cNvPr id="148" name="TextBox 34">
            <a:extLst>
              <a:ext uri="{FF2B5EF4-FFF2-40B4-BE49-F238E27FC236}">
                <a16:creationId xmlns:a16="http://schemas.microsoft.com/office/drawing/2014/main" id="{18AC913E-4E6D-0903-4E81-A7FC59CC9320}"/>
              </a:ext>
            </a:extLst>
          </p:cNvPr>
          <p:cNvSpPr txBox="1"/>
          <p:nvPr/>
        </p:nvSpPr>
        <p:spPr>
          <a:xfrm>
            <a:off x="11065510" y="1729789"/>
            <a:ext cx="260604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430"/>
              </a:lnSpc>
            </a:pPr>
            <a:r>
              <a:rPr lang="zh-CN" sz="16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</a:t>
            </a:r>
          </a:p>
        </p:txBody>
      </p:sp>
      <p:sp>
        <p:nvSpPr>
          <p:cNvPr id="150" name="TextBox 35">
            <a:extLst>
              <a:ext uri="{FF2B5EF4-FFF2-40B4-BE49-F238E27FC236}">
                <a16:creationId xmlns:a16="http://schemas.microsoft.com/office/drawing/2014/main" id="{BC704035-49D5-2048-20BD-1874AAC228FC}"/>
              </a:ext>
            </a:extLst>
          </p:cNvPr>
          <p:cNvSpPr txBox="1"/>
          <p:nvPr/>
        </p:nvSpPr>
        <p:spPr>
          <a:xfrm>
            <a:off x="668020" y="4101514"/>
            <a:ext cx="1152144" cy="2788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980"/>
              </a:lnSpc>
            </a:pPr>
            <a:r>
              <a:rPr lang="zh-CN" sz="132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闭环验收</a:t>
            </a:r>
          </a:p>
        </p:txBody>
      </p:sp>
      <p:sp>
        <p:nvSpPr>
          <p:cNvPr id="152" name="TextBox 36">
            <a:extLst>
              <a:ext uri="{FF2B5EF4-FFF2-40B4-BE49-F238E27FC236}">
                <a16:creationId xmlns:a16="http://schemas.microsoft.com/office/drawing/2014/main" id="{253F35A0-D17B-AC42-DBC5-C0B40C52C645}"/>
              </a:ext>
            </a:extLst>
          </p:cNvPr>
          <p:cNvSpPr txBox="1"/>
          <p:nvPr/>
        </p:nvSpPr>
        <p:spPr>
          <a:xfrm>
            <a:off x="2115820" y="4246294"/>
            <a:ext cx="13426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学习有记录</a:t>
            </a:r>
          </a:p>
        </p:txBody>
      </p:sp>
      <p:sp>
        <p:nvSpPr>
          <p:cNvPr id="154" name="TextBox 37">
            <a:extLst>
              <a:ext uri="{FF2B5EF4-FFF2-40B4-BE49-F238E27FC236}">
                <a16:creationId xmlns:a16="http://schemas.microsoft.com/office/drawing/2014/main" id="{F1F26ADA-7D98-7958-BC2F-B7EBE4FC6180}"/>
              </a:ext>
            </a:extLst>
          </p:cNvPr>
          <p:cNvSpPr txBox="1"/>
          <p:nvPr/>
        </p:nvSpPr>
        <p:spPr>
          <a:xfrm>
            <a:off x="3677920" y="4246294"/>
            <a:ext cx="13426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实践有作品</a:t>
            </a:r>
          </a:p>
        </p:txBody>
      </p:sp>
      <p:sp>
        <p:nvSpPr>
          <p:cNvPr id="156" name="TextBox 38">
            <a:extLst>
              <a:ext uri="{FF2B5EF4-FFF2-40B4-BE49-F238E27FC236}">
                <a16:creationId xmlns:a16="http://schemas.microsoft.com/office/drawing/2014/main" id="{C6BA1D24-D81B-B1CB-B577-81196B6BDD56}"/>
              </a:ext>
            </a:extLst>
          </p:cNvPr>
          <p:cNvSpPr txBox="1"/>
          <p:nvPr/>
        </p:nvSpPr>
        <p:spPr>
          <a:xfrm>
            <a:off x="5247640" y="4246294"/>
            <a:ext cx="13426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测试有证据</a:t>
            </a:r>
          </a:p>
        </p:txBody>
      </p:sp>
      <p:sp>
        <p:nvSpPr>
          <p:cNvPr id="158" name="TextBox 39">
            <a:extLst>
              <a:ext uri="{FF2B5EF4-FFF2-40B4-BE49-F238E27FC236}">
                <a16:creationId xmlns:a16="http://schemas.microsoft.com/office/drawing/2014/main" id="{014FC1C5-64CB-E075-E695-0371F9896E4B}"/>
              </a:ext>
            </a:extLst>
          </p:cNvPr>
          <p:cNvSpPr txBox="1"/>
          <p:nvPr/>
        </p:nvSpPr>
        <p:spPr>
          <a:xfrm>
            <a:off x="6809740" y="4246294"/>
            <a:ext cx="13426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评价有标准</a:t>
            </a:r>
          </a:p>
        </p:txBody>
      </p:sp>
      <p:sp>
        <p:nvSpPr>
          <p:cNvPr id="160" name="TextBox 40">
            <a:extLst>
              <a:ext uri="{FF2B5EF4-FFF2-40B4-BE49-F238E27FC236}">
                <a16:creationId xmlns:a16="http://schemas.microsoft.com/office/drawing/2014/main" id="{1679FA11-FFA8-DF44-3976-81C8F3A6B2CC}"/>
              </a:ext>
            </a:extLst>
          </p:cNvPr>
          <p:cNvSpPr txBox="1"/>
          <p:nvPr/>
        </p:nvSpPr>
        <p:spPr>
          <a:xfrm>
            <a:off x="8371840" y="4246294"/>
            <a:ext cx="13426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发布有门槛</a:t>
            </a:r>
          </a:p>
        </p:txBody>
      </p:sp>
      <p:sp>
        <p:nvSpPr>
          <p:cNvPr id="162" name="TextBox 41">
            <a:extLst>
              <a:ext uri="{FF2B5EF4-FFF2-40B4-BE49-F238E27FC236}">
                <a16:creationId xmlns:a16="http://schemas.microsoft.com/office/drawing/2014/main" id="{612ABE9A-0F8D-295B-AEA8-29708A01056E}"/>
              </a:ext>
            </a:extLst>
          </p:cNvPr>
          <p:cNvSpPr txBox="1"/>
          <p:nvPr/>
        </p:nvSpPr>
        <p:spPr>
          <a:xfrm>
            <a:off x="9941560" y="4246294"/>
            <a:ext cx="134264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运营有责任</a:t>
            </a:r>
          </a:p>
        </p:txBody>
      </p:sp>
      <p:sp>
        <p:nvSpPr>
          <p:cNvPr id="166" name="TextBox 43">
            <a:extLst>
              <a:ext uri="{FF2B5EF4-FFF2-40B4-BE49-F238E27FC236}">
                <a16:creationId xmlns:a16="http://schemas.microsoft.com/office/drawing/2014/main" id="{24FB3F09-0796-CD08-5B66-7B174B7732BB}"/>
              </a:ext>
            </a:extLst>
          </p:cNvPr>
          <p:cNvSpPr txBox="1"/>
          <p:nvPr/>
        </p:nvSpPr>
        <p:spPr>
          <a:xfrm>
            <a:off x="7594600" y="5215463"/>
            <a:ext cx="916686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</a:pPr>
            <a:r>
              <a:rPr lang="zh-CN" sz="1080" b="1" dirty="0">
                <a:solidFill>
                  <a:srgbClr val="BFE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即时可检查</a:t>
            </a:r>
          </a:p>
        </p:txBody>
      </p:sp>
      <p:sp>
        <p:nvSpPr>
          <p:cNvPr id="168" name="TextBox 44">
            <a:extLst>
              <a:ext uri="{FF2B5EF4-FFF2-40B4-BE49-F238E27FC236}">
                <a16:creationId xmlns:a16="http://schemas.microsoft.com/office/drawing/2014/main" id="{DF908F60-BF8A-A85E-53AB-7F0FE11B24A0}"/>
              </a:ext>
            </a:extLst>
          </p:cNvPr>
          <p:cNvSpPr txBox="1"/>
          <p:nvPr/>
        </p:nvSpPr>
        <p:spPr>
          <a:xfrm>
            <a:off x="8699500" y="5126404"/>
            <a:ext cx="2967228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</a:pPr>
            <a:r>
              <a:rPr lang="zh-CN" sz="10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人员、课程、环境、作品、证据、机制是</a:t>
            </a:r>
          </a:p>
        </p:txBody>
      </p:sp>
      <p:sp>
        <p:nvSpPr>
          <p:cNvPr id="170" name="TextBox 45">
            <a:extLst>
              <a:ext uri="{FF2B5EF4-FFF2-40B4-BE49-F238E27FC236}">
                <a16:creationId xmlns:a16="http://schemas.microsoft.com/office/drawing/2014/main" id="{5C1D17E8-E02C-D113-588B-80C06436E3AB}"/>
              </a:ext>
            </a:extLst>
          </p:cNvPr>
          <p:cNvSpPr txBox="1"/>
          <p:nvPr/>
        </p:nvSpPr>
        <p:spPr>
          <a:xfrm>
            <a:off x="8699500" y="5304641"/>
            <a:ext cx="1232154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</a:pPr>
            <a:r>
              <a:rPr lang="zh-CN" sz="10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否交付并跑通。</a:t>
            </a:r>
          </a:p>
        </p:txBody>
      </p:sp>
      <p:sp>
        <p:nvSpPr>
          <p:cNvPr id="172" name="TextBox 46">
            <a:extLst>
              <a:ext uri="{FF2B5EF4-FFF2-40B4-BE49-F238E27FC236}">
                <a16:creationId xmlns:a16="http://schemas.microsoft.com/office/drawing/2014/main" id="{2F4AE53F-A228-E8CB-7378-F1AF9A00BF1F}"/>
              </a:ext>
            </a:extLst>
          </p:cNvPr>
          <p:cNvSpPr txBox="1"/>
          <p:nvPr/>
        </p:nvSpPr>
        <p:spPr>
          <a:xfrm>
            <a:off x="7594600" y="5604797"/>
            <a:ext cx="1242971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试运行 / 长期观</a:t>
            </a:r>
          </a:p>
        </p:txBody>
      </p:sp>
      <p:sp>
        <p:nvSpPr>
          <p:cNvPr id="174" name="TextBox 47">
            <a:extLst>
              <a:ext uri="{FF2B5EF4-FFF2-40B4-BE49-F238E27FC236}">
                <a16:creationId xmlns:a16="http://schemas.microsoft.com/office/drawing/2014/main" id="{5C6B584E-4628-95D3-2754-9AE477F5861C}"/>
              </a:ext>
            </a:extLst>
          </p:cNvPr>
          <p:cNvSpPr txBox="1"/>
          <p:nvPr/>
        </p:nvSpPr>
        <p:spPr>
          <a:xfrm>
            <a:off x="7594600" y="5783034"/>
            <a:ext cx="285750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察</a:t>
            </a:r>
          </a:p>
        </p:txBody>
      </p:sp>
      <p:sp>
        <p:nvSpPr>
          <p:cNvPr id="176" name="TextBox 48">
            <a:extLst>
              <a:ext uri="{FF2B5EF4-FFF2-40B4-BE49-F238E27FC236}">
                <a16:creationId xmlns:a16="http://schemas.microsoft.com/office/drawing/2014/main" id="{0F33DED8-AAA8-1CA5-97E5-0C5EC6D5285C}"/>
              </a:ext>
            </a:extLst>
          </p:cNvPr>
          <p:cNvSpPr txBox="1"/>
          <p:nvPr/>
        </p:nvSpPr>
        <p:spPr>
          <a:xfrm>
            <a:off x="8699500" y="5604797"/>
            <a:ext cx="2967228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</a:pPr>
            <a:r>
              <a:rPr lang="zh-CN" sz="10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效率提升、成果复用率、人才进阶、业务</a:t>
            </a:r>
          </a:p>
        </p:txBody>
      </p:sp>
      <p:sp>
        <p:nvSpPr>
          <p:cNvPr id="178" name="TextBox 49">
            <a:extLst>
              <a:ext uri="{FF2B5EF4-FFF2-40B4-BE49-F238E27FC236}">
                <a16:creationId xmlns:a16="http://schemas.microsoft.com/office/drawing/2014/main" id="{8A858AE2-A78E-888F-044F-7D966DB8CE11}"/>
              </a:ext>
            </a:extLst>
          </p:cNvPr>
          <p:cNvSpPr txBox="1"/>
          <p:nvPr/>
        </p:nvSpPr>
        <p:spPr>
          <a:xfrm>
            <a:off x="8699500" y="5783034"/>
            <a:ext cx="1389888" cy="24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405"/>
              </a:lnSpc>
            </a:pPr>
            <a:r>
              <a:rPr lang="zh-CN" sz="10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采用与投入产出。</a:t>
            </a:r>
          </a:p>
        </p:txBody>
      </p:sp>
      <p:grpSp>
        <p:nvGrpSpPr>
          <p:cNvPr id="183" name="组合 182">
            <a:extLst>
              <a:ext uri="{FF2B5EF4-FFF2-40B4-BE49-F238E27FC236}">
                <a16:creationId xmlns:a16="http://schemas.microsoft.com/office/drawing/2014/main" id="{37A22BE9-E0FE-F4FF-5C30-84CEFB1F1355}"/>
              </a:ext>
            </a:extLst>
          </p:cNvPr>
          <p:cNvGrpSpPr/>
          <p:nvPr/>
        </p:nvGrpSpPr>
        <p:grpSpPr>
          <a:xfrm>
            <a:off x="637540" y="5164504"/>
            <a:ext cx="6263446" cy="1142447"/>
            <a:chOff x="637540" y="5164504"/>
            <a:chExt cx="4332055" cy="1142447"/>
          </a:xfrm>
        </p:grpSpPr>
        <p:sp>
          <p:nvSpPr>
            <p:cNvPr id="72" name="Shape 38">
              <a:extLst>
                <a:ext uri="{FF2B5EF4-FFF2-40B4-BE49-F238E27FC236}">
                  <a16:creationId xmlns:a16="http://schemas.microsoft.com/office/drawing/2014/main" id="{D6479277-7818-15E0-3316-881DA59EBA38}"/>
                </a:ext>
              </a:extLst>
            </p:cNvPr>
            <p:cNvSpPr/>
            <p:nvPr/>
          </p:nvSpPr>
          <p:spPr>
            <a:xfrm>
              <a:off x="637540" y="5164504"/>
              <a:ext cx="2113240" cy="307062"/>
            </a:xfrm>
            <a:prstGeom prst="roundRect">
              <a:avLst>
                <a:gd name="adj" fmla="val 19853"/>
              </a:avLst>
            </a:prstGeom>
            <a:solidFill>
              <a:srgbClr val="ECF7FF"/>
            </a:solidFill>
            <a:ln>
              <a:noFill/>
            </a:ln>
          </p:spPr>
        </p:sp>
        <p:sp>
          <p:nvSpPr>
            <p:cNvPr id="74" name="Shape 39">
              <a:extLst>
                <a:ext uri="{FF2B5EF4-FFF2-40B4-BE49-F238E27FC236}">
                  <a16:creationId xmlns:a16="http://schemas.microsoft.com/office/drawing/2014/main" id="{C4CC9E5D-8735-4318-F6F2-4FD8E82E6342}"/>
                </a:ext>
              </a:extLst>
            </p:cNvPr>
            <p:cNvSpPr/>
            <p:nvPr/>
          </p:nvSpPr>
          <p:spPr>
            <a:xfrm>
              <a:off x="2842220" y="5164504"/>
              <a:ext cx="2113240" cy="307062"/>
            </a:xfrm>
            <a:prstGeom prst="roundRect">
              <a:avLst>
                <a:gd name="adj" fmla="val 19853"/>
              </a:avLst>
            </a:prstGeom>
            <a:solidFill>
              <a:srgbClr val="ECF7FF"/>
            </a:solidFill>
            <a:ln>
              <a:noFill/>
            </a:ln>
          </p:spPr>
        </p:sp>
        <p:sp>
          <p:nvSpPr>
            <p:cNvPr id="78" name="Shape 41">
              <a:extLst>
                <a:ext uri="{FF2B5EF4-FFF2-40B4-BE49-F238E27FC236}">
                  <a16:creationId xmlns:a16="http://schemas.microsoft.com/office/drawing/2014/main" id="{2266732B-25BA-6C1A-ACEE-A08141B6E678}"/>
                </a:ext>
              </a:extLst>
            </p:cNvPr>
            <p:cNvSpPr/>
            <p:nvPr/>
          </p:nvSpPr>
          <p:spPr>
            <a:xfrm>
              <a:off x="637540" y="5563006"/>
              <a:ext cx="2113240" cy="307062"/>
            </a:xfrm>
            <a:prstGeom prst="roundRect">
              <a:avLst>
                <a:gd name="adj" fmla="val 19853"/>
              </a:avLst>
            </a:prstGeom>
            <a:solidFill>
              <a:srgbClr val="ECF7FF"/>
            </a:solidFill>
            <a:ln>
              <a:noFill/>
            </a:ln>
          </p:spPr>
        </p:sp>
        <p:sp>
          <p:nvSpPr>
            <p:cNvPr id="80" name="Shape 42">
              <a:extLst>
                <a:ext uri="{FF2B5EF4-FFF2-40B4-BE49-F238E27FC236}">
                  <a16:creationId xmlns:a16="http://schemas.microsoft.com/office/drawing/2014/main" id="{3525BECE-45E4-F7A5-6DB7-86E2DBC2ECDD}"/>
                </a:ext>
              </a:extLst>
            </p:cNvPr>
            <p:cNvSpPr/>
            <p:nvPr/>
          </p:nvSpPr>
          <p:spPr>
            <a:xfrm>
              <a:off x="2842220" y="5563006"/>
              <a:ext cx="2113240" cy="307062"/>
            </a:xfrm>
            <a:prstGeom prst="roundRect">
              <a:avLst>
                <a:gd name="adj" fmla="val 19853"/>
              </a:avLst>
            </a:prstGeom>
            <a:solidFill>
              <a:srgbClr val="ECF7FF"/>
            </a:solidFill>
            <a:ln>
              <a:noFill/>
            </a:ln>
          </p:spPr>
        </p:sp>
        <p:sp>
          <p:nvSpPr>
            <p:cNvPr id="180" name="Shape 41">
              <a:extLst>
                <a:ext uri="{FF2B5EF4-FFF2-40B4-BE49-F238E27FC236}">
                  <a16:creationId xmlns:a16="http://schemas.microsoft.com/office/drawing/2014/main" id="{404ACCC5-E98C-387B-A4A4-32E9E36B96E7}"/>
                </a:ext>
              </a:extLst>
            </p:cNvPr>
            <p:cNvSpPr/>
            <p:nvPr/>
          </p:nvSpPr>
          <p:spPr>
            <a:xfrm>
              <a:off x="651675" y="5999889"/>
              <a:ext cx="2113240" cy="307062"/>
            </a:xfrm>
            <a:prstGeom prst="roundRect">
              <a:avLst>
                <a:gd name="adj" fmla="val 19853"/>
              </a:avLst>
            </a:prstGeom>
            <a:solidFill>
              <a:srgbClr val="ECF7FF"/>
            </a:solidFill>
            <a:ln>
              <a:noFill/>
            </a:ln>
          </p:spPr>
        </p:sp>
        <p:sp>
          <p:nvSpPr>
            <p:cNvPr id="182" name="Shape 42">
              <a:extLst>
                <a:ext uri="{FF2B5EF4-FFF2-40B4-BE49-F238E27FC236}">
                  <a16:creationId xmlns:a16="http://schemas.microsoft.com/office/drawing/2014/main" id="{FAB109FC-6313-82DB-ADB3-2AC8B658F702}"/>
                </a:ext>
              </a:extLst>
            </p:cNvPr>
            <p:cNvSpPr/>
            <p:nvPr/>
          </p:nvSpPr>
          <p:spPr>
            <a:xfrm>
              <a:off x="2856355" y="5999889"/>
              <a:ext cx="2113240" cy="307062"/>
            </a:xfrm>
            <a:prstGeom prst="roundRect">
              <a:avLst>
                <a:gd name="adj" fmla="val 19853"/>
              </a:avLst>
            </a:prstGeom>
            <a:solidFill>
              <a:srgbClr val="ECF7FF"/>
            </a:solidFill>
            <a:ln>
              <a:noFill/>
            </a:ln>
          </p:spPr>
        </p:sp>
      </p:grpSp>
      <p:sp>
        <p:nvSpPr>
          <p:cNvPr id="185" name="TextBox 42">
            <a:extLst>
              <a:ext uri="{FF2B5EF4-FFF2-40B4-BE49-F238E27FC236}">
                <a16:creationId xmlns:a16="http://schemas.microsoft.com/office/drawing/2014/main" id="{835A1078-56E0-2920-7EC5-F770F6896ECF}"/>
              </a:ext>
            </a:extLst>
          </p:cNvPr>
          <p:cNvSpPr txBox="1"/>
          <p:nvPr/>
        </p:nvSpPr>
        <p:spPr>
          <a:xfrm>
            <a:off x="791093" y="5536075"/>
            <a:ext cx="2011680" cy="34461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420"/>
              </a:lnSpc>
            </a:pPr>
            <a:r>
              <a:rPr lang="en-US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认证衔接人才发展</a:t>
            </a: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8A1FF13A-9F69-3FA6-98F6-9ED03B18807C}"/>
              </a:ext>
            </a:extLst>
          </p:cNvPr>
          <p:cNvSpPr txBox="1"/>
          <p:nvPr/>
        </p:nvSpPr>
        <p:spPr>
          <a:xfrm>
            <a:off x="3914530" y="5514889"/>
            <a:ext cx="3095870" cy="356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20"/>
              </a:lnSpc>
            </a:pPr>
            <a:r>
              <a:rPr lang="en-US" alt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lang="zh-CN" alt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双产品连接学习与工作</a:t>
            </a:r>
          </a:p>
        </p:txBody>
      </p:sp>
      <p:sp>
        <p:nvSpPr>
          <p:cNvPr id="189" name="TextBox 42">
            <a:extLst>
              <a:ext uri="{FF2B5EF4-FFF2-40B4-BE49-F238E27FC236}">
                <a16:creationId xmlns:a16="http://schemas.microsoft.com/office/drawing/2014/main" id="{2253A508-92BB-80B5-168C-9D299C4DA3B5}"/>
              </a:ext>
            </a:extLst>
          </p:cNvPr>
          <p:cNvSpPr txBox="1"/>
          <p:nvPr/>
        </p:nvSpPr>
        <p:spPr>
          <a:xfrm>
            <a:off x="799084" y="5238418"/>
            <a:ext cx="2205990" cy="34461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sz="1100" dirty="0"/>
              <a:t>分层培养覆盖全员与专业人才</a:t>
            </a:r>
            <a:endParaRPr lang="zh-CN" sz="108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AD449D59-11A4-0031-2DFD-EDDBD522DDBB}"/>
              </a:ext>
            </a:extLst>
          </p:cNvPr>
          <p:cNvSpPr txBox="1"/>
          <p:nvPr/>
        </p:nvSpPr>
        <p:spPr>
          <a:xfrm>
            <a:off x="3922521" y="5179132"/>
            <a:ext cx="30958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lang="zh-CN" alt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sz="1100" dirty="0"/>
              <a:t>标准评价统一人才能力尺度</a:t>
            </a:r>
            <a:endParaRPr lang="zh-CN" altLang="zh-CN" sz="108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3" name="TextBox 42">
            <a:extLst>
              <a:ext uri="{FF2B5EF4-FFF2-40B4-BE49-F238E27FC236}">
                <a16:creationId xmlns:a16="http://schemas.microsoft.com/office/drawing/2014/main" id="{0405D56F-1DCA-FD22-2DC2-6C0BB7D1FDEC}"/>
              </a:ext>
            </a:extLst>
          </p:cNvPr>
          <p:cNvSpPr txBox="1"/>
          <p:nvPr/>
        </p:nvSpPr>
        <p:spPr>
          <a:xfrm>
            <a:off x="799084" y="6059880"/>
            <a:ext cx="2011680" cy="34461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sz="1100" dirty="0"/>
              <a:t>安全治理保障应用合规可控</a:t>
            </a:r>
            <a:endParaRPr lang="zh-CN" sz="108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94B60DA6-B8BA-9357-FF75-45D8FE91F2F3}"/>
              </a:ext>
            </a:extLst>
          </p:cNvPr>
          <p:cNvSpPr txBox="1"/>
          <p:nvPr/>
        </p:nvSpPr>
        <p:spPr>
          <a:xfrm>
            <a:off x="3922521" y="6000594"/>
            <a:ext cx="30958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08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r>
              <a:rPr lang="zh-CN" alt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sz="1100" dirty="0"/>
              <a:t>持续运营沉淀组织长期价值</a:t>
            </a:r>
            <a:endParaRPr lang="zh-CN" altLang="zh-CN" sz="108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5692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8C971-A3E4-4C9A-B4D1-830617E13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6B1257-048C-70E9-A1D6-F3A76E0B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29540"/>
            <a:ext cx="10091127" cy="502285"/>
          </a:xfrm>
        </p:spPr>
        <p:txBody>
          <a:bodyPr/>
          <a:lstStyle/>
          <a:p>
            <a:r>
              <a:rPr lang="zh-CN" altLang="en-US" dirty="0"/>
              <a:t>以人才成长推动企业</a:t>
            </a:r>
            <a:r>
              <a:rPr lang="en-US" altLang="zh-CN" dirty="0"/>
              <a:t>AI</a:t>
            </a:r>
            <a:r>
              <a:rPr lang="zh-CN" altLang="en-US" dirty="0"/>
              <a:t>持续落地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79" name="Shape 3">
            <a:extLst>
              <a:ext uri="{FF2B5EF4-FFF2-40B4-BE49-F238E27FC236}">
                <a16:creationId xmlns:a16="http://schemas.microsoft.com/office/drawing/2014/main" id="{1FE94E22-E622-3EA7-B1CA-75703837F755}"/>
              </a:ext>
            </a:extLst>
          </p:cNvPr>
          <p:cNvSpPr/>
          <p:nvPr/>
        </p:nvSpPr>
        <p:spPr>
          <a:xfrm>
            <a:off x="731520" y="1966119"/>
            <a:ext cx="2579370" cy="1822490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81" name="Shape 4">
            <a:extLst>
              <a:ext uri="{FF2B5EF4-FFF2-40B4-BE49-F238E27FC236}">
                <a16:creationId xmlns:a16="http://schemas.microsoft.com/office/drawing/2014/main" id="{852D9981-4660-130C-B3BD-3902212C104D}"/>
              </a:ext>
            </a:extLst>
          </p:cNvPr>
          <p:cNvSpPr/>
          <p:nvPr/>
        </p:nvSpPr>
        <p:spPr>
          <a:xfrm>
            <a:off x="3448050" y="1966119"/>
            <a:ext cx="2579370" cy="1822490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83" name="Shape 5">
            <a:extLst>
              <a:ext uri="{FF2B5EF4-FFF2-40B4-BE49-F238E27FC236}">
                <a16:creationId xmlns:a16="http://schemas.microsoft.com/office/drawing/2014/main" id="{73E1F9B1-27F0-56F9-444F-1DD696E11C81}"/>
              </a:ext>
            </a:extLst>
          </p:cNvPr>
          <p:cNvSpPr/>
          <p:nvPr/>
        </p:nvSpPr>
        <p:spPr>
          <a:xfrm>
            <a:off x="6164580" y="1966119"/>
            <a:ext cx="2579370" cy="1822490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85" name="Shape 6">
            <a:extLst>
              <a:ext uri="{FF2B5EF4-FFF2-40B4-BE49-F238E27FC236}">
                <a16:creationId xmlns:a16="http://schemas.microsoft.com/office/drawing/2014/main" id="{CA1AEAB8-5383-5764-239B-78AAEA953F10}"/>
              </a:ext>
            </a:extLst>
          </p:cNvPr>
          <p:cNvSpPr/>
          <p:nvPr/>
        </p:nvSpPr>
        <p:spPr>
          <a:xfrm>
            <a:off x="8881110" y="1966119"/>
            <a:ext cx="2579370" cy="1822490"/>
          </a:xfrm>
          <a:prstGeom prst="roundRect">
            <a:avLst>
              <a:gd name="adj" fmla="val 8362"/>
            </a:avLst>
          </a:prstGeom>
          <a:solidFill>
            <a:srgbClr val="F2FFFC"/>
          </a:solidFill>
          <a:ln w="9525">
            <a:solidFill>
              <a:srgbClr val="B9E5DD"/>
            </a:solidFill>
            <a:prstDash val="solid"/>
          </a:ln>
        </p:spPr>
      </p:sp>
      <p:sp>
        <p:nvSpPr>
          <p:cNvPr id="87" name="Shape 7">
            <a:extLst>
              <a:ext uri="{FF2B5EF4-FFF2-40B4-BE49-F238E27FC236}">
                <a16:creationId xmlns:a16="http://schemas.microsoft.com/office/drawing/2014/main" id="{1A45F259-3DCD-549C-74BD-7930A2D9789A}"/>
              </a:ext>
            </a:extLst>
          </p:cNvPr>
          <p:cNvSpPr/>
          <p:nvPr/>
        </p:nvSpPr>
        <p:spPr>
          <a:xfrm>
            <a:off x="731520" y="4001968"/>
            <a:ext cx="4323874" cy="1856542"/>
          </a:xfrm>
          <a:prstGeom prst="roundRect">
            <a:avLst>
              <a:gd name="adj" fmla="val 8209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89" name="Shape 8">
            <a:extLst>
              <a:ext uri="{FF2B5EF4-FFF2-40B4-BE49-F238E27FC236}">
                <a16:creationId xmlns:a16="http://schemas.microsoft.com/office/drawing/2014/main" id="{D1CB0FEF-E89E-826F-BAA7-A39BF5630F67}"/>
              </a:ext>
            </a:extLst>
          </p:cNvPr>
          <p:cNvSpPr/>
          <p:nvPr/>
        </p:nvSpPr>
        <p:spPr>
          <a:xfrm>
            <a:off x="5238274" y="4001968"/>
            <a:ext cx="6222087" cy="1856542"/>
          </a:xfrm>
          <a:prstGeom prst="roundRect">
            <a:avLst>
              <a:gd name="adj" fmla="val 8209"/>
            </a:avLst>
          </a:prstGeom>
          <a:solidFill>
            <a:srgbClr val="FFFFFF"/>
          </a:solidFill>
          <a:ln w="9525">
            <a:solidFill>
              <a:srgbClr val="CFE3F5"/>
            </a:solidFill>
            <a:prstDash val="solid"/>
          </a:ln>
        </p:spPr>
      </p:sp>
      <p:sp>
        <p:nvSpPr>
          <p:cNvPr id="91" name="Shape 9">
            <a:extLst>
              <a:ext uri="{FF2B5EF4-FFF2-40B4-BE49-F238E27FC236}">
                <a16:creationId xmlns:a16="http://schemas.microsoft.com/office/drawing/2014/main" id="{420952BA-BC89-87F7-A7AB-16F667619814}"/>
              </a:ext>
            </a:extLst>
          </p:cNvPr>
          <p:cNvSpPr/>
          <p:nvPr/>
        </p:nvSpPr>
        <p:spPr>
          <a:xfrm>
            <a:off x="5428774" y="4603948"/>
            <a:ext cx="1095018" cy="1002030"/>
          </a:xfrm>
          <a:prstGeom prst="roundRect">
            <a:avLst>
              <a:gd name="adj" fmla="val 10646"/>
            </a:avLst>
          </a:prstGeom>
          <a:solidFill>
            <a:srgbClr val="0721A8"/>
          </a:solidFill>
          <a:ln>
            <a:noFill/>
          </a:ln>
        </p:spPr>
      </p:sp>
      <p:sp>
        <p:nvSpPr>
          <p:cNvPr id="93" name="Shape 10">
            <a:extLst>
              <a:ext uri="{FF2B5EF4-FFF2-40B4-BE49-F238E27FC236}">
                <a16:creationId xmlns:a16="http://schemas.microsoft.com/office/drawing/2014/main" id="{530BCD78-51CB-20F2-9EAF-94992364157E}"/>
              </a:ext>
            </a:extLst>
          </p:cNvPr>
          <p:cNvSpPr/>
          <p:nvPr/>
        </p:nvSpPr>
        <p:spPr>
          <a:xfrm>
            <a:off x="6615232" y="4603948"/>
            <a:ext cx="1095018" cy="1002030"/>
          </a:xfrm>
          <a:prstGeom prst="roundRect">
            <a:avLst>
              <a:gd name="adj" fmla="val 10646"/>
            </a:avLst>
          </a:prstGeom>
          <a:solidFill>
            <a:srgbClr val="0565FF"/>
          </a:solidFill>
          <a:ln>
            <a:noFill/>
          </a:ln>
        </p:spPr>
      </p:sp>
      <p:sp>
        <p:nvSpPr>
          <p:cNvPr id="95" name="Shape 11">
            <a:extLst>
              <a:ext uri="{FF2B5EF4-FFF2-40B4-BE49-F238E27FC236}">
                <a16:creationId xmlns:a16="http://schemas.microsoft.com/office/drawing/2014/main" id="{BDB87D99-B795-4D87-9A7D-4B8A9686C60B}"/>
              </a:ext>
            </a:extLst>
          </p:cNvPr>
          <p:cNvSpPr/>
          <p:nvPr/>
        </p:nvSpPr>
        <p:spPr>
          <a:xfrm>
            <a:off x="7801689" y="4603948"/>
            <a:ext cx="1095137" cy="1002030"/>
          </a:xfrm>
          <a:prstGeom prst="roundRect">
            <a:avLst>
              <a:gd name="adj" fmla="val 10646"/>
            </a:avLst>
          </a:prstGeom>
          <a:solidFill>
            <a:srgbClr val="1787F5"/>
          </a:solidFill>
          <a:ln>
            <a:noFill/>
          </a:ln>
        </p:spPr>
      </p:sp>
      <p:sp>
        <p:nvSpPr>
          <p:cNvPr id="97" name="Shape 12">
            <a:extLst>
              <a:ext uri="{FF2B5EF4-FFF2-40B4-BE49-F238E27FC236}">
                <a16:creationId xmlns:a16="http://schemas.microsoft.com/office/drawing/2014/main" id="{02838614-7491-E5BA-C775-7A8CD946D956}"/>
              </a:ext>
            </a:extLst>
          </p:cNvPr>
          <p:cNvSpPr/>
          <p:nvPr/>
        </p:nvSpPr>
        <p:spPr>
          <a:xfrm>
            <a:off x="8988266" y="4603948"/>
            <a:ext cx="1095018" cy="1002030"/>
          </a:xfrm>
          <a:prstGeom prst="roundRect">
            <a:avLst>
              <a:gd name="adj" fmla="val 10646"/>
            </a:avLst>
          </a:prstGeom>
          <a:solidFill>
            <a:srgbClr val="00A7FF"/>
          </a:solidFill>
          <a:ln>
            <a:noFill/>
          </a:ln>
        </p:spPr>
      </p:sp>
      <p:sp>
        <p:nvSpPr>
          <p:cNvPr id="99" name="Shape 13">
            <a:extLst>
              <a:ext uri="{FF2B5EF4-FFF2-40B4-BE49-F238E27FC236}">
                <a16:creationId xmlns:a16="http://schemas.microsoft.com/office/drawing/2014/main" id="{D0CB415D-106F-85F2-AA66-B7B6EAED9C23}"/>
              </a:ext>
            </a:extLst>
          </p:cNvPr>
          <p:cNvSpPr/>
          <p:nvPr/>
        </p:nvSpPr>
        <p:spPr>
          <a:xfrm>
            <a:off x="10174724" y="4603948"/>
            <a:ext cx="1095137" cy="1002030"/>
          </a:xfrm>
          <a:prstGeom prst="roundRect">
            <a:avLst>
              <a:gd name="adj" fmla="val 10646"/>
            </a:avLst>
          </a:prstGeom>
          <a:solidFill>
            <a:srgbClr val="00AB7A"/>
          </a:solidFill>
          <a:ln>
            <a:noFill/>
          </a:ln>
        </p:spPr>
      </p:sp>
      <p:sp>
        <p:nvSpPr>
          <p:cNvPr id="101" name="TextBox 4">
            <a:extLst>
              <a:ext uri="{FF2B5EF4-FFF2-40B4-BE49-F238E27FC236}">
                <a16:creationId xmlns:a16="http://schemas.microsoft.com/office/drawing/2014/main" id="{C7274B11-D293-7864-7096-3A52D4007098}"/>
              </a:ext>
            </a:extLst>
          </p:cNvPr>
          <p:cNvSpPr txBox="1"/>
          <p:nvPr/>
        </p:nvSpPr>
        <p:spPr>
          <a:xfrm>
            <a:off x="517208" y="1208787"/>
            <a:ext cx="10524744" cy="839724"/>
          </a:xfrm>
          <a:prstGeom prst="rect">
            <a:avLst/>
          </a:prstGeom>
          <a:noFill/>
        </p:spPr>
        <p:txBody>
          <a:bodyPr wrap="square" lIns="259080" tIns="190500" rIns="259080" bIns="190500" anchor="t">
            <a:normAutofit/>
          </a:bodyPr>
          <a:lstStyle/>
          <a:p>
            <a:pPr>
              <a:lnSpc>
                <a:spcPts val="2435"/>
              </a:lnSpc>
              <a:spcBef>
                <a:spcPts val="1440"/>
              </a:spcBef>
            </a:pPr>
            <a:r>
              <a:rPr 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企业AI的最终成果，是一支能安全使用、建设和交付智能体应用的队伍，以及持续产生业务价值的组织机制。</a:t>
            </a:r>
          </a:p>
        </p:txBody>
      </p:sp>
      <p:sp>
        <p:nvSpPr>
          <p:cNvPr id="103" name="TextBox 5">
            <a:extLst>
              <a:ext uri="{FF2B5EF4-FFF2-40B4-BE49-F238E27FC236}">
                <a16:creationId xmlns:a16="http://schemas.microsoft.com/office/drawing/2014/main" id="{A6DB83AF-577B-7435-EFF0-159EF7A205CE}"/>
              </a:ext>
            </a:extLst>
          </p:cNvPr>
          <p:cNvSpPr txBox="1"/>
          <p:nvPr/>
        </p:nvSpPr>
        <p:spPr>
          <a:xfrm>
            <a:off x="922020" y="2155190"/>
            <a:ext cx="2257044" cy="4160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3060"/>
              </a:lnSpc>
            </a:pPr>
            <a:r>
              <a:rPr lang="en-US" sz="204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05" name="TextBox 6">
            <a:extLst>
              <a:ext uri="{FF2B5EF4-FFF2-40B4-BE49-F238E27FC236}">
                <a16:creationId xmlns:a16="http://schemas.microsoft.com/office/drawing/2014/main" id="{9FD25BA7-91D5-4A35-B78D-512BBFF9658D}"/>
              </a:ext>
            </a:extLst>
          </p:cNvPr>
          <p:cNvSpPr txBox="1"/>
          <p:nvPr/>
        </p:nvSpPr>
        <p:spPr>
          <a:xfrm>
            <a:off x="922020" y="2604770"/>
            <a:ext cx="225704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  <a:spcBef>
                <a:spcPts val="480"/>
              </a:spcBef>
            </a:pPr>
            <a:r>
              <a:rPr lang="zh-CN" sz="13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人员有能力</a:t>
            </a:r>
          </a:p>
        </p:txBody>
      </p:sp>
      <p:sp>
        <p:nvSpPr>
          <p:cNvPr id="107" name="TextBox 7">
            <a:extLst>
              <a:ext uri="{FF2B5EF4-FFF2-40B4-BE49-F238E27FC236}">
                <a16:creationId xmlns:a16="http://schemas.microsoft.com/office/drawing/2014/main" id="{897A2AC9-25E7-232A-B25F-B63D42CCE7D4}"/>
              </a:ext>
            </a:extLst>
          </p:cNvPr>
          <p:cNvSpPr txBox="1"/>
          <p:nvPr/>
        </p:nvSpPr>
        <p:spPr>
          <a:xfrm>
            <a:off x="922020" y="2962910"/>
            <a:ext cx="2257044" cy="6675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75"/>
              </a:lnSpc>
              <a:spcBef>
                <a:spcPts val="7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形成安全使用AI的员工基础和ADEA、ADEP、ADEE专业人才梯队。</a:t>
            </a:r>
          </a:p>
        </p:txBody>
      </p:sp>
      <p:sp>
        <p:nvSpPr>
          <p:cNvPr id="109" name="TextBox 8">
            <a:extLst>
              <a:ext uri="{FF2B5EF4-FFF2-40B4-BE49-F238E27FC236}">
                <a16:creationId xmlns:a16="http://schemas.microsoft.com/office/drawing/2014/main" id="{3F6FE19F-05C4-7BB3-8321-237D689CE73F}"/>
              </a:ext>
            </a:extLst>
          </p:cNvPr>
          <p:cNvSpPr txBox="1"/>
          <p:nvPr/>
        </p:nvSpPr>
        <p:spPr>
          <a:xfrm>
            <a:off x="3642360" y="2155190"/>
            <a:ext cx="2257044" cy="4160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3060"/>
              </a:lnSpc>
            </a:pPr>
            <a:r>
              <a:rPr lang="en-US" sz="2040" b="1" dirty="0">
                <a:solidFill>
                  <a:srgbClr val="056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11" name="TextBox 9">
            <a:extLst>
              <a:ext uri="{FF2B5EF4-FFF2-40B4-BE49-F238E27FC236}">
                <a16:creationId xmlns:a16="http://schemas.microsoft.com/office/drawing/2014/main" id="{A93DCF6D-C228-BCD0-2CD3-0C744E0C0F8C}"/>
              </a:ext>
            </a:extLst>
          </p:cNvPr>
          <p:cNvSpPr txBox="1"/>
          <p:nvPr/>
        </p:nvSpPr>
        <p:spPr>
          <a:xfrm>
            <a:off x="3642360" y="2604770"/>
            <a:ext cx="225704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  <a:spcBef>
                <a:spcPts val="480"/>
              </a:spcBef>
            </a:pPr>
            <a:r>
              <a:rPr lang="zh-CN" sz="13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项目有成果</a:t>
            </a:r>
          </a:p>
        </p:txBody>
      </p:sp>
      <p:sp>
        <p:nvSpPr>
          <p:cNvPr id="113" name="TextBox 10">
            <a:extLst>
              <a:ext uri="{FF2B5EF4-FFF2-40B4-BE49-F238E27FC236}">
                <a16:creationId xmlns:a16="http://schemas.microsoft.com/office/drawing/2014/main" id="{9EAAC974-0739-247B-6299-4C1189176AEF}"/>
              </a:ext>
            </a:extLst>
          </p:cNvPr>
          <p:cNvSpPr txBox="1"/>
          <p:nvPr/>
        </p:nvSpPr>
        <p:spPr>
          <a:xfrm>
            <a:off x="3642360" y="2962910"/>
            <a:ext cx="2257044" cy="4541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75"/>
              </a:lnSpc>
              <a:spcBef>
                <a:spcPts val="7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从岗位案例、单场景助手到复杂应用与企业级总体方案。</a:t>
            </a:r>
          </a:p>
        </p:txBody>
      </p:sp>
      <p:sp>
        <p:nvSpPr>
          <p:cNvPr id="115" name="TextBox 11">
            <a:extLst>
              <a:ext uri="{FF2B5EF4-FFF2-40B4-BE49-F238E27FC236}">
                <a16:creationId xmlns:a16="http://schemas.microsoft.com/office/drawing/2014/main" id="{DD1677C2-3DE5-69CF-FBF2-46B668DE1F84}"/>
              </a:ext>
            </a:extLst>
          </p:cNvPr>
          <p:cNvSpPr txBox="1"/>
          <p:nvPr/>
        </p:nvSpPr>
        <p:spPr>
          <a:xfrm>
            <a:off x="6355080" y="2155190"/>
            <a:ext cx="2257044" cy="4160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3060"/>
              </a:lnSpc>
            </a:pPr>
            <a:r>
              <a:rPr lang="en-US" sz="2040" b="1" dirty="0">
                <a:solidFill>
                  <a:srgbClr val="00A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17" name="TextBox 12">
            <a:extLst>
              <a:ext uri="{FF2B5EF4-FFF2-40B4-BE49-F238E27FC236}">
                <a16:creationId xmlns:a16="http://schemas.microsoft.com/office/drawing/2014/main" id="{9C41160D-0817-9FDE-77EC-6C774DC09D51}"/>
              </a:ext>
            </a:extLst>
          </p:cNvPr>
          <p:cNvSpPr txBox="1"/>
          <p:nvPr/>
        </p:nvSpPr>
        <p:spPr>
          <a:xfrm>
            <a:off x="6355080" y="2604770"/>
            <a:ext cx="225704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  <a:spcBef>
                <a:spcPts val="480"/>
              </a:spcBef>
            </a:pPr>
            <a:r>
              <a:rPr lang="zh-CN" sz="138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评价有标准</a:t>
            </a:r>
          </a:p>
        </p:txBody>
      </p:sp>
      <p:sp>
        <p:nvSpPr>
          <p:cNvPr id="119" name="TextBox 13">
            <a:extLst>
              <a:ext uri="{FF2B5EF4-FFF2-40B4-BE49-F238E27FC236}">
                <a16:creationId xmlns:a16="http://schemas.microsoft.com/office/drawing/2014/main" id="{D14E2743-2B1D-FBA8-9084-A16B2C7FA734}"/>
              </a:ext>
            </a:extLst>
          </p:cNvPr>
          <p:cNvSpPr txBox="1"/>
          <p:nvPr/>
        </p:nvSpPr>
        <p:spPr>
          <a:xfrm>
            <a:off x="6355080" y="2962910"/>
            <a:ext cx="2257044" cy="4541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75"/>
              </a:lnSpc>
              <a:spcBef>
                <a:spcPts val="7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以课程、作品、测试证据、答辩和认证构成可信人才档案。</a:t>
            </a:r>
          </a:p>
        </p:txBody>
      </p:sp>
      <p:sp>
        <p:nvSpPr>
          <p:cNvPr id="121" name="TextBox 14">
            <a:extLst>
              <a:ext uri="{FF2B5EF4-FFF2-40B4-BE49-F238E27FC236}">
                <a16:creationId xmlns:a16="http://schemas.microsoft.com/office/drawing/2014/main" id="{3DDA084C-E1DC-9814-943A-C6A4C718323D}"/>
              </a:ext>
            </a:extLst>
          </p:cNvPr>
          <p:cNvSpPr txBox="1"/>
          <p:nvPr/>
        </p:nvSpPr>
        <p:spPr>
          <a:xfrm>
            <a:off x="9075420" y="2155190"/>
            <a:ext cx="2257044" cy="4160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3060"/>
              </a:lnSpc>
            </a:pPr>
            <a:r>
              <a:rPr lang="en-US" sz="2040" b="1" dirty="0">
                <a:solidFill>
                  <a:srgbClr val="00A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123" name="TextBox 15">
            <a:extLst>
              <a:ext uri="{FF2B5EF4-FFF2-40B4-BE49-F238E27FC236}">
                <a16:creationId xmlns:a16="http://schemas.microsoft.com/office/drawing/2014/main" id="{A201E968-9D92-ECEA-D182-DBC150E7BB2E}"/>
              </a:ext>
            </a:extLst>
          </p:cNvPr>
          <p:cNvSpPr txBox="1"/>
          <p:nvPr/>
        </p:nvSpPr>
        <p:spPr>
          <a:xfrm>
            <a:off x="9075420" y="2604770"/>
            <a:ext cx="2257044" cy="294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70"/>
              </a:lnSpc>
              <a:spcBef>
                <a:spcPts val="480"/>
              </a:spcBef>
            </a:pPr>
            <a:r>
              <a:rPr lang="zh-CN" sz="1380" b="1" dirty="0">
                <a:solidFill>
                  <a:srgbClr val="007C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组织有机制</a:t>
            </a:r>
          </a:p>
        </p:txBody>
      </p:sp>
      <p:sp>
        <p:nvSpPr>
          <p:cNvPr id="125" name="TextBox 16">
            <a:extLst>
              <a:ext uri="{FF2B5EF4-FFF2-40B4-BE49-F238E27FC236}">
                <a16:creationId xmlns:a16="http://schemas.microsoft.com/office/drawing/2014/main" id="{6C703D16-660C-B5CD-524A-3304C9A9C9D3}"/>
              </a:ext>
            </a:extLst>
          </p:cNvPr>
          <p:cNvSpPr txBox="1"/>
          <p:nvPr/>
        </p:nvSpPr>
        <p:spPr>
          <a:xfrm>
            <a:off x="9075420" y="2962910"/>
            <a:ext cx="2257044" cy="4541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675"/>
              </a:lnSpc>
              <a:spcBef>
                <a:spcPts val="72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通过产品平台、导师评审、资产发布和持续运营实现规模化复用。</a:t>
            </a:r>
          </a:p>
        </p:txBody>
      </p:sp>
      <p:sp>
        <p:nvSpPr>
          <p:cNvPr id="127" name="TextBox 17">
            <a:extLst>
              <a:ext uri="{FF2B5EF4-FFF2-40B4-BE49-F238E27FC236}">
                <a16:creationId xmlns:a16="http://schemas.microsoft.com/office/drawing/2014/main" id="{CDCC088F-8640-EB9C-8A2C-8409A5F09341}"/>
              </a:ext>
            </a:extLst>
          </p:cNvPr>
          <p:cNvSpPr txBox="1"/>
          <p:nvPr/>
        </p:nvSpPr>
        <p:spPr>
          <a:xfrm>
            <a:off x="929640" y="4197350"/>
            <a:ext cx="3979164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zh-CN" sz="144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建议从“小而完整”的试点开始</a:t>
            </a:r>
          </a:p>
        </p:txBody>
      </p:sp>
      <p:sp>
        <p:nvSpPr>
          <p:cNvPr id="129" name="TextBox 18">
            <a:extLst>
              <a:ext uri="{FF2B5EF4-FFF2-40B4-BE49-F238E27FC236}">
                <a16:creationId xmlns:a16="http://schemas.microsoft.com/office/drawing/2014/main" id="{C93E64BB-5AB2-2603-3767-3EAB13E89039}"/>
              </a:ext>
            </a:extLst>
          </p:cNvPr>
          <p:cNvSpPr txBox="1"/>
          <p:nvPr/>
        </p:nvSpPr>
        <p:spPr>
          <a:xfrm>
            <a:off x="929640" y="4578350"/>
            <a:ext cx="3979164" cy="469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730"/>
              </a:lnSpc>
              <a:spcBef>
                <a:spcPts val="840"/>
              </a:spcBef>
            </a:pPr>
            <a:r>
              <a:rPr lang="zh-CN" sz="108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优先选择低风险、高频、结果可验证的部门任务，用首批人员和首批场景跑通完整闭环，再依据成果和风险逐步扩围。</a:t>
            </a:r>
          </a:p>
        </p:txBody>
      </p:sp>
      <p:sp>
        <p:nvSpPr>
          <p:cNvPr id="131" name="TextBox 19">
            <a:extLst>
              <a:ext uri="{FF2B5EF4-FFF2-40B4-BE49-F238E27FC236}">
                <a16:creationId xmlns:a16="http://schemas.microsoft.com/office/drawing/2014/main" id="{08FBD1CE-9C14-12F6-171E-AA066C050422}"/>
              </a:ext>
            </a:extLst>
          </p:cNvPr>
          <p:cNvSpPr txBox="1"/>
          <p:nvPr/>
        </p:nvSpPr>
        <p:spPr>
          <a:xfrm>
            <a:off x="5425440" y="4189730"/>
            <a:ext cx="5899404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zh-CN" sz="1440" b="1" dirty="0">
                <a:solidFill>
                  <a:srgbClr val="072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下一步行动</a:t>
            </a:r>
          </a:p>
        </p:txBody>
      </p:sp>
      <p:sp>
        <p:nvSpPr>
          <p:cNvPr id="133" name="TextBox 20">
            <a:extLst>
              <a:ext uri="{FF2B5EF4-FFF2-40B4-BE49-F238E27FC236}">
                <a16:creationId xmlns:a16="http://schemas.microsoft.com/office/drawing/2014/main" id="{F5C879F8-F3CE-003A-1357-BECC13589B8C}"/>
              </a:ext>
            </a:extLst>
          </p:cNvPr>
          <p:cNvSpPr txBox="1"/>
          <p:nvPr/>
        </p:nvSpPr>
        <p:spPr>
          <a:xfrm>
            <a:off x="5532120" y="4723130"/>
            <a:ext cx="93878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250"/>
              </a:lnSpc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135" name="TextBox 21">
            <a:extLst>
              <a:ext uri="{FF2B5EF4-FFF2-40B4-BE49-F238E27FC236}">
                <a16:creationId xmlns:a16="http://schemas.microsoft.com/office/drawing/2014/main" id="{0ABEEB19-F9FE-4E50-7F0F-A1D7CC002CF2}"/>
              </a:ext>
            </a:extLst>
          </p:cNvPr>
          <p:cNvSpPr txBox="1"/>
          <p:nvPr/>
        </p:nvSpPr>
        <p:spPr>
          <a:xfrm>
            <a:off x="5532120" y="5073650"/>
            <a:ext cx="93878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  <a:spcBef>
                <a:spcPts val="480"/>
              </a:spcBef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现状与人员调研</a:t>
            </a:r>
          </a:p>
        </p:txBody>
      </p:sp>
      <p:sp>
        <p:nvSpPr>
          <p:cNvPr id="137" name="TextBox 22">
            <a:extLst>
              <a:ext uri="{FF2B5EF4-FFF2-40B4-BE49-F238E27FC236}">
                <a16:creationId xmlns:a16="http://schemas.microsoft.com/office/drawing/2014/main" id="{18B3EE4E-98E6-24EF-2373-110E2FA56135}"/>
              </a:ext>
            </a:extLst>
          </p:cNvPr>
          <p:cNvSpPr txBox="1"/>
          <p:nvPr/>
        </p:nvSpPr>
        <p:spPr>
          <a:xfrm>
            <a:off x="6720840" y="4723130"/>
            <a:ext cx="93878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250"/>
              </a:lnSpc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139" name="TextBox 23">
            <a:extLst>
              <a:ext uri="{FF2B5EF4-FFF2-40B4-BE49-F238E27FC236}">
                <a16:creationId xmlns:a16="http://schemas.microsoft.com/office/drawing/2014/main" id="{296229DD-28D1-3CB6-5B83-0CF94CD27E6B}"/>
              </a:ext>
            </a:extLst>
          </p:cNvPr>
          <p:cNvSpPr txBox="1"/>
          <p:nvPr/>
        </p:nvSpPr>
        <p:spPr>
          <a:xfrm>
            <a:off x="6720840" y="5073650"/>
            <a:ext cx="938784" cy="233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  <a:spcBef>
                <a:spcPts val="480"/>
              </a:spcBef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重点场景筛选</a:t>
            </a:r>
          </a:p>
        </p:txBody>
      </p:sp>
      <p:sp>
        <p:nvSpPr>
          <p:cNvPr id="141" name="TextBox 24">
            <a:extLst>
              <a:ext uri="{FF2B5EF4-FFF2-40B4-BE49-F238E27FC236}">
                <a16:creationId xmlns:a16="http://schemas.microsoft.com/office/drawing/2014/main" id="{8A4B79C1-15BA-C93E-B146-CE022BD01221}"/>
              </a:ext>
            </a:extLst>
          </p:cNvPr>
          <p:cNvSpPr txBox="1"/>
          <p:nvPr/>
        </p:nvSpPr>
        <p:spPr>
          <a:xfrm>
            <a:off x="7909560" y="4723130"/>
            <a:ext cx="93878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250"/>
              </a:lnSpc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143" name="TextBox 25">
            <a:extLst>
              <a:ext uri="{FF2B5EF4-FFF2-40B4-BE49-F238E27FC236}">
                <a16:creationId xmlns:a16="http://schemas.microsoft.com/office/drawing/2014/main" id="{80AE7A4C-99C2-5037-0FAB-ACC8BD8DF741}"/>
              </a:ext>
            </a:extLst>
          </p:cNvPr>
          <p:cNvSpPr txBox="1"/>
          <p:nvPr/>
        </p:nvSpPr>
        <p:spPr>
          <a:xfrm>
            <a:off x="7909560" y="5073650"/>
            <a:ext cx="93878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  <a:spcBef>
                <a:spcPts val="480"/>
              </a:spcBef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试点部门与种子人员</a:t>
            </a:r>
          </a:p>
        </p:txBody>
      </p:sp>
      <p:sp>
        <p:nvSpPr>
          <p:cNvPr id="145" name="TextBox 26">
            <a:extLst>
              <a:ext uri="{FF2B5EF4-FFF2-40B4-BE49-F238E27FC236}">
                <a16:creationId xmlns:a16="http://schemas.microsoft.com/office/drawing/2014/main" id="{238D204B-E017-B2E3-D365-083DE6E7EC40}"/>
              </a:ext>
            </a:extLst>
          </p:cNvPr>
          <p:cNvSpPr txBox="1"/>
          <p:nvPr/>
        </p:nvSpPr>
        <p:spPr>
          <a:xfrm>
            <a:off x="9098280" y="4723130"/>
            <a:ext cx="93878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250"/>
              </a:lnSpc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147" name="TextBox 27">
            <a:extLst>
              <a:ext uri="{FF2B5EF4-FFF2-40B4-BE49-F238E27FC236}">
                <a16:creationId xmlns:a16="http://schemas.microsoft.com/office/drawing/2014/main" id="{DD6912B2-71E2-637B-9A97-4A02E096DD10}"/>
              </a:ext>
            </a:extLst>
          </p:cNvPr>
          <p:cNvSpPr txBox="1"/>
          <p:nvPr/>
        </p:nvSpPr>
        <p:spPr>
          <a:xfrm>
            <a:off x="9098280" y="5073650"/>
            <a:ext cx="93878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  <a:spcBef>
                <a:spcPts val="480"/>
              </a:spcBef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产品与实施配置</a:t>
            </a:r>
          </a:p>
        </p:txBody>
      </p:sp>
      <p:sp>
        <p:nvSpPr>
          <p:cNvPr id="149" name="TextBox 28">
            <a:extLst>
              <a:ext uri="{FF2B5EF4-FFF2-40B4-BE49-F238E27FC236}">
                <a16:creationId xmlns:a16="http://schemas.microsoft.com/office/drawing/2014/main" id="{F7F88DAB-9385-068E-E6A9-8FEE2434DAE2}"/>
              </a:ext>
            </a:extLst>
          </p:cNvPr>
          <p:cNvSpPr txBox="1"/>
          <p:nvPr/>
        </p:nvSpPr>
        <p:spPr>
          <a:xfrm>
            <a:off x="10279380" y="4723130"/>
            <a:ext cx="938784" cy="3169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250"/>
              </a:lnSpc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</a:p>
        </p:txBody>
      </p:sp>
      <p:sp>
        <p:nvSpPr>
          <p:cNvPr id="151" name="TextBox 29">
            <a:extLst>
              <a:ext uri="{FF2B5EF4-FFF2-40B4-BE49-F238E27FC236}">
                <a16:creationId xmlns:a16="http://schemas.microsoft.com/office/drawing/2014/main" id="{DA77832A-BD12-28E4-F54B-C78581BC6542}"/>
              </a:ext>
            </a:extLst>
          </p:cNvPr>
          <p:cNvSpPr txBox="1"/>
          <p:nvPr/>
        </p:nvSpPr>
        <p:spPr>
          <a:xfrm>
            <a:off x="10279380" y="5073650"/>
            <a:ext cx="938784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620"/>
              </a:lnSpc>
              <a:spcBef>
                <a:spcPts val="480"/>
              </a:spcBef>
            </a:pPr>
            <a:r>
              <a:rPr lang="zh-CN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周期与验收标准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36124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 vert="horz" lIns="90000" tIns="46800" rIns="90000" bIns="46800" rtlCol="0" anchor="ctr" anchorCtr="0">
            <a:normAutofit/>
          </a:bodyPr>
          <a:lstStyle/>
          <a:p>
            <a:pPr lvl="0" algn="l"/>
            <a:r>
              <a:rPr lang="zh-CN">
                <a:gradFill>
                  <a:gsLst>
                    <a:gs pos="0">
                      <a:srgbClr val="1742FD"/>
                    </a:gs>
                    <a:gs pos="100000">
                      <a:srgbClr val="0AD575"/>
                    </a:gs>
                    <a:gs pos="49000">
                      <a:srgbClr val="0081F3"/>
                    </a:gs>
                  </a:gsLst>
                  <a:lin ang="17400000" scaled="0"/>
                </a:gradFill>
                <a:sym typeface="+mn-ea"/>
              </a:rPr>
              <a:t>谢谢聆听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5000" lnSpcReduction="10000"/>
          </a:bodyPr>
          <a:lstStyle/>
          <a:p>
            <a:pPr lvl="0"/>
            <a:r>
              <a:rPr lang="zh-CN" altLang="en-US" dirty="0"/>
              <a:t>智能体人才培养中心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eelOff"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heme/theme1.xml><?xml version="1.0" encoding="utf-8"?>
<a:theme xmlns:a="http://schemas.openxmlformats.org/drawingml/2006/main" name="6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1956</TotalTime>
  <Words>18325</Words>
  <Application>Microsoft Office PowerPoint</Application>
  <PresentationFormat>宽屏</PresentationFormat>
  <Paragraphs>1171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25</vt:i4>
      </vt:variant>
    </vt:vector>
  </HeadingPairs>
  <TitlesOfParts>
    <vt:vector size="43" baseType="lpstr">
      <vt:lpstr>苹方-简</vt:lpstr>
      <vt:lpstr>宋体</vt:lpstr>
      <vt:lpstr>微软雅黑</vt:lpstr>
      <vt:lpstr>Microsoft YaHei Light</vt:lpstr>
      <vt:lpstr>Arial</vt:lpstr>
      <vt:lpstr>Calibri</vt:lpstr>
      <vt:lpstr>Wingdings</vt:lpstr>
      <vt:lpstr>6_WPS</vt:lpstr>
      <vt:lpstr>1_WPS</vt:lpstr>
      <vt:lpstr>2_WPS</vt:lpstr>
      <vt:lpstr>3_WPS</vt:lpstr>
      <vt:lpstr>4_WPS</vt:lpstr>
      <vt:lpstr>5_WPS</vt:lpstr>
      <vt:lpstr>7_WPS</vt:lpstr>
      <vt:lpstr>8_WPS</vt:lpstr>
      <vt:lpstr>9_WPS</vt:lpstr>
      <vt:lpstr>10_WPS</vt:lpstr>
      <vt:lpstr>11_WPS</vt:lpstr>
      <vt:lpstr>企业 人工智能人才培养 解决方案</vt:lpstr>
      <vt:lpstr>目录：从人才培养到企业AI规划化落地</vt:lpstr>
      <vt:lpstr>人工智能进入智能体驱动的企业级应用阶段</vt:lpstr>
      <vt:lpstr>企业AI建设的四个发展阶段</vt:lpstr>
      <vt:lpstr>企业AI人才培养面临的核心问题</vt:lpstr>
      <vt:lpstr>方案定位与总体建设目标</vt:lpstr>
      <vt:lpstr>企业AI人才培养体系总体蓝图</vt:lpstr>
      <vt:lpstr>“会用、会搭、会做、会促”四层人才成长路径</vt:lpstr>
      <vt:lpstr>学习一实践一评价一认证一应用的培养闭环</vt:lpstr>
      <vt:lpstr>全员应用层:AI素养与岗位提效</vt:lpstr>
      <vt:lpstr>ADEA:搭建单场景企业AI助手</vt:lpstr>
      <vt:lpstr>ADEP:交付复杂AI应用</vt:lpstr>
      <vt:lpstr>ADEE:推动企业AI规模化落地</vt:lpstr>
      <vt:lpstr>课程、实训项目与学习资源体系</vt:lpstr>
      <vt:lpstr>360 AI微认证与ADE三级认证体系</vt:lpstr>
      <vt:lpstr>“一考双证”与认证质量保障机制</vt:lpstr>
      <vt:lpstr>双产品支撑学习、实训与真实工作</vt:lpstr>
      <vt:lpstr>360纳米Work</vt:lpstr>
      <vt:lpstr>纳米Work:全员AI应用与组织能力沉淀平台</vt:lpstr>
      <vt:lpstr>360智能体应用开发实训平台</vt:lpstr>
      <vt:lpstr>智能体应用开发实训平台:专业人才培养底座</vt:lpstr>
      <vt:lpstr>分阶段建设与持续运营路径</vt:lpstr>
      <vt:lpstr>项目交付成果、验收标准与方案优势</vt:lpstr>
      <vt:lpstr>以人才成长推动企业AI持续落地</vt:lpstr>
      <vt:lpstr>谢谢聆听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pengbo1</dc:creator>
  <cp:lastModifiedBy>旭 王</cp:lastModifiedBy>
  <cp:revision>696</cp:revision>
  <dcterms:created xsi:type="dcterms:W3CDTF">2026-03-28T10:07:49Z</dcterms:created>
  <dcterms:modified xsi:type="dcterms:W3CDTF">2026-08-24T10:55:34Z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DCFEEBE7F90512D2F36CC769EDD951B5_43</vt:lpwstr>
  </property>
</Properties>
</file>